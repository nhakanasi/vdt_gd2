
<file path=[Content_Types].xml><?xml version="1.0" encoding="utf-8"?>
<Types xmlns="http://schemas.openxmlformats.org/package/2006/content-types">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7"/>
  </p:notesMasterIdLst>
  <p:sldIdLst>
    <p:sldId id="256" r:id="rId2"/>
    <p:sldId id="257" r:id="rId3"/>
    <p:sldId id="258" r:id="rId4"/>
    <p:sldId id="259" r:id="rId5"/>
    <p:sldId id="264" r:id="rId6"/>
    <p:sldId id="265" r:id="rId7"/>
    <p:sldId id="266" r:id="rId8"/>
    <p:sldId id="267" r:id="rId9"/>
    <p:sldId id="268" r:id="rId10"/>
    <p:sldId id="269" r:id="rId11"/>
    <p:sldId id="270" r:id="rId12"/>
    <p:sldId id="272" r:id="rId13"/>
    <p:sldId id="260" r:id="rId14"/>
    <p:sldId id="271" r:id="rId15"/>
    <p:sldId id="263" r:id="rId16"/>
  </p:sldIdLst>
  <p:sldSz cx="18288000" cy="10287000"/>
  <p:notesSz cx="6858000" cy="9144000"/>
  <p:embeddedFontLst>
    <p:embeddedFont>
      <p:font typeface="Arimo" panose="020B0604020202020204"/>
      <p:regular r:id="rId18"/>
    </p:embeddedFont>
    <p:embeddedFont>
      <p:font typeface="Arimo Bold" panose="020B0704020202020204" pitchFamily="34" charset="0"/>
      <p:regular r:id="rId19"/>
      <p:bold r:id="rId20"/>
    </p:embeddedFont>
    <p:embeddedFont>
      <p:font typeface="Calistoga"/>
      <p:regular r:id="rId21"/>
    </p:embeddedFont>
    <p:embeddedFont>
      <p:font typeface="Chewy" panose="02000000000000000000" pitchFamily="2" charset="0"/>
      <p:regular r:id="rId22"/>
    </p:embeddedFont>
    <p:embeddedFont>
      <p:font typeface="Montserrat" pitchFamily="2" charset="77"/>
      <p:regular r:id="rId23"/>
      <p:bold r:id="rId24"/>
      <p:italic r:id="rId25"/>
      <p:boldItalic r:id="rId26"/>
    </p:embeddedFont>
    <p:embeddedFont>
      <p:font typeface="Poppins Bold" pitchFamily="2" charset="77"/>
      <p:bold r:id="rId27"/>
      <p:italic r:id="rId28"/>
      <p:boldItalic r:id="rId2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47" autoAdjust="0"/>
    <p:restoredTop sz="94674" autoAdjust="0"/>
  </p:normalViewPr>
  <p:slideViewPr>
    <p:cSldViewPr>
      <p:cViewPr varScale="1">
        <p:scale>
          <a:sx n="96" d="100"/>
          <a:sy n="96" d="100"/>
        </p:scale>
        <p:origin x="216" y="20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font" Target="fonts/font11.fntdata"/><Relationship Id="rId10" Type="http://schemas.openxmlformats.org/officeDocument/2006/relationships/slide" Target="slides/slide9.xml"/><Relationship Id="rId19" Type="http://schemas.openxmlformats.org/officeDocument/2006/relationships/font" Target="fonts/font2.fntdata"/><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15.10.2026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 là ngôn ngữ cấp trung, có mục đích chung, ban đầu được phát triển bởi nhà khoa học máy tính người Đan Mạch Bjarne Stroustrup vào năm 1979 tại Phòng thí nghiệm Bell Hoa Kỳ. Như nhiều bạn đã biết, ngôn ngữ lập trình cấp trung là sự kết hợp giữa ngôn ngữ lập trình cấp thấp và cấp cao. Ngôn ngữ C++ ban đầu được thiết kế như một phần mở rộng của ngôn ngữ C, được sử dụng rộng rãi trong lập trình hệ thống và hệ điều hành dựa trên Unix. Ngoài ra, C được phát triển vào năm 1970 bởi Dennis Ritchie khi còn ở Bell Labs (trước đây là AT&amp;T Bell Labs). Trong những năm qua, C++ đã trở thành một trong những ngôn ngữ lập trình được sử dụng rộng rãi nhất và có nhiều ứng dụng trong các lĩnh vực như chơi game, robot, tài chính và tính toán khoa học. Các nhà phát triển cũng đã giới thiệu một số phiên bản mới của ngôn ngữ với những thay đổi đáng kể trên tinh thần luôn cập nhật và cạnh tranh với các ngôn ngữ lập trình hiện đại khác. Vì vậy, chúng ta hãy xem dòng thời gian và lịch sử phiên bản của C++.</a:t>
            </a:r>
          </a:p>
          <a:p>
            <a:endParaRPr lang="en-US"/>
          </a:p>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 là ngôn ngữ cấp trung, có mục đích chung, ban đầu được phát triển bởi nhà khoa học máy tính người Đan Mạch Bjarne Stroustrup vào năm 1979 tại Phòng thí nghiệm Bell Hoa Kỳ. Như nhiều bạn đã biết, ngôn ngữ lập trình cấp trung là sự kết hợp giữa ngôn ngữ lập trình cấp thấp và cấp cao. Ngôn ngữ C++ ban đầu được thiết kế như một phần mở rộng của ngôn ngữ C, được sử dụng rộng rãi trong lập trình hệ thống và hệ điều hành dựa trên Unix. Ngoài ra, C được phát triển vào năm 1970 bởi Dennis Ritchie khi còn ở Bell Labs (trước đây là AT&amp;T Bell Labs). Trong những năm qua, C++ đã trở thành một trong những ngôn ngữ lập trình được sử dụng rộng rãi nhất và có nhiều ứng dụng trong các lĩnh vực như chơi game, robot, tài chính và tính toán khoa học. Các nhà phát triển cũng đã giới thiệu một số phiên bản mới của ngôn ngữ với những thay đổi đáng kể trên tinh thần luôn cập nhật và cạnh tranh với các ngôn ngữ lập trình hiện đại khác. Vì vậy, chúng ta hãy xem dòng thời gian và lịch sử phiên bản của C++.</a:t>
            </a:r>
          </a:p>
          <a:p>
            <a:endParaRPr lang="en-US"/>
          </a:p>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 là ngôn ngữ cấp trung, có mục đích chung, ban đầu được phát triển bởi nhà khoa học máy tính người Đan Mạch Bjarne Stroustrup vào năm 1979 tại Phòng thí nghiệm Bell Hoa Kỳ. Như nhiều bạn đã biết, ngôn ngữ lập trình cấp trung là sự kết hợp giữa ngôn ngữ lập trình cấp thấp và cấp cao. Ngôn ngữ C++ ban đầu được thiết kế như một phần mở rộng của ngôn ngữ C, được sử dụng rộng rãi trong lập trình hệ thống và hệ điều hành dựa trên Unix. Ngoài ra, C được phát triển vào năm 1970 bởi Dennis Ritchie khi còn ở Bell Labs (trước đây là AT&amp;T Bell Labs). Trong những năm qua, C++ đã trở thành một trong những ngôn ngữ lập trình được sử dụng rộng rãi nhất và có nhiều ứng dụng trong các lĩnh vực như chơi game, robot, tài chính và tính toán khoa học. Các nhà phát triển cũng đã giới thiệu một số phiên bản mới của ngôn ngữ với những thay đổi đáng kể trên tinh thần luôn cập nhật và cạnh tranh với các ngôn ngữ lập trình hiện đại khác. Vì vậy, chúng ta hãy xem dòng thời gian và lịch sử phiên bản của C++.</a:t>
            </a:r>
          </a:p>
          <a:p>
            <a:endParaRPr lang="en-US"/>
          </a:p>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 là ngôn ngữ cấp trung, có mục đích chung, ban đầu được phát triển bởi nhà khoa học máy tính người Đan Mạch Bjarne Stroustrup vào năm 1979 tại Phòng thí nghiệm Bell Hoa Kỳ. Như nhiều bạn đã biết, ngôn ngữ lập trình cấp trung là sự kết hợp giữa ngôn ngữ lập trình cấp thấp và cấp cao. Ngôn ngữ C++ ban đầu được thiết kế như một phần mở rộng của ngôn ngữ C, được sử dụng rộng rãi trong lập trình hệ thống và hệ điều hành dựa trên Unix. Ngoài ra, C được phát triển vào năm 1970 bởi Dennis Ritchie khi còn ở Bell Labs (trước đây là AT&amp;T Bell Labs). Trong những năm qua, C++ đã trở thành một trong những ngôn ngữ lập trình được sử dụng rộng rãi nhất và có nhiều ứng dụng trong các lĩnh vực như chơi game, robot, tài chính và tính toán khoa học. Các nhà phát triển cũng đã giới thiệu một số phiên bản mới của ngôn ngữ với những thay đổi đáng kể trên tinh thần luôn cập nhật và cạnh tranh với các ngôn ngữ lập trình hiện đại khác. Vì vậy, chúng ta hãy xem dòng thời gian và lịch sử phiên bản của C++.</a:t>
            </a:r>
          </a:p>
          <a:p>
            <a:endParaRPr lang="en-US"/>
          </a:p>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 là ngôn ngữ cấp trung, có mục đích chung, ban đầu được phát triển bởi nhà khoa học máy tính người Đan Mạch Bjarne Stroustrup vào năm 1979 tại Phòng thí nghiệm Bell Hoa Kỳ. Như nhiều bạn đã biết, ngôn ngữ lập trình cấp trung là sự kết hợp giữa ngôn ngữ lập trình cấp thấp và cấp cao. Ngôn ngữ C++ ban đầu được thiết kế như một phần mở rộng của ngôn ngữ C, được sử dụng rộng rãi trong lập trình hệ thống và hệ điều hành dựa trên Unix. Ngoài ra, C được phát triển vào năm 1970 bởi Dennis Ritchie khi còn ở Bell Labs (trước đây là AT&amp;T Bell Labs). Trong những năm qua, C++ đã trở thành một trong những ngôn ngữ lập trình được sử dụng rộng rãi nhất và có nhiều ứng dụng trong các lĩnh vực như chơi game, robot, tài chính và tính toán khoa học. Các nhà phát triển cũng đã giới thiệu một số phiên bản mới của ngôn ngữ với những thay đổi đáng kể trên tinh thần luôn cập nhật và cạnh tranh với các ngôn ngữ lập trình hiện đại khác. Vì vậy, chúng ta hãy xem dòng thời gian và lịch sử phiên bản của C++.</a:t>
            </a:r>
          </a:p>
          <a:p>
            <a:endParaRPr lang="en-US"/>
          </a:p>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3.gif"/><Relationship Id="rId2" Type="http://schemas.openxmlformats.org/officeDocument/2006/relationships/image" Target="../media/image12.sv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gif"/><Relationship Id="rId4" Type="http://schemas.openxmlformats.org/officeDocument/2006/relationships/image" Target="../media/image14.gi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3"/>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4"/>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4"/>
            <a:stretch>
              <a:fillRect t="-240" b="-240"/>
            </a:stretch>
          </a:blipFill>
        </p:spPr>
        <p:txBody>
          <a:bodyPr/>
          <a:lstStyle/>
          <a:p>
            <a:endParaRPr lang="en-VN"/>
          </a:p>
        </p:txBody>
      </p:sp>
      <p:sp>
        <p:nvSpPr>
          <p:cNvPr id="5" name="Freeform 5"/>
          <p:cNvSpPr/>
          <p:nvPr/>
        </p:nvSpPr>
        <p:spPr>
          <a:xfrm>
            <a:off x="-159806" y="0"/>
            <a:ext cx="18607612" cy="9206494"/>
          </a:xfrm>
          <a:custGeom>
            <a:avLst/>
            <a:gdLst/>
            <a:ahLst/>
            <a:cxnLst/>
            <a:rect l="l" t="t" r="r" b="b"/>
            <a:pathLst>
              <a:path w="18607612" h="9206494">
                <a:moveTo>
                  <a:pt x="0" y="0"/>
                </a:moveTo>
                <a:lnTo>
                  <a:pt x="18607612" y="0"/>
                </a:lnTo>
                <a:lnTo>
                  <a:pt x="18607612" y="9206494"/>
                </a:lnTo>
                <a:lnTo>
                  <a:pt x="0" y="9206494"/>
                </a:lnTo>
                <a:lnTo>
                  <a:pt x="0" y="0"/>
                </a:lnTo>
                <a:close/>
              </a:path>
            </a:pathLst>
          </a:custGeom>
          <a:blipFill>
            <a:blip r:embed="rId5">
              <a:alphaModFix amt="18999"/>
            </a:blip>
            <a:stretch>
              <a:fillRect t="-7746" b="-7746"/>
            </a:stretch>
          </a:blipFill>
        </p:spPr>
        <p:txBody>
          <a:bodyPr/>
          <a:lstStyle/>
          <a:p>
            <a:endParaRPr lang="en-VN" dirty="0"/>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grpSp>
        <p:nvGrpSpPr>
          <p:cNvPr id="8" name="Group 8"/>
          <p:cNvGrpSpPr/>
          <p:nvPr/>
        </p:nvGrpSpPr>
        <p:grpSpPr>
          <a:xfrm>
            <a:off x="9422720" y="6783689"/>
            <a:ext cx="9025085" cy="1493634"/>
            <a:chOff x="0" y="-9525"/>
            <a:chExt cx="12033447" cy="1991511"/>
          </a:xfrm>
        </p:grpSpPr>
        <p:sp>
          <p:nvSpPr>
            <p:cNvPr id="9" name="TextBox 9"/>
            <p:cNvSpPr txBox="1"/>
            <p:nvPr/>
          </p:nvSpPr>
          <p:spPr>
            <a:xfrm>
              <a:off x="0" y="-9525"/>
              <a:ext cx="12033447" cy="809625"/>
            </a:xfrm>
            <a:prstGeom prst="rect">
              <a:avLst/>
            </a:prstGeom>
          </p:spPr>
          <p:txBody>
            <a:bodyPr lIns="0" tIns="0" rIns="0" bIns="0" rtlCol="0" anchor="t">
              <a:spAutoFit/>
            </a:bodyPr>
            <a:lstStyle/>
            <a:p>
              <a:pPr algn="l">
                <a:lnSpc>
                  <a:spcPts val="4799"/>
                </a:lnSpc>
              </a:pPr>
              <a:r>
                <a:rPr lang="en-US" sz="3999" dirty="0" err="1">
                  <a:solidFill>
                    <a:srgbClr val="000000"/>
                  </a:solidFill>
                  <a:latin typeface="Montserrat" pitchFamily="2" charset="77"/>
                  <a:ea typeface="Arimo Bold Italics"/>
                  <a:cs typeface="Arimo Bold Italics"/>
                  <a:sym typeface="Arimo Bold Italics"/>
                </a:rPr>
                <a:t>Lĩnh</a:t>
              </a:r>
              <a:r>
                <a:rPr lang="en-US" sz="3999" dirty="0">
                  <a:solidFill>
                    <a:srgbClr val="000000"/>
                  </a:solidFill>
                  <a:latin typeface="Montserrat" pitchFamily="2" charset="77"/>
                  <a:ea typeface="Arimo Bold Italics"/>
                  <a:cs typeface="Arimo Bold Italics"/>
                  <a:sym typeface="Arimo Bold Italics"/>
                </a:rPr>
                <a:t> </a:t>
              </a:r>
              <a:r>
                <a:rPr lang="en-US" sz="3999" dirty="0" err="1">
                  <a:solidFill>
                    <a:srgbClr val="000000"/>
                  </a:solidFill>
                  <a:latin typeface="Montserrat" pitchFamily="2" charset="77"/>
                  <a:ea typeface="Arimo Bold Italics"/>
                  <a:cs typeface="Arimo Bold Italics"/>
                  <a:sym typeface="Arimo Bold Italics"/>
                </a:rPr>
                <a:t>vực</a:t>
              </a:r>
              <a:r>
                <a:rPr lang="en-US" sz="3999" dirty="0">
                  <a:solidFill>
                    <a:srgbClr val="000000"/>
                  </a:solidFill>
                  <a:latin typeface="Montserrat" pitchFamily="2" charset="77"/>
                  <a:ea typeface="Arimo Bold Italics"/>
                  <a:cs typeface="Arimo Bold Italics"/>
                  <a:sym typeface="Arimo Bold Italics"/>
                </a:rPr>
                <a:t>: AI</a:t>
              </a:r>
            </a:p>
          </p:txBody>
        </p:sp>
        <p:sp>
          <p:nvSpPr>
            <p:cNvPr id="10" name="TextBox 10"/>
            <p:cNvSpPr txBox="1"/>
            <p:nvPr/>
          </p:nvSpPr>
          <p:spPr>
            <a:xfrm>
              <a:off x="0" y="1200147"/>
              <a:ext cx="12033447" cy="781839"/>
            </a:xfrm>
            <a:prstGeom prst="rect">
              <a:avLst/>
            </a:prstGeom>
          </p:spPr>
          <p:txBody>
            <a:bodyPr lIns="0" tIns="0" rIns="0" bIns="0" rtlCol="0" anchor="t">
              <a:spAutoFit/>
            </a:bodyPr>
            <a:lstStyle/>
            <a:p>
              <a:pPr algn="l">
                <a:lnSpc>
                  <a:spcPts val="4799"/>
                </a:lnSpc>
              </a:pPr>
              <a:r>
                <a:rPr lang="en-US" sz="3999" dirty="0" err="1">
                  <a:solidFill>
                    <a:srgbClr val="000000"/>
                  </a:solidFill>
                  <a:latin typeface="Montserrat" pitchFamily="2" charset="77"/>
                  <a:ea typeface="Arimo Bold Italics"/>
                  <a:cs typeface="Times New Roman" panose="02020603050405020304" pitchFamily="18" charset="0"/>
                  <a:sym typeface="Arimo Bold Italics"/>
                </a:rPr>
                <a:t>Người</a:t>
              </a:r>
              <a:r>
                <a:rPr lang="en-US" sz="3999" dirty="0">
                  <a:solidFill>
                    <a:srgbClr val="000000"/>
                  </a:solidFill>
                  <a:latin typeface="Montserrat" pitchFamily="2" charset="77"/>
                  <a:ea typeface="Arimo Bold Italics"/>
                  <a:cs typeface="Times New Roman" panose="02020603050405020304" pitchFamily="18" charset="0"/>
                  <a:sym typeface="Arimo Bold Italics"/>
                </a:rPr>
                <a:t> </a:t>
              </a:r>
              <a:r>
                <a:rPr lang="en-US" sz="3999" dirty="0" err="1">
                  <a:solidFill>
                    <a:srgbClr val="000000"/>
                  </a:solidFill>
                  <a:latin typeface="Montserrat" pitchFamily="2" charset="77"/>
                  <a:ea typeface="Arimo Bold Italics"/>
                  <a:cs typeface="Times New Roman" panose="02020603050405020304" pitchFamily="18" charset="0"/>
                  <a:sym typeface="Arimo Bold Italics"/>
                </a:rPr>
                <a:t>hướng</a:t>
              </a:r>
              <a:r>
                <a:rPr lang="en-US" sz="3999" dirty="0">
                  <a:solidFill>
                    <a:srgbClr val="000000"/>
                  </a:solidFill>
                  <a:latin typeface="Montserrat" pitchFamily="2" charset="77"/>
                  <a:ea typeface="Arimo Bold Italics"/>
                  <a:cs typeface="Times New Roman" panose="02020603050405020304" pitchFamily="18" charset="0"/>
                  <a:sym typeface="Arimo Bold Italics"/>
                </a:rPr>
                <a:t> </a:t>
              </a:r>
              <a:r>
                <a:rPr lang="en-US" sz="3999" dirty="0" err="1">
                  <a:solidFill>
                    <a:srgbClr val="000000"/>
                  </a:solidFill>
                  <a:latin typeface="Montserrat" pitchFamily="2" charset="77"/>
                  <a:ea typeface="Arimo Bold Italics"/>
                  <a:cs typeface="Times New Roman" panose="02020603050405020304" pitchFamily="18" charset="0"/>
                  <a:sym typeface="Arimo Bold Italics"/>
                </a:rPr>
                <a:t>dẫn</a:t>
              </a:r>
              <a:r>
                <a:rPr lang="en-US" sz="3999" dirty="0">
                  <a:solidFill>
                    <a:srgbClr val="000000"/>
                  </a:solidFill>
                  <a:latin typeface="Montserrat" pitchFamily="2" charset="77"/>
                  <a:ea typeface="Arimo Bold Italics"/>
                  <a:cs typeface="Times New Roman" panose="02020603050405020304" pitchFamily="18" charset="0"/>
                  <a:sym typeface="Arimo Bold Italics"/>
                </a:rPr>
                <a:t>:</a:t>
              </a:r>
            </a:p>
          </p:txBody>
        </p:sp>
      </p:grpSp>
      <p:sp>
        <p:nvSpPr>
          <p:cNvPr id="11" name="TextBox 11"/>
          <p:cNvSpPr txBox="1"/>
          <p:nvPr/>
        </p:nvSpPr>
        <p:spPr>
          <a:xfrm>
            <a:off x="9422720" y="5910685"/>
            <a:ext cx="9025085" cy="609600"/>
          </a:xfrm>
          <a:prstGeom prst="rect">
            <a:avLst/>
          </a:prstGeom>
        </p:spPr>
        <p:txBody>
          <a:bodyPr lIns="0" tIns="0" rIns="0" bIns="0" rtlCol="0" anchor="t">
            <a:spAutoFit/>
          </a:bodyPr>
          <a:lstStyle/>
          <a:p>
            <a:pPr algn="l">
              <a:lnSpc>
                <a:spcPts val="4799"/>
              </a:lnSpc>
            </a:pPr>
            <a:r>
              <a:rPr lang="en-US" sz="3999" dirty="0" err="1">
                <a:solidFill>
                  <a:srgbClr val="000000"/>
                </a:solidFill>
                <a:latin typeface="Montserrat" pitchFamily="2" charset="77"/>
                <a:ea typeface="Arimo Bold Italics"/>
                <a:cs typeface="Arimo Bold Italics"/>
                <a:sym typeface="Arimo Bold Italics"/>
              </a:rPr>
              <a:t>Người</a:t>
            </a:r>
            <a:r>
              <a:rPr lang="en-US" sz="3999" dirty="0">
                <a:solidFill>
                  <a:srgbClr val="000000"/>
                </a:solidFill>
                <a:latin typeface="Montserrat" pitchFamily="2" charset="77"/>
                <a:ea typeface="Arimo Bold Italics"/>
                <a:cs typeface="Arimo Bold Italics"/>
                <a:sym typeface="Arimo Bold Italics"/>
              </a:rPr>
              <a:t> </a:t>
            </a:r>
            <a:r>
              <a:rPr lang="en-US" sz="3999" dirty="0" err="1">
                <a:solidFill>
                  <a:srgbClr val="000000"/>
                </a:solidFill>
                <a:latin typeface="Montserrat" pitchFamily="2" charset="77"/>
                <a:ea typeface="Arimo Bold Italics"/>
                <a:cs typeface="Arimo Bold Italics"/>
                <a:sym typeface="Arimo Bold Italics"/>
              </a:rPr>
              <a:t>thực</a:t>
            </a:r>
            <a:r>
              <a:rPr lang="en-US" sz="3999" dirty="0">
                <a:solidFill>
                  <a:srgbClr val="000000"/>
                </a:solidFill>
                <a:latin typeface="Montserrat" pitchFamily="2" charset="77"/>
                <a:ea typeface="Arimo Bold Italics"/>
                <a:cs typeface="Arimo Bold Italics"/>
                <a:sym typeface="Arimo Bold Italics"/>
              </a:rPr>
              <a:t> </a:t>
            </a:r>
            <a:r>
              <a:rPr lang="en-US" sz="3999" dirty="0" err="1">
                <a:solidFill>
                  <a:srgbClr val="000000"/>
                </a:solidFill>
                <a:latin typeface="Montserrat" pitchFamily="2" charset="77"/>
                <a:ea typeface="Arimo Bold Italics"/>
                <a:cs typeface="Arimo Bold Italics"/>
                <a:sym typeface="Arimo Bold Italics"/>
              </a:rPr>
              <a:t>hiện</a:t>
            </a:r>
            <a:r>
              <a:rPr lang="en-US" sz="3999" dirty="0">
                <a:solidFill>
                  <a:srgbClr val="000000"/>
                </a:solidFill>
                <a:latin typeface="Montserrat" pitchFamily="2" charset="77"/>
                <a:ea typeface="Arimo Bold Italics"/>
                <a:cs typeface="Arimo Bold Italics"/>
                <a:sym typeface="Arimo Bold Italics"/>
              </a:rPr>
              <a:t>: </a:t>
            </a:r>
            <a:r>
              <a:rPr lang="en-US" sz="3999" dirty="0" err="1">
                <a:solidFill>
                  <a:srgbClr val="000000"/>
                </a:solidFill>
                <a:latin typeface="Montserrat" pitchFamily="2" charset="77"/>
                <a:ea typeface="Arimo Bold Italics"/>
                <a:cs typeface="Arimo Bold Italics"/>
                <a:sym typeface="Arimo Bold Italics"/>
              </a:rPr>
              <a:t>Tô</a:t>
            </a:r>
            <a:r>
              <a:rPr lang="en-US" sz="3999" dirty="0">
                <a:solidFill>
                  <a:srgbClr val="000000"/>
                </a:solidFill>
                <a:latin typeface="Montserrat" pitchFamily="2" charset="77"/>
                <a:ea typeface="Arimo Bold Italics"/>
                <a:cs typeface="Arimo Bold Italics"/>
                <a:sym typeface="Arimo Bold Italics"/>
              </a:rPr>
              <a:t> Duy An</a:t>
            </a:r>
          </a:p>
        </p:txBody>
      </p:sp>
      <p:sp>
        <p:nvSpPr>
          <p:cNvPr id="12" name="TextBox 12"/>
          <p:cNvSpPr txBox="1"/>
          <p:nvPr/>
        </p:nvSpPr>
        <p:spPr>
          <a:xfrm>
            <a:off x="361024" y="3892296"/>
            <a:ext cx="17565952" cy="627095"/>
          </a:xfrm>
          <a:prstGeom prst="rect">
            <a:avLst/>
          </a:prstGeom>
        </p:spPr>
        <p:txBody>
          <a:bodyPr lIns="0" tIns="0" rIns="0" bIns="0" rtlCol="0" anchor="t">
            <a:spAutoFit/>
          </a:bodyPr>
          <a:lstStyle/>
          <a:p>
            <a:pPr algn="ctr">
              <a:lnSpc>
                <a:spcPts val="4300"/>
              </a:lnSpc>
            </a:pPr>
            <a:r>
              <a:rPr lang="en-US" sz="3600" dirty="0">
                <a:solidFill>
                  <a:srgbClr val="404155"/>
                </a:solidFill>
                <a:latin typeface="Poppins Bold"/>
                <a:ea typeface="Poppins Bold"/>
                <a:cs typeface="Poppins Bold"/>
                <a:sym typeface="Poppins Bold"/>
              </a:rPr>
              <a:t>Non-verbal vocalizations for zero-shot Vietnamese TTS</a:t>
            </a:r>
          </a:p>
        </p:txBody>
      </p:sp>
      <p:sp>
        <p:nvSpPr>
          <p:cNvPr id="13" name="TextBox 13"/>
          <p:cNvSpPr txBox="1"/>
          <p:nvPr/>
        </p:nvSpPr>
        <p:spPr>
          <a:xfrm>
            <a:off x="356616" y="1728216"/>
            <a:ext cx="17565624" cy="1042416"/>
          </a:xfrm>
          <a:prstGeom prst="rect">
            <a:avLst/>
          </a:prstGeom>
        </p:spPr>
        <p:txBody>
          <a:bodyPr lIns="0" tIns="0" rIns="0" bIns="0" rtlCol="0" anchor="t">
            <a:spAutoFit/>
          </a:bodyPr>
          <a:lstStyle/>
          <a:p>
            <a:pPr algn="ctr">
              <a:lnSpc>
                <a:spcPts val="7880"/>
              </a:lnSpc>
            </a:pPr>
            <a:r>
              <a:rPr lang="en-US" sz="7577" dirty="0">
                <a:solidFill>
                  <a:srgbClr val="000000"/>
                </a:solidFill>
                <a:latin typeface="Calistoga"/>
                <a:ea typeface="Calistoga"/>
                <a:cs typeface="Calistoga"/>
                <a:sym typeface="Calistoga"/>
              </a:rPr>
              <a:t>Vietnamese NVV TTS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04453"/>
        </a:solidFill>
        <a:effectLst/>
      </p:bgPr>
    </p:bg>
    <p:spTree>
      <p:nvGrpSpPr>
        <p:cNvPr id="1" name=""/>
        <p:cNvGrpSpPr/>
        <p:nvPr/>
      </p:nvGrpSpPr>
      <p:grpSpPr>
        <a:xfrm>
          <a:off x="0" y="0"/>
          <a:ext cx="0" cy="0"/>
          <a:chOff x="0" y="0"/>
          <a:chExt cx="0" cy="0"/>
        </a:xfrm>
      </p:grpSpPr>
      <p:sp>
        <p:nvSpPr>
          <p:cNvPr id="2" name="Freeform 2"/>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TextBox 4"/>
          <p:cNvSpPr txBox="1"/>
          <p:nvPr/>
        </p:nvSpPr>
        <p:spPr>
          <a:xfrm>
            <a:off x="1016858" y="4122746"/>
            <a:ext cx="16242442" cy="1230630"/>
          </a:xfrm>
          <a:prstGeom prst="rect">
            <a:avLst/>
          </a:prstGeom>
        </p:spPr>
        <p:txBody>
          <a:bodyPr lIns="0" tIns="0" rIns="0" bIns="0" rtlCol="0" anchor="t">
            <a:spAutoFit/>
          </a:bodyPr>
          <a:lstStyle/>
          <a:p>
            <a:pPr algn="ctr">
              <a:lnSpc>
                <a:spcPts val="8320"/>
              </a:lnSpc>
            </a:pPr>
            <a:r>
              <a:rPr lang="en-US" sz="8000" dirty="0">
                <a:solidFill>
                  <a:srgbClr val="FFFFFF"/>
                </a:solidFill>
                <a:latin typeface="Calistoga"/>
                <a:ea typeface="Calistoga"/>
                <a:cs typeface="Calistoga"/>
                <a:sym typeface="Calistoga"/>
              </a:rPr>
              <a:t>Method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3"/>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4"/>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4"/>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Overview</a:t>
            </a:r>
          </a:p>
        </p:txBody>
      </p:sp>
      <p:sp>
        <p:nvSpPr>
          <p:cNvPr id="8" name="TextBox 8"/>
          <p:cNvSpPr txBox="1"/>
          <p:nvPr/>
        </p:nvSpPr>
        <p:spPr>
          <a:xfrm>
            <a:off x="1024128" y="2240280"/>
            <a:ext cx="16248888" cy="1188720"/>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We synthesize tagged Vietnamese NVV speech, then fine-tune OmniVoice so an inline tag such as [laughter] produces that sound in the cloned voice.</a:t>
            </a:r>
          </a:p>
        </p:txBody>
      </p:sp>
      <p:pic>
        <p:nvPicPr>
          <p:cNvPr id="9" name="Figure overview" descr="Overview: (a) training-data synthesis in six steps, (b) fine-tuning and inference"/>
          <p:cNvPicPr>
            <a:picLocks noChangeAspect="1"/>
          </p:cNvPicPr>
          <p:nvPr/>
        </p:nvPicPr>
        <p:blipFill>
          <a:blip r:embed="rId5"/>
          <a:stretch>
            <a:fillRect/>
          </a:stretch>
        </p:blipFill>
        <p:spPr>
          <a:xfrm>
            <a:off x="4906710" y="3611880"/>
            <a:ext cx="8474579" cy="544068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04453"/>
        </a:solidFill>
        <a:effectLst/>
      </p:bgPr>
    </p:bg>
    <p:spTree>
      <p:nvGrpSpPr>
        <p:cNvPr id="1" name=""/>
        <p:cNvGrpSpPr/>
        <p:nvPr/>
      </p:nvGrpSpPr>
      <p:grpSpPr>
        <a:xfrm>
          <a:off x="0" y="0"/>
          <a:ext cx="0" cy="0"/>
          <a:chOff x="0" y="0"/>
          <a:chExt cx="0" cy="0"/>
        </a:xfrm>
      </p:grpSpPr>
      <p:sp>
        <p:nvSpPr>
          <p:cNvPr id="2" name="Freeform 2"/>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TextBox 4"/>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5" name="TextBox 5"/>
          <p:cNvSpPr txBox="1"/>
          <p:nvPr/>
        </p:nvSpPr>
        <p:spPr>
          <a:xfrm>
            <a:off x="1016858" y="4122746"/>
            <a:ext cx="16242442" cy="1230630"/>
          </a:xfrm>
          <a:prstGeom prst="rect">
            <a:avLst/>
          </a:prstGeom>
        </p:spPr>
        <p:txBody>
          <a:bodyPr lIns="0" tIns="0" rIns="0" bIns="0" rtlCol="0" anchor="t">
            <a:spAutoFit/>
          </a:bodyPr>
          <a:lstStyle/>
          <a:p>
            <a:pPr algn="ctr">
              <a:lnSpc>
                <a:spcPts val="8320"/>
              </a:lnSpc>
            </a:pPr>
            <a:r>
              <a:rPr lang="en-US" sz="8000" dirty="0">
                <a:solidFill>
                  <a:srgbClr val="FFFFFF"/>
                </a:solidFill>
                <a:latin typeface="Calistoga"/>
                <a:ea typeface="Calistoga"/>
                <a:cs typeface="Calistoga"/>
                <a:sym typeface="Calistoga"/>
              </a:rPr>
              <a:t>Training-data synthesis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2"/>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NVV clip pool</a:t>
            </a:r>
          </a:p>
        </p:txBody>
      </p:sp>
      <p:sp>
        <p:nvSpPr>
          <p:cNvPr id="8" name="TextBox 8"/>
          <p:cNvSpPr txBox="1"/>
          <p:nvPr/>
        </p:nvSpPr>
        <p:spPr>
          <a:xfrm>
            <a:off x="1024128" y="2240280"/>
            <a:ext cx="16248888" cy="1188720"/>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Built once before synthesis: clean, isolated NVV clips pooled from several corpora into 14 classes.</a:t>
            </a:r>
          </a:p>
        </p:txBody>
      </p:sp>
      <p:sp>
        <p:nvSpPr>
          <p:cNvPr id="9" name="Step 0"/>
          <p:cNvSpPr txBox="1"/>
          <p:nvPr/>
        </p:nvSpPr>
        <p:spPr>
          <a:xfrm>
            <a:off x="1531620" y="8229600"/>
            <a:ext cx="2057400" cy="457200"/>
          </a:xfrm>
          <a:prstGeom prst="roundRect">
            <a:avLst>
              <a:gd name="adj" fmla="val 50000"/>
            </a:avLst>
          </a:prstGeom>
          <a:solidFill>
            <a:srgbClr val="E80500"/>
          </a:solidFill>
          <a:ln>
            <a:noFill/>
          </a:ln>
        </p:spPr>
        <p:txBody>
          <a:bodyPr wrap="square" lIns="45720" tIns="0" rIns="45720" bIns="0" rtlCol="0" anchor="ctr">
            <a:noAutofit/>
          </a:bodyPr>
          <a:lstStyle/>
          <a:p>
            <a:pPr algn="ctr"/>
            <a:r>
              <a:rPr lang="en-US" sz="1600" dirty="0">
                <a:solidFill>
                  <a:srgbClr val="FFFFFF"/>
                </a:solidFill>
                <a:latin typeface="Arimo Bold"/>
                <a:ea typeface="Arimo Bold"/>
                <a:cs typeface="Arimo Bold"/>
                <a:sym typeface="Arimo Bold"/>
              </a:rPr>
              <a:t>Clip pool</a:t>
            </a:r>
          </a:p>
        </p:txBody>
      </p:sp>
      <p:sp>
        <p:nvSpPr>
          <p:cNvPr id="10" name="Step 1"/>
          <p:cNvSpPr txBox="1"/>
          <p:nvPr/>
        </p:nvSpPr>
        <p:spPr>
          <a:xfrm>
            <a:off x="372618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1  Slot finding</a:t>
            </a:r>
          </a:p>
        </p:txBody>
      </p:sp>
      <p:sp>
        <p:nvSpPr>
          <p:cNvPr id="11" name="Step 2"/>
          <p:cNvSpPr txBox="1"/>
          <p:nvPr/>
        </p:nvSpPr>
        <p:spPr>
          <a:xfrm>
            <a:off x="592074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2  Tag selection</a:t>
            </a:r>
          </a:p>
        </p:txBody>
      </p:sp>
      <p:sp>
        <p:nvSpPr>
          <p:cNvPr id="12" name="Step 3"/>
          <p:cNvSpPr txBox="1"/>
          <p:nvPr/>
        </p:nvSpPr>
        <p:spPr>
          <a:xfrm>
            <a:off x="811530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3  Clip selection</a:t>
            </a:r>
          </a:p>
        </p:txBody>
      </p:sp>
      <p:sp>
        <p:nvSpPr>
          <p:cNvPr id="13" name="Step 4"/>
          <p:cNvSpPr txBox="1"/>
          <p:nvPr/>
        </p:nvSpPr>
        <p:spPr>
          <a:xfrm>
            <a:off x="1030986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4  Voice conversion</a:t>
            </a:r>
          </a:p>
        </p:txBody>
      </p:sp>
      <p:sp>
        <p:nvSpPr>
          <p:cNvPr id="14" name="Step 5"/>
          <p:cNvSpPr txBox="1"/>
          <p:nvPr/>
        </p:nvSpPr>
        <p:spPr>
          <a:xfrm>
            <a:off x="1250442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5  Splicing</a:t>
            </a:r>
          </a:p>
        </p:txBody>
      </p:sp>
      <p:sp>
        <p:nvSpPr>
          <p:cNvPr id="15" name="Step 6"/>
          <p:cNvSpPr txBox="1"/>
          <p:nvPr/>
        </p:nvSpPr>
        <p:spPr>
          <a:xfrm>
            <a:off x="1469898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6  Filter</a:t>
            </a:r>
          </a:p>
        </p:txBody>
      </p:sp>
      <p:sp>
        <p:nvSpPr>
          <p:cNvPr id="16" name="Group From VocalSound"/>
          <p:cNvSpPr txBox="1"/>
          <p:nvPr/>
        </p:nvSpPr>
        <p:spPr>
          <a:xfrm>
            <a:off x="1531620" y="3749040"/>
            <a:ext cx="15224760" cy="457200"/>
          </a:xfrm>
          <a:prstGeom prst="rect">
            <a:avLst/>
          </a:prstGeom>
          <a:noFill/>
          <a:ln>
            <a:noFill/>
          </a:ln>
        </p:spPr>
        <p:txBody>
          <a:bodyPr wrap="square" lIns="45720" tIns="0" rIns="45720" bIns="0" rtlCol="0" anchor="t">
            <a:noAutofit/>
          </a:bodyPr>
          <a:lstStyle/>
          <a:p>
            <a:pPr algn="l"/>
            <a:r>
              <a:rPr lang="en-US" sz="2400" dirty="0">
                <a:solidFill>
                  <a:srgbClr val="404155"/>
                </a:solidFill>
                <a:latin typeface="Arimo Bold"/>
                <a:ea typeface="Arimo Bold"/>
                <a:cs typeface="Arimo Bold"/>
                <a:sym typeface="Arimo Bold"/>
              </a:rPr>
              <a:t>From VocalSound</a:t>
            </a:r>
          </a:p>
        </p:txBody>
      </p:sp>
      <p:sp>
        <p:nvSpPr>
          <p:cNvPr id="17" name="Tag laughter"/>
          <p:cNvSpPr txBox="1"/>
          <p:nvPr/>
        </p:nvSpPr>
        <p:spPr>
          <a:xfrm>
            <a:off x="1531620" y="4389120"/>
            <a:ext cx="242316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[laughter]</a:t>
            </a:r>
          </a:p>
        </p:txBody>
      </p:sp>
      <p:sp>
        <p:nvSpPr>
          <p:cNvPr id="18" name="Tag sigh"/>
          <p:cNvSpPr txBox="1"/>
          <p:nvPr/>
        </p:nvSpPr>
        <p:spPr>
          <a:xfrm>
            <a:off x="4091940" y="4389120"/>
            <a:ext cx="242316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[sigh]</a:t>
            </a:r>
          </a:p>
        </p:txBody>
      </p:sp>
      <p:sp>
        <p:nvSpPr>
          <p:cNvPr id="19" name="Tag cough"/>
          <p:cNvSpPr txBox="1"/>
          <p:nvPr/>
        </p:nvSpPr>
        <p:spPr>
          <a:xfrm>
            <a:off x="6652260" y="4389120"/>
            <a:ext cx="242316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[cough]</a:t>
            </a:r>
          </a:p>
        </p:txBody>
      </p:sp>
      <p:sp>
        <p:nvSpPr>
          <p:cNvPr id="20" name="Tag throatclearing"/>
          <p:cNvSpPr txBox="1"/>
          <p:nvPr/>
        </p:nvSpPr>
        <p:spPr>
          <a:xfrm>
            <a:off x="9212580" y="4389120"/>
            <a:ext cx="242316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[throatclearing]</a:t>
            </a:r>
          </a:p>
        </p:txBody>
      </p:sp>
      <p:sp>
        <p:nvSpPr>
          <p:cNvPr id="21" name="Tag sneeze"/>
          <p:cNvSpPr txBox="1"/>
          <p:nvPr/>
        </p:nvSpPr>
        <p:spPr>
          <a:xfrm>
            <a:off x="11772900" y="4389120"/>
            <a:ext cx="242316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[sneeze]</a:t>
            </a:r>
          </a:p>
        </p:txBody>
      </p:sp>
      <p:sp>
        <p:nvSpPr>
          <p:cNvPr id="22" name="Tag sniff"/>
          <p:cNvSpPr txBox="1"/>
          <p:nvPr/>
        </p:nvSpPr>
        <p:spPr>
          <a:xfrm>
            <a:off x="14333220" y="4389120"/>
            <a:ext cx="242316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[sniff]</a:t>
            </a:r>
          </a:p>
        </p:txBody>
      </p:sp>
      <p:sp>
        <p:nvSpPr>
          <p:cNvPr id="23" name="Group Added from other NVV corpora and tagged speech"/>
          <p:cNvSpPr txBox="1"/>
          <p:nvPr/>
        </p:nvSpPr>
        <p:spPr>
          <a:xfrm>
            <a:off x="1531620" y="5760720"/>
            <a:ext cx="15224760" cy="457200"/>
          </a:xfrm>
          <a:prstGeom prst="rect">
            <a:avLst/>
          </a:prstGeom>
          <a:noFill/>
          <a:ln>
            <a:noFill/>
          </a:ln>
        </p:spPr>
        <p:txBody>
          <a:bodyPr wrap="square" lIns="45720" tIns="0" rIns="45720" bIns="0" rtlCol="0" anchor="t">
            <a:noAutofit/>
          </a:bodyPr>
          <a:lstStyle/>
          <a:p>
            <a:pPr algn="l"/>
            <a:r>
              <a:rPr lang="en-US" sz="2400" dirty="0">
                <a:solidFill>
                  <a:srgbClr val="404155"/>
                </a:solidFill>
                <a:latin typeface="Arimo Bold"/>
                <a:ea typeface="Arimo Bold"/>
                <a:cs typeface="Arimo Bold"/>
                <a:sym typeface="Arimo Bold"/>
              </a:rPr>
              <a:t>Added from other NVV corpora and tagged speech</a:t>
            </a:r>
          </a:p>
        </p:txBody>
      </p:sp>
      <p:sp>
        <p:nvSpPr>
          <p:cNvPr id="24" name="Tag breathing"/>
          <p:cNvSpPr txBox="1"/>
          <p:nvPr/>
        </p:nvSpPr>
        <p:spPr>
          <a:xfrm>
            <a:off x="1531620" y="6400800"/>
            <a:ext cx="178308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[breathing]</a:t>
            </a:r>
          </a:p>
        </p:txBody>
      </p:sp>
      <p:sp>
        <p:nvSpPr>
          <p:cNvPr id="25" name="Tag screaming"/>
          <p:cNvSpPr txBox="1"/>
          <p:nvPr/>
        </p:nvSpPr>
        <p:spPr>
          <a:xfrm>
            <a:off x="3451860" y="6400800"/>
            <a:ext cx="178308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[screaming]</a:t>
            </a:r>
          </a:p>
        </p:txBody>
      </p:sp>
      <p:sp>
        <p:nvSpPr>
          <p:cNvPr id="26" name="Tag gasp"/>
          <p:cNvSpPr txBox="1"/>
          <p:nvPr/>
        </p:nvSpPr>
        <p:spPr>
          <a:xfrm>
            <a:off x="5372100" y="6400800"/>
            <a:ext cx="178308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[gasp]</a:t>
            </a:r>
          </a:p>
        </p:txBody>
      </p:sp>
      <p:sp>
        <p:nvSpPr>
          <p:cNvPr id="27" name="Tag snoring"/>
          <p:cNvSpPr txBox="1"/>
          <p:nvPr/>
        </p:nvSpPr>
        <p:spPr>
          <a:xfrm>
            <a:off x="7292340" y="6400800"/>
            <a:ext cx="178308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[snoring]</a:t>
            </a:r>
          </a:p>
        </p:txBody>
      </p:sp>
      <p:sp>
        <p:nvSpPr>
          <p:cNvPr id="28" name="Tag crying"/>
          <p:cNvSpPr txBox="1"/>
          <p:nvPr/>
        </p:nvSpPr>
        <p:spPr>
          <a:xfrm>
            <a:off x="9212580" y="6400800"/>
            <a:ext cx="178308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[crying]</a:t>
            </a:r>
          </a:p>
        </p:txBody>
      </p:sp>
      <p:sp>
        <p:nvSpPr>
          <p:cNvPr id="29" name="Tag yawn"/>
          <p:cNvSpPr txBox="1"/>
          <p:nvPr/>
        </p:nvSpPr>
        <p:spPr>
          <a:xfrm>
            <a:off x="11132820" y="6400800"/>
            <a:ext cx="178308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[yawn]</a:t>
            </a:r>
          </a:p>
        </p:txBody>
      </p:sp>
      <p:sp>
        <p:nvSpPr>
          <p:cNvPr id="30" name="Tag moan"/>
          <p:cNvSpPr txBox="1"/>
          <p:nvPr/>
        </p:nvSpPr>
        <p:spPr>
          <a:xfrm>
            <a:off x="13053060" y="6400800"/>
            <a:ext cx="178308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[moan]</a:t>
            </a:r>
          </a:p>
        </p:txBody>
      </p:sp>
      <p:sp>
        <p:nvSpPr>
          <p:cNvPr id="31" name="Tag pant"/>
          <p:cNvSpPr txBox="1"/>
          <p:nvPr/>
        </p:nvSpPr>
        <p:spPr>
          <a:xfrm>
            <a:off x="14973300" y="6400800"/>
            <a:ext cx="178308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[pant]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2"/>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Slot finding</a:t>
            </a:r>
          </a:p>
        </p:txBody>
      </p:sp>
      <p:sp>
        <p:nvSpPr>
          <p:cNvPr id="8" name="TextBox 8"/>
          <p:cNvSpPr txBox="1"/>
          <p:nvPr/>
        </p:nvSpPr>
        <p:spPr>
          <a:xfrm>
            <a:off x="1024128" y="2240280"/>
            <a:ext cx="16248888" cy="1188720"/>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A voice activity detector and a forced aligner find the pauses between words, and each becomes a numbered slot in the transcript.</a:t>
            </a:r>
          </a:p>
        </p:txBody>
      </p:sp>
      <p:pic>
        <p:nvPicPr>
          <p:cNvPr id="9" name="Figure slot" descr="Waveform with two pauses marked as slots &lt;1&gt; and &lt;2&gt; in the transcript"/>
          <p:cNvPicPr>
            <a:picLocks noChangeAspect="1"/>
          </p:cNvPicPr>
          <p:nvPr/>
        </p:nvPicPr>
        <p:blipFill>
          <a:blip r:embed="rId4"/>
          <a:stretch>
            <a:fillRect/>
          </a:stretch>
        </p:blipFill>
        <p:spPr>
          <a:xfrm>
            <a:off x="4151350" y="3657600"/>
            <a:ext cx="9985300" cy="4206240"/>
          </a:xfrm>
          <a:prstGeom prst="rect">
            <a:avLst/>
          </a:prstGeom>
        </p:spPr>
      </p:pic>
      <p:sp>
        <p:nvSpPr>
          <p:cNvPr id="10" name="Step 0"/>
          <p:cNvSpPr txBox="1"/>
          <p:nvPr/>
        </p:nvSpPr>
        <p:spPr>
          <a:xfrm>
            <a:off x="153162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Clip pool</a:t>
            </a:r>
          </a:p>
        </p:txBody>
      </p:sp>
      <p:sp>
        <p:nvSpPr>
          <p:cNvPr id="11" name="Step 1"/>
          <p:cNvSpPr txBox="1"/>
          <p:nvPr/>
        </p:nvSpPr>
        <p:spPr>
          <a:xfrm>
            <a:off x="3726180" y="8229600"/>
            <a:ext cx="2057400" cy="457200"/>
          </a:xfrm>
          <a:prstGeom prst="roundRect">
            <a:avLst>
              <a:gd name="adj" fmla="val 50000"/>
            </a:avLst>
          </a:prstGeom>
          <a:solidFill>
            <a:srgbClr val="E80500"/>
          </a:solidFill>
          <a:ln>
            <a:noFill/>
          </a:ln>
        </p:spPr>
        <p:txBody>
          <a:bodyPr wrap="square" lIns="45720" tIns="0" rIns="45720" bIns="0" rtlCol="0" anchor="ctr">
            <a:noAutofit/>
          </a:bodyPr>
          <a:lstStyle/>
          <a:p>
            <a:pPr algn="ctr"/>
            <a:r>
              <a:rPr lang="en-US" sz="1600" dirty="0">
                <a:solidFill>
                  <a:srgbClr val="FFFFFF"/>
                </a:solidFill>
                <a:latin typeface="Arimo Bold"/>
                <a:ea typeface="Arimo Bold"/>
                <a:cs typeface="Arimo Bold"/>
                <a:sym typeface="Arimo Bold"/>
              </a:rPr>
              <a:t>1  Slot finding</a:t>
            </a:r>
          </a:p>
        </p:txBody>
      </p:sp>
      <p:sp>
        <p:nvSpPr>
          <p:cNvPr id="12" name="Step 2"/>
          <p:cNvSpPr txBox="1"/>
          <p:nvPr/>
        </p:nvSpPr>
        <p:spPr>
          <a:xfrm>
            <a:off x="592074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2  Tag selection</a:t>
            </a:r>
          </a:p>
        </p:txBody>
      </p:sp>
      <p:sp>
        <p:nvSpPr>
          <p:cNvPr id="13" name="Step 3"/>
          <p:cNvSpPr txBox="1"/>
          <p:nvPr/>
        </p:nvSpPr>
        <p:spPr>
          <a:xfrm>
            <a:off x="811530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3  Clip selection</a:t>
            </a:r>
          </a:p>
        </p:txBody>
      </p:sp>
      <p:sp>
        <p:nvSpPr>
          <p:cNvPr id="14" name="Step 4"/>
          <p:cNvSpPr txBox="1"/>
          <p:nvPr/>
        </p:nvSpPr>
        <p:spPr>
          <a:xfrm>
            <a:off x="1030986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4  Voice conversion</a:t>
            </a:r>
          </a:p>
        </p:txBody>
      </p:sp>
      <p:sp>
        <p:nvSpPr>
          <p:cNvPr id="15" name="Step 5"/>
          <p:cNvSpPr txBox="1"/>
          <p:nvPr/>
        </p:nvSpPr>
        <p:spPr>
          <a:xfrm>
            <a:off x="1250442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5  Splicing</a:t>
            </a:r>
          </a:p>
        </p:txBody>
      </p:sp>
      <p:sp>
        <p:nvSpPr>
          <p:cNvPr id="16" name="Step 6"/>
          <p:cNvSpPr txBox="1"/>
          <p:nvPr/>
        </p:nvSpPr>
        <p:spPr>
          <a:xfrm>
            <a:off x="1469898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6  Filter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2"/>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Tag selection</a:t>
            </a:r>
          </a:p>
        </p:txBody>
      </p:sp>
      <p:sp>
        <p:nvSpPr>
          <p:cNvPr id="8" name="TextBox 8"/>
          <p:cNvSpPr txBox="1"/>
          <p:nvPr/>
        </p:nvSpPr>
        <p:spPr>
          <a:xfrm>
            <a:off x="1024128" y="2240280"/>
            <a:ext cx="16248888" cy="1188720"/>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Qwen3-Omni listens to the recording and picks one slot and the NVV tag that best fits what the speaker is doing there.</a:t>
            </a:r>
          </a:p>
        </p:txBody>
      </p:sp>
      <p:pic>
        <p:nvPicPr>
          <p:cNvPr id="9" name="Figure tag" descr="Audio and slots go into Qwen3-Omni, which outputs slot &lt;1&gt; with tag [laughter]"/>
          <p:cNvPicPr>
            <a:picLocks noChangeAspect="1"/>
          </p:cNvPicPr>
          <p:nvPr/>
        </p:nvPicPr>
        <p:blipFill>
          <a:blip r:embed="rId4"/>
          <a:stretch>
            <a:fillRect/>
          </a:stretch>
        </p:blipFill>
        <p:spPr>
          <a:xfrm>
            <a:off x="3901779" y="3657600"/>
            <a:ext cx="10484443" cy="4206240"/>
          </a:xfrm>
          <a:prstGeom prst="rect">
            <a:avLst/>
          </a:prstGeom>
        </p:spPr>
      </p:pic>
      <p:sp>
        <p:nvSpPr>
          <p:cNvPr id="10" name="Step 0"/>
          <p:cNvSpPr txBox="1"/>
          <p:nvPr/>
        </p:nvSpPr>
        <p:spPr>
          <a:xfrm>
            <a:off x="153162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Clip pool</a:t>
            </a:r>
          </a:p>
        </p:txBody>
      </p:sp>
      <p:sp>
        <p:nvSpPr>
          <p:cNvPr id="11" name="Step 1"/>
          <p:cNvSpPr txBox="1"/>
          <p:nvPr/>
        </p:nvSpPr>
        <p:spPr>
          <a:xfrm>
            <a:off x="372618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1  Slot finding</a:t>
            </a:r>
          </a:p>
        </p:txBody>
      </p:sp>
      <p:sp>
        <p:nvSpPr>
          <p:cNvPr id="12" name="Step 2"/>
          <p:cNvSpPr txBox="1"/>
          <p:nvPr/>
        </p:nvSpPr>
        <p:spPr>
          <a:xfrm>
            <a:off x="5920740" y="8229600"/>
            <a:ext cx="2057400" cy="457200"/>
          </a:xfrm>
          <a:prstGeom prst="roundRect">
            <a:avLst>
              <a:gd name="adj" fmla="val 50000"/>
            </a:avLst>
          </a:prstGeom>
          <a:solidFill>
            <a:srgbClr val="E80500"/>
          </a:solidFill>
          <a:ln>
            <a:noFill/>
          </a:ln>
        </p:spPr>
        <p:txBody>
          <a:bodyPr wrap="square" lIns="45720" tIns="0" rIns="45720" bIns="0" rtlCol="0" anchor="ctr">
            <a:noAutofit/>
          </a:bodyPr>
          <a:lstStyle/>
          <a:p>
            <a:pPr algn="ctr"/>
            <a:r>
              <a:rPr lang="en-US" sz="1600" dirty="0">
                <a:solidFill>
                  <a:srgbClr val="FFFFFF"/>
                </a:solidFill>
                <a:latin typeface="Arimo Bold"/>
                <a:ea typeface="Arimo Bold"/>
                <a:cs typeface="Arimo Bold"/>
                <a:sym typeface="Arimo Bold"/>
              </a:rPr>
              <a:t>2  Tag selection</a:t>
            </a:r>
          </a:p>
        </p:txBody>
      </p:sp>
      <p:sp>
        <p:nvSpPr>
          <p:cNvPr id="13" name="Step 3"/>
          <p:cNvSpPr txBox="1"/>
          <p:nvPr/>
        </p:nvSpPr>
        <p:spPr>
          <a:xfrm>
            <a:off x="811530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3  Clip selection</a:t>
            </a:r>
          </a:p>
        </p:txBody>
      </p:sp>
      <p:sp>
        <p:nvSpPr>
          <p:cNvPr id="14" name="Step 4"/>
          <p:cNvSpPr txBox="1"/>
          <p:nvPr/>
        </p:nvSpPr>
        <p:spPr>
          <a:xfrm>
            <a:off x="1030986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4  Voice conversion</a:t>
            </a:r>
          </a:p>
        </p:txBody>
      </p:sp>
      <p:sp>
        <p:nvSpPr>
          <p:cNvPr id="15" name="Step 5"/>
          <p:cNvSpPr txBox="1"/>
          <p:nvPr/>
        </p:nvSpPr>
        <p:spPr>
          <a:xfrm>
            <a:off x="1250442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5  Splicing</a:t>
            </a:r>
          </a:p>
        </p:txBody>
      </p:sp>
      <p:sp>
        <p:nvSpPr>
          <p:cNvPr id="16" name="Step 6"/>
          <p:cNvSpPr txBox="1"/>
          <p:nvPr/>
        </p:nvSpPr>
        <p:spPr>
          <a:xfrm>
            <a:off x="1469898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6  Filter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2"/>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Clip selection</a:t>
            </a:r>
          </a:p>
        </p:txBody>
      </p:sp>
      <p:sp>
        <p:nvSpPr>
          <p:cNvPr id="8" name="TextBox 8"/>
          <p:cNvSpPr txBox="1"/>
          <p:nvPr/>
        </p:nvSpPr>
        <p:spPr>
          <a:xfrm>
            <a:off x="1024128" y="2240280"/>
            <a:ext cx="16248888" cy="1188720"/>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A clip of that class is sampled, weighted towards clips that match the speaker's intensity, clarity, tempo and tilt.</a:t>
            </a:r>
          </a:p>
        </p:txBody>
      </p:sp>
      <p:pic>
        <p:nvPicPr>
          <p:cNvPr id="9" name="Figure clip" descr="Candidate NVV clips from the pool, weighted by p proportional to exp(-sum lambda d)"/>
          <p:cNvPicPr>
            <a:picLocks noChangeAspect="1"/>
          </p:cNvPicPr>
          <p:nvPr/>
        </p:nvPicPr>
        <p:blipFill>
          <a:blip r:embed="rId4"/>
          <a:stretch>
            <a:fillRect/>
          </a:stretch>
        </p:blipFill>
        <p:spPr>
          <a:xfrm>
            <a:off x="3336273" y="3657600"/>
            <a:ext cx="11615454" cy="4206240"/>
          </a:xfrm>
          <a:prstGeom prst="rect">
            <a:avLst/>
          </a:prstGeom>
        </p:spPr>
      </p:pic>
      <p:sp>
        <p:nvSpPr>
          <p:cNvPr id="10" name="Step 0"/>
          <p:cNvSpPr txBox="1"/>
          <p:nvPr/>
        </p:nvSpPr>
        <p:spPr>
          <a:xfrm>
            <a:off x="153162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Clip pool</a:t>
            </a:r>
          </a:p>
        </p:txBody>
      </p:sp>
      <p:sp>
        <p:nvSpPr>
          <p:cNvPr id="11" name="Step 1"/>
          <p:cNvSpPr txBox="1"/>
          <p:nvPr/>
        </p:nvSpPr>
        <p:spPr>
          <a:xfrm>
            <a:off x="372618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1  Slot finding</a:t>
            </a:r>
          </a:p>
        </p:txBody>
      </p:sp>
      <p:sp>
        <p:nvSpPr>
          <p:cNvPr id="12" name="Step 2"/>
          <p:cNvSpPr txBox="1"/>
          <p:nvPr/>
        </p:nvSpPr>
        <p:spPr>
          <a:xfrm>
            <a:off x="592074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2  Tag selection</a:t>
            </a:r>
          </a:p>
        </p:txBody>
      </p:sp>
      <p:sp>
        <p:nvSpPr>
          <p:cNvPr id="13" name="Step 3"/>
          <p:cNvSpPr txBox="1"/>
          <p:nvPr/>
        </p:nvSpPr>
        <p:spPr>
          <a:xfrm>
            <a:off x="8115300" y="8229600"/>
            <a:ext cx="2057400" cy="457200"/>
          </a:xfrm>
          <a:prstGeom prst="roundRect">
            <a:avLst>
              <a:gd name="adj" fmla="val 50000"/>
            </a:avLst>
          </a:prstGeom>
          <a:solidFill>
            <a:srgbClr val="E80500"/>
          </a:solidFill>
          <a:ln>
            <a:noFill/>
          </a:ln>
        </p:spPr>
        <p:txBody>
          <a:bodyPr wrap="square" lIns="45720" tIns="0" rIns="45720" bIns="0" rtlCol="0" anchor="ctr">
            <a:noAutofit/>
          </a:bodyPr>
          <a:lstStyle/>
          <a:p>
            <a:pPr algn="ctr"/>
            <a:r>
              <a:rPr lang="en-US" sz="1600" dirty="0">
                <a:solidFill>
                  <a:srgbClr val="FFFFFF"/>
                </a:solidFill>
                <a:latin typeface="Arimo Bold"/>
                <a:ea typeface="Arimo Bold"/>
                <a:cs typeface="Arimo Bold"/>
                <a:sym typeface="Arimo Bold"/>
              </a:rPr>
              <a:t>3  Clip selection</a:t>
            </a:r>
          </a:p>
        </p:txBody>
      </p:sp>
      <p:sp>
        <p:nvSpPr>
          <p:cNvPr id="14" name="Step 4"/>
          <p:cNvSpPr txBox="1"/>
          <p:nvPr/>
        </p:nvSpPr>
        <p:spPr>
          <a:xfrm>
            <a:off x="1030986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4  Voice conversion</a:t>
            </a:r>
          </a:p>
        </p:txBody>
      </p:sp>
      <p:sp>
        <p:nvSpPr>
          <p:cNvPr id="15" name="Step 5"/>
          <p:cNvSpPr txBox="1"/>
          <p:nvPr/>
        </p:nvSpPr>
        <p:spPr>
          <a:xfrm>
            <a:off x="1250442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5  Splicing</a:t>
            </a:r>
          </a:p>
        </p:txBody>
      </p:sp>
      <p:sp>
        <p:nvSpPr>
          <p:cNvPr id="16" name="Step 6"/>
          <p:cNvSpPr txBox="1"/>
          <p:nvPr/>
        </p:nvSpPr>
        <p:spPr>
          <a:xfrm>
            <a:off x="1469898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6  Filter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2"/>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Voice conversion</a:t>
            </a:r>
          </a:p>
        </p:txBody>
      </p:sp>
      <p:sp>
        <p:nvSpPr>
          <p:cNvPr id="8" name="TextBox 8"/>
          <p:cNvSpPr txBox="1"/>
          <p:nvPr/>
        </p:nvSpPr>
        <p:spPr>
          <a:xfrm>
            <a:off x="1024128" y="2240280"/>
            <a:ext cx="16248888" cy="1188720"/>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Seed-VC converts the selected clip into the host speaker's voice, using the host utterance as the reference.</a:t>
            </a:r>
          </a:p>
        </p:txBody>
      </p:sp>
      <p:pic>
        <p:nvPicPr>
          <p:cNvPr id="9" name="Figure vc" descr="Seed-VC converts the clip into the host speaker's voice"/>
          <p:cNvPicPr>
            <a:picLocks noChangeAspect="1"/>
          </p:cNvPicPr>
          <p:nvPr/>
        </p:nvPicPr>
        <p:blipFill>
          <a:blip r:embed="rId4"/>
          <a:stretch>
            <a:fillRect/>
          </a:stretch>
        </p:blipFill>
        <p:spPr>
          <a:xfrm>
            <a:off x="3501690" y="3657600"/>
            <a:ext cx="11284620" cy="4206240"/>
          </a:xfrm>
          <a:prstGeom prst="rect">
            <a:avLst/>
          </a:prstGeom>
        </p:spPr>
      </p:pic>
      <p:sp>
        <p:nvSpPr>
          <p:cNvPr id="10" name="Step 0"/>
          <p:cNvSpPr txBox="1"/>
          <p:nvPr/>
        </p:nvSpPr>
        <p:spPr>
          <a:xfrm>
            <a:off x="153162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Clip pool</a:t>
            </a:r>
          </a:p>
        </p:txBody>
      </p:sp>
      <p:sp>
        <p:nvSpPr>
          <p:cNvPr id="11" name="Step 1"/>
          <p:cNvSpPr txBox="1"/>
          <p:nvPr/>
        </p:nvSpPr>
        <p:spPr>
          <a:xfrm>
            <a:off x="372618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1  Slot finding</a:t>
            </a:r>
          </a:p>
        </p:txBody>
      </p:sp>
      <p:sp>
        <p:nvSpPr>
          <p:cNvPr id="12" name="Step 2"/>
          <p:cNvSpPr txBox="1"/>
          <p:nvPr/>
        </p:nvSpPr>
        <p:spPr>
          <a:xfrm>
            <a:off x="592074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2  Tag selection</a:t>
            </a:r>
          </a:p>
        </p:txBody>
      </p:sp>
      <p:sp>
        <p:nvSpPr>
          <p:cNvPr id="13" name="Step 3"/>
          <p:cNvSpPr txBox="1"/>
          <p:nvPr/>
        </p:nvSpPr>
        <p:spPr>
          <a:xfrm>
            <a:off x="811530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3  Clip selection</a:t>
            </a:r>
          </a:p>
        </p:txBody>
      </p:sp>
      <p:sp>
        <p:nvSpPr>
          <p:cNvPr id="14" name="Step 4"/>
          <p:cNvSpPr txBox="1"/>
          <p:nvPr/>
        </p:nvSpPr>
        <p:spPr>
          <a:xfrm>
            <a:off x="10309860" y="8229600"/>
            <a:ext cx="2057400" cy="457200"/>
          </a:xfrm>
          <a:prstGeom prst="roundRect">
            <a:avLst>
              <a:gd name="adj" fmla="val 50000"/>
            </a:avLst>
          </a:prstGeom>
          <a:solidFill>
            <a:srgbClr val="E80500"/>
          </a:solidFill>
          <a:ln>
            <a:noFill/>
          </a:ln>
        </p:spPr>
        <p:txBody>
          <a:bodyPr wrap="square" lIns="45720" tIns="0" rIns="45720" bIns="0" rtlCol="0" anchor="ctr">
            <a:noAutofit/>
          </a:bodyPr>
          <a:lstStyle/>
          <a:p>
            <a:pPr algn="ctr"/>
            <a:r>
              <a:rPr lang="en-US" sz="1600" dirty="0">
                <a:solidFill>
                  <a:srgbClr val="FFFFFF"/>
                </a:solidFill>
                <a:latin typeface="Arimo Bold"/>
                <a:ea typeface="Arimo Bold"/>
                <a:cs typeface="Arimo Bold"/>
                <a:sym typeface="Arimo Bold"/>
              </a:rPr>
              <a:t>4  Voice conversion</a:t>
            </a:r>
          </a:p>
        </p:txBody>
      </p:sp>
      <p:sp>
        <p:nvSpPr>
          <p:cNvPr id="15" name="Step 5"/>
          <p:cNvSpPr txBox="1"/>
          <p:nvPr/>
        </p:nvSpPr>
        <p:spPr>
          <a:xfrm>
            <a:off x="1250442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5  Splicing</a:t>
            </a:r>
          </a:p>
        </p:txBody>
      </p:sp>
      <p:sp>
        <p:nvSpPr>
          <p:cNvPr id="16" name="Step 6"/>
          <p:cNvSpPr txBox="1"/>
          <p:nvPr/>
        </p:nvSpPr>
        <p:spPr>
          <a:xfrm>
            <a:off x="1469898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6  Filter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2"/>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Splicing</a:t>
            </a:r>
          </a:p>
        </p:txBody>
      </p:sp>
      <p:sp>
        <p:nvSpPr>
          <p:cNvPr id="8" name="TextBox 8"/>
          <p:cNvSpPr txBox="1"/>
          <p:nvPr/>
        </p:nvSpPr>
        <p:spPr>
          <a:xfrm>
            <a:off x="1024128" y="2240280"/>
            <a:ext cx="16248888" cy="1188720"/>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The converted event is loudness-matched and spliced into the pause, with natural silence on each side.</a:t>
            </a:r>
          </a:p>
        </p:txBody>
      </p:sp>
      <p:pic>
        <p:nvPicPr>
          <p:cNvPr id="9" name="Figure splice" descr="Converted laughter spliced into the pause; transcript now reads [laughter] at the slot"/>
          <p:cNvPicPr>
            <a:picLocks noChangeAspect="1"/>
          </p:cNvPicPr>
          <p:nvPr/>
        </p:nvPicPr>
        <p:blipFill>
          <a:blip r:embed="rId4"/>
          <a:stretch>
            <a:fillRect/>
          </a:stretch>
        </p:blipFill>
        <p:spPr>
          <a:xfrm>
            <a:off x="3173476" y="3657600"/>
            <a:ext cx="11941048" cy="4206240"/>
          </a:xfrm>
          <a:prstGeom prst="rect">
            <a:avLst/>
          </a:prstGeom>
        </p:spPr>
      </p:pic>
      <p:sp>
        <p:nvSpPr>
          <p:cNvPr id="10" name="Step 0"/>
          <p:cNvSpPr txBox="1"/>
          <p:nvPr/>
        </p:nvSpPr>
        <p:spPr>
          <a:xfrm>
            <a:off x="153162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Clip pool</a:t>
            </a:r>
          </a:p>
        </p:txBody>
      </p:sp>
      <p:sp>
        <p:nvSpPr>
          <p:cNvPr id="11" name="Step 1"/>
          <p:cNvSpPr txBox="1"/>
          <p:nvPr/>
        </p:nvSpPr>
        <p:spPr>
          <a:xfrm>
            <a:off x="372618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1  Slot finding</a:t>
            </a:r>
          </a:p>
        </p:txBody>
      </p:sp>
      <p:sp>
        <p:nvSpPr>
          <p:cNvPr id="12" name="Step 2"/>
          <p:cNvSpPr txBox="1"/>
          <p:nvPr/>
        </p:nvSpPr>
        <p:spPr>
          <a:xfrm>
            <a:off x="592074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2  Tag selection</a:t>
            </a:r>
          </a:p>
        </p:txBody>
      </p:sp>
      <p:sp>
        <p:nvSpPr>
          <p:cNvPr id="13" name="Step 3"/>
          <p:cNvSpPr txBox="1"/>
          <p:nvPr/>
        </p:nvSpPr>
        <p:spPr>
          <a:xfrm>
            <a:off x="811530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3  Clip selection</a:t>
            </a:r>
          </a:p>
        </p:txBody>
      </p:sp>
      <p:sp>
        <p:nvSpPr>
          <p:cNvPr id="14" name="Step 4"/>
          <p:cNvSpPr txBox="1"/>
          <p:nvPr/>
        </p:nvSpPr>
        <p:spPr>
          <a:xfrm>
            <a:off x="1030986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4  Voice conversion</a:t>
            </a:r>
          </a:p>
        </p:txBody>
      </p:sp>
      <p:sp>
        <p:nvSpPr>
          <p:cNvPr id="15" name="Step 5"/>
          <p:cNvSpPr txBox="1"/>
          <p:nvPr/>
        </p:nvSpPr>
        <p:spPr>
          <a:xfrm>
            <a:off x="12504420" y="8229600"/>
            <a:ext cx="2057400" cy="457200"/>
          </a:xfrm>
          <a:prstGeom prst="roundRect">
            <a:avLst>
              <a:gd name="adj" fmla="val 50000"/>
            </a:avLst>
          </a:prstGeom>
          <a:solidFill>
            <a:srgbClr val="E80500"/>
          </a:solidFill>
          <a:ln>
            <a:noFill/>
          </a:ln>
        </p:spPr>
        <p:txBody>
          <a:bodyPr wrap="square" lIns="45720" tIns="0" rIns="45720" bIns="0" rtlCol="0" anchor="ctr">
            <a:noAutofit/>
          </a:bodyPr>
          <a:lstStyle/>
          <a:p>
            <a:pPr algn="ctr"/>
            <a:r>
              <a:rPr lang="en-US" sz="1600" dirty="0">
                <a:solidFill>
                  <a:srgbClr val="FFFFFF"/>
                </a:solidFill>
                <a:latin typeface="Arimo Bold"/>
                <a:ea typeface="Arimo Bold"/>
                <a:cs typeface="Arimo Bold"/>
                <a:sym typeface="Arimo Bold"/>
              </a:rPr>
              <a:t>5  Splicing</a:t>
            </a:r>
          </a:p>
        </p:txBody>
      </p:sp>
      <p:sp>
        <p:nvSpPr>
          <p:cNvPr id="16" name="Step 6"/>
          <p:cNvSpPr txBox="1"/>
          <p:nvPr/>
        </p:nvSpPr>
        <p:spPr>
          <a:xfrm>
            <a:off x="1469898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6  Filter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2"/>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Filter</a:t>
            </a:r>
          </a:p>
        </p:txBody>
      </p:sp>
      <p:sp>
        <p:nvSpPr>
          <p:cNvPr id="8" name="TextBox 8"/>
          <p:cNvSpPr txBox="1"/>
          <p:nvPr/>
        </p:nvSpPr>
        <p:spPr>
          <a:xfrm>
            <a:off x="1024128" y="2240280"/>
            <a:ext cx="16248888" cy="1188720"/>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NISQA scores each result, and examples whose quality or continuity drops too much are discarded.</a:t>
            </a:r>
          </a:p>
        </p:txBody>
      </p:sp>
      <p:pic>
        <p:nvPicPr>
          <p:cNvPr id="9" name="Figure filter" descr="NISQA filter passes good examples into the synthetic NVV dataset"/>
          <p:cNvPicPr>
            <a:picLocks noChangeAspect="1"/>
          </p:cNvPicPr>
          <p:nvPr/>
        </p:nvPicPr>
        <p:blipFill>
          <a:blip r:embed="rId4"/>
          <a:stretch>
            <a:fillRect/>
          </a:stretch>
        </p:blipFill>
        <p:spPr>
          <a:xfrm>
            <a:off x="5098192" y="3657600"/>
            <a:ext cx="8091616" cy="4206240"/>
          </a:xfrm>
          <a:prstGeom prst="rect">
            <a:avLst/>
          </a:prstGeom>
        </p:spPr>
      </p:pic>
      <p:sp>
        <p:nvSpPr>
          <p:cNvPr id="10" name="Step 0"/>
          <p:cNvSpPr txBox="1"/>
          <p:nvPr/>
        </p:nvSpPr>
        <p:spPr>
          <a:xfrm>
            <a:off x="153162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Clip pool</a:t>
            </a:r>
          </a:p>
        </p:txBody>
      </p:sp>
      <p:sp>
        <p:nvSpPr>
          <p:cNvPr id="11" name="Step 1"/>
          <p:cNvSpPr txBox="1"/>
          <p:nvPr/>
        </p:nvSpPr>
        <p:spPr>
          <a:xfrm>
            <a:off x="372618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1  Slot finding</a:t>
            </a:r>
          </a:p>
        </p:txBody>
      </p:sp>
      <p:sp>
        <p:nvSpPr>
          <p:cNvPr id="12" name="Step 2"/>
          <p:cNvSpPr txBox="1"/>
          <p:nvPr/>
        </p:nvSpPr>
        <p:spPr>
          <a:xfrm>
            <a:off x="592074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2  Tag selection</a:t>
            </a:r>
          </a:p>
        </p:txBody>
      </p:sp>
      <p:sp>
        <p:nvSpPr>
          <p:cNvPr id="13" name="Step 3"/>
          <p:cNvSpPr txBox="1"/>
          <p:nvPr/>
        </p:nvSpPr>
        <p:spPr>
          <a:xfrm>
            <a:off x="811530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3  Clip selection</a:t>
            </a:r>
          </a:p>
        </p:txBody>
      </p:sp>
      <p:sp>
        <p:nvSpPr>
          <p:cNvPr id="14" name="Step 4"/>
          <p:cNvSpPr txBox="1"/>
          <p:nvPr/>
        </p:nvSpPr>
        <p:spPr>
          <a:xfrm>
            <a:off x="1030986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4  Voice conversion</a:t>
            </a:r>
          </a:p>
        </p:txBody>
      </p:sp>
      <p:sp>
        <p:nvSpPr>
          <p:cNvPr id="15" name="Step 5"/>
          <p:cNvSpPr txBox="1"/>
          <p:nvPr/>
        </p:nvSpPr>
        <p:spPr>
          <a:xfrm>
            <a:off x="1250442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5  Splicing</a:t>
            </a:r>
          </a:p>
        </p:txBody>
      </p:sp>
      <p:sp>
        <p:nvSpPr>
          <p:cNvPr id="16" name="Step 6"/>
          <p:cNvSpPr txBox="1"/>
          <p:nvPr/>
        </p:nvSpPr>
        <p:spPr>
          <a:xfrm>
            <a:off x="14698980" y="8229600"/>
            <a:ext cx="2057400" cy="457200"/>
          </a:xfrm>
          <a:prstGeom prst="roundRect">
            <a:avLst>
              <a:gd name="adj" fmla="val 50000"/>
            </a:avLst>
          </a:prstGeom>
          <a:solidFill>
            <a:srgbClr val="E80500"/>
          </a:solidFill>
          <a:ln>
            <a:noFill/>
          </a:ln>
        </p:spPr>
        <p:txBody>
          <a:bodyPr wrap="square" lIns="45720" tIns="0" rIns="45720" bIns="0" rtlCol="0" anchor="ctr">
            <a:noAutofit/>
          </a:bodyPr>
          <a:lstStyle/>
          <a:p>
            <a:pPr algn="ctr"/>
            <a:r>
              <a:rPr lang="en-US" sz="1600" dirty="0">
                <a:solidFill>
                  <a:srgbClr val="FFFFFF"/>
                </a:solidFill>
                <a:latin typeface="Arimo Bold"/>
                <a:ea typeface="Arimo Bold"/>
                <a:cs typeface="Arimo Bold"/>
                <a:sym typeface="Arimo Bold"/>
              </a:rPr>
              <a:t>6  Filter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04453"/>
        </a:solidFill>
        <a:effectLst/>
      </p:bgPr>
    </p:bg>
    <p:spTree>
      <p:nvGrpSpPr>
        <p:cNvPr id="1" name=""/>
        <p:cNvGrpSpPr/>
        <p:nvPr/>
      </p:nvGrpSpPr>
      <p:grpSpPr>
        <a:xfrm>
          <a:off x="0" y="0"/>
          <a:ext cx="0" cy="0"/>
          <a:chOff x="0" y="0"/>
          <a:chExt cx="0" cy="0"/>
        </a:xfrm>
      </p:grpSpPr>
      <p:sp>
        <p:nvSpPr>
          <p:cNvPr id="2" name="Freeform 2"/>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2"/>
            <a:stretch>
              <a:fillRect t="-240" b="-24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2"/>
            <a:stretch>
              <a:fillRect t="-240" b="-240"/>
            </a:stretch>
          </a:blipFill>
        </p:spPr>
        <p:txBody>
          <a:bodyPr/>
          <a:lstStyle/>
          <a:p>
            <a:endParaRPr lang="en-VN"/>
          </a:p>
        </p:txBody>
      </p:sp>
      <p:sp>
        <p:nvSpPr>
          <p:cNvPr id="4" name="TextBox 4"/>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5" name="TextBox 5"/>
          <p:cNvSpPr txBox="1"/>
          <p:nvPr/>
        </p:nvSpPr>
        <p:spPr>
          <a:xfrm>
            <a:off x="1016858" y="4122746"/>
            <a:ext cx="16242442" cy="1230630"/>
          </a:xfrm>
          <a:prstGeom prst="rect">
            <a:avLst/>
          </a:prstGeom>
        </p:spPr>
        <p:txBody>
          <a:bodyPr lIns="0" tIns="0" rIns="0" bIns="0" rtlCol="0" anchor="t">
            <a:spAutoFit/>
          </a:bodyPr>
          <a:lstStyle/>
          <a:p>
            <a:pPr algn="ctr">
              <a:lnSpc>
                <a:spcPts val="8320"/>
              </a:lnSpc>
            </a:pPr>
            <a:r>
              <a:rPr lang="en-US" sz="8000" dirty="0">
                <a:solidFill>
                  <a:srgbClr val="FFFFFF"/>
                </a:solidFill>
                <a:latin typeface="Calistoga"/>
                <a:ea typeface="Calistoga"/>
                <a:cs typeface="Calistoga"/>
                <a:sym typeface="Calistoga"/>
              </a:rPr>
              <a:t>Fine-tuning &amp; inference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3"/>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4"/>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4"/>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1133856"/>
            <a:ext cx="16248888" cy="960120"/>
          </a:xfrm>
          <a:prstGeom prst="rect">
            <a:avLst/>
          </a:prstGeom>
        </p:spPr>
        <p:txBody>
          <a:bodyPr lIns="0" tIns="0" rIns="0" bIns="0" rtlCol="0" anchor="t">
            <a:spAutoFit/>
          </a:bodyPr>
          <a:lstStyle/>
          <a:p>
            <a:pPr algn="ctr">
              <a:lnSpc>
                <a:spcPts val="7279"/>
              </a:lnSpc>
            </a:pPr>
            <a:r>
              <a:rPr lang="en-US" sz="6999" dirty="0">
                <a:solidFill>
                  <a:srgbClr val="E80500"/>
                </a:solidFill>
                <a:latin typeface="Calistoga"/>
                <a:ea typeface="Calistoga"/>
                <a:cs typeface="Calistoga"/>
                <a:sym typeface="Calistoga"/>
              </a:rPr>
              <a:t>Why fine-tune OmniVoice?</a:t>
            </a:r>
          </a:p>
        </p:txBody>
      </p:sp>
      <p:sp>
        <p:nvSpPr>
          <p:cNvPr id="8" name="TextBox 8"/>
          <p:cNvSpPr txBox="1"/>
          <p:nvPr/>
        </p:nvSpPr>
        <p:spPr>
          <a:xfrm>
            <a:off x="1313109" y="2510749"/>
            <a:ext cx="7098006" cy="1457323"/>
          </a:xfrm>
          <a:prstGeom prst="rect">
            <a:avLst/>
          </a:prstGeom>
        </p:spPr>
        <p:txBody>
          <a:bodyPr lIns="0" tIns="0" rIns="0" bIns="0" rtlCol="0" anchor="t">
            <a:spAutoFit/>
          </a:bodyPr>
          <a:lstStyle/>
          <a:p>
            <a:pPr algn="l">
              <a:lnSpc>
                <a:spcPts val="5400"/>
              </a:lnSpc>
            </a:pPr>
            <a:r>
              <a:rPr lang="en-US" sz="3000" dirty="0">
                <a:solidFill>
                  <a:srgbClr val="E80500"/>
                </a:solidFill>
                <a:latin typeface="Arimo Bold"/>
                <a:ea typeface="Arimo Bold"/>
                <a:cs typeface="Arimo Bold"/>
                <a:sym typeface="Arimo Bold"/>
              </a:rPr>
              <a:t>Few NVV tags</a:t>
            </a:r>
          </a:p>
          <a:p>
            <a:pPr algn="l">
              <a:lnSpc>
                <a:spcPts val="3600"/>
              </a:lnSpc>
            </a:pPr>
            <a:r>
              <a:rPr lang="en-US" sz="2600" dirty="0">
                <a:solidFill>
                  <a:srgbClr val="000000"/>
                </a:solidFill>
                <a:latin typeface="Arimo"/>
                <a:ea typeface="Arimo"/>
                <a:cs typeface="Arimo"/>
                <a:sym typeface="Arimo"/>
              </a:rPr>
              <a:t>Only [laughter] and [sigh] are non-verbal; 12 of our 14 classes have no tag.</a:t>
            </a:r>
          </a:p>
        </p:txBody>
      </p:sp>
      <p:sp>
        <p:nvSpPr>
          <p:cNvPr id="9" name="TextBox 9"/>
          <p:cNvSpPr txBox="1"/>
          <p:nvPr/>
        </p:nvSpPr>
        <p:spPr>
          <a:xfrm>
            <a:off x="10037561" y="2510749"/>
            <a:ext cx="6960444" cy="1466848"/>
          </a:xfrm>
          <a:prstGeom prst="rect">
            <a:avLst/>
          </a:prstGeom>
        </p:spPr>
        <p:txBody>
          <a:bodyPr lIns="0" tIns="0" rIns="0" bIns="0" rtlCol="0" anchor="t">
            <a:spAutoFit/>
          </a:bodyPr>
          <a:lstStyle/>
          <a:p>
            <a:pPr algn="l">
              <a:lnSpc>
                <a:spcPts val="5400"/>
              </a:lnSpc>
            </a:pPr>
            <a:r>
              <a:rPr lang="en-US" sz="3000" dirty="0">
                <a:solidFill>
                  <a:srgbClr val="E80500"/>
                </a:solidFill>
                <a:latin typeface="Arimo Bold"/>
                <a:ea typeface="Arimo Bold"/>
                <a:cs typeface="Arimo Bold"/>
                <a:sym typeface="Arimo Bold"/>
              </a:rPr>
              <a:t>No Vietnamese tags</a:t>
            </a:r>
          </a:p>
          <a:p>
            <a:pPr algn="l">
              <a:lnSpc>
                <a:spcPts val="3600"/>
              </a:lnSpc>
            </a:pPr>
            <a:r>
              <a:rPr lang="en-US" sz="2600" dirty="0">
                <a:solidFill>
                  <a:srgbClr val="000000"/>
                </a:solidFill>
                <a:latin typeface="Arimo"/>
                <a:ea typeface="Arimo"/>
                <a:cs typeface="Arimo"/>
                <a:sym typeface="Arimo"/>
              </a:rPr>
              <a:t>Its tagged training data are Chinese and English only.</a:t>
            </a:r>
          </a:p>
        </p:txBody>
      </p:sp>
      <p:sp>
        <p:nvSpPr>
          <p:cNvPr id="10" name="TextBox 10"/>
          <p:cNvSpPr txBox="1"/>
          <p:nvPr/>
        </p:nvSpPr>
        <p:spPr>
          <a:xfrm>
            <a:off x="1313109" y="5299753"/>
            <a:ext cx="6868736" cy="1466848"/>
          </a:xfrm>
          <a:prstGeom prst="rect">
            <a:avLst/>
          </a:prstGeom>
        </p:spPr>
        <p:txBody>
          <a:bodyPr lIns="0" tIns="0" rIns="0" bIns="0" rtlCol="0" anchor="t">
            <a:spAutoFit/>
          </a:bodyPr>
          <a:lstStyle/>
          <a:p>
            <a:pPr algn="l">
              <a:lnSpc>
                <a:spcPts val="5400"/>
              </a:lnSpc>
            </a:pPr>
            <a:r>
              <a:rPr lang="en-US" sz="3000" dirty="0">
                <a:solidFill>
                  <a:srgbClr val="E80500"/>
                </a:solidFill>
                <a:latin typeface="Arimo Bold"/>
                <a:ea typeface="Arimo Bold"/>
                <a:cs typeface="Arimo Bold"/>
                <a:sym typeface="Arimo Bold"/>
              </a:rPr>
              <a:t>No tag control</a:t>
            </a:r>
          </a:p>
          <a:p>
            <a:pPr algn="l">
              <a:lnSpc>
                <a:spcPts val="3600"/>
              </a:lnSpc>
            </a:pPr>
            <a:r>
              <a:rPr lang="en-US" sz="2600" dirty="0">
                <a:solidFill>
                  <a:srgbClr val="000000"/>
                </a:solidFill>
                <a:latin typeface="Arimo"/>
                <a:ea typeface="Arimo"/>
                <a:cs typeface="Arimo"/>
                <a:sym typeface="Arimo"/>
              </a:rPr>
              <a:t>It often drops the tag when the text is Vietnamese.</a:t>
            </a:r>
          </a:p>
        </p:txBody>
      </p:sp>
      <p:sp>
        <p:nvSpPr>
          <p:cNvPr id="11" name="TextBox 11"/>
          <p:cNvSpPr txBox="1"/>
          <p:nvPr/>
        </p:nvSpPr>
        <p:spPr>
          <a:xfrm>
            <a:off x="10037561" y="5299753"/>
            <a:ext cx="6960444" cy="1466848"/>
          </a:xfrm>
          <a:prstGeom prst="rect">
            <a:avLst/>
          </a:prstGeom>
        </p:spPr>
        <p:txBody>
          <a:bodyPr lIns="0" tIns="0" rIns="0" bIns="0" rtlCol="0" anchor="t">
            <a:spAutoFit/>
          </a:bodyPr>
          <a:lstStyle/>
          <a:p>
            <a:pPr algn="l">
              <a:lnSpc>
                <a:spcPts val="5400"/>
              </a:lnSpc>
            </a:pPr>
            <a:r>
              <a:rPr lang="en-US" sz="3000" dirty="0">
                <a:solidFill>
                  <a:srgbClr val="E80500"/>
                </a:solidFill>
                <a:latin typeface="Arimo Bold"/>
                <a:ea typeface="Arimo Bold"/>
                <a:cs typeface="Arimo Bold"/>
                <a:sym typeface="Arimo Bold"/>
              </a:rPr>
              <a:t>Our fix</a:t>
            </a:r>
          </a:p>
          <a:p>
            <a:pPr algn="l">
              <a:lnSpc>
                <a:spcPts val="3600"/>
              </a:lnSpc>
            </a:pPr>
            <a:r>
              <a:rPr lang="en-US" sz="2600" dirty="0">
                <a:solidFill>
                  <a:srgbClr val="000000"/>
                </a:solidFill>
                <a:latin typeface="Arimo"/>
                <a:ea typeface="Arimo"/>
                <a:cs typeface="Arimo"/>
                <a:sym typeface="Arimo"/>
              </a:rPr>
              <a:t>Fine-tune on all 14 tags plus untagged ViVoice, with the same objective.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2"/>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Fine-tuning &amp; inference</a:t>
            </a:r>
          </a:p>
        </p:txBody>
      </p:sp>
      <p:sp>
        <p:nvSpPr>
          <p:cNvPr id="8" name="TextBox 8"/>
          <p:cNvSpPr txBox="1"/>
          <p:nvPr/>
        </p:nvSpPr>
        <p:spPr>
          <a:xfrm>
            <a:off x="1024128" y="2240280"/>
            <a:ext cx="16248888" cy="1188720"/>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OmniVoice is fine-tuned on the synthetic NVV data mixed with untagged ViVoice; at inference, an inline tag produces the sound in the cloned voice.</a:t>
            </a:r>
          </a:p>
        </p:txBody>
      </p:sp>
      <p:pic>
        <p:nvPicPr>
          <p:cNvPr id="9" name="Figure finetune" descr="OmniVoice fine-tuned on NVV data plus ViVoice; at inference a tagged sentence and a reference voice give speech with the NVV"/>
          <p:cNvPicPr>
            <a:picLocks noChangeAspect="1"/>
          </p:cNvPicPr>
          <p:nvPr/>
        </p:nvPicPr>
        <p:blipFill>
          <a:blip r:embed="rId4"/>
          <a:stretch>
            <a:fillRect/>
          </a:stretch>
        </p:blipFill>
        <p:spPr>
          <a:xfrm>
            <a:off x="1097280" y="4457171"/>
            <a:ext cx="16093440" cy="260709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24304D"/>
        </a:solidFill>
        <a:effectLst/>
      </p:bgPr>
    </p:bg>
    <p:spTree>
      <p:nvGrpSpPr>
        <p:cNvPr id="1" name=""/>
        <p:cNvGrpSpPr/>
        <p:nvPr/>
      </p:nvGrpSpPr>
      <p:grpSpPr>
        <a:xfrm>
          <a:off x="0" y="0"/>
          <a:ext cx="0" cy="0"/>
          <a:chOff x="0" y="0"/>
          <a:chExt cx="0" cy="0"/>
        </a:xfrm>
      </p:grpSpPr>
      <p:sp>
        <p:nvSpPr>
          <p:cNvPr id="2" name="Freeform 2"/>
          <p:cNvSpPr/>
          <p:nvPr/>
        </p:nvSpPr>
        <p:spPr>
          <a:xfrm rot="5262104">
            <a:off x="-136297" y="-4136797"/>
            <a:ext cx="18560594" cy="18560594"/>
          </a:xfrm>
          <a:custGeom>
            <a:avLst/>
            <a:gdLst/>
            <a:ahLst/>
            <a:cxnLst/>
            <a:rect l="l" t="t" r="r" b="b"/>
            <a:pathLst>
              <a:path w="18560594" h="18560594">
                <a:moveTo>
                  <a:pt x="0" y="0"/>
                </a:moveTo>
                <a:lnTo>
                  <a:pt x="18560594" y="0"/>
                </a:lnTo>
                <a:lnTo>
                  <a:pt x="18560594" y="18560594"/>
                </a:lnTo>
                <a:lnTo>
                  <a:pt x="0" y="18560594"/>
                </a:lnTo>
                <a:lnTo>
                  <a:pt x="0" y="0"/>
                </a:lnTo>
                <a:close/>
              </a:path>
            </a:pathLst>
          </a:custGeom>
          <a:blipFill>
            <a:blip>
              <a:alphaModFix amt="19999"/>
              <a:extLst>
                <a:ext uri="{96DAC541-7B7A-43D3-8B79-37D633B846F1}">
                  <asvg:svgBlip xmlns:asvg="http://schemas.microsoft.com/office/drawing/2016/SVG/main" r:embed="rId2"/>
                </a:ext>
              </a:extLst>
            </a:blip>
            <a:stretch>
              <a:fillRect/>
            </a:stretch>
          </a:blipFill>
        </p:spPr>
        <p:txBody>
          <a:bodyPr/>
          <a:lstStyle/>
          <a:p>
            <a:endParaRPr lang="en-VN"/>
          </a:p>
        </p:txBody>
      </p:sp>
      <p:sp>
        <p:nvSpPr>
          <p:cNvPr id="3" name="TextBox 3"/>
          <p:cNvSpPr txBox="1"/>
          <p:nvPr/>
        </p:nvSpPr>
        <p:spPr>
          <a:xfrm rot="-148252">
            <a:off x="1440715" y="3249929"/>
            <a:ext cx="15361365" cy="2622784"/>
          </a:xfrm>
          <a:prstGeom prst="rect">
            <a:avLst/>
          </a:prstGeom>
        </p:spPr>
        <p:txBody>
          <a:bodyPr lIns="0" tIns="0" rIns="0" bIns="0" rtlCol="0" anchor="t">
            <a:spAutoFit/>
          </a:bodyPr>
          <a:lstStyle/>
          <a:p>
            <a:pPr algn="ctr">
              <a:lnSpc>
                <a:spcPts val="18329"/>
              </a:lnSpc>
            </a:pPr>
            <a:r>
              <a:rPr lang="en-US" sz="21820">
                <a:solidFill>
                  <a:srgbClr val="FFFFFF"/>
                </a:solidFill>
                <a:latin typeface="Chewy"/>
                <a:ea typeface="Chewy"/>
                <a:cs typeface="Chewy"/>
                <a:sym typeface="Chewy"/>
              </a:rPr>
              <a:t>THANK YOU</a:t>
            </a:r>
          </a:p>
        </p:txBody>
      </p:sp>
      <p:grpSp>
        <p:nvGrpSpPr>
          <p:cNvPr id="4" name="Group 4"/>
          <p:cNvGrpSpPr/>
          <p:nvPr/>
        </p:nvGrpSpPr>
        <p:grpSpPr>
          <a:xfrm rot="-148252">
            <a:off x="4631266" y="5659619"/>
            <a:ext cx="9164844" cy="2080874"/>
            <a:chOff x="0" y="0"/>
            <a:chExt cx="2425118" cy="550622"/>
          </a:xfrm>
        </p:grpSpPr>
        <p:sp>
          <p:nvSpPr>
            <p:cNvPr id="5" name="Freeform 5"/>
            <p:cNvSpPr/>
            <p:nvPr/>
          </p:nvSpPr>
          <p:spPr>
            <a:xfrm>
              <a:off x="0" y="0"/>
              <a:ext cx="2425118" cy="550622"/>
            </a:xfrm>
            <a:custGeom>
              <a:avLst/>
              <a:gdLst/>
              <a:ahLst/>
              <a:cxnLst/>
              <a:rect l="l" t="t" r="r" b="b"/>
              <a:pathLst>
                <a:path w="2425118" h="550622">
                  <a:moveTo>
                    <a:pt x="25342" y="0"/>
                  </a:moveTo>
                  <a:lnTo>
                    <a:pt x="2399776" y="0"/>
                  </a:lnTo>
                  <a:cubicBezTo>
                    <a:pt x="2413772" y="0"/>
                    <a:pt x="2425118" y="11346"/>
                    <a:pt x="2425118" y="25342"/>
                  </a:cubicBezTo>
                  <a:lnTo>
                    <a:pt x="2425118" y="525280"/>
                  </a:lnTo>
                  <a:cubicBezTo>
                    <a:pt x="2425118" y="539276"/>
                    <a:pt x="2413772" y="550622"/>
                    <a:pt x="2399776" y="550622"/>
                  </a:cubicBezTo>
                  <a:lnTo>
                    <a:pt x="25342" y="550622"/>
                  </a:lnTo>
                  <a:cubicBezTo>
                    <a:pt x="11346" y="550622"/>
                    <a:pt x="0" y="539276"/>
                    <a:pt x="0" y="525280"/>
                  </a:cubicBezTo>
                  <a:lnTo>
                    <a:pt x="0" y="25342"/>
                  </a:lnTo>
                  <a:cubicBezTo>
                    <a:pt x="0" y="11346"/>
                    <a:pt x="11346" y="0"/>
                    <a:pt x="25342" y="0"/>
                  </a:cubicBezTo>
                  <a:close/>
                </a:path>
              </a:pathLst>
            </a:custGeom>
            <a:solidFill>
              <a:srgbClr val="CF3F2C"/>
            </a:solidFill>
          </p:spPr>
          <p:txBody>
            <a:bodyPr/>
            <a:lstStyle/>
            <a:p>
              <a:endParaRPr lang="en-VN"/>
            </a:p>
          </p:txBody>
        </p:sp>
        <p:sp>
          <p:nvSpPr>
            <p:cNvPr id="6" name="TextBox 6"/>
            <p:cNvSpPr txBox="1"/>
            <p:nvPr/>
          </p:nvSpPr>
          <p:spPr>
            <a:xfrm>
              <a:off x="0" y="-19050"/>
              <a:ext cx="2425118" cy="569672"/>
            </a:xfrm>
            <a:prstGeom prst="rect">
              <a:avLst/>
            </a:prstGeom>
          </p:spPr>
          <p:txBody>
            <a:bodyPr lIns="50800" tIns="50800" rIns="50800" bIns="50800" rtlCol="0" anchor="ctr"/>
            <a:lstStyle/>
            <a:p>
              <a:pPr algn="ctr">
                <a:lnSpc>
                  <a:spcPts val="2393"/>
                </a:lnSpc>
              </a:pPr>
              <a:endParaRPr/>
            </a:p>
          </p:txBody>
        </p:sp>
      </p:grpSp>
      <p:pic>
        <p:nvPicPr>
          <p:cNvPr id="7" name="Picture 7"/>
          <p:cNvPicPr>
            <a:picLocks noChangeAspect="1"/>
          </p:cNvPicPr>
          <p:nvPr/>
        </p:nvPicPr>
        <p:blipFill>
          <a:blip r:embed="rId3"/>
          <a:srcRect/>
          <a:stretch>
            <a:fillRect/>
          </a:stretch>
        </p:blipFill>
        <p:spPr>
          <a:xfrm rot="-313159">
            <a:off x="12220482" y="6583921"/>
            <a:ext cx="4430394" cy="3632923"/>
          </a:xfrm>
          <a:prstGeom prst="rect">
            <a:avLst/>
          </a:prstGeom>
        </p:spPr>
      </p:pic>
      <p:pic>
        <p:nvPicPr>
          <p:cNvPr id="8" name="Picture 8"/>
          <p:cNvPicPr>
            <a:picLocks noChangeAspect="1"/>
          </p:cNvPicPr>
          <p:nvPr/>
        </p:nvPicPr>
        <p:blipFill>
          <a:blip r:embed="rId4"/>
          <a:srcRect/>
          <a:stretch>
            <a:fillRect/>
          </a:stretch>
        </p:blipFill>
        <p:spPr>
          <a:xfrm>
            <a:off x="3206031" y="6222353"/>
            <a:ext cx="1049285" cy="1054558"/>
          </a:xfrm>
          <a:prstGeom prst="rect">
            <a:avLst/>
          </a:prstGeom>
        </p:spPr>
      </p:pic>
      <p:pic>
        <p:nvPicPr>
          <p:cNvPr id="9" name="Picture 9"/>
          <p:cNvPicPr>
            <a:picLocks noChangeAspect="1"/>
          </p:cNvPicPr>
          <p:nvPr/>
        </p:nvPicPr>
        <p:blipFill>
          <a:blip r:embed="rId5"/>
          <a:srcRect/>
          <a:stretch>
            <a:fillRect/>
          </a:stretch>
        </p:blipFill>
        <p:spPr>
          <a:xfrm rot="-2260066">
            <a:off x="625171" y="1747954"/>
            <a:ext cx="3754524" cy="1971125"/>
          </a:xfrm>
          <a:prstGeom prst="rect">
            <a:avLst/>
          </a:prstGeom>
        </p:spPr>
      </p:pic>
      <p:sp>
        <p:nvSpPr>
          <p:cNvPr id="10" name="Freeform 10"/>
          <p:cNvSpPr/>
          <p:nvPr/>
        </p:nvSpPr>
        <p:spPr>
          <a:xfrm rot="2163578">
            <a:off x="-6124983" y="7865865"/>
            <a:ext cx="16230600" cy="6066187"/>
          </a:xfrm>
          <a:custGeom>
            <a:avLst/>
            <a:gdLst/>
            <a:ahLst/>
            <a:cxnLst/>
            <a:rect l="l" t="t" r="r" b="b"/>
            <a:pathLst>
              <a:path w="16230600" h="6066187">
                <a:moveTo>
                  <a:pt x="0" y="0"/>
                </a:moveTo>
                <a:lnTo>
                  <a:pt x="16230600" y="0"/>
                </a:lnTo>
                <a:lnTo>
                  <a:pt x="16230600" y="6066187"/>
                </a:lnTo>
                <a:lnTo>
                  <a:pt x="0" y="6066187"/>
                </a:lnTo>
                <a:lnTo>
                  <a:pt x="0" y="0"/>
                </a:lnTo>
                <a:close/>
              </a:path>
            </a:pathLst>
          </a:custGeom>
          <a:blipFill>
            <a:blip r:embed="rId6"/>
            <a:stretch>
              <a:fillRect/>
            </a:stretch>
          </a:blipFill>
        </p:spPr>
        <p:txBody>
          <a:bodyPr/>
          <a:lstStyle/>
          <a:p>
            <a:endParaRPr lang="en-VN"/>
          </a:p>
        </p:txBody>
      </p:sp>
      <p:sp>
        <p:nvSpPr>
          <p:cNvPr id="11" name="Freeform 11"/>
          <p:cNvSpPr/>
          <p:nvPr/>
        </p:nvSpPr>
        <p:spPr>
          <a:xfrm rot="2163578">
            <a:off x="11809367" y="-807749"/>
            <a:ext cx="16230600" cy="6066187"/>
          </a:xfrm>
          <a:custGeom>
            <a:avLst/>
            <a:gdLst/>
            <a:ahLst/>
            <a:cxnLst/>
            <a:rect l="l" t="t" r="r" b="b"/>
            <a:pathLst>
              <a:path w="16230600" h="6066187">
                <a:moveTo>
                  <a:pt x="0" y="0"/>
                </a:moveTo>
                <a:lnTo>
                  <a:pt x="16230600" y="0"/>
                </a:lnTo>
                <a:lnTo>
                  <a:pt x="16230600" y="6066186"/>
                </a:lnTo>
                <a:lnTo>
                  <a:pt x="0" y="6066186"/>
                </a:lnTo>
                <a:lnTo>
                  <a:pt x="0" y="0"/>
                </a:lnTo>
                <a:close/>
              </a:path>
            </a:pathLst>
          </a:custGeom>
          <a:blipFill>
            <a:blip r:embed="rId6"/>
            <a:stretch>
              <a:fillRect/>
            </a:stretch>
          </a:blipFill>
        </p:spPr>
        <p:txBody>
          <a:bodyPr/>
          <a:lstStyle/>
          <a:p>
            <a:endParaRPr lang="en-VN"/>
          </a:p>
        </p:txBody>
      </p:sp>
      <p:sp>
        <p:nvSpPr>
          <p:cNvPr id="12" name="TextBox 12"/>
          <p:cNvSpPr txBox="1"/>
          <p:nvPr/>
        </p:nvSpPr>
        <p:spPr>
          <a:xfrm rot="-148252">
            <a:off x="5395086" y="6275771"/>
            <a:ext cx="7650753" cy="1162604"/>
          </a:xfrm>
          <a:prstGeom prst="rect">
            <a:avLst/>
          </a:prstGeom>
        </p:spPr>
        <p:txBody>
          <a:bodyPr lIns="0" tIns="0" rIns="0" bIns="0" rtlCol="0" anchor="t">
            <a:spAutoFit/>
          </a:bodyPr>
          <a:lstStyle/>
          <a:p>
            <a:pPr algn="ctr">
              <a:lnSpc>
                <a:spcPts val="8158"/>
              </a:lnSpc>
            </a:pPr>
            <a:r>
              <a:rPr lang="en-US" sz="9712">
                <a:solidFill>
                  <a:srgbClr val="FFFFFF"/>
                </a:solidFill>
                <a:latin typeface="Chewy"/>
                <a:ea typeface="Chewy"/>
                <a:cs typeface="Chewy"/>
                <a:sym typeface="Chewy"/>
              </a:rPr>
              <a:t>FOR LISTENING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TotalTime>
  <Words>1863</Words>
  <Application>Microsoft Macintosh PowerPoint</Application>
  <PresentationFormat>Custom</PresentationFormat>
  <Paragraphs>151</Paragraphs>
  <Slides>15</Slides>
  <Notes>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vt:i4>
      </vt:variant>
    </vt:vector>
  </HeadingPairs>
  <TitlesOfParts>
    <vt:vector size="24" baseType="lpstr">
      <vt:lpstr>Poppins Bold</vt:lpstr>
      <vt:lpstr>Montserrat</vt:lpstr>
      <vt:lpstr>Arimo Bold</vt:lpstr>
      <vt:lpstr>Calistoga</vt:lpstr>
      <vt:lpstr>Arial</vt:lpstr>
      <vt:lpstr>Calibri</vt:lpstr>
      <vt:lpstr>Arimo</vt:lpstr>
      <vt:lpstr>Chewy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SEE-MoLEx: Shared-Expert and Entropy-Guided Routing for Source-Only OOD Speech Spoofing Detection</dc:title>
  <cp:lastModifiedBy>To Duy An 202416653</cp:lastModifiedBy>
  <cp:revision>6</cp:revision>
  <dcterms:created xsi:type="dcterms:W3CDTF">2006-08-16T00:00:00Z</dcterms:created>
  <dcterms:modified xsi:type="dcterms:W3CDTF">2026-10-15T08:37:35Z</dcterms:modified>
  <dc:identifier>DAHOxSTg8d8</dc:identifier>
</cp:coreProperties>
</file>