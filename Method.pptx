
<file path=[Content_Types].xml><?xml version="1.0" encoding="utf-8"?>
<Types xmlns="http://schemas.openxmlformats.org/package/2006/content-types">
  <Default Extension="flac" ContentType="audio/unknown"/>
  <Default Extension="fntdata" ContentType="application/x-fontdata"/>
  <Default Extension="png" ContentType="image/png"/>
  <Default Extension="rels" ContentType="application/vnd.openxmlformats-package.relationships+xml"/>
  <Default Extension="wav" ContentType="audio/x-wav"/>
  <Default Extension="xlsx" ContentType="application/vnd.openxmlformats-officedocument.spreadsheetml.sheet"/>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theme/theme2.xml" ContentType="application/vnd.openxmlformats-officedocument.theme+xml"/>
  <Override PartName="/ppt/charts/chart1.xml" ContentType="application/vnd.openxmlformats-officedocument.drawingml.chart+xml"/>
  <Override PartName="/ppt/charts/chart2.xml" ContentType="application/vnd.openxmlformats-officedocument.drawingml.chart+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Override PartName="/ppt/metadata" ContentType="application/binary"/>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trictFirstAndLastChars="0" embedTrueTypeFonts="1" saveSubsetFonts="1" autoCompressPictures="0">
  <p:sldMasterIdLst>
    <p:sldMasterId id="2147483648" r:id="rId1"/>
  </p:sldMasterIdLst>
  <p:notesMasterIdLst>
    <p:notesMasterId r:id="rId37"/>
  </p:notesMasterIdLst>
  <p:sldIdLst>
    <p:sldId id="256" r:id="rId2"/>
    <p:sldId id="289" r:id="rId3"/>
    <p:sldId id="312" r:id="rId4"/>
    <p:sldId id="341" r:id="rId5"/>
    <p:sldId id="313" r:id="rId6"/>
    <p:sldId id="343" r:id="rId7"/>
    <p:sldId id="327" r:id="rId8"/>
    <p:sldId id="315" r:id="rId9"/>
    <p:sldId id="316" r:id="rId10"/>
    <p:sldId id="317" r:id="rId11"/>
    <p:sldId id="318" r:id="rId12"/>
    <p:sldId id="319" r:id="rId13"/>
    <p:sldId id="320" r:id="rId14"/>
    <p:sldId id="321" r:id="rId15"/>
    <p:sldId id="314" r:id="rId16"/>
    <p:sldId id="328" r:id="rId17"/>
    <p:sldId id="322" r:id="rId18"/>
    <p:sldId id="329" r:id="rId19"/>
    <p:sldId id="323" r:id="rId20"/>
    <p:sldId id="344" r:id="rId21"/>
    <p:sldId id="330" r:id="rId22"/>
    <p:sldId id="331" r:id="rId23"/>
    <p:sldId id="342" r:id="rId24"/>
    <p:sldId id="324" r:id="rId25"/>
    <p:sldId id="326" r:id="rId26"/>
    <p:sldId id="286" r:id="rId27"/>
    <p:sldId id="332" r:id="rId28"/>
    <p:sldId id="333" r:id="rId29"/>
    <p:sldId id="345" r:id="rId67"/>
    <p:sldId id="334" r:id="rId30"/>
    <p:sldId id="346" r:id="rId68"/>
    <p:sldId id="335" r:id="rId31"/>
    <p:sldId id="347" r:id="rId69"/>
    <p:sldId id="336" r:id="rId32"/>
    <p:sldId id="348" r:id="rId70"/>
    <p:sldId id="337" r:id="rId33"/>
    <p:sldId id="349" r:id="rId71"/>
    <p:sldId id="338" r:id="rId34"/>
    <p:sldId id="350" r:id="rId72"/>
    <p:sldId id="351" r:id="rId73"/>
    <p:sldId id="339" r:id="rId35"/>
    <p:sldId id="352" r:id="rId74"/>
    <p:sldId id="340" r:id="rId36"/>
  </p:sldIdLst>
  <p:sldSz cx="12192000" cy="6858000"/>
  <p:notesSz cx="6858000" cy="9144000"/>
  <p:embeddedFontLst>
    <p:embeddedFont>
      <p:font typeface="Exo 2" pitchFamily="2" charset="77"/>
      <p:regular r:id="rId38"/>
      <p:bold r:id="rId39"/>
      <p:italic r:id="rId40"/>
      <p:boldItalic r:id="rId41"/>
    </p:embeddedFont>
    <p:embeddedFont>
      <p:font typeface="Fira Sans Extra Condensed Medium" panose="020B0603050000020004" pitchFamily="34" charset="0"/>
      <p:regular r:id="rId42"/>
      <p:bold r:id="rId43"/>
      <p:italic r:id="rId44"/>
      <p:boldItalic r:id="rId45"/>
    </p:embeddedFont>
    <p:embeddedFont>
      <p:font typeface="FS Magistral Bold" panose="020B0504030204080304" pitchFamily="34" charset="0"/>
      <p:bold r:id="rId46"/>
    </p:embeddedFont>
    <p:embeddedFont>
      <p:font typeface="FS PF BeauSans Pro" panose="02000500000000020004" pitchFamily="2" charset="0"/>
      <p:regular r:id="rId47"/>
    </p:embeddedFont>
    <p:embeddedFont>
      <p:font typeface="Roboto" panose="02000000000000000000" pitchFamily="2" charset="0"/>
      <p:regular r:id="rId48"/>
      <p:bold r:id="rId49"/>
      <p:italic r:id="rId50"/>
      <p:boldItalic r:id="rId51"/>
    </p:embeddedFont>
    <p:embeddedFont>
      <p:font typeface="Roboto Condensed Light" panose="02000000000000000000" pitchFamily="2" charset="0"/>
      <p:regular r:id="rId52"/>
      <p:italic r:id="rId53"/>
    </p:embeddedFont>
    <p:embeddedFont>
      <p:font typeface="Sarabun Light" pitchFamily="2" charset="-34"/>
      <p:regular r:id="rId54"/>
      <p:bold r:id="rId55"/>
      <p:italic r:id="rId56"/>
      <p:boldItalic r:id="rId57"/>
    </p:embeddedFont>
  </p:embeddedFontLst>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521415D9-36F7-43E2-AB2F-B90AF26B5E84}">
      <p14:sectionLst xmlns:p14="http://schemas.microsoft.com/office/powerpoint/2010/main">
        <p14:section name="Default Section" id="{D9A044B0-8404-4CD8-BECF-EE0FFA06275E}">
          <p14:sldIdLst>
            <p14:sldId id="256"/>
            <p14:sldId id="289"/>
            <p14:sldId id="312"/>
            <p14:sldId id="341"/>
            <p14:sldId id="313"/>
            <p14:sldId id="343"/>
            <p14:sldId id="327"/>
            <p14:sldId id="315"/>
            <p14:sldId id="316"/>
            <p14:sldId id="317"/>
            <p14:sldId id="318"/>
            <p14:sldId id="319"/>
            <p14:sldId id="320"/>
            <p14:sldId id="321"/>
            <p14:sldId id="314"/>
            <p14:sldId id="328"/>
            <p14:sldId id="322"/>
            <p14:sldId id="329"/>
            <p14:sldId id="323"/>
            <p14:sldId id="344"/>
            <p14:sldId id="330"/>
            <p14:sldId id="331"/>
            <p14:sldId id="342"/>
            <p14:sldId id="324"/>
            <p14:sldId id="326"/>
            <p14:sldId id="286"/>
            <p14:sldId id="332"/>
            <p14:sldId id="333"/>
            <p14:sldId id="334"/>
            <p14:sldId id="335"/>
            <p14:sldId id="336"/>
            <p14:sldId id="337"/>
            <p14:sldId id="338"/>
            <p14:sldId id="339"/>
            <p14:sldId id="340"/>
          </p14:sldIdLst>
        </p14:section>
        <p14:section name="Appendix" id="{B5FF22F4-10A8-425F-A68B-F3AED0A534BA}">
          <p14:sldIdLst/>
        </p14:section>
      </p14:sectionLst>
    </p:ext>
    <p:ext uri="{EFAFB233-063F-42B5-8137-9DF3F51BA10A}">
      <p15:sldGuideLst xmlns:p15="http://schemas.microsoft.com/office/powerpoint/2012/main"/>
    </p:ext>
    <p:ext uri="GoogleSlidesCustomDataVersion2">
      <go:slidesCustomData xmlns="" xmlns:mc="http://schemas.openxmlformats.org/markup-compatibility/2006" xmlns:mv="urn:schemas-microsoft-com:mac:vml"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xmlns:go="http://customooxmlschemas.google.com/" r:id="rId60" roundtripDataSignature="AMtx7mgE1QtaWI6cDW+4fPiAPgzCiZZcZg=="/>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ED1B2F"/>
    <a:srgbClr val="A8A8A8"/>
    <a:srgbClr val="F2F2F2"/>
    <a:srgbClr val="434343"/>
    <a:srgbClr val="F9F9F9"/>
    <a:srgbClr val="595959"/>
    <a:srgbClr val="F8F8F8"/>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84490C82-48EA-4FB1-A22F-A83A10849784}" v="55" dt="2024-08-06T08:12:05.690"/>
  </p1510:revLst>
</p1510:revInfo>
</file>

<file path=ppt/tableStyles.xml><?xml version="1.0" encoding="utf-8"?>
<a:tblStyleLst xmlns:a="http://schemas.openxmlformats.org/drawingml/2006/main" def="{DB588EDA-BEB1-459D-9690-F9A0963A2F11}">
  <a:tblStyle styleId="{DB588EDA-BEB1-459D-9690-F9A0963A2F11}" styleName="Table_0">
    <a:wholeTbl>
      <a:tcTxStyle b="off" i="off">
        <a:font>
          <a:latin typeface="FS PF BeauSans Pro Light"/>
          <a:ea typeface="FS PF BeauSans Pro Light"/>
          <a:cs typeface="FS PF BeauSans Pro Light"/>
        </a:font>
        <a:schemeClr val="dk1"/>
      </a:tcTxStyle>
      <a:tcStyle>
        <a:tcBdr>
          <a:left>
            <a:ln w="9525" cap="flat" cmpd="sng">
              <a:solidFill>
                <a:schemeClr val="accent3"/>
              </a:solidFill>
              <a:prstDash val="solid"/>
              <a:round/>
              <a:headEnd type="none" w="sm" len="sm"/>
              <a:tailEnd type="none" w="sm" len="sm"/>
            </a:ln>
          </a:left>
          <a:right>
            <a:ln w="9525" cap="flat" cmpd="sng">
              <a:solidFill>
                <a:schemeClr val="accent3"/>
              </a:solidFill>
              <a:prstDash val="solid"/>
              <a:round/>
              <a:headEnd type="none" w="sm" len="sm"/>
              <a:tailEnd type="none" w="sm" len="sm"/>
            </a:ln>
          </a:right>
          <a:top>
            <a:ln w="9525" cap="flat" cmpd="sng">
              <a:solidFill>
                <a:schemeClr val="accent3"/>
              </a:solidFill>
              <a:prstDash val="solid"/>
              <a:round/>
              <a:headEnd type="none" w="sm" len="sm"/>
              <a:tailEnd type="none" w="sm" len="sm"/>
            </a:ln>
          </a:top>
          <a:bottom>
            <a:ln w="9525" cap="flat" cmpd="sng">
              <a:solidFill>
                <a:schemeClr val="accent3"/>
              </a:solidFill>
              <a:prstDash val="solid"/>
              <a:round/>
              <a:headEnd type="none" w="sm" len="sm"/>
              <a:tailEnd type="none" w="sm" len="sm"/>
            </a:ln>
          </a:bottom>
          <a:insideH>
            <a:ln w="9525" cap="flat" cmpd="sng">
              <a:solidFill>
                <a:schemeClr val="accent3"/>
              </a:solidFill>
              <a:prstDash val="solid"/>
              <a:round/>
              <a:headEnd type="none" w="sm" len="sm"/>
              <a:tailEnd type="none" w="sm" len="sm"/>
            </a:ln>
          </a:insideH>
          <a:insideV>
            <a:ln w="9525" cap="flat" cmpd="sng">
              <a:solidFill>
                <a:schemeClr val="accent3"/>
              </a:solidFill>
              <a:prstDash val="solid"/>
              <a:round/>
              <a:headEnd type="none" w="sm" len="sm"/>
              <a:tailEnd type="none" w="sm" len="sm"/>
            </a:ln>
          </a:insideV>
        </a:tcBdr>
        <a:fill>
          <a:solidFill>
            <a:srgbClr val="FFFFFF">
              <a:alpha val="0"/>
            </a:srgbClr>
          </a:solidFill>
        </a:fill>
      </a:tcStyle>
    </a:wholeTbl>
    <a:band1H>
      <a:tcTxStyle/>
      <a:tcStyle>
        <a:tcBdr/>
        <a:fill>
          <a:solidFill>
            <a:schemeClr val="accent3">
              <a:alpha val="40000"/>
            </a:schemeClr>
          </a:solidFill>
        </a:fill>
      </a:tcStyle>
    </a:band1H>
    <a:band2H>
      <a:tcTxStyle/>
      <a:tcStyle>
        <a:tcBdr/>
      </a:tcStyle>
    </a:band2H>
    <a:band1V>
      <a:tcTxStyle/>
      <a:tcStyle>
        <a:tcBdr>
          <a:top>
            <a:ln w="9525" cap="flat" cmpd="sng">
              <a:solidFill>
                <a:schemeClr val="accent3"/>
              </a:solidFill>
              <a:prstDash val="solid"/>
              <a:round/>
              <a:headEnd type="none" w="sm" len="sm"/>
              <a:tailEnd type="none" w="sm" len="sm"/>
            </a:ln>
          </a:top>
          <a:bottom>
            <a:ln w="9525" cap="flat" cmpd="sng">
              <a:solidFill>
                <a:schemeClr val="accent3"/>
              </a:solidFill>
              <a:prstDash val="solid"/>
              <a:round/>
              <a:headEnd type="none" w="sm" len="sm"/>
              <a:tailEnd type="none" w="sm" len="sm"/>
            </a:ln>
          </a:bottom>
        </a:tcBdr>
        <a:fill>
          <a:solidFill>
            <a:schemeClr val="accent3">
              <a:alpha val="40000"/>
            </a:schemeClr>
          </a:solidFill>
        </a:fill>
      </a:tcStyle>
    </a:band1V>
    <a:band2V>
      <a:tcTxStyle/>
      <a:tcStyle>
        <a:tcBdr/>
      </a:tcStyle>
    </a:band2V>
    <a:lastCol>
      <a:tcTxStyle b="on" i="off"/>
      <a:tcStyle>
        <a:tcBdr>
          <a:left>
            <a:ln w="9525" cap="flat" cmpd="sng">
              <a:solidFill>
                <a:schemeClr val="accent3"/>
              </a:solidFill>
              <a:prstDash val="solid"/>
              <a:round/>
              <a:headEnd type="none" w="sm" len="sm"/>
              <a:tailEnd type="none" w="sm" len="sm"/>
            </a:ln>
          </a:left>
          <a:right>
            <a:ln w="9525" cap="flat" cmpd="sng">
              <a:solidFill>
                <a:schemeClr val="accent3"/>
              </a:solidFill>
              <a:prstDash val="solid"/>
              <a:round/>
              <a:headEnd type="none" w="sm" len="sm"/>
              <a:tailEnd type="none" w="sm" len="sm"/>
            </a:ln>
          </a:right>
          <a:top>
            <a:ln w="9525" cap="flat" cmpd="sng">
              <a:solidFill>
                <a:schemeClr val="accent3"/>
              </a:solidFill>
              <a:prstDash val="solid"/>
              <a:round/>
              <a:headEnd type="none" w="sm" len="sm"/>
              <a:tailEnd type="none" w="sm" len="sm"/>
            </a:ln>
          </a:top>
          <a:bottom>
            <a:ln w="9525" cap="flat" cmpd="sng">
              <a:solidFill>
                <a:schemeClr val="accent3"/>
              </a:solidFill>
              <a:prstDash val="solid"/>
              <a:round/>
              <a:headEnd type="none" w="sm" len="sm"/>
              <a:tailEnd type="none" w="sm" len="sm"/>
            </a:ln>
          </a:bottom>
          <a:insideH>
            <a:ln w="9525" cap="flat" cmpd="sng">
              <a:solidFill>
                <a:schemeClr val="accent3"/>
              </a:solidFill>
              <a:prstDash val="solid"/>
              <a:round/>
              <a:headEnd type="none" w="sm" len="sm"/>
              <a:tailEnd type="none" w="sm" len="sm"/>
            </a:ln>
          </a:insideH>
          <a:insideV>
            <a:ln w="9525" cap="flat" cmpd="sng">
              <a:solidFill>
                <a:srgbClr val="000000">
                  <a:alpha val="0"/>
                </a:srgbClr>
              </a:solidFill>
              <a:prstDash val="solid"/>
              <a:round/>
              <a:headEnd type="none" w="sm" len="sm"/>
              <a:tailEnd type="none" w="sm" len="sm"/>
            </a:ln>
          </a:insideV>
        </a:tcBdr>
      </a:tcStyle>
    </a:lastCol>
    <a:firstCol>
      <a:tcTxStyle b="on" i="off"/>
      <a:tcStyle>
        <a:tcBdr>
          <a:left>
            <a:ln w="9525" cap="flat" cmpd="sng">
              <a:solidFill>
                <a:schemeClr val="accent3"/>
              </a:solidFill>
              <a:prstDash val="solid"/>
              <a:round/>
              <a:headEnd type="none" w="sm" len="sm"/>
              <a:tailEnd type="none" w="sm" len="sm"/>
            </a:ln>
          </a:left>
          <a:right>
            <a:ln w="9525" cap="flat" cmpd="sng">
              <a:solidFill>
                <a:schemeClr val="accent3"/>
              </a:solidFill>
              <a:prstDash val="solid"/>
              <a:round/>
              <a:headEnd type="none" w="sm" len="sm"/>
              <a:tailEnd type="none" w="sm" len="sm"/>
            </a:ln>
          </a:right>
          <a:top>
            <a:ln w="9525" cap="flat" cmpd="sng">
              <a:solidFill>
                <a:schemeClr val="accent3"/>
              </a:solidFill>
              <a:prstDash val="solid"/>
              <a:round/>
              <a:headEnd type="none" w="sm" len="sm"/>
              <a:tailEnd type="none" w="sm" len="sm"/>
            </a:ln>
          </a:top>
          <a:bottom>
            <a:ln w="9525" cap="flat" cmpd="sng">
              <a:solidFill>
                <a:schemeClr val="accent3"/>
              </a:solidFill>
              <a:prstDash val="solid"/>
              <a:round/>
              <a:headEnd type="none" w="sm" len="sm"/>
              <a:tailEnd type="none" w="sm" len="sm"/>
            </a:ln>
          </a:bottom>
          <a:insideH>
            <a:ln w="9525" cap="flat" cmpd="sng">
              <a:solidFill>
                <a:schemeClr val="accent3"/>
              </a:solidFill>
              <a:prstDash val="solid"/>
              <a:round/>
              <a:headEnd type="none" w="sm" len="sm"/>
              <a:tailEnd type="none" w="sm" len="sm"/>
            </a:ln>
          </a:insideH>
          <a:insideV>
            <a:ln w="9525" cap="flat" cmpd="sng">
              <a:solidFill>
                <a:srgbClr val="000000">
                  <a:alpha val="0"/>
                </a:srgbClr>
              </a:solidFill>
              <a:prstDash val="solid"/>
              <a:round/>
              <a:headEnd type="none" w="sm" len="sm"/>
              <a:tailEnd type="none" w="sm" len="sm"/>
            </a:ln>
          </a:insideV>
        </a:tcBdr>
      </a:tcStyle>
    </a:firstCol>
    <a:lastRow>
      <a:tcTxStyle b="on" i="off"/>
      <a:tcStyle>
        <a:tcBdr>
          <a:left>
            <a:ln w="9525" cap="flat" cmpd="sng">
              <a:solidFill>
                <a:schemeClr val="accent3"/>
              </a:solidFill>
              <a:prstDash val="solid"/>
              <a:round/>
              <a:headEnd type="none" w="sm" len="sm"/>
              <a:tailEnd type="none" w="sm" len="sm"/>
            </a:ln>
          </a:left>
          <a:right>
            <a:ln w="9525" cap="flat" cmpd="sng">
              <a:solidFill>
                <a:schemeClr val="accent3"/>
              </a:solidFill>
              <a:prstDash val="solid"/>
              <a:round/>
              <a:headEnd type="none" w="sm" len="sm"/>
              <a:tailEnd type="none" w="sm" len="sm"/>
            </a:ln>
          </a:right>
          <a:top>
            <a:ln w="9525" cap="flat" cmpd="sng">
              <a:solidFill>
                <a:schemeClr val="accent3"/>
              </a:solidFill>
              <a:prstDash val="solid"/>
              <a:round/>
              <a:headEnd type="none" w="sm" len="sm"/>
              <a:tailEnd type="none" w="sm" len="sm"/>
            </a:ln>
          </a:top>
          <a:bottom>
            <a:ln w="9525" cap="flat" cmpd="sng">
              <a:solidFill>
                <a:schemeClr val="accent3"/>
              </a:solidFill>
              <a:prstDash val="solid"/>
              <a:round/>
              <a:headEnd type="none" w="sm" len="sm"/>
              <a:tailEnd type="none" w="sm" len="sm"/>
            </a:ln>
          </a:bottom>
          <a:insideH>
            <a:ln w="9525" cap="flat" cmpd="sng">
              <a:solidFill>
                <a:srgbClr val="000000">
                  <a:alpha val="0"/>
                </a:srgbClr>
              </a:solidFill>
              <a:prstDash val="solid"/>
              <a:round/>
              <a:headEnd type="none" w="sm" len="sm"/>
              <a:tailEnd type="none" w="sm" len="sm"/>
            </a:ln>
          </a:insideH>
          <a:insideV>
            <a:ln w="9525" cap="flat" cmpd="sng">
              <a:solidFill>
                <a:srgbClr val="000000">
                  <a:alpha val="0"/>
                </a:srgbClr>
              </a:solidFill>
              <a:prstDash val="solid"/>
              <a:round/>
              <a:headEnd type="none" w="sm" len="sm"/>
              <a:tailEnd type="none" w="sm" len="sm"/>
            </a:ln>
          </a:insideV>
        </a:tcBdr>
        <a:fill>
          <a:solidFill>
            <a:srgbClr val="FFFFFF">
              <a:alpha val="0"/>
            </a:srgbClr>
          </a:solidFill>
        </a:fill>
      </a:tcStyle>
    </a:lastRow>
    <a:seCell>
      <a:tcTxStyle/>
      <a:tcStyle>
        <a:tcBdr/>
      </a:tcStyle>
    </a:seCell>
    <a:swCell>
      <a:tcTxStyle/>
      <a:tcStyle>
        <a:tcBdr/>
      </a:tcStyle>
    </a:swCell>
    <a:firstRow>
      <a:tcTxStyle b="on" i="off">
        <a:font>
          <a:latin typeface="FS PF BeauSans Pro Light"/>
          <a:ea typeface="FS PF BeauSans Pro Light"/>
          <a:cs typeface="FS PF BeauSans Pro Light"/>
        </a:font>
        <a:schemeClr val="lt1"/>
      </a:tcTxStyle>
      <a:tcStyle>
        <a:tcBdr>
          <a:left>
            <a:ln w="9525" cap="flat" cmpd="sng">
              <a:solidFill>
                <a:schemeClr val="accent3"/>
              </a:solidFill>
              <a:prstDash val="solid"/>
              <a:round/>
              <a:headEnd type="none" w="sm" len="sm"/>
              <a:tailEnd type="none" w="sm" len="sm"/>
            </a:ln>
          </a:left>
          <a:right>
            <a:ln w="9525" cap="flat" cmpd="sng">
              <a:solidFill>
                <a:schemeClr val="accent3"/>
              </a:solidFill>
              <a:prstDash val="solid"/>
              <a:round/>
              <a:headEnd type="none" w="sm" len="sm"/>
              <a:tailEnd type="none" w="sm" len="sm"/>
            </a:ln>
          </a:right>
          <a:top>
            <a:ln w="9525" cap="flat" cmpd="sng">
              <a:solidFill>
                <a:schemeClr val="accent3"/>
              </a:solidFill>
              <a:prstDash val="solid"/>
              <a:round/>
              <a:headEnd type="none" w="sm" len="sm"/>
              <a:tailEnd type="none" w="sm" len="sm"/>
            </a:ln>
          </a:top>
          <a:bottom>
            <a:ln w="9525" cap="flat" cmpd="sng">
              <a:solidFill>
                <a:schemeClr val="lt1"/>
              </a:solidFill>
              <a:prstDash val="solid"/>
              <a:round/>
              <a:headEnd type="none" w="sm" len="sm"/>
              <a:tailEnd type="none" w="sm" len="sm"/>
            </a:ln>
          </a:bottom>
          <a:insideH>
            <a:ln w="9525" cap="flat" cmpd="sng">
              <a:solidFill>
                <a:srgbClr val="000000">
                  <a:alpha val="0"/>
                </a:srgbClr>
              </a:solidFill>
              <a:prstDash val="solid"/>
              <a:round/>
              <a:headEnd type="none" w="sm" len="sm"/>
              <a:tailEnd type="none" w="sm" len="sm"/>
            </a:ln>
          </a:insideH>
          <a:insideV>
            <a:ln w="9525" cap="flat" cmpd="sng">
              <a:solidFill>
                <a:srgbClr val="000000">
                  <a:alpha val="0"/>
                </a:srgbClr>
              </a:solidFill>
              <a:prstDash val="solid"/>
              <a:round/>
              <a:headEnd type="none" w="sm" len="sm"/>
              <a:tailEnd type="none" w="sm" len="sm"/>
            </a:ln>
          </a:insideV>
        </a:tcBdr>
        <a:fill>
          <a:solidFill>
            <a:schemeClr val="accent3"/>
          </a:solidFill>
        </a:fill>
      </a:tcStyle>
    </a:firstRow>
    <a:neCell>
      <a:tcTxStyle/>
      <a:tcStyle>
        <a:tcBdr/>
      </a:tcStyle>
    </a:neCell>
    <a:nwCell>
      <a:tcTxStyle/>
      <a:tcStyle>
        <a:tcBdr/>
      </a:tcStyle>
    </a:nwCell>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8433"/>
    <p:restoredTop sz="94744"/>
  </p:normalViewPr>
  <p:slideViewPr>
    <p:cSldViewPr snapToGrid="0">
      <p:cViewPr varScale="1">
        <p:scale>
          <a:sx n="119" d="100"/>
          <a:sy n="119" d="100"/>
        </p:scale>
        <p:origin x="672" y="184"/>
      </p:cViewPr>
      <p:guideLst/>
    </p:cSldViewPr>
  </p:slideViewPr>
  <p:notesTextViewPr>
    <p:cViewPr>
      <p:scale>
        <a:sx n="1" d="1"/>
        <a:sy n="1" d="1"/>
      </p:scale>
      <p:origin x="0" y="0"/>
    </p:cViewPr>
  </p:notesTextViewPr>
  <p:sorterViewPr>
    <p:cViewPr>
      <p:scale>
        <a:sx n="100" d="100"/>
        <a:sy n="100" d="100"/>
      </p:scale>
      <p:origin x="0" y="0"/>
    </p:cViewPr>
  </p:sorter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font" Target="fonts/font2.fntdata"/><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font" Target="fonts/font5.fntdata"/><Relationship Id="rId47" Type="http://schemas.openxmlformats.org/officeDocument/2006/relationships/font" Target="fonts/font10.fntdata"/><Relationship Id="rId50" Type="http://schemas.openxmlformats.org/officeDocument/2006/relationships/font" Target="fonts/font13.fntdata"/><Relationship Id="rId55" Type="http://schemas.openxmlformats.org/officeDocument/2006/relationships/font" Target="fonts/font18.fntdata"/><Relationship Id="rId63" Type="http://schemas.openxmlformats.org/officeDocument/2006/relationships/theme" Target="theme/theme1.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notesMaster" Target="notesMasters/notesMaster1.xml"/><Relationship Id="rId40" Type="http://schemas.openxmlformats.org/officeDocument/2006/relationships/font" Target="fonts/font3.fntdata"/><Relationship Id="rId45" Type="http://schemas.openxmlformats.org/officeDocument/2006/relationships/font" Target="fonts/font8.fntdata"/><Relationship Id="rId53" Type="http://schemas.openxmlformats.org/officeDocument/2006/relationships/font" Target="fonts/font16.fntdata"/><Relationship Id="rId66" Type="http://schemas.microsoft.com/office/2015/10/relationships/revisionInfo" Target="revisionInfo.xml"/><Relationship Id="rId5" Type="http://schemas.openxmlformats.org/officeDocument/2006/relationships/slide" Target="slides/slide4.xml"/><Relationship Id="rId61" Type="http://schemas.openxmlformats.org/officeDocument/2006/relationships/presProps" Target="presProps.xml"/><Relationship Id="rId19" Type="http://schemas.openxmlformats.org/officeDocument/2006/relationships/slide" Target="slides/slide1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font" Target="fonts/font6.fntdata"/><Relationship Id="rId48" Type="http://schemas.openxmlformats.org/officeDocument/2006/relationships/font" Target="fonts/font11.fntdata"/><Relationship Id="rId56" Type="http://schemas.openxmlformats.org/officeDocument/2006/relationships/font" Target="fonts/font19.fntdata"/><Relationship Id="rId64" Type="http://schemas.openxmlformats.org/officeDocument/2006/relationships/tableStyles" Target="tableStyles.xml"/><Relationship Id="rId8" Type="http://schemas.openxmlformats.org/officeDocument/2006/relationships/slide" Target="slides/slide7.xml"/><Relationship Id="rId51" Type="http://schemas.openxmlformats.org/officeDocument/2006/relationships/font" Target="fonts/font14.fntdata"/><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font" Target="fonts/font1.fntdata"/><Relationship Id="rId46" Type="http://schemas.openxmlformats.org/officeDocument/2006/relationships/font" Target="fonts/font9.fntdata"/><Relationship Id="rId20" Type="http://schemas.openxmlformats.org/officeDocument/2006/relationships/slide" Target="slides/slide19.xml"/><Relationship Id="rId41" Type="http://schemas.openxmlformats.org/officeDocument/2006/relationships/font" Target="fonts/font4.fntdata"/><Relationship Id="rId54" Type="http://schemas.openxmlformats.org/officeDocument/2006/relationships/font" Target="fonts/font17.fntdata"/><Relationship Id="rId62"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font" Target="fonts/font12.fntdata"/><Relationship Id="rId57" Type="http://schemas.openxmlformats.org/officeDocument/2006/relationships/font" Target="fonts/font20.fntdata"/><Relationship Id="rId10" Type="http://schemas.openxmlformats.org/officeDocument/2006/relationships/slide" Target="slides/slide9.xml"/><Relationship Id="rId31" Type="http://schemas.openxmlformats.org/officeDocument/2006/relationships/slide" Target="slides/slide30.xml"/><Relationship Id="rId44" Type="http://schemas.openxmlformats.org/officeDocument/2006/relationships/font" Target="fonts/font7.fntdata"/><Relationship Id="rId52" Type="http://schemas.openxmlformats.org/officeDocument/2006/relationships/font" Target="fonts/font15.fntdata"/><Relationship Id="rId60" Type="http://customschemas.google.com/relationships/presentationmetadata" Target="metadata"/><Relationship Id="rId65" Type="http://schemas.microsoft.com/office/2016/11/relationships/changesInfo" Target="changesInfos/changesInfo1.xml"/><Relationship Id="rId4" Type="http://schemas.openxmlformats.org/officeDocument/2006/relationships/slide" Target="slides/slide3.xml"/><Relationship Id="rId9" Type="http://schemas.openxmlformats.org/officeDocument/2006/relationships/slide" Target="slides/slide8.xml"/>  <Relationship Id="rId67" Type="http://schemas.openxmlformats.org/officeDocument/2006/relationships/slide" Target="slides/slide36.xml"/>
  <Relationship Id="rId68" Type="http://schemas.openxmlformats.org/officeDocument/2006/relationships/slide" Target="slides/slide37.xml"/>
  <Relationship Id="rId69" Type="http://schemas.openxmlformats.org/officeDocument/2006/relationships/slide" Target="slides/slide38.xml"/>
  <Relationship Id="rId70" Type="http://schemas.openxmlformats.org/officeDocument/2006/relationships/slide" Target="slides/slide39.xml"/>
  <Relationship Id="rId71" Type="http://schemas.openxmlformats.org/officeDocument/2006/relationships/slide" Target="slides/slide40.xml"/>
  <Relationship Id="rId72" Type="http://schemas.openxmlformats.org/officeDocument/2006/relationships/slide" Target="slides/slide41.xml"/>
  <Relationship Id="rId73" Type="http://schemas.openxmlformats.org/officeDocument/2006/relationships/slide" Target="slides/slide42.xml"/>
  <Relationship Id="rId74" Type="http://schemas.openxmlformats.org/officeDocument/2006/relationships/slide" Target="slides/slide43.xml"/>
</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Quang Nguyen" userId="5d670127fb4ed1d3" providerId="LiveId" clId="{69EE9044-281E-4734-97DE-33207B456CE7}"/>
    <pc:docChg chg="undo custSel addSld delSld modSld sldOrd modMainMaster">
      <pc:chgData name="Quang Nguyen" userId="5d670127fb4ed1d3" providerId="LiveId" clId="{69EE9044-281E-4734-97DE-33207B456CE7}" dt="2024-06-18T03:06:52.477" v="669" actId="1076"/>
      <pc:docMkLst>
        <pc:docMk/>
      </pc:docMkLst>
      <pc:sldChg chg="modSp mod">
        <pc:chgData name="Quang Nguyen" userId="5d670127fb4ed1d3" providerId="LiveId" clId="{69EE9044-281E-4734-97DE-33207B456CE7}" dt="2024-06-18T02:21:36.892" v="435" actId="207"/>
        <pc:sldMkLst>
          <pc:docMk/>
          <pc:sldMk cId="0" sldId="256"/>
        </pc:sldMkLst>
        <pc:spChg chg="mod">
          <ac:chgData name="Quang Nguyen" userId="5d670127fb4ed1d3" providerId="LiveId" clId="{69EE9044-281E-4734-97DE-33207B456CE7}" dt="2024-06-17T15:09:45.937" v="155" actId="2711"/>
          <ac:spMkLst>
            <pc:docMk/>
            <pc:sldMk cId="0" sldId="256"/>
            <ac:spMk id="54" creationId="{00000000-0000-0000-0000-000000000000}"/>
          </ac:spMkLst>
        </pc:spChg>
        <pc:spChg chg="mod">
          <ac:chgData name="Quang Nguyen" userId="5d670127fb4ed1d3" providerId="LiveId" clId="{69EE9044-281E-4734-97DE-33207B456CE7}" dt="2024-06-18T02:21:36.892" v="435" actId="207"/>
          <ac:spMkLst>
            <pc:docMk/>
            <pc:sldMk cId="0" sldId="256"/>
            <ac:spMk id="55" creationId="{00000000-0000-0000-0000-000000000000}"/>
          </ac:spMkLst>
        </pc:spChg>
        <pc:spChg chg="mod">
          <ac:chgData name="Quang Nguyen" userId="5d670127fb4ed1d3" providerId="LiveId" clId="{69EE9044-281E-4734-97DE-33207B456CE7}" dt="2024-06-17T15:23:53.614" v="312" actId="20577"/>
          <ac:spMkLst>
            <pc:docMk/>
            <pc:sldMk cId="0" sldId="256"/>
            <ac:spMk id="57" creationId="{00000000-0000-0000-0000-000000000000}"/>
          </ac:spMkLst>
        </pc:spChg>
      </pc:sldChg>
      <pc:sldChg chg="modSp mod">
        <pc:chgData name="Quang Nguyen" userId="5d670127fb4ed1d3" providerId="LiveId" clId="{69EE9044-281E-4734-97DE-33207B456CE7}" dt="2024-06-18T03:00:11.961" v="530" actId="404"/>
        <pc:sldMkLst>
          <pc:docMk/>
          <pc:sldMk cId="0" sldId="257"/>
        </pc:sldMkLst>
        <pc:spChg chg="mod">
          <ac:chgData name="Quang Nguyen" userId="5d670127fb4ed1d3" providerId="LiveId" clId="{69EE9044-281E-4734-97DE-33207B456CE7}" dt="2024-06-17T15:29:22.742" v="318" actId="207"/>
          <ac:spMkLst>
            <pc:docMk/>
            <pc:sldMk cId="0" sldId="257"/>
            <ac:spMk id="62" creationId="{00000000-0000-0000-0000-000000000000}"/>
          </ac:spMkLst>
        </pc:spChg>
        <pc:spChg chg="mod">
          <ac:chgData name="Quang Nguyen" userId="5d670127fb4ed1d3" providerId="LiveId" clId="{69EE9044-281E-4734-97DE-33207B456CE7}" dt="2024-06-17T15:15:14.390" v="230" actId="207"/>
          <ac:spMkLst>
            <pc:docMk/>
            <pc:sldMk cId="0" sldId="257"/>
            <ac:spMk id="63" creationId="{00000000-0000-0000-0000-000000000000}"/>
          </ac:spMkLst>
        </pc:spChg>
        <pc:spChg chg="mod">
          <ac:chgData name="Quang Nguyen" userId="5d670127fb4ed1d3" providerId="LiveId" clId="{69EE9044-281E-4734-97DE-33207B456CE7}" dt="2024-06-17T15:48:17.839" v="362" actId="20577"/>
          <ac:spMkLst>
            <pc:docMk/>
            <pc:sldMk cId="0" sldId="257"/>
            <ac:spMk id="64" creationId="{00000000-0000-0000-0000-000000000000}"/>
          </ac:spMkLst>
        </pc:spChg>
        <pc:spChg chg="mod">
          <ac:chgData name="Quang Nguyen" userId="5d670127fb4ed1d3" providerId="LiveId" clId="{69EE9044-281E-4734-97DE-33207B456CE7}" dt="2024-06-17T15:14:34.366" v="223" actId="2711"/>
          <ac:spMkLst>
            <pc:docMk/>
            <pc:sldMk cId="0" sldId="257"/>
            <ac:spMk id="66" creationId="{00000000-0000-0000-0000-000000000000}"/>
          </ac:spMkLst>
        </pc:spChg>
        <pc:spChg chg="mod">
          <ac:chgData name="Quang Nguyen" userId="5d670127fb4ed1d3" providerId="LiveId" clId="{69EE9044-281E-4734-97DE-33207B456CE7}" dt="2024-06-17T15:15:14.390" v="230" actId="207"/>
          <ac:spMkLst>
            <pc:docMk/>
            <pc:sldMk cId="0" sldId="257"/>
            <ac:spMk id="67" creationId="{00000000-0000-0000-0000-000000000000}"/>
          </ac:spMkLst>
        </pc:spChg>
        <pc:spChg chg="mod">
          <ac:chgData name="Quang Nguyen" userId="5d670127fb4ed1d3" providerId="LiveId" clId="{69EE9044-281E-4734-97DE-33207B456CE7}" dt="2024-06-17T15:15:14.390" v="230" actId="207"/>
          <ac:spMkLst>
            <pc:docMk/>
            <pc:sldMk cId="0" sldId="257"/>
            <ac:spMk id="68" creationId="{00000000-0000-0000-0000-000000000000}"/>
          </ac:spMkLst>
        </pc:spChg>
        <pc:spChg chg="mod">
          <ac:chgData name="Quang Nguyen" userId="5d670127fb4ed1d3" providerId="LiveId" clId="{69EE9044-281E-4734-97DE-33207B456CE7}" dt="2024-06-17T15:15:14.390" v="230" actId="207"/>
          <ac:spMkLst>
            <pc:docMk/>
            <pc:sldMk cId="0" sldId="257"/>
            <ac:spMk id="69" creationId="{00000000-0000-0000-0000-000000000000}"/>
          </ac:spMkLst>
        </pc:spChg>
        <pc:spChg chg="mod">
          <ac:chgData name="Quang Nguyen" userId="5d670127fb4ed1d3" providerId="LiveId" clId="{69EE9044-281E-4734-97DE-33207B456CE7}" dt="2024-06-17T15:15:14.390" v="230" actId="207"/>
          <ac:spMkLst>
            <pc:docMk/>
            <pc:sldMk cId="0" sldId="257"/>
            <ac:spMk id="70" creationId="{00000000-0000-0000-0000-000000000000}"/>
          </ac:spMkLst>
        </pc:spChg>
        <pc:spChg chg="mod">
          <ac:chgData name="Quang Nguyen" userId="5d670127fb4ed1d3" providerId="LiveId" clId="{69EE9044-281E-4734-97DE-33207B456CE7}" dt="2024-06-17T15:15:14.390" v="230" actId="207"/>
          <ac:spMkLst>
            <pc:docMk/>
            <pc:sldMk cId="0" sldId="257"/>
            <ac:spMk id="71" creationId="{00000000-0000-0000-0000-000000000000}"/>
          </ac:spMkLst>
        </pc:spChg>
        <pc:spChg chg="mod">
          <ac:chgData name="Quang Nguyen" userId="5d670127fb4ed1d3" providerId="LiveId" clId="{69EE9044-281E-4734-97DE-33207B456CE7}" dt="2024-06-18T03:00:11.961" v="530" actId="404"/>
          <ac:spMkLst>
            <pc:docMk/>
            <pc:sldMk cId="0" sldId="257"/>
            <ac:spMk id="73" creationId="{00000000-0000-0000-0000-000000000000}"/>
          </ac:spMkLst>
        </pc:spChg>
      </pc:sldChg>
      <pc:sldChg chg="del">
        <pc:chgData name="Quang Nguyen" userId="5d670127fb4ed1d3" providerId="LiveId" clId="{69EE9044-281E-4734-97DE-33207B456CE7}" dt="2024-06-17T15:16:30.057" v="239" actId="47"/>
        <pc:sldMkLst>
          <pc:docMk/>
          <pc:sldMk cId="0" sldId="258"/>
        </pc:sldMkLst>
      </pc:sldChg>
      <pc:sldChg chg="modSp mod">
        <pc:chgData name="Quang Nguyen" userId="5d670127fb4ed1d3" providerId="LiveId" clId="{69EE9044-281E-4734-97DE-33207B456CE7}" dt="2024-06-18T03:02:00.574" v="535" actId="403"/>
        <pc:sldMkLst>
          <pc:docMk/>
          <pc:sldMk cId="0" sldId="259"/>
        </pc:sldMkLst>
        <pc:spChg chg="mod">
          <ac:chgData name="Quang Nguyen" userId="5d670127fb4ed1d3" providerId="LiveId" clId="{69EE9044-281E-4734-97DE-33207B456CE7}" dt="2024-06-17T15:42:08.686" v="324" actId="113"/>
          <ac:spMkLst>
            <pc:docMk/>
            <pc:sldMk cId="0" sldId="259"/>
            <ac:spMk id="94" creationId="{00000000-0000-0000-0000-000000000000}"/>
          </ac:spMkLst>
        </pc:spChg>
        <pc:spChg chg="mod">
          <ac:chgData name="Quang Nguyen" userId="5d670127fb4ed1d3" providerId="LiveId" clId="{69EE9044-281E-4734-97DE-33207B456CE7}" dt="2024-06-18T03:02:00.574" v="535" actId="403"/>
          <ac:spMkLst>
            <pc:docMk/>
            <pc:sldMk cId="0" sldId="259"/>
            <ac:spMk id="95" creationId="{00000000-0000-0000-0000-000000000000}"/>
          </ac:spMkLst>
        </pc:spChg>
        <pc:spChg chg="mod">
          <ac:chgData name="Quang Nguyen" userId="5d670127fb4ed1d3" providerId="LiveId" clId="{69EE9044-281E-4734-97DE-33207B456CE7}" dt="2024-06-17T15:40:30.749" v="322" actId="207"/>
          <ac:spMkLst>
            <pc:docMk/>
            <pc:sldMk cId="0" sldId="259"/>
            <ac:spMk id="96" creationId="{00000000-0000-0000-0000-000000000000}"/>
          </ac:spMkLst>
        </pc:spChg>
        <pc:spChg chg="mod">
          <ac:chgData name="Quang Nguyen" userId="5d670127fb4ed1d3" providerId="LiveId" clId="{69EE9044-281E-4734-97DE-33207B456CE7}" dt="2024-06-17T14:37:49.836" v="69" actId="14100"/>
          <ac:spMkLst>
            <pc:docMk/>
            <pc:sldMk cId="0" sldId="259"/>
            <ac:spMk id="98" creationId="{00000000-0000-0000-0000-000000000000}"/>
          </ac:spMkLst>
        </pc:spChg>
        <pc:spChg chg="mod">
          <ac:chgData name="Quang Nguyen" userId="5d670127fb4ed1d3" providerId="LiveId" clId="{69EE9044-281E-4734-97DE-33207B456CE7}" dt="2024-06-17T14:37:45.211" v="68" actId="1076"/>
          <ac:spMkLst>
            <pc:docMk/>
            <pc:sldMk cId="0" sldId="259"/>
            <ac:spMk id="99" creationId="{00000000-0000-0000-0000-000000000000}"/>
          </ac:spMkLst>
        </pc:spChg>
        <pc:picChg chg="mod">
          <ac:chgData name="Quang Nguyen" userId="5d670127fb4ed1d3" providerId="LiveId" clId="{69EE9044-281E-4734-97DE-33207B456CE7}" dt="2024-06-17T14:37:41.168" v="67" actId="1076"/>
          <ac:picMkLst>
            <pc:docMk/>
            <pc:sldMk cId="0" sldId="259"/>
            <ac:picMk id="97" creationId="{00000000-0000-0000-0000-000000000000}"/>
          </ac:picMkLst>
        </pc:picChg>
      </pc:sldChg>
      <pc:sldChg chg="modSp mod">
        <pc:chgData name="Quang Nguyen" userId="5d670127fb4ed1d3" providerId="LiveId" clId="{69EE9044-281E-4734-97DE-33207B456CE7}" dt="2024-06-18T03:02:12.811" v="542" actId="404"/>
        <pc:sldMkLst>
          <pc:docMk/>
          <pc:sldMk cId="0" sldId="260"/>
        </pc:sldMkLst>
        <pc:spChg chg="mod">
          <ac:chgData name="Quang Nguyen" userId="5d670127fb4ed1d3" providerId="LiveId" clId="{69EE9044-281E-4734-97DE-33207B456CE7}" dt="2024-06-17T15:42:17.654" v="325"/>
          <ac:spMkLst>
            <pc:docMk/>
            <pc:sldMk cId="0" sldId="260"/>
            <ac:spMk id="105" creationId="{00000000-0000-0000-0000-000000000000}"/>
          </ac:spMkLst>
        </pc:spChg>
        <pc:spChg chg="mod">
          <ac:chgData name="Quang Nguyen" userId="5d670127fb4ed1d3" providerId="LiveId" clId="{69EE9044-281E-4734-97DE-33207B456CE7}" dt="2024-06-18T03:02:12.811" v="542" actId="404"/>
          <ac:spMkLst>
            <pc:docMk/>
            <pc:sldMk cId="0" sldId="260"/>
            <ac:spMk id="106" creationId="{00000000-0000-0000-0000-000000000000}"/>
          </ac:spMkLst>
        </pc:spChg>
        <pc:spChg chg="mod">
          <ac:chgData name="Quang Nguyen" userId="5d670127fb4ed1d3" providerId="LiveId" clId="{69EE9044-281E-4734-97DE-33207B456CE7}" dt="2024-06-17T14:38:38.573" v="75" actId="404"/>
          <ac:spMkLst>
            <pc:docMk/>
            <pc:sldMk cId="0" sldId="260"/>
            <ac:spMk id="107" creationId="{00000000-0000-0000-0000-000000000000}"/>
          </ac:spMkLst>
        </pc:spChg>
        <pc:spChg chg="mod">
          <ac:chgData name="Quang Nguyen" userId="5d670127fb4ed1d3" providerId="LiveId" clId="{69EE9044-281E-4734-97DE-33207B456CE7}" dt="2024-06-17T15:20:55.329" v="261" actId="1076"/>
          <ac:spMkLst>
            <pc:docMk/>
            <pc:sldMk cId="0" sldId="260"/>
            <ac:spMk id="110" creationId="{00000000-0000-0000-0000-000000000000}"/>
          </ac:spMkLst>
        </pc:spChg>
        <pc:spChg chg="mod">
          <ac:chgData name="Quang Nguyen" userId="5d670127fb4ed1d3" providerId="LiveId" clId="{69EE9044-281E-4734-97DE-33207B456CE7}" dt="2024-06-17T15:20:52.669" v="260" actId="1076"/>
          <ac:spMkLst>
            <pc:docMk/>
            <pc:sldMk cId="0" sldId="260"/>
            <ac:spMk id="111" creationId="{00000000-0000-0000-0000-000000000000}"/>
          </ac:spMkLst>
        </pc:spChg>
      </pc:sldChg>
      <pc:sldChg chg="modSp mod">
        <pc:chgData name="Quang Nguyen" userId="5d670127fb4ed1d3" providerId="LiveId" clId="{69EE9044-281E-4734-97DE-33207B456CE7}" dt="2024-06-18T03:02:24.304" v="549" actId="404"/>
        <pc:sldMkLst>
          <pc:docMk/>
          <pc:sldMk cId="0" sldId="261"/>
        </pc:sldMkLst>
        <pc:spChg chg="mod">
          <ac:chgData name="Quang Nguyen" userId="5d670127fb4ed1d3" providerId="LiveId" clId="{69EE9044-281E-4734-97DE-33207B456CE7}" dt="2024-06-17T15:42:20.751" v="326"/>
          <ac:spMkLst>
            <pc:docMk/>
            <pc:sldMk cId="0" sldId="261"/>
            <ac:spMk id="116" creationId="{00000000-0000-0000-0000-000000000000}"/>
          </ac:spMkLst>
        </pc:spChg>
        <pc:spChg chg="mod">
          <ac:chgData name="Quang Nguyen" userId="5d670127fb4ed1d3" providerId="LiveId" clId="{69EE9044-281E-4734-97DE-33207B456CE7}" dt="2024-06-18T03:02:24.304" v="549" actId="404"/>
          <ac:spMkLst>
            <pc:docMk/>
            <pc:sldMk cId="0" sldId="261"/>
            <ac:spMk id="117" creationId="{00000000-0000-0000-0000-000000000000}"/>
          </ac:spMkLst>
        </pc:spChg>
        <pc:spChg chg="mod">
          <ac:chgData name="Quang Nguyen" userId="5d670127fb4ed1d3" providerId="LiveId" clId="{69EE9044-281E-4734-97DE-33207B456CE7}" dt="2024-06-17T14:38:15.447" v="73" actId="14"/>
          <ac:spMkLst>
            <pc:docMk/>
            <pc:sldMk cId="0" sldId="261"/>
            <ac:spMk id="118" creationId="{00000000-0000-0000-0000-000000000000}"/>
          </ac:spMkLst>
        </pc:spChg>
      </pc:sldChg>
      <pc:sldChg chg="modSp mod">
        <pc:chgData name="Quang Nguyen" userId="5d670127fb4ed1d3" providerId="LiveId" clId="{69EE9044-281E-4734-97DE-33207B456CE7}" dt="2024-06-18T03:02:31.597" v="554" actId="403"/>
        <pc:sldMkLst>
          <pc:docMk/>
          <pc:sldMk cId="0" sldId="262"/>
        </pc:sldMkLst>
        <pc:spChg chg="mod">
          <ac:chgData name="Quang Nguyen" userId="5d670127fb4ed1d3" providerId="LiveId" clId="{69EE9044-281E-4734-97DE-33207B456CE7}" dt="2024-06-17T15:42:24.028" v="327"/>
          <ac:spMkLst>
            <pc:docMk/>
            <pc:sldMk cId="0" sldId="262"/>
            <ac:spMk id="123" creationId="{00000000-0000-0000-0000-000000000000}"/>
          </ac:spMkLst>
        </pc:spChg>
        <pc:spChg chg="mod">
          <ac:chgData name="Quang Nguyen" userId="5d670127fb4ed1d3" providerId="LiveId" clId="{69EE9044-281E-4734-97DE-33207B456CE7}" dt="2024-06-18T03:02:31.597" v="554" actId="403"/>
          <ac:spMkLst>
            <pc:docMk/>
            <pc:sldMk cId="0" sldId="262"/>
            <ac:spMk id="124" creationId="{00000000-0000-0000-0000-000000000000}"/>
          </ac:spMkLst>
        </pc:spChg>
        <pc:spChg chg="mod">
          <ac:chgData name="Quang Nguyen" userId="5d670127fb4ed1d3" providerId="LiveId" clId="{69EE9044-281E-4734-97DE-33207B456CE7}" dt="2024-06-17T14:39:21.334" v="79" actId="14"/>
          <ac:spMkLst>
            <pc:docMk/>
            <pc:sldMk cId="0" sldId="262"/>
            <ac:spMk id="125" creationId="{00000000-0000-0000-0000-000000000000}"/>
          </ac:spMkLst>
        </pc:spChg>
      </pc:sldChg>
      <pc:sldChg chg="modSp mod">
        <pc:chgData name="Quang Nguyen" userId="5d670127fb4ed1d3" providerId="LiveId" clId="{69EE9044-281E-4734-97DE-33207B456CE7}" dt="2024-06-18T03:02:56.655" v="559" actId="403"/>
        <pc:sldMkLst>
          <pc:docMk/>
          <pc:sldMk cId="0" sldId="263"/>
        </pc:sldMkLst>
        <pc:spChg chg="mod">
          <ac:chgData name="Quang Nguyen" userId="5d670127fb4ed1d3" providerId="LiveId" clId="{69EE9044-281E-4734-97DE-33207B456CE7}" dt="2024-06-17T15:43:23.313" v="328"/>
          <ac:spMkLst>
            <pc:docMk/>
            <pc:sldMk cId="0" sldId="263"/>
            <ac:spMk id="130" creationId="{00000000-0000-0000-0000-000000000000}"/>
          </ac:spMkLst>
        </pc:spChg>
        <pc:spChg chg="mod">
          <ac:chgData name="Quang Nguyen" userId="5d670127fb4ed1d3" providerId="LiveId" clId="{69EE9044-281E-4734-97DE-33207B456CE7}" dt="2024-06-18T03:02:56.655" v="559" actId="403"/>
          <ac:spMkLst>
            <pc:docMk/>
            <pc:sldMk cId="0" sldId="263"/>
            <ac:spMk id="131" creationId="{00000000-0000-0000-0000-000000000000}"/>
          </ac:spMkLst>
        </pc:spChg>
        <pc:spChg chg="mod">
          <ac:chgData name="Quang Nguyen" userId="5d670127fb4ed1d3" providerId="LiveId" clId="{69EE9044-281E-4734-97DE-33207B456CE7}" dt="2024-06-17T14:39:34.038" v="83" actId="14"/>
          <ac:spMkLst>
            <pc:docMk/>
            <pc:sldMk cId="0" sldId="263"/>
            <ac:spMk id="132" creationId="{00000000-0000-0000-0000-000000000000}"/>
          </ac:spMkLst>
        </pc:spChg>
        <pc:picChg chg="mod">
          <ac:chgData name="Quang Nguyen" userId="5d670127fb4ed1d3" providerId="LiveId" clId="{69EE9044-281E-4734-97DE-33207B456CE7}" dt="2024-06-17T14:39:37.887" v="84" actId="1076"/>
          <ac:picMkLst>
            <pc:docMk/>
            <pc:sldMk cId="0" sldId="263"/>
            <ac:picMk id="133" creationId="{00000000-0000-0000-0000-000000000000}"/>
          </ac:picMkLst>
        </pc:picChg>
      </pc:sldChg>
      <pc:sldChg chg="modSp mod">
        <pc:chgData name="Quang Nguyen" userId="5d670127fb4ed1d3" providerId="LiveId" clId="{69EE9044-281E-4734-97DE-33207B456CE7}" dt="2024-06-18T03:03:04.438" v="564" actId="403"/>
        <pc:sldMkLst>
          <pc:docMk/>
          <pc:sldMk cId="0" sldId="264"/>
        </pc:sldMkLst>
        <pc:spChg chg="mod">
          <ac:chgData name="Quang Nguyen" userId="5d670127fb4ed1d3" providerId="LiveId" clId="{69EE9044-281E-4734-97DE-33207B456CE7}" dt="2024-06-17T15:43:33.602" v="330" actId="113"/>
          <ac:spMkLst>
            <pc:docMk/>
            <pc:sldMk cId="0" sldId="264"/>
            <ac:spMk id="138" creationId="{00000000-0000-0000-0000-000000000000}"/>
          </ac:spMkLst>
        </pc:spChg>
        <pc:spChg chg="mod">
          <ac:chgData name="Quang Nguyen" userId="5d670127fb4ed1d3" providerId="LiveId" clId="{69EE9044-281E-4734-97DE-33207B456CE7}" dt="2024-06-18T03:03:04.438" v="564" actId="403"/>
          <ac:spMkLst>
            <pc:docMk/>
            <pc:sldMk cId="0" sldId="264"/>
            <ac:spMk id="139" creationId="{00000000-0000-0000-0000-000000000000}"/>
          </ac:spMkLst>
        </pc:spChg>
      </pc:sldChg>
      <pc:sldChg chg="modSp mod">
        <pc:chgData name="Quang Nguyen" userId="5d670127fb4ed1d3" providerId="LiveId" clId="{69EE9044-281E-4734-97DE-33207B456CE7}" dt="2024-06-18T03:03:14.602" v="569" actId="403"/>
        <pc:sldMkLst>
          <pc:docMk/>
          <pc:sldMk cId="0" sldId="265"/>
        </pc:sldMkLst>
        <pc:spChg chg="mod">
          <ac:chgData name="Quang Nguyen" userId="5d670127fb4ed1d3" providerId="LiveId" clId="{69EE9044-281E-4734-97DE-33207B456CE7}" dt="2024-06-17T15:43:58.178" v="332" actId="113"/>
          <ac:spMkLst>
            <pc:docMk/>
            <pc:sldMk cId="0" sldId="265"/>
            <ac:spMk id="146" creationId="{00000000-0000-0000-0000-000000000000}"/>
          </ac:spMkLst>
        </pc:spChg>
        <pc:spChg chg="mod">
          <ac:chgData name="Quang Nguyen" userId="5d670127fb4ed1d3" providerId="LiveId" clId="{69EE9044-281E-4734-97DE-33207B456CE7}" dt="2024-06-18T03:03:14.602" v="569" actId="403"/>
          <ac:spMkLst>
            <pc:docMk/>
            <pc:sldMk cId="0" sldId="265"/>
            <ac:spMk id="147" creationId="{00000000-0000-0000-0000-000000000000}"/>
          </ac:spMkLst>
        </pc:spChg>
        <pc:spChg chg="mod">
          <ac:chgData name="Quang Nguyen" userId="5d670127fb4ed1d3" providerId="LiveId" clId="{69EE9044-281E-4734-97DE-33207B456CE7}" dt="2024-06-17T15:50:49.906" v="434" actId="20577"/>
          <ac:spMkLst>
            <pc:docMk/>
            <pc:sldMk cId="0" sldId="265"/>
            <ac:spMk id="148" creationId="{00000000-0000-0000-0000-000000000000}"/>
          </ac:spMkLst>
        </pc:spChg>
      </pc:sldChg>
      <pc:sldChg chg="del">
        <pc:chgData name="Quang Nguyen" userId="5d670127fb4ed1d3" providerId="LiveId" clId="{69EE9044-281E-4734-97DE-33207B456CE7}" dt="2024-06-17T15:16:22.942" v="238" actId="47"/>
        <pc:sldMkLst>
          <pc:docMk/>
          <pc:sldMk cId="0" sldId="266"/>
        </pc:sldMkLst>
      </pc:sldChg>
      <pc:sldChg chg="modSp mod">
        <pc:chgData name="Quang Nguyen" userId="5d670127fb4ed1d3" providerId="LiveId" clId="{69EE9044-281E-4734-97DE-33207B456CE7}" dt="2024-06-18T03:03:42.844" v="580" actId="403"/>
        <pc:sldMkLst>
          <pc:docMk/>
          <pc:sldMk cId="0" sldId="267"/>
        </pc:sldMkLst>
        <pc:spChg chg="mod">
          <ac:chgData name="Quang Nguyen" userId="5d670127fb4ed1d3" providerId="LiveId" clId="{69EE9044-281E-4734-97DE-33207B456CE7}" dt="2024-06-18T03:03:31.621" v="575" actId="403"/>
          <ac:spMkLst>
            <pc:docMk/>
            <pc:sldMk cId="0" sldId="267"/>
            <ac:spMk id="169" creationId="{00000000-0000-0000-0000-000000000000}"/>
          </ac:spMkLst>
        </pc:spChg>
        <pc:spChg chg="mod">
          <ac:chgData name="Quang Nguyen" userId="5d670127fb4ed1d3" providerId="LiveId" clId="{69EE9044-281E-4734-97DE-33207B456CE7}" dt="2024-06-18T03:03:42.844" v="580" actId="403"/>
          <ac:spMkLst>
            <pc:docMk/>
            <pc:sldMk cId="0" sldId="267"/>
            <ac:spMk id="170" creationId="{00000000-0000-0000-0000-000000000000}"/>
          </ac:spMkLst>
        </pc:spChg>
        <pc:spChg chg="mod">
          <ac:chgData name="Quang Nguyen" userId="5d670127fb4ed1d3" providerId="LiveId" clId="{69EE9044-281E-4734-97DE-33207B456CE7}" dt="2024-06-18T03:03:31.621" v="575" actId="403"/>
          <ac:spMkLst>
            <pc:docMk/>
            <pc:sldMk cId="0" sldId="267"/>
            <ac:spMk id="171" creationId="{00000000-0000-0000-0000-000000000000}"/>
          </ac:spMkLst>
        </pc:spChg>
        <pc:spChg chg="mod">
          <ac:chgData name="Quang Nguyen" userId="5d670127fb4ed1d3" providerId="LiveId" clId="{69EE9044-281E-4734-97DE-33207B456CE7}" dt="2024-06-18T03:03:31.621" v="575" actId="403"/>
          <ac:spMkLst>
            <pc:docMk/>
            <pc:sldMk cId="0" sldId="267"/>
            <ac:spMk id="172" creationId="{00000000-0000-0000-0000-000000000000}"/>
          </ac:spMkLst>
        </pc:spChg>
      </pc:sldChg>
      <pc:sldChg chg="modSp mod">
        <pc:chgData name="Quang Nguyen" userId="5d670127fb4ed1d3" providerId="LiveId" clId="{69EE9044-281E-4734-97DE-33207B456CE7}" dt="2024-06-18T03:04:00.658" v="585" actId="403"/>
        <pc:sldMkLst>
          <pc:docMk/>
          <pc:sldMk cId="0" sldId="268"/>
        </pc:sldMkLst>
        <pc:spChg chg="mod">
          <ac:chgData name="Quang Nguyen" userId="5d670127fb4ed1d3" providerId="LiveId" clId="{69EE9044-281E-4734-97DE-33207B456CE7}" dt="2024-06-17T15:44:27.437" v="339" actId="113"/>
          <ac:spMkLst>
            <pc:docMk/>
            <pc:sldMk cId="0" sldId="268"/>
            <ac:spMk id="178" creationId="{00000000-0000-0000-0000-000000000000}"/>
          </ac:spMkLst>
        </pc:spChg>
        <pc:spChg chg="mod">
          <ac:chgData name="Quang Nguyen" userId="5d670127fb4ed1d3" providerId="LiveId" clId="{69EE9044-281E-4734-97DE-33207B456CE7}" dt="2024-06-18T03:04:00.658" v="585" actId="403"/>
          <ac:spMkLst>
            <pc:docMk/>
            <pc:sldMk cId="0" sldId="268"/>
            <ac:spMk id="179" creationId="{00000000-0000-0000-0000-000000000000}"/>
          </ac:spMkLst>
        </pc:spChg>
      </pc:sldChg>
      <pc:sldChg chg="modSp mod">
        <pc:chgData name="Quang Nguyen" userId="5d670127fb4ed1d3" providerId="LiveId" clId="{69EE9044-281E-4734-97DE-33207B456CE7}" dt="2024-06-18T03:04:10.469" v="590" actId="403"/>
        <pc:sldMkLst>
          <pc:docMk/>
          <pc:sldMk cId="0" sldId="269"/>
        </pc:sldMkLst>
        <pc:spChg chg="mod">
          <ac:chgData name="Quang Nguyen" userId="5d670127fb4ed1d3" providerId="LiveId" clId="{69EE9044-281E-4734-97DE-33207B456CE7}" dt="2024-06-17T15:44:24.301" v="338" actId="113"/>
          <ac:spMkLst>
            <pc:docMk/>
            <pc:sldMk cId="0" sldId="269"/>
            <ac:spMk id="187" creationId="{00000000-0000-0000-0000-000000000000}"/>
          </ac:spMkLst>
        </pc:spChg>
        <pc:spChg chg="mod">
          <ac:chgData name="Quang Nguyen" userId="5d670127fb4ed1d3" providerId="LiveId" clId="{69EE9044-281E-4734-97DE-33207B456CE7}" dt="2024-06-18T03:04:10.469" v="590" actId="403"/>
          <ac:spMkLst>
            <pc:docMk/>
            <pc:sldMk cId="0" sldId="269"/>
            <ac:spMk id="188" creationId="{00000000-0000-0000-0000-000000000000}"/>
          </ac:spMkLst>
        </pc:spChg>
        <pc:spChg chg="mod">
          <ac:chgData name="Quang Nguyen" userId="5d670127fb4ed1d3" providerId="LiveId" clId="{69EE9044-281E-4734-97DE-33207B456CE7}" dt="2024-06-17T15:18:13.836" v="247" actId="14100"/>
          <ac:spMkLst>
            <pc:docMk/>
            <pc:sldMk cId="0" sldId="269"/>
            <ac:spMk id="190" creationId="{00000000-0000-0000-0000-000000000000}"/>
          </ac:spMkLst>
        </pc:spChg>
        <pc:spChg chg="mod">
          <ac:chgData name="Quang Nguyen" userId="5d670127fb4ed1d3" providerId="LiveId" clId="{69EE9044-281E-4734-97DE-33207B456CE7}" dt="2024-06-17T14:41:08.187" v="93" actId="14100"/>
          <ac:spMkLst>
            <pc:docMk/>
            <pc:sldMk cId="0" sldId="269"/>
            <ac:spMk id="192" creationId="{00000000-0000-0000-0000-000000000000}"/>
          </ac:spMkLst>
        </pc:spChg>
        <pc:spChg chg="mod">
          <ac:chgData name="Quang Nguyen" userId="5d670127fb4ed1d3" providerId="LiveId" clId="{69EE9044-281E-4734-97DE-33207B456CE7}" dt="2024-06-17T14:41:10.995" v="94" actId="14100"/>
          <ac:spMkLst>
            <pc:docMk/>
            <pc:sldMk cId="0" sldId="269"/>
            <ac:spMk id="193" creationId="{00000000-0000-0000-0000-000000000000}"/>
          </ac:spMkLst>
        </pc:spChg>
      </pc:sldChg>
      <pc:sldChg chg="modSp mod">
        <pc:chgData name="Quang Nguyen" userId="5d670127fb4ed1d3" providerId="LiveId" clId="{69EE9044-281E-4734-97DE-33207B456CE7}" dt="2024-06-18T03:04:18.572" v="595" actId="403"/>
        <pc:sldMkLst>
          <pc:docMk/>
          <pc:sldMk cId="0" sldId="270"/>
        </pc:sldMkLst>
        <pc:spChg chg="mod">
          <ac:chgData name="Quang Nguyen" userId="5d670127fb4ed1d3" providerId="LiveId" clId="{69EE9044-281E-4734-97DE-33207B456CE7}" dt="2024-06-17T15:44:21.510" v="337" actId="113"/>
          <ac:spMkLst>
            <pc:docMk/>
            <pc:sldMk cId="0" sldId="270"/>
            <ac:spMk id="199" creationId="{00000000-0000-0000-0000-000000000000}"/>
          </ac:spMkLst>
        </pc:spChg>
        <pc:spChg chg="mod">
          <ac:chgData name="Quang Nguyen" userId="5d670127fb4ed1d3" providerId="LiveId" clId="{69EE9044-281E-4734-97DE-33207B456CE7}" dt="2024-06-18T03:04:18.572" v="595" actId="403"/>
          <ac:spMkLst>
            <pc:docMk/>
            <pc:sldMk cId="0" sldId="270"/>
            <ac:spMk id="200" creationId="{00000000-0000-0000-0000-000000000000}"/>
          </ac:spMkLst>
        </pc:spChg>
        <pc:spChg chg="mod">
          <ac:chgData name="Quang Nguyen" userId="5d670127fb4ed1d3" providerId="LiveId" clId="{69EE9044-281E-4734-97DE-33207B456CE7}" dt="2024-06-17T14:41:46.932" v="95" actId="14100"/>
          <ac:spMkLst>
            <pc:docMk/>
            <pc:sldMk cId="0" sldId="270"/>
            <ac:spMk id="201" creationId="{00000000-0000-0000-0000-000000000000}"/>
          </ac:spMkLst>
        </pc:spChg>
        <pc:spChg chg="mod">
          <ac:chgData name="Quang Nguyen" userId="5d670127fb4ed1d3" providerId="LiveId" clId="{69EE9044-281E-4734-97DE-33207B456CE7}" dt="2024-06-17T15:18:16.705" v="248" actId="14100"/>
          <ac:spMkLst>
            <pc:docMk/>
            <pc:sldMk cId="0" sldId="270"/>
            <ac:spMk id="202" creationId="{00000000-0000-0000-0000-000000000000}"/>
          </ac:spMkLst>
        </pc:spChg>
        <pc:spChg chg="mod">
          <ac:chgData name="Quang Nguyen" userId="5d670127fb4ed1d3" providerId="LiveId" clId="{69EE9044-281E-4734-97DE-33207B456CE7}" dt="2024-06-17T15:22:11.804" v="262" actId="13822"/>
          <ac:spMkLst>
            <pc:docMk/>
            <pc:sldMk cId="0" sldId="270"/>
            <ac:spMk id="203" creationId="{00000000-0000-0000-0000-000000000000}"/>
          </ac:spMkLst>
        </pc:spChg>
      </pc:sldChg>
      <pc:sldChg chg="addSp delSp modSp mod">
        <pc:chgData name="Quang Nguyen" userId="5d670127fb4ed1d3" providerId="LiveId" clId="{69EE9044-281E-4734-97DE-33207B456CE7}" dt="2024-06-18T03:04:25.676" v="600" actId="403"/>
        <pc:sldMkLst>
          <pc:docMk/>
          <pc:sldMk cId="0" sldId="271"/>
        </pc:sldMkLst>
        <pc:spChg chg="add mod">
          <ac:chgData name="Quang Nguyen" userId="5d670127fb4ed1d3" providerId="LiveId" clId="{69EE9044-281E-4734-97DE-33207B456CE7}" dt="2024-06-17T15:22:19.913" v="264"/>
          <ac:spMkLst>
            <pc:docMk/>
            <pc:sldMk cId="0" sldId="271"/>
            <ac:spMk id="2" creationId="{E930118B-1EBA-28C5-5414-FF54D8A113E2}"/>
          </ac:spMkLst>
        </pc:spChg>
        <pc:spChg chg="mod">
          <ac:chgData name="Quang Nguyen" userId="5d670127fb4ed1d3" providerId="LiveId" clId="{69EE9044-281E-4734-97DE-33207B456CE7}" dt="2024-06-17T15:44:35.956" v="341"/>
          <ac:spMkLst>
            <pc:docMk/>
            <pc:sldMk cId="0" sldId="271"/>
            <ac:spMk id="209" creationId="{00000000-0000-0000-0000-000000000000}"/>
          </ac:spMkLst>
        </pc:spChg>
        <pc:spChg chg="mod">
          <ac:chgData name="Quang Nguyen" userId="5d670127fb4ed1d3" providerId="LiveId" clId="{69EE9044-281E-4734-97DE-33207B456CE7}" dt="2024-06-18T03:04:25.676" v="600" actId="403"/>
          <ac:spMkLst>
            <pc:docMk/>
            <pc:sldMk cId="0" sldId="271"/>
            <ac:spMk id="210" creationId="{00000000-0000-0000-0000-000000000000}"/>
          </ac:spMkLst>
        </pc:spChg>
        <pc:spChg chg="mod">
          <ac:chgData name="Quang Nguyen" userId="5d670127fb4ed1d3" providerId="LiveId" clId="{69EE9044-281E-4734-97DE-33207B456CE7}" dt="2024-06-17T14:41:56.679" v="96" actId="14100"/>
          <ac:spMkLst>
            <pc:docMk/>
            <pc:sldMk cId="0" sldId="271"/>
            <ac:spMk id="211" creationId="{00000000-0000-0000-0000-000000000000}"/>
          </ac:spMkLst>
        </pc:spChg>
        <pc:spChg chg="mod">
          <ac:chgData name="Quang Nguyen" userId="5d670127fb4ed1d3" providerId="LiveId" clId="{69EE9044-281E-4734-97DE-33207B456CE7}" dt="2024-06-17T15:18:20.243" v="249" actId="14100"/>
          <ac:spMkLst>
            <pc:docMk/>
            <pc:sldMk cId="0" sldId="271"/>
            <ac:spMk id="212" creationId="{00000000-0000-0000-0000-000000000000}"/>
          </ac:spMkLst>
        </pc:spChg>
        <pc:spChg chg="del">
          <ac:chgData name="Quang Nguyen" userId="5d670127fb4ed1d3" providerId="LiveId" clId="{69EE9044-281E-4734-97DE-33207B456CE7}" dt="2024-06-17T15:22:18.772" v="263" actId="478"/>
          <ac:spMkLst>
            <pc:docMk/>
            <pc:sldMk cId="0" sldId="271"/>
            <ac:spMk id="213" creationId="{00000000-0000-0000-0000-000000000000}"/>
          </ac:spMkLst>
        </pc:spChg>
      </pc:sldChg>
      <pc:sldChg chg="addSp delSp modSp mod">
        <pc:chgData name="Quang Nguyen" userId="5d670127fb4ed1d3" providerId="LiveId" clId="{69EE9044-281E-4734-97DE-33207B456CE7}" dt="2024-06-18T03:04:32.594" v="605" actId="403"/>
        <pc:sldMkLst>
          <pc:docMk/>
          <pc:sldMk cId="0" sldId="272"/>
        </pc:sldMkLst>
        <pc:spChg chg="mod">
          <ac:chgData name="Quang Nguyen" userId="5d670127fb4ed1d3" providerId="LiveId" clId="{69EE9044-281E-4734-97DE-33207B456CE7}" dt="2024-06-17T15:44:38.638" v="342"/>
          <ac:spMkLst>
            <pc:docMk/>
            <pc:sldMk cId="0" sldId="272"/>
            <ac:spMk id="218" creationId="{00000000-0000-0000-0000-000000000000}"/>
          </ac:spMkLst>
        </pc:spChg>
        <pc:spChg chg="mod">
          <ac:chgData name="Quang Nguyen" userId="5d670127fb4ed1d3" providerId="LiveId" clId="{69EE9044-281E-4734-97DE-33207B456CE7}" dt="2024-06-18T03:04:32.594" v="605" actId="403"/>
          <ac:spMkLst>
            <pc:docMk/>
            <pc:sldMk cId="0" sldId="272"/>
            <ac:spMk id="219" creationId="{00000000-0000-0000-0000-000000000000}"/>
          </ac:spMkLst>
        </pc:spChg>
        <pc:spChg chg="mod">
          <ac:chgData name="Quang Nguyen" userId="5d670127fb4ed1d3" providerId="LiveId" clId="{69EE9044-281E-4734-97DE-33207B456CE7}" dt="2024-06-17T14:17:24.119" v="2" actId="20577"/>
          <ac:spMkLst>
            <pc:docMk/>
            <pc:sldMk cId="0" sldId="272"/>
            <ac:spMk id="220" creationId="{00000000-0000-0000-0000-000000000000}"/>
          </ac:spMkLst>
        </pc:spChg>
        <pc:spChg chg="mod">
          <ac:chgData name="Quang Nguyen" userId="5d670127fb4ed1d3" providerId="LiveId" clId="{69EE9044-281E-4734-97DE-33207B456CE7}" dt="2024-06-17T15:18:30.699" v="251" actId="1076"/>
          <ac:spMkLst>
            <pc:docMk/>
            <pc:sldMk cId="0" sldId="272"/>
            <ac:spMk id="221" creationId="{00000000-0000-0000-0000-000000000000}"/>
          </ac:spMkLst>
        </pc:spChg>
        <pc:picChg chg="add del mod">
          <ac:chgData name="Quang Nguyen" userId="5d670127fb4ed1d3" providerId="LiveId" clId="{69EE9044-281E-4734-97DE-33207B456CE7}" dt="2024-06-18T02:36:17.841" v="512" actId="478"/>
          <ac:picMkLst>
            <pc:docMk/>
            <pc:sldMk cId="0" sldId="272"/>
            <ac:picMk id="3" creationId="{C088EB9D-966B-32D6-8B0F-10B4B5B5786E}"/>
          </ac:picMkLst>
        </pc:picChg>
        <pc:picChg chg="add mod">
          <ac:chgData name="Quang Nguyen" userId="5d670127fb4ed1d3" providerId="LiveId" clId="{69EE9044-281E-4734-97DE-33207B456CE7}" dt="2024-06-18T02:36:38.092" v="518" actId="1076"/>
          <ac:picMkLst>
            <pc:docMk/>
            <pc:sldMk cId="0" sldId="272"/>
            <ac:picMk id="4" creationId="{74A55240-827B-7EDA-BA7E-04AC32710DA6}"/>
          </ac:picMkLst>
        </pc:picChg>
        <pc:picChg chg="del mod">
          <ac:chgData name="Quang Nguyen" userId="5d670127fb4ed1d3" providerId="LiveId" clId="{69EE9044-281E-4734-97DE-33207B456CE7}" dt="2024-06-17T14:35:44.158" v="43" actId="478"/>
          <ac:picMkLst>
            <pc:docMk/>
            <pc:sldMk cId="0" sldId="272"/>
            <ac:picMk id="222" creationId="{00000000-0000-0000-0000-000000000000}"/>
          </ac:picMkLst>
        </pc:picChg>
      </pc:sldChg>
      <pc:sldChg chg="addSp delSp modSp mod">
        <pc:chgData name="Quang Nguyen" userId="5d670127fb4ed1d3" providerId="LiveId" clId="{69EE9044-281E-4734-97DE-33207B456CE7}" dt="2024-06-18T03:04:38.492" v="610" actId="403"/>
        <pc:sldMkLst>
          <pc:docMk/>
          <pc:sldMk cId="0" sldId="273"/>
        </pc:sldMkLst>
        <pc:spChg chg="add mod">
          <ac:chgData name="Quang Nguyen" userId="5d670127fb4ed1d3" providerId="LiveId" clId="{69EE9044-281E-4734-97DE-33207B456CE7}" dt="2024-06-17T15:22:30.875" v="266"/>
          <ac:spMkLst>
            <pc:docMk/>
            <pc:sldMk cId="0" sldId="273"/>
            <ac:spMk id="2" creationId="{D5454465-4239-F67D-C325-A912720BADA0}"/>
          </ac:spMkLst>
        </pc:spChg>
        <pc:spChg chg="mod">
          <ac:chgData name="Quang Nguyen" userId="5d670127fb4ed1d3" providerId="LiveId" clId="{69EE9044-281E-4734-97DE-33207B456CE7}" dt="2024-06-17T15:44:41.220" v="343"/>
          <ac:spMkLst>
            <pc:docMk/>
            <pc:sldMk cId="0" sldId="273"/>
            <ac:spMk id="228" creationId="{00000000-0000-0000-0000-000000000000}"/>
          </ac:spMkLst>
        </pc:spChg>
        <pc:spChg chg="mod">
          <ac:chgData name="Quang Nguyen" userId="5d670127fb4ed1d3" providerId="LiveId" clId="{69EE9044-281E-4734-97DE-33207B456CE7}" dt="2024-06-18T03:04:38.492" v="610" actId="403"/>
          <ac:spMkLst>
            <pc:docMk/>
            <pc:sldMk cId="0" sldId="273"/>
            <ac:spMk id="229" creationId="{00000000-0000-0000-0000-000000000000}"/>
          </ac:spMkLst>
        </pc:spChg>
        <pc:spChg chg="mod">
          <ac:chgData name="Quang Nguyen" userId="5d670127fb4ed1d3" providerId="LiveId" clId="{69EE9044-281E-4734-97DE-33207B456CE7}" dt="2024-06-17T15:18:25.890" v="250" actId="14100"/>
          <ac:spMkLst>
            <pc:docMk/>
            <pc:sldMk cId="0" sldId="273"/>
            <ac:spMk id="231" creationId="{00000000-0000-0000-0000-000000000000}"/>
          </ac:spMkLst>
        </pc:spChg>
        <pc:spChg chg="del">
          <ac:chgData name="Quang Nguyen" userId="5d670127fb4ed1d3" providerId="LiveId" clId="{69EE9044-281E-4734-97DE-33207B456CE7}" dt="2024-06-17T15:22:29.888" v="265" actId="478"/>
          <ac:spMkLst>
            <pc:docMk/>
            <pc:sldMk cId="0" sldId="273"/>
            <ac:spMk id="232" creationId="{00000000-0000-0000-0000-000000000000}"/>
          </ac:spMkLst>
        </pc:spChg>
      </pc:sldChg>
      <pc:sldChg chg="addSp delSp modSp mod">
        <pc:chgData name="Quang Nguyen" userId="5d670127fb4ed1d3" providerId="LiveId" clId="{69EE9044-281E-4734-97DE-33207B456CE7}" dt="2024-06-18T03:04:44.743" v="615" actId="403"/>
        <pc:sldMkLst>
          <pc:docMk/>
          <pc:sldMk cId="0" sldId="274"/>
        </pc:sldMkLst>
        <pc:spChg chg="add mod">
          <ac:chgData name="Quang Nguyen" userId="5d670127fb4ed1d3" providerId="LiveId" clId="{69EE9044-281E-4734-97DE-33207B456CE7}" dt="2024-06-17T15:23:06.905" v="268"/>
          <ac:spMkLst>
            <pc:docMk/>
            <pc:sldMk cId="0" sldId="274"/>
            <ac:spMk id="2" creationId="{C392AFBC-1AFF-4ED2-9EBA-9F124960AF78}"/>
          </ac:spMkLst>
        </pc:spChg>
        <pc:spChg chg="mod">
          <ac:chgData name="Quang Nguyen" userId="5d670127fb4ed1d3" providerId="LiveId" clId="{69EE9044-281E-4734-97DE-33207B456CE7}" dt="2024-06-17T15:44:43.964" v="344"/>
          <ac:spMkLst>
            <pc:docMk/>
            <pc:sldMk cId="0" sldId="274"/>
            <ac:spMk id="238" creationId="{00000000-0000-0000-0000-000000000000}"/>
          </ac:spMkLst>
        </pc:spChg>
        <pc:spChg chg="mod">
          <ac:chgData name="Quang Nguyen" userId="5d670127fb4ed1d3" providerId="LiveId" clId="{69EE9044-281E-4734-97DE-33207B456CE7}" dt="2024-06-18T03:04:44.743" v="615" actId="403"/>
          <ac:spMkLst>
            <pc:docMk/>
            <pc:sldMk cId="0" sldId="274"/>
            <ac:spMk id="239" creationId="{00000000-0000-0000-0000-000000000000}"/>
          </ac:spMkLst>
        </pc:spChg>
        <pc:spChg chg="mod">
          <ac:chgData name="Quang Nguyen" userId="5d670127fb4ed1d3" providerId="LiveId" clId="{69EE9044-281E-4734-97DE-33207B456CE7}" dt="2024-06-17T14:42:39.073" v="98" actId="14100"/>
          <ac:spMkLst>
            <pc:docMk/>
            <pc:sldMk cId="0" sldId="274"/>
            <ac:spMk id="240" creationId="{00000000-0000-0000-0000-000000000000}"/>
          </ac:spMkLst>
        </pc:spChg>
        <pc:spChg chg="mod">
          <ac:chgData name="Quang Nguyen" userId="5d670127fb4ed1d3" providerId="LiveId" clId="{69EE9044-281E-4734-97DE-33207B456CE7}" dt="2024-06-17T15:18:41.831" v="252" actId="14100"/>
          <ac:spMkLst>
            <pc:docMk/>
            <pc:sldMk cId="0" sldId="274"/>
            <ac:spMk id="241" creationId="{00000000-0000-0000-0000-000000000000}"/>
          </ac:spMkLst>
        </pc:spChg>
        <pc:spChg chg="del">
          <ac:chgData name="Quang Nguyen" userId="5d670127fb4ed1d3" providerId="LiveId" clId="{69EE9044-281E-4734-97DE-33207B456CE7}" dt="2024-06-17T15:23:05.919" v="267" actId="478"/>
          <ac:spMkLst>
            <pc:docMk/>
            <pc:sldMk cId="0" sldId="274"/>
            <ac:spMk id="242" creationId="{00000000-0000-0000-0000-000000000000}"/>
          </ac:spMkLst>
        </pc:spChg>
      </pc:sldChg>
      <pc:sldChg chg="modSp mod">
        <pc:chgData name="Quang Nguyen" userId="5d670127fb4ed1d3" providerId="LiveId" clId="{69EE9044-281E-4734-97DE-33207B456CE7}" dt="2024-06-18T03:04:51.705" v="620" actId="403"/>
        <pc:sldMkLst>
          <pc:docMk/>
          <pc:sldMk cId="0" sldId="275"/>
        </pc:sldMkLst>
        <pc:spChg chg="mod">
          <ac:chgData name="Quang Nguyen" userId="5d670127fb4ed1d3" providerId="LiveId" clId="{69EE9044-281E-4734-97DE-33207B456CE7}" dt="2024-06-17T15:44:52.342" v="346" actId="113"/>
          <ac:spMkLst>
            <pc:docMk/>
            <pc:sldMk cId="0" sldId="275"/>
            <ac:spMk id="247" creationId="{00000000-0000-0000-0000-000000000000}"/>
          </ac:spMkLst>
        </pc:spChg>
        <pc:spChg chg="mod">
          <ac:chgData name="Quang Nguyen" userId="5d670127fb4ed1d3" providerId="LiveId" clId="{69EE9044-281E-4734-97DE-33207B456CE7}" dt="2024-06-18T03:04:51.705" v="620" actId="403"/>
          <ac:spMkLst>
            <pc:docMk/>
            <pc:sldMk cId="0" sldId="275"/>
            <ac:spMk id="248" creationId="{00000000-0000-0000-0000-000000000000}"/>
          </ac:spMkLst>
        </pc:spChg>
        <pc:spChg chg="mod">
          <ac:chgData name="Quang Nguyen" userId="5d670127fb4ed1d3" providerId="LiveId" clId="{69EE9044-281E-4734-97DE-33207B456CE7}" dt="2024-06-17T14:43:16.010" v="100" actId="120"/>
          <ac:spMkLst>
            <pc:docMk/>
            <pc:sldMk cId="0" sldId="275"/>
            <ac:spMk id="249" creationId="{00000000-0000-0000-0000-000000000000}"/>
          </ac:spMkLst>
        </pc:spChg>
      </pc:sldChg>
      <pc:sldChg chg="modSp mod">
        <pc:chgData name="Quang Nguyen" userId="5d670127fb4ed1d3" providerId="LiveId" clId="{69EE9044-281E-4734-97DE-33207B456CE7}" dt="2024-06-18T03:04:58.739" v="625" actId="403"/>
        <pc:sldMkLst>
          <pc:docMk/>
          <pc:sldMk cId="0" sldId="276"/>
        </pc:sldMkLst>
        <pc:spChg chg="mod">
          <ac:chgData name="Quang Nguyen" userId="5d670127fb4ed1d3" providerId="LiveId" clId="{69EE9044-281E-4734-97DE-33207B456CE7}" dt="2024-06-17T15:44:56.005" v="347"/>
          <ac:spMkLst>
            <pc:docMk/>
            <pc:sldMk cId="0" sldId="276"/>
            <ac:spMk id="254" creationId="{00000000-0000-0000-0000-000000000000}"/>
          </ac:spMkLst>
        </pc:spChg>
        <pc:spChg chg="mod">
          <ac:chgData name="Quang Nguyen" userId="5d670127fb4ed1d3" providerId="LiveId" clId="{69EE9044-281E-4734-97DE-33207B456CE7}" dt="2024-06-18T03:04:58.739" v="625" actId="403"/>
          <ac:spMkLst>
            <pc:docMk/>
            <pc:sldMk cId="0" sldId="276"/>
            <ac:spMk id="255" creationId="{00000000-0000-0000-0000-000000000000}"/>
          </ac:spMkLst>
        </pc:spChg>
        <pc:spChg chg="mod">
          <ac:chgData name="Quang Nguyen" userId="5d670127fb4ed1d3" providerId="LiveId" clId="{69EE9044-281E-4734-97DE-33207B456CE7}" dt="2024-06-17T14:44:15.588" v="103" actId="123"/>
          <ac:spMkLst>
            <pc:docMk/>
            <pc:sldMk cId="0" sldId="276"/>
            <ac:spMk id="256" creationId="{00000000-0000-0000-0000-000000000000}"/>
          </ac:spMkLst>
        </pc:spChg>
        <pc:spChg chg="mod">
          <ac:chgData name="Quang Nguyen" userId="5d670127fb4ed1d3" providerId="LiveId" clId="{69EE9044-281E-4734-97DE-33207B456CE7}" dt="2024-06-17T15:18:50.138" v="253" actId="14100"/>
          <ac:spMkLst>
            <pc:docMk/>
            <pc:sldMk cId="0" sldId="276"/>
            <ac:spMk id="258" creationId="{00000000-0000-0000-0000-000000000000}"/>
          </ac:spMkLst>
        </pc:spChg>
      </pc:sldChg>
      <pc:sldChg chg="modSp mod">
        <pc:chgData name="Quang Nguyen" userId="5d670127fb4ed1d3" providerId="LiveId" clId="{69EE9044-281E-4734-97DE-33207B456CE7}" dt="2024-06-18T03:05:04.201" v="630" actId="403"/>
        <pc:sldMkLst>
          <pc:docMk/>
          <pc:sldMk cId="0" sldId="277"/>
        </pc:sldMkLst>
        <pc:spChg chg="mod">
          <ac:chgData name="Quang Nguyen" userId="5d670127fb4ed1d3" providerId="LiveId" clId="{69EE9044-281E-4734-97DE-33207B456CE7}" dt="2024-06-17T15:44:59.390" v="348"/>
          <ac:spMkLst>
            <pc:docMk/>
            <pc:sldMk cId="0" sldId="277"/>
            <ac:spMk id="263" creationId="{00000000-0000-0000-0000-000000000000}"/>
          </ac:spMkLst>
        </pc:spChg>
        <pc:spChg chg="mod">
          <ac:chgData name="Quang Nguyen" userId="5d670127fb4ed1d3" providerId="LiveId" clId="{69EE9044-281E-4734-97DE-33207B456CE7}" dt="2024-06-18T03:05:04.201" v="630" actId="403"/>
          <ac:spMkLst>
            <pc:docMk/>
            <pc:sldMk cId="0" sldId="277"/>
            <ac:spMk id="264" creationId="{00000000-0000-0000-0000-000000000000}"/>
          </ac:spMkLst>
        </pc:spChg>
        <pc:spChg chg="mod">
          <ac:chgData name="Quang Nguyen" userId="5d670127fb4ed1d3" providerId="LiveId" clId="{69EE9044-281E-4734-97DE-33207B456CE7}" dt="2024-06-17T14:46:15.097" v="134" actId="14100"/>
          <ac:spMkLst>
            <pc:docMk/>
            <pc:sldMk cId="0" sldId="277"/>
            <ac:spMk id="265" creationId="{00000000-0000-0000-0000-000000000000}"/>
          </ac:spMkLst>
        </pc:spChg>
        <pc:spChg chg="mod">
          <ac:chgData name="Quang Nguyen" userId="5d670127fb4ed1d3" providerId="LiveId" clId="{69EE9044-281E-4734-97DE-33207B456CE7}" dt="2024-06-18T02:37:50.009" v="523" actId="1076"/>
          <ac:spMkLst>
            <pc:docMk/>
            <pc:sldMk cId="0" sldId="277"/>
            <ac:spMk id="268" creationId="{00000000-0000-0000-0000-000000000000}"/>
          </ac:spMkLst>
        </pc:spChg>
        <pc:spChg chg="mod">
          <ac:chgData name="Quang Nguyen" userId="5d670127fb4ed1d3" providerId="LiveId" clId="{69EE9044-281E-4734-97DE-33207B456CE7}" dt="2024-06-18T02:37:44.774" v="520" actId="1076"/>
          <ac:spMkLst>
            <pc:docMk/>
            <pc:sldMk cId="0" sldId="277"/>
            <ac:spMk id="269" creationId="{00000000-0000-0000-0000-000000000000}"/>
          </ac:spMkLst>
        </pc:spChg>
        <pc:picChg chg="mod">
          <ac:chgData name="Quang Nguyen" userId="5d670127fb4ed1d3" providerId="LiveId" clId="{69EE9044-281E-4734-97DE-33207B456CE7}" dt="2024-06-18T02:37:47.449" v="522" actId="1076"/>
          <ac:picMkLst>
            <pc:docMk/>
            <pc:sldMk cId="0" sldId="277"/>
            <ac:picMk id="266" creationId="{00000000-0000-0000-0000-000000000000}"/>
          </ac:picMkLst>
        </pc:picChg>
        <pc:picChg chg="mod">
          <ac:chgData name="Quang Nguyen" userId="5d670127fb4ed1d3" providerId="LiveId" clId="{69EE9044-281E-4734-97DE-33207B456CE7}" dt="2024-06-18T02:37:46.220" v="521" actId="1076"/>
          <ac:picMkLst>
            <pc:docMk/>
            <pc:sldMk cId="0" sldId="277"/>
            <ac:picMk id="267" creationId="{00000000-0000-0000-0000-000000000000}"/>
          </ac:picMkLst>
        </pc:picChg>
      </pc:sldChg>
      <pc:sldChg chg="addSp modSp mod">
        <pc:chgData name="Quang Nguyen" userId="5d670127fb4ed1d3" providerId="LiveId" clId="{69EE9044-281E-4734-97DE-33207B456CE7}" dt="2024-06-18T03:06:52.477" v="669" actId="1076"/>
        <pc:sldMkLst>
          <pc:docMk/>
          <pc:sldMk cId="0" sldId="278"/>
        </pc:sldMkLst>
        <pc:spChg chg="add mod">
          <ac:chgData name="Quang Nguyen" userId="5d670127fb4ed1d3" providerId="LiveId" clId="{69EE9044-281E-4734-97DE-33207B456CE7}" dt="2024-06-18T02:31:10.508" v="511" actId="207"/>
          <ac:spMkLst>
            <pc:docMk/>
            <pc:sldMk cId="0" sldId="278"/>
            <ac:spMk id="2" creationId="{296B6B57-D909-804C-F19E-DC3481F91C6F}"/>
          </ac:spMkLst>
        </pc:spChg>
        <pc:spChg chg="mod">
          <ac:chgData name="Quang Nguyen" userId="5d670127fb4ed1d3" providerId="LiveId" clId="{69EE9044-281E-4734-97DE-33207B456CE7}" dt="2024-06-17T15:45:03.844" v="349"/>
          <ac:spMkLst>
            <pc:docMk/>
            <pc:sldMk cId="0" sldId="278"/>
            <ac:spMk id="274" creationId="{00000000-0000-0000-0000-000000000000}"/>
          </ac:spMkLst>
        </pc:spChg>
        <pc:spChg chg="mod">
          <ac:chgData name="Quang Nguyen" userId="5d670127fb4ed1d3" providerId="LiveId" clId="{69EE9044-281E-4734-97DE-33207B456CE7}" dt="2024-06-18T03:05:12.312" v="635" actId="403"/>
          <ac:spMkLst>
            <pc:docMk/>
            <pc:sldMk cId="0" sldId="278"/>
            <ac:spMk id="275" creationId="{00000000-0000-0000-0000-000000000000}"/>
          </ac:spMkLst>
        </pc:spChg>
        <pc:graphicFrameChg chg="mod modGraphic">
          <ac:chgData name="Quang Nguyen" userId="5d670127fb4ed1d3" providerId="LiveId" clId="{69EE9044-281E-4734-97DE-33207B456CE7}" dt="2024-06-18T03:06:52.477" v="669" actId="1076"/>
          <ac:graphicFrameMkLst>
            <pc:docMk/>
            <pc:sldMk cId="0" sldId="278"/>
            <ac:graphicFrameMk id="277" creationId="{00000000-0000-0000-0000-000000000000}"/>
          </ac:graphicFrameMkLst>
        </pc:graphicFrameChg>
      </pc:sldChg>
      <pc:sldChg chg="modSp mod">
        <pc:chgData name="Quang Nguyen" userId="5d670127fb4ed1d3" providerId="LiveId" clId="{69EE9044-281E-4734-97DE-33207B456CE7}" dt="2024-06-18T03:05:17.217" v="640" actId="403"/>
        <pc:sldMkLst>
          <pc:docMk/>
          <pc:sldMk cId="0" sldId="279"/>
        </pc:sldMkLst>
        <pc:spChg chg="mod">
          <ac:chgData name="Quang Nguyen" userId="5d670127fb4ed1d3" providerId="LiveId" clId="{69EE9044-281E-4734-97DE-33207B456CE7}" dt="2024-06-17T15:45:10.708" v="351" actId="113"/>
          <ac:spMkLst>
            <pc:docMk/>
            <pc:sldMk cId="0" sldId="279"/>
            <ac:spMk id="282" creationId="{00000000-0000-0000-0000-000000000000}"/>
          </ac:spMkLst>
        </pc:spChg>
        <pc:spChg chg="mod">
          <ac:chgData name="Quang Nguyen" userId="5d670127fb4ed1d3" providerId="LiveId" clId="{69EE9044-281E-4734-97DE-33207B456CE7}" dt="2024-06-18T03:05:17.217" v="640" actId="403"/>
          <ac:spMkLst>
            <pc:docMk/>
            <pc:sldMk cId="0" sldId="279"/>
            <ac:spMk id="283" creationId="{00000000-0000-0000-0000-000000000000}"/>
          </ac:spMkLst>
        </pc:spChg>
        <pc:spChg chg="mod">
          <ac:chgData name="Quang Nguyen" userId="5d670127fb4ed1d3" providerId="LiveId" clId="{69EE9044-281E-4734-97DE-33207B456CE7}" dt="2024-06-17T14:46:45.385" v="140" actId="14"/>
          <ac:spMkLst>
            <pc:docMk/>
            <pc:sldMk cId="0" sldId="279"/>
            <ac:spMk id="284" creationId="{00000000-0000-0000-0000-000000000000}"/>
          </ac:spMkLst>
        </pc:spChg>
      </pc:sldChg>
      <pc:sldChg chg="modSp mod">
        <pc:chgData name="Quang Nguyen" userId="5d670127fb4ed1d3" providerId="LiveId" clId="{69EE9044-281E-4734-97DE-33207B456CE7}" dt="2024-06-18T03:05:24.127" v="645" actId="403"/>
        <pc:sldMkLst>
          <pc:docMk/>
          <pc:sldMk cId="0" sldId="280"/>
        </pc:sldMkLst>
        <pc:spChg chg="mod">
          <ac:chgData name="Quang Nguyen" userId="5d670127fb4ed1d3" providerId="LiveId" clId="{69EE9044-281E-4734-97DE-33207B456CE7}" dt="2024-06-17T15:45:14.885" v="352"/>
          <ac:spMkLst>
            <pc:docMk/>
            <pc:sldMk cId="0" sldId="280"/>
            <ac:spMk id="289" creationId="{00000000-0000-0000-0000-000000000000}"/>
          </ac:spMkLst>
        </pc:spChg>
        <pc:spChg chg="mod">
          <ac:chgData name="Quang Nguyen" userId="5d670127fb4ed1d3" providerId="LiveId" clId="{69EE9044-281E-4734-97DE-33207B456CE7}" dt="2024-06-18T03:05:24.127" v="645" actId="403"/>
          <ac:spMkLst>
            <pc:docMk/>
            <pc:sldMk cId="0" sldId="280"/>
            <ac:spMk id="290" creationId="{00000000-0000-0000-0000-000000000000}"/>
          </ac:spMkLst>
        </pc:spChg>
      </pc:sldChg>
      <pc:sldChg chg="modSp mod">
        <pc:chgData name="Quang Nguyen" userId="5d670127fb4ed1d3" providerId="LiveId" clId="{69EE9044-281E-4734-97DE-33207B456CE7}" dt="2024-06-18T03:05:35.221" v="650" actId="403"/>
        <pc:sldMkLst>
          <pc:docMk/>
          <pc:sldMk cId="0" sldId="281"/>
        </pc:sldMkLst>
        <pc:spChg chg="mod">
          <ac:chgData name="Quang Nguyen" userId="5d670127fb4ed1d3" providerId="LiveId" clId="{69EE9044-281E-4734-97DE-33207B456CE7}" dt="2024-06-17T15:45:17.823" v="353"/>
          <ac:spMkLst>
            <pc:docMk/>
            <pc:sldMk cId="0" sldId="281"/>
            <ac:spMk id="297" creationId="{00000000-0000-0000-0000-000000000000}"/>
          </ac:spMkLst>
        </pc:spChg>
        <pc:spChg chg="mod">
          <ac:chgData name="Quang Nguyen" userId="5d670127fb4ed1d3" providerId="LiveId" clId="{69EE9044-281E-4734-97DE-33207B456CE7}" dt="2024-06-18T03:05:35.221" v="650" actId="403"/>
          <ac:spMkLst>
            <pc:docMk/>
            <pc:sldMk cId="0" sldId="281"/>
            <ac:spMk id="298" creationId="{00000000-0000-0000-0000-000000000000}"/>
          </ac:spMkLst>
        </pc:spChg>
      </pc:sldChg>
      <pc:sldChg chg="modSp mod">
        <pc:chgData name="Quang Nguyen" userId="5d670127fb4ed1d3" providerId="LiveId" clId="{69EE9044-281E-4734-97DE-33207B456CE7}" dt="2024-06-18T03:05:41.190" v="655" actId="403"/>
        <pc:sldMkLst>
          <pc:docMk/>
          <pc:sldMk cId="0" sldId="282"/>
        </pc:sldMkLst>
        <pc:spChg chg="mod">
          <ac:chgData name="Quang Nguyen" userId="5d670127fb4ed1d3" providerId="LiveId" clId="{69EE9044-281E-4734-97DE-33207B456CE7}" dt="2024-06-17T15:45:21.045" v="354"/>
          <ac:spMkLst>
            <pc:docMk/>
            <pc:sldMk cId="0" sldId="282"/>
            <ac:spMk id="305" creationId="{00000000-0000-0000-0000-000000000000}"/>
          </ac:spMkLst>
        </pc:spChg>
        <pc:spChg chg="mod">
          <ac:chgData name="Quang Nguyen" userId="5d670127fb4ed1d3" providerId="LiveId" clId="{69EE9044-281E-4734-97DE-33207B456CE7}" dt="2024-06-18T03:05:41.190" v="655" actId="403"/>
          <ac:spMkLst>
            <pc:docMk/>
            <pc:sldMk cId="0" sldId="282"/>
            <ac:spMk id="306" creationId="{00000000-0000-0000-0000-000000000000}"/>
          </ac:spMkLst>
        </pc:spChg>
      </pc:sldChg>
      <pc:sldChg chg="del">
        <pc:chgData name="Quang Nguyen" userId="5d670127fb4ed1d3" providerId="LiveId" clId="{69EE9044-281E-4734-97DE-33207B456CE7}" dt="2024-06-17T15:16:41.058" v="242" actId="47"/>
        <pc:sldMkLst>
          <pc:docMk/>
          <pc:sldMk cId="0" sldId="283"/>
        </pc:sldMkLst>
      </pc:sldChg>
      <pc:sldChg chg="modSp mod">
        <pc:chgData name="Quang Nguyen" userId="5d670127fb4ed1d3" providerId="LiveId" clId="{69EE9044-281E-4734-97DE-33207B456CE7}" dt="2024-06-18T03:05:57.902" v="663" actId="403"/>
        <pc:sldMkLst>
          <pc:docMk/>
          <pc:sldMk cId="0" sldId="284"/>
        </pc:sldMkLst>
        <pc:spChg chg="mod">
          <ac:chgData name="Quang Nguyen" userId="5d670127fb4ed1d3" providerId="LiveId" clId="{69EE9044-281E-4734-97DE-33207B456CE7}" dt="2024-06-17T15:45:29.122" v="356" actId="113"/>
          <ac:spMkLst>
            <pc:docMk/>
            <pc:sldMk cId="0" sldId="284"/>
            <ac:spMk id="329" creationId="{00000000-0000-0000-0000-000000000000}"/>
          </ac:spMkLst>
        </pc:spChg>
        <pc:spChg chg="mod">
          <ac:chgData name="Quang Nguyen" userId="5d670127fb4ed1d3" providerId="LiveId" clId="{69EE9044-281E-4734-97DE-33207B456CE7}" dt="2024-06-18T03:05:57.902" v="663" actId="403"/>
          <ac:spMkLst>
            <pc:docMk/>
            <pc:sldMk cId="0" sldId="284"/>
            <ac:spMk id="330" creationId="{00000000-0000-0000-0000-000000000000}"/>
          </ac:spMkLst>
        </pc:spChg>
      </pc:sldChg>
      <pc:sldChg chg="modSp mod">
        <pc:chgData name="Quang Nguyen" userId="5d670127fb4ed1d3" providerId="LiveId" clId="{69EE9044-281E-4734-97DE-33207B456CE7}" dt="2024-06-18T03:06:05.633" v="668" actId="403"/>
        <pc:sldMkLst>
          <pc:docMk/>
          <pc:sldMk cId="0" sldId="285"/>
        </pc:sldMkLst>
        <pc:spChg chg="mod">
          <ac:chgData name="Quang Nguyen" userId="5d670127fb4ed1d3" providerId="LiveId" clId="{69EE9044-281E-4734-97DE-33207B456CE7}" dt="2024-06-17T15:45:35.629" v="358" actId="113"/>
          <ac:spMkLst>
            <pc:docMk/>
            <pc:sldMk cId="0" sldId="285"/>
            <ac:spMk id="336" creationId="{00000000-0000-0000-0000-000000000000}"/>
          </ac:spMkLst>
        </pc:spChg>
        <pc:spChg chg="mod">
          <ac:chgData name="Quang Nguyen" userId="5d670127fb4ed1d3" providerId="LiveId" clId="{69EE9044-281E-4734-97DE-33207B456CE7}" dt="2024-06-18T03:06:05.633" v="668" actId="403"/>
          <ac:spMkLst>
            <pc:docMk/>
            <pc:sldMk cId="0" sldId="285"/>
            <ac:spMk id="337" creationId="{00000000-0000-0000-0000-000000000000}"/>
          </ac:spMkLst>
        </pc:spChg>
      </pc:sldChg>
      <pc:sldChg chg="modSp mod">
        <pc:chgData name="Quang Nguyen" userId="5d670127fb4ed1d3" providerId="LiveId" clId="{69EE9044-281E-4734-97DE-33207B456CE7}" dt="2024-06-17T15:16:48.452" v="243" actId="2711"/>
        <pc:sldMkLst>
          <pc:docMk/>
          <pc:sldMk cId="0" sldId="286"/>
        </pc:sldMkLst>
        <pc:spChg chg="mod">
          <ac:chgData name="Quang Nguyen" userId="5d670127fb4ed1d3" providerId="LiveId" clId="{69EE9044-281E-4734-97DE-33207B456CE7}" dt="2024-06-17T15:16:48.452" v="243" actId="2711"/>
          <ac:spMkLst>
            <pc:docMk/>
            <pc:sldMk cId="0" sldId="286"/>
            <ac:spMk id="343" creationId="{00000000-0000-0000-0000-000000000000}"/>
          </ac:spMkLst>
        </pc:spChg>
      </pc:sldChg>
      <pc:sldChg chg="modSp add mod ord">
        <pc:chgData name="Quang Nguyen" userId="5d670127fb4ed1d3" providerId="LiveId" clId="{69EE9044-281E-4734-97DE-33207B456CE7}" dt="2024-06-18T03:03:21.572" v="572" actId="404"/>
        <pc:sldMkLst>
          <pc:docMk/>
          <pc:sldMk cId="3383452059" sldId="287"/>
        </pc:sldMkLst>
        <pc:spChg chg="mod">
          <ac:chgData name="Quang Nguyen" userId="5d670127fb4ed1d3" providerId="LiveId" clId="{69EE9044-281E-4734-97DE-33207B456CE7}" dt="2024-06-17T15:29:27.937" v="319" actId="207"/>
          <ac:spMkLst>
            <pc:docMk/>
            <pc:sldMk cId="3383452059" sldId="287"/>
            <ac:spMk id="62" creationId="{00000000-0000-0000-0000-000000000000}"/>
          </ac:spMkLst>
        </pc:spChg>
        <pc:spChg chg="mod">
          <ac:chgData name="Quang Nguyen" userId="5d670127fb4ed1d3" providerId="LiveId" clId="{69EE9044-281E-4734-97DE-33207B456CE7}" dt="2024-06-17T15:15:26.724" v="232" actId="207"/>
          <ac:spMkLst>
            <pc:docMk/>
            <pc:sldMk cId="3383452059" sldId="287"/>
            <ac:spMk id="63" creationId="{00000000-0000-0000-0000-000000000000}"/>
          </ac:spMkLst>
        </pc:spChg>
        <pc:spChg chg="mod">
          <ac:chgData name="Quang Nguyen" userId="5d670127fb4ed1d3" providerId="LiveId" clId="{69EE9044-281E-4734-97DE-33207B456CE7}" dt="2024-06-17T15:15:21.386" v="231" actId="207"/>
          <ac:spMkLst>
            <pc:docMk/>
            <pc:sldMk cId="3383452059" sldId="287"/>
            <ac:spMk id="64" creationId="{00000000-0000-0000-0000-000000000000}"/>
          </ac:spMkLst>
        </pc:spChg>
        <pc:spChg chg="mod">
          <ac:chgData name="Quang Nguyen" userId="5d670127fb4ed1d3" providerId="LiveId" clId="{69EE9044-281E-4734-97DE-33207B456CE7}" dt="2024-06-17T15:15:21.386" v="231" actId="207"/>
          <ac:spMkLst>
            <pc:docMk/>
            <pc:sldMk cId="3383452059" sldId="287"/>
            <ac:spMk id="65" creationId="{00000000-0000-0000-0000-000000000000}"/>
          </ac:spMkLst>
        </pc:spChg>
        <pc:spChg chg="mod">
          <ac:chgData name="Quang Nguyen" userId="5d670127fb4ed1d3" providerId="LiveId" clId="{69EE9044-281E-4734-97DE-33207B456CE7}" dt="2024-06-17T15:15:21.386" v="231" actId="207"/>
          <ac:spMkLst>
            <pc:docMk/>
            <pc:sldMk cId="3383452059" sldId="287"/>
            <ac:spMk id="66" creationId="{00000000-0000-0000-0000-000000000000}"/>
          </ac:spMkLst>
        </pc:spChg>
        <pc:spChg chg="mod">
          <ac:chgData name="Quang Nguyen" userId="5d670127fb4ed1d3" providerId="LiveId" clId="{69EE9044-281E-4734-97DE-33207B456CE7}" dt="2024-06-17T15:15:26.724" v="232" actId="207"/>
          <ac:spMkLst>
            <pc:docMk/>
            <pc:sldMk cId="3383452059" sldId="287"/>
            <ac:spMk id="70" creationId="{00000000-0000-0000-0000-000000000000}"/>
          </ac:spMkLst>
        </pc:spChg>
        <pc:spChg chg="mod">
          <ac:chgData name="Quang Nguyen" userId="5d670127fb4ed1d3" providerId="LiveId" clId="{69EE9044-281E-4734-97DE-33207B456CE7}" dt="2024-06-17T15:15:26.724" v="232" actId="207"/>
          <ac:spMkLst>
            <pc:docMk/>
            <pc:sldMk cId="3383452059" sldId="287"/>
            <ac:spMk id="71" creationId="{00000000-0000-0000-0000-000000000000}"/>
          </ac:spMkLst>
        </pc:spChg>
        <pc:spChg chg="mod">
          <ac:chgData name="Quang Nguyen" userId="5d670127fb4ed1d3" providerId="LiveId" clId="{69EE9044-281E-4734-97DE-33207B456CE7}" dt="2024-06-18T03:03:21.572" v="572" actId="404"/>
          <ac:spMkLst>
            <pc:docMk/>
            <pc:sldMk cId="3383452059" sldId="287"/>
            <ac:spMk id="73" creationId="{00000000-0000-0000-0000-000000000000}"/>
          </ac:spMkLst>
        </pc:spChg>
      </pc:sldChg>
      <pc:sldChg chg="modSp add mod ord">
        <pc:chgData name="Quang Nguyen" userId="5d670127fb4ed1d3" providerId="LiveId" clId="{69EE9044-281E-4734-97DE-33207B456CE7}" dt="2024-06-18T03:05:49.429" v="658" actId="404"/>
        <pc:sldMkLst>
          <pc:docMk/>
          <pc:sldMk cId="1156468700" sldId="288"/>
        </pc:sldMkLst>
        <pc:spChg chg="mod">
          <ac:chgData name="Quang Nguyen" userId="5d670127fb4ed1d3" providerId="LiveId" clId="{69EE9044-281E-4734-97DE-33207B456CE7}" dt="2024-06-17T15:29:34.139" v="320" actId="207"/>
          <ac:spMkLst>
            <pc:docMk/>
            <pc:sldMk cId="1156468700" sldId="288"/>
            <ac:spMk id="62" creationId="{00000000-0000-0000-0000-000000000000}"/>
          </ac:spMkLst>
        </pc:spChg>
        <pc:spChg chg="mod">
          <ac:chgData name="Quang Nguyen" userId="5d670127fb4ed1d3" providerId="LiveId" clId="{69EE9044-281E-4734-97DE-33207B456CE7}" dt="2024-06-17T15:16:05.149" v="233" actId="207"/>
          <ac:spMkLst>
            <pc:docMk/>
            <pc:sldMk cId="1156468700" sldId="288"/>
            <ac:spMk id="64" creationId="{00000000-0000-0000-0000-000000000000}"/>
          </ac:spMkLst>
        </pc:spChg>
        <pc:spChg chg="mod">
          <ac:chgData name="Quang Nguyen" userId="5d670127fb4ed1d3" providerId="LiveId" clId="{69EE9044-281E-4734-97DE-33207B456CE7}" dt="2024-06-17T15:16:05.149" v="233" actId="207"/>
          <ac:spMkLst>
            <pc:docMk/>
            <pc:sldMk cId="1156468700" sldId="288"/>
            <ac:spMk id="65" creationId="{00000000-0000-0000-0000-000000000000}"/>
          </ac:spMkLst>
        </pc:spChg>
        <pc:spChg chg="mod">
          <ac:chgData name="Quang Nguyen" userId="5d670127fb4ed1d3" providerId="LiveId" clId="{69EE9044-281E-4734-97DE-33207B456CE7}" dt="2024-06-17T15:16:05.149" v="233" actId="207"/>
          <ac:spMkLst>
            <pc:docMk/>
            <pc:sldMk cId="1156468700" sldId="288"/>
            <ac:spMk id="66" creationId="{00000000-0000-0000-0000-000000000000}"/>
          </ac:spMkLst>
        </pc:spChg>
        <pc:spChg chg="mod">
          <ac:chgData name="Quang Nguyen" userId="5d670127fb4ed1d3" providerId="LiveId" clId="{69EE9044-281E-4734-97DE-33207B456CE7}" dt="2024-06-17T15:16:05.149" v="233" actId="207"/>
          <ac:spMkLst>
            <pc:docMk/>
            <pc:sldMk cId="1156468700" sldId="288"/>
            <ac:spMk id="67" creationId="{00000000-0000-0000-0000-000000000000}"/>
          </ac:spMkLst>
        </pc:spChg>
        <pc:spChg chg="mod">
          <ac:chgData name="Quang Nguyen" userId="5d670127fb4ed1d3" providerId="LiveId" clId="{69EE9044-281E-4734-97DE-33207B456CE7}" dt="2024-06-17T15:16:05.149" v="233" actId="207"/>
          <ac:spMkLst>
            <pc:docMk/>
            <pc:sldMk cId="1156468700" sldId="288"/>
            <ac:spMk id="68" creationId="{00000000-0000-0000-0000-000000000000}"/>
          </ac:spMkLst>
        </pc:spChg>
        <pc:spChg chg="mod">
          <ac:chgData name="Quang Nguyen" userId="5d670127fb4ed1d3" providerId="LiveId" clId="{69EE9044-281E-4734-97DE-33207B456CE7}" dt="2024-06-17T15:16:05.149" v="233" actId="207"/>
          <ac:spMkLst>
            <pc:docMk/>
            <pc:sldMk cId="1156468700" sldId="288"/>
            <ac:spMk id="69" creationId="{00000000-0000-0000-0000-000000000000}"/>
          </ac:spMkLst>
        </pc:spChg>
        <pc:spChg chg="mod">
          <ac:chgData name="Quang Nguyen" userId="5d670127fb4ed1d3" providerId="LiveId" clId="{69EE9044-281E-4734-97DE-33207B456CE7}" dt="2024-06-18T03:05:49.429" v="658" actId="404"/>
          <ac:spMkLst>
            <pc:docMk/>
            <pc:sldMk cId="1156468700" sldId="288"/>
            <ac:spMk id="73" creationId="{00000000-0000-0000-0000-000000000000}"/>
          </ac:spMkLst>
        </pc:spChg>
      </pc:sldChg>
      <pc:sldChg chg="modSp add mod ord">
        <pc:chgData name="Quang Nguyen" userId="5d670127fb4ed1d3" providerId="LiveId" clId="{69EE9044-281E-4734-97DE-33207B456CE7}" dt="2024-06-18T03:00:05.215" v="527" actId="404"/>
        <pc:sldMkLst>
          <pc:docMk/>
          <pc:sldMk cId="2256324767" sldId="289"/>
        </pc:sldMkLst>
        <pc:spChg chg="mod">
          <ac:chgData name="Quang Nguyen" userId="5d670127fb4ed1d3" providerId="LiveId" clId="{69EE9044-281E-4734-97DE-33207B456CE7}" dt="2024-06-17T15:29:15.359" v="317" actId="207"/>
          <ac:spMkLst>
            <pc:docMk/>
            <pc:sldMk cId="2256324767" sldId="289"/>
            <ac:spMk id="62" creationId="{00000000-0000-0000-0000-000000000000}"/>
          </ac:spMkLst>
        </pc:spChg>
        <pc:spChg chg="mod">
          <ac:chgData name="Quang Nguyen" userId="5d670127fb4ed1d3" providerId="LiveId" clId="{69EE9044-281E-4734-97DE-33207B456CE7}" dt="2024-06-18T03:00:05.215" v="527" actId="404"/>
          <ac:spMkLst>
            <pc:docMk/>
            <pc:sldMk cId="2256324767" sldId="289"/>
            <ac:spMk id="73" creationId="{00000000-0000-0000-0000-000000000000}"/>
          </ac:spMkLst>
        </pc:spChg>
      </pc:sldChg>
      <pc:sldMasterChg chg="modSldLayout">
        <pc:chgData name="Quang Nguyen" userId="5d670127fb4ed1d3" providerId="LiveId" clId="{69EE9044-281E-4734-97DE-33207B456CE7}" dt="2024-06-18T02:59:46.060" v="524" actId="207"/>
        <pc:sldMasterMkLst>
          <pc:docMk/>
          <pc:sldMasterMk cId="0" sldId="2147483648"/>
        </pc:sldMasterMkLst>
        <pc:sldLayoutChg chg="modSp">
          <pc:chgData name="Quang Nguyen" userId="5d670127fb4ed1d3" providerId="LiveId" clId="{69EE9044-281E-4734-97DE-33207B456CE7}" dt="2024-06-18T02:59:46.060" v="524" actId="207"/>
          <pc:sldLayoutMkLst>
            <pc:docMk/>
            <pc:sldMasterMk cId="0" sldId="2147483648"/>
            <pc:sldLayoutMk cId="0" sldId="2147483650"/>
          </pc:sldLayoutMkLst>
          <pc:spChg chg="mod">
            <ac:chgData name="Quang Nguyen" userId="5d670127fb4ed1d3" providerId="LiveId" clId="{69EE9044-281E-4734-97DE-33207B456CE7}" dt="2024-06-18T02:59:46.060" v="524" actId="207"/>
            <ac:spMkLst>
              <pc:docMk/>
              <pc:sldMasterMk cId="0" sldId="2147483648"/>
              <pc:sldLayoutMk cId="0" sldId="2147483650"/>
              <ac:spMk id="42" creationId="{00000000-0000-0000-0000-000000000000}"/>
            </ac:spMkLst>
          </pc:spChg>
        </pc:sldLayoutChg>
      </pc:sldMasterChg>
    </pc:docChg>
  </pc:docChgLst>
  <pc:docChgLst>
    <pc:chgData name="Quang Nguyen" userId="5d670127fb4ed1d3" providerId="LiveId" clId="{84490C82-48EA-4FB1-A22F-A83A10849784}"/>
    <pc:docChg chg="undo custSel addSld delSld modSld sldOrd">
      <pc:chgData name="Quang Nguyen" userId="5d670127fb4ed1d3" providerId="LiveId" clId="{84490C82-48EA-4FB1-A22F-A83A10849784}" dt="2024-08-07T02:40:25.954" v="2858" actId="20577"/>
      <pc:docMkLst>
        <pc:docMk/>
      </pc:docMkLst>
      <pc:sldChg chg="modSp mod">
        <pc:chgData name="Quang Nguyen" userId="5d670127fb4ed1d3" providerId="LiveId" clId="{84490C82-48EA-4FB1-A22F-A83A10849784}" dt="2024-08-05T08:31:17.199" v="386" actId="403"/>
        <pc:sldMkLst>
          <pc:docMk/>
          <pc:sldMk cId="0" sldId="256"/>
        </pc:sldMkLst>
        <pc:spChg chg="mod">
          <ac:chgData name="Quang Nguyen" userId="5d670127fb4ed1d3" providerId="LiveId" clId="{84490C82-48EA-4FB1-A22F-A83A10849784}" dt="2024-08-05T08:31:17.199" v="386" actId="403"/>
          <ac:spMkLst>
            <pc:docMk/>
            <pc:sldMk cId="0" sldId="256"/>
            <ac:spMk id="54" creationId="{00000000-0000-0000-0000-000000000000}"/>
          </ac:spMkLst>
        </pc:spChg>
      </pc:sldChg>
      <pc:sldChg chg="del">
        <pc:chgData name="Quang Nguyen" userId="5d670127fb4ed1d3" providerId="LiveId" clId="{84490C82-48EA-4FB1-A22F-A83A10849784}" dt="2024-08-05T08:01:05.275" v="133" actId="2696"/>
        <pc:sldMkLst>
          <pc:docMk/>
          <pc:sldMk cId="0" sldId="257"/>
        </pc:sldMkLst>
      </pc:sldChg>
      <pc:sldChg chg="modSp mod">
        <pc:chgData name="Quang Nguyen" userId="5d670127fb4ed1d3" providerId="LiveId" clId="{84490C82-48EA-4FB1-A22F-A83A10849784}" dt="2024-08-07T02:04:46.942" v="2709" actId="12"/>
        <pc:sldMkLst>
          <pc:docMk/>
          <pc:sldMk cId="0" sldId="259"/>
        </pc:sldMkLst>
        <pc:spChg chg="mod">
          <ac:chgData name="Quang Nguyen" userId="5d670127fb4ed1d3" providerId="LiveId" clId="{84490C82-48EA-4FB1-A22F-A83A10849784}" dt="2024-08-05T08:31:37.755" v="387"/>
          <ac:spMkLst>
            <pc:docMk/>
            <pc:sldMk cId="0" sldId="259"/>
            <ac:spMk id="94" creationId="{00000000-0000-0000-0000-000000000000}"/>
          </ac:spMkLst>
        </pc:spChg>
        <pc:spChg chg="mod">
          <ac:chgData name="Quang Nguyen" userId="5d670127fb4ed1d3" providerId="LiveId" clId="{84490C82-48EA-4FB1-A22F-A83A10849784}" dt="2024-08-07T02:04:46.942" v="2709" actId="12"/>
          <ac:spMkLst>
            <pc:docMk/>
            <pc:sldMk cId="0" sldId="259"/>
            <ac:spMk id="96" creationId="{00000000-0000-0000-0000-000000000000}"/>
          </ac:spMkLst>
        </pc:spChg>
      </pc:sldChg>
      <pc:sldChg chg="modSp mod">
        <pc:chgData name="Quang Nguyen" userId="5d670127fb4ed1d3" providerId="LiveId" clId="{84490C82-48EA-4FB1-A22F-A83A10849784}" dt="2024-08-07T02:04:53.785" v="2710" actId="12"/>
        <pc:sldMkLst>
          <pc:docMk/>
          <pc:sldMk cId="0" sldId="260"/>
        </pc:sldMkLst>
        <pc:spChg chg="mod">
          <ac:chgData name="Quang Nguyen" userId="5d670127fb4ed1d3" providerId="LiveId" clId="{84490C82-48EA-4FB1-A22F-A83A10849784}" dt="2024-08-07T02:04:53.785" v="2710" actId="12"/>
          <ac:spMkLst>
            <pc:docMk/>
            <pc:sldMk cId="0" sldId="260"/>
            <ac:spMk id="107" creationId="{00000000-0000-0000-0000-000000000000}"/>
          </ac:spMkLst>
        </pc:spChg>
        <pc:spChg chg="mod">
          <ac:chgData name="Quang Nguyen" userId="5d670127fb4ed1d3" providerId="LiveId" clId="{84490C82-48EA-4FB1-A22F-A83A10849784}" dt="2024-08-05T10:06:45.493" v="730" actId="20577"/>
          <ac:spMkLst>
            <pc:docMk/>
            <pc:sldMk cId="0" sldId="260"/>
            <ac:spMk id="110" creationId="{00000000-0000-0000-0000-000000000000}"/>
          </ac:spMkLst>
        </pc:spChg>
        <pc:spChg chg="mod">
          <ac:chgData name="Quang Nguyen" userId="5d670127fb4ed1d3" providerId="LiveId" clId="{84490C82-48EA-4FB1-A22F-A83A10849784}" dt="2024-08-05T10:06:57.043" v="732" actId="20577"/>
          <ac:spMkLst>
            <pc:docMk/>
            <pc:sldMk cId="0" sldId="260"/>
            <ac:spMk id="111" creationId="{00000000-0000-0000-0000-000000000000}"/>
          </ac:spMkLst>
        </pc:spChg>
      </pc:sldChg>
      <pc:sldChg chg="del">
        <pc:chgData name="Quang Nguyen" userId="5d670127fb4ed1d3" providerId="LiveId" clId="{84490C82-48EA-4FB1-A22F-A83A10849784}" dt="2024-08-05T09:57:12.538" v="556" actId="47"/>
        <pc:sldMkLst>
          <pc:docMk/>
          <pc:sldMk cId="0" sldId="261"/>
        </pc:sldMkLst>
      </pc:sldChg>
      <pc:sldChg chg="del">
        <pc:chgData name="Quang Nguyen" userId="5d670127fb4ed1d3" providerId="LiveId" clId="{84490C82-48EA-4FB1-A22F-A83A10849784}" dt="2024-08-05T08:08:00.014" v="342" actId="47"/>
        <pc:sldMkLst>
          <pc:docMk/>
          <pc:sldMk cId="0" sldId="262"/>
        </pc:sldMkLst>
      </pc:sldChg>
      <pc:sldChg chg="modSp mod">
        <pc:chgData name="Quang Nguyen" userId="5d670127fb4ed1d3" providerId="LiveId" clId="{84490C82-48EA-4FB1-A22F-A83A10849784}" dt="2024-08-07T02:04:59.686" v="2711" actId="12"/>
        <pc:sldMkLst>
          <pc:docMk/>
          <pc:sldMk cId="0" sldId="263"/>
        </pc:sldMkLst>
        <pc:spChg chg="mod">
          <ac:chgData name="Quang Nguyen" userId="5d670127fb4ed1d3" providerId="LiveId" clId="{84490C82-48EA-4FB1-A22F-A83A10849784}" dt="2024-08-07T02:04:59.686" v="2711" actId="12"/>
          <ac:spMkLst>
            <pc:docMk/>
            <pc:sldMk cId="0" sldId="263"/>
            <ac:spMk id="132" creationId="{00000000-0000-0000-0000-000000000000}"/>
          </ac:spMkLst>
        </pc:spChg>
      </pc:sldChg>
      <pc:sldChg chg="modSp mod">
        <pc:chgData name="Quang Nguyen" userId="5d670127fb4ed1d3" providerId="LiveId" clId="{84490C82-48EA-4FB1-A22F-A83A10849784}" dt="2024-08-07T02:39:33.458" v="2848" actId="948"/>
        <pc:sldMkLst>
          <pc:docMk/>
          <pc:sldMk cId="0" sldId="264"/>
        </pc:sldMkLst>
        <pc:spChg chg="mod">
          <ac:chgData name="Quang Nguyen" userId="5d670127fb4ed1d3" providerId="LiveId" clId="{84490C82-48EA-4FB1-A22F-A83A10849784}" dt="2024-08-07T02:39:33.458" v="2848" actId="948"/>
          <ac:spMkLst>
            <pc:docMk/>
            <pc:sldMk cId="0" sldId="264"/>
            <ac:spMk id="140" creationId="{00000000-0000-0000-0000-000000000000}"/>
          </ac:spMkLst>
        </pc:spChg>
      </pc:sldChg>
      <pc:sldChg chg="modSp mod">
        <pc:chgData name="Quang Nguyen" userId="5d670127fb4ed1d3" providerId="LiveId" clId="{84490C82-48EA-4FB1-A22F-A83A10849784}" dt="2024-08-07T02:05:21.165" v="2715" actId="12"/>
        <pc:sldMkLst>
          <pc:docMk/>
          <pc:sldMk cId="0" sldId="265"/>
        </pc:sldMkLst>
        <pc:spChg chg="mod">
          <ac:chgData name="Quang Nguyen" userId="5d670127fb4ed1d3" providerId="LiveId" clId="{84490C82-48EA-4FB1-A22F-A83A10849784}" dt="2024-08-07T02:05:21.165" v="2715" actId="12"/>
          <ac:spMkLst>
            <pc:docMk/>
            <pc:sldMk cId="0" sldId="265"/>
            <ac:spMk id="148" creationId="{00000000-0000-0000-0000-000000000000}"/>
          </ac:spMkLst>
        </pc:spChg>
      </pc:sldChg>
      <pc:sldChg chg="del">
        <pc:chgData name="Quang Nguyen" userId="5d670127fb4ed1d3" providerId="LiveId" clId="{84490C82-48EA-4FB1-A22F-A83A10849784}" dt="2024-08-05T08:11:33.961" v="360" actId="47"/>
        <pc:sldMkLst>
          <pc:docMk/>
          <pc:sldMk cId="0" sldId="267"/>
        </pc:sldMkLst>
      </pc:sldChg>
      <pc:sldChg chg="del">
        <pc:chgData name="Quang Nguyen" userId="5d670127fb4ed1d3" providerId="LiveId" clId="{84490C82-48EA-4FB1-A22F-A83A10849784}" dt="2024-08-05T08:11:37.794" v="361" actId="47"/>
        <pc:sldMkLst>
          <pc:docMk/>
          <pc:sldMk cId="0" sldId="268"/>
        </pc:sldMkLst>
      </pc:sldChg>
      <pc:sldChg chg="del">
        <pc:chgData name="Quang Nguyen" userId="5d670127fb4ed1d3" providerId="LiveId" clId="{84490C82-48EA-4FB1-A22F-A83A10849784}" dt="2024-08-05T08:11:38.802" v="362" actId="47"/>
        <pc:sldMkLst>
          <pc:docMk/>
          <pc:sldMk cId="0" sldId="269"/>
        </pc:sldMkLst>
      </pc:sldChg>
      <pc:sldChg chg="del">
        <pc:chgData name="Quang Nguyen" userId="5d670127fb4ed1d3" providerId="LiveId" clId="{84490C82-48EA-4FB1-A22F-A83A10849784}" dt="2024-08-05T08:11:40.098" v="363" actId="47"/>
        <pc:sldMkLst>
          <pc:docMk/>
          <pc:sldMk cId="0" sldId="270"/>
        </pc:sldMkLst>
      </pc:sldChg>
      <pc:sldChg chg="del">
        <pc:chgData name="Quang Nguyen" userId="5d670127fb4ed1d3" providerId="LiveId" clId="{84490C82-48EA-4FB1-A22F-A83A10849784}" dt="2024-08-05T08:11:41.463" v="364" actId="47"/>
        <pc:sldMkLst>
          <pc:docMk/>
          <pc:sldMk cId="0" sldId="271"/>
        </pc:sldMkLst>
      </pc:sldChg>
      <pc:sldChg chg="del">
        <pc:chgData name="Quang Nguyen" userId="5d670127fb4ed1d3" providerId="LiveId" clId="{84490C82-48EA-4FB1-A22F-A83A10849784}" dt="2024-08-05T08:11:42.903" v="365" actId="47"/>
        <pc:sldMkLst>
          <pc:docMk/>
          <pc:sldMk cId="0" sldId="272"/>
        </pc:sldMkLst>
      </pc:sldChg>
      <pc:sldChg chg="del">
        <pc:chgData name="Quang Nguyen" userId="5d670127fb4ed1d3" providerId="LiveId" clId="{84490C82-48EA-4FB1-A22F-A83A10849784}" dt="2024-08-05T08:11:55.987" v="366" actId="47"/>
        <pc:sldMkLst>
          <pc:docMk/>
          <pc:sldMk cId="0" sldId="273"/>
        </pc:sldMkLst>
      </pc:sldChg>
      <pc:sldChg chg="del">
        <pc:chgData name="Quang Nguyen" userId="5d670127fb4ed1d3" providerId="LiveId" clId="{84490C82-48EA-4FB1-A22F-A83A10849784}" dt="2024-08-05T08:11:57.766" v="367" actId="47"/>
        <pc:sldMkLst>
          <pc:docMk/>
          <pc:sldMk cId="0" sldId="274"/>
        </pc:sldMkLst>
      </pc:sldChg>
      <pc:sldChg chg="addSp delSp modSp del mod">
        <pc:chgData name="Quang Nguyen" userId="5d670127fb4ed1d3" providerId="LiveId" clId="{84490C82-48EA-4FB1-A22F-A83A10849784}" dt="2024-08-06T08:12:16.686" v="2664" actId="47"/>
        <pc:sldMkLst>
          <pc:docMk/>
          <pc:sldMk cId="0" sldId="275"/>
        </pc:sldMkLst>
        <pc:spChg chg="add mod">
          <ac:chgData name="Quang Nguyen" userId="5d670127fb4ed1d3" providerId="LiveId" clId="{84490C82-48EA-4FB1-A22F-A83A10849784}" dt="2024-08-06T08:08:17.782" v="2648" actId="1076"/>
          <ac:spMkLst>
            <pc:docMk/>
            <pc:sldMk cId="0" sldId="275"/>
            <ac:spMk id="2" creationId="{83EAE5FF-5DBC-B7F6-19C3-4CE64F780D40}"/>
          </ac:spMkLst>
        </pc:spChg>
        <pc:spChg chg="add del mod">
          <ac:chgData name="Quang Nguyen" userId="5d670127fb4ed1d3" providerId="LiveId" clId="{84490C82-48EA-4FB1-A22F-A83A10849784}" dt="2024-08-06T08:03:51.370" v="2617" actId="21"/>
          <ac:spMkLst>
            <pc:docMk/>
            <pc:sldMk cId="0" sldId="275"/>
            <ac:spMk id="4" creationId="{84FCFB62-CD76-8A5D-9FE3-BF1652D23CA3}"/>
          </ac:spMkLst>
        </pc:spChg>
        <pc:spChg chg="add">
          <ac:chgData name="Quang Nguyen" userId="5d670127fb4ed1d3" providerId="LiveId" clId="{84490C82-48EA-4FB1-A22F-A83A10849784}" dt="2024-08-06T08:09:35.726" v="2652"/>
          <ac:spMkLst>
            <pc:docMk/>
            <pc:sldMk cId="0" sldId="275"/>
            <ac:spMk id="5" creationId="{519ADE82-A9AF-2227-EB9E-1E277EA0F8A6}"/>
          </ac:spMkLst>
        </pc:spChg>
        <pc:spChg chg="add mod">
          <ac:chgData name="Quang Nguyen" userId="5d670127fb4ed1d3" providerId="LiveId" clId="{84490C82-48EA-4FB1-A22F-A83A10849784}" dt="2024-08-06T08:09:40.168" v="2654"/>
          <ac:spMkLst>
            <pc:docMk/>
            <pc:sldMk cId="0" sldId="275"/>
            <ac:spMk id="6" creationId="{8684BC1C-E9A3-188D-85CB-E3BFECD6FC67}"/>
          </ac:spMkLst>
        </pc:spChg>
        <pc:spChg chg="add del mod">
          <ac:chgData name="Quang Nguyen" userId="5d670127fb4ed1d3" providerId="LiveId" clId="{84490C82-48EA-4FB1-A22F-A83A10849784}" dt="2024-08-06T08:09:50.564" v="2657" actId="478"/>
          <ac:spMkLst>
            <pc:docMk/>
            <pc:sldMk cId="0" sldId="275"/>
            <ac:spMk id="7" creationId="{05FE5914-9797-0168-A834-9A150E4AA424}"/>
          </ac:spMkLst>
        </pc:spChg>
        <pc:spChg chg="add del mod">
          <ac:chgData name="Quang Nguyen" userId="5d670127fb4ed1d3" providerId="LiveId" clId="{84490C82-48EA-4FB1-A22F-A83A10849784}" dt="2024-08-06T08:09:53.460" v="2659" actId="478"/>
          <ac:spMkLst>
            <pc:docMk/>
            <pc:sldMk cId="0" sldId="275"/>
            <ac:spMk id="8" creationId="{441B0E4F-F40D-8ED4-9F2E-4464D32A50F7}"/>
          </ac:spMkLst>
        </pc:spChg>
        <pc:spChg chg="mod">
          <ac:chgData name="Quang Nguyen" userId="5d670127fb4ed1d3" providerId="LiveId" clId="{84490C82-48EA-4FB1-A22F-A83A10849784}" dt="2024-08-05T08:12:03.987" v="375" actId="20577"/>
          <ac:spMkLst>
            <pc:docMk/>
            <pc:sldMk cId="0" sldId="275"/>
            <ac:spMk id="247" creationId="{00000000-0000-0000-0000-000000000000}"/>
          </ac:spMkLst>
        </pc:spChg>
        <pc:spChg chg="mod">
          <ac:chgData name="Quang Nguyen" userId="5d670127fb4ed1d3" providerId="LiveId" clId="{84490C82-48EA-4FB1-A22F-A83A10849784}" dt="2024-08-06T08:06:23.949" v="2634" actId="14100"/>
          <ac:spMkLst>
            <pc:docMk/>
            <pc:sldMk cId="0" sldId="275"/>
            <ac:spMk id="249" creationId="{00000000-0000-0000-0000-000000000000}"/>
          </ac:spMkLst>
        </pc:spChg>
        <pc:picChg chg="add del mod modCrop">
          <ac:chgData name="Quang Nguyen" userId="5d670127fb4ed1d3" providerId="LiveId" clId="{84490C82-48EA-4FB1-A22F-A83A10849784}" dt="2024-08-06T08:03:47.516" v="2616" actId="478"/>
          <ac:picMkLst>
            <pc:docMk/>
            <pc:sldMk cId="0" sldId="275"/>
            <ac:picMk id="3" creationId="{82339799-2287-2024-D2FA-21EF7F481A0F}"/>
          </ac:picMkLst>
        </pc:picChg>
        <pc:picChg chg="add del mod">
          <ac:chgData name="Quang Nguyen" userId="5d670127fb4ed1d3" providerId="LiveId" clId="{84490C82-48EA-4FB1-A22F-A83A10849784}" dt="2024-08-06T08:08:05.282" v="2644" actId="478"/>
          <ac:picMkLst>
            <pc:docMk/>
            <pc:sldMk cId="0" sldId="275"/>
            <ac:picMk id="1026" creationId="{B981B2F5-3D1D-7C92-C9FE-BB58AA3F37AB}"/>
          </ac:picMkLst>
        </pc:picChg>
        <pc:picChg chg="add del mod">
          <ac:chgData name="Quang Nguyen" userId="5d670127fb4ed1d3" providerId="LiveId" clId="{84490C82-48EA-4FB1-A22F-A83A10849784}" dt="2024-08-06T08:09:35.169" v="2651" actId="478"/>
          <ac:picMkLst>
            <pc:docMk/>
            <pc:sldMk cId="0" sldId="275"/>
            <ac:picMk id="1028" creationId="{F6877E60-AEBB-19C7-F4D3-575F21E763DA}"/>
          </ac:picMkLst>
        </pc:picChg>
        <pc:picChg chg="add del mod">
          <ac:chgData name="Quang Nguyen" userId="5d670127fb4ed1d3" providerId="LiveId" clId="{84490C82-48EA-4FB1-A22F-A83A10849784}" dt="2024-08-06T08:12:05.690" v="2663" actId="478"/>
          <ac:picMkLst>
            <pc:docMk/>
            <pc:sldMk cId="0" sldId="275"/>
            <ac:picMk id="1038" creationId="{0DDE34B6-75A0-3D87-672C-413AF1849242}"/>
          </ac:picMkLst>
        </pc:picChg>
      </pc:sldChg>
      <pc:sldChg chg="del">
        <pc:chgData name="Quang Nguyen" userId="5d670127fb4ed1d3" providerId="LiveId" clId="{84490C82-48EA-4FB1-A22F-A83A10849784}" dt="2024-08-05T08:31:08.850" v="385" actId="47"/>
        <pc:sldMkLst>
          <pc:docMk/>
          <pc:sldMk cId="0" sldId="276"/>
        </pc:sldMkLst>
      </pc:sldChg>
      <pc:sldChg chg="del">
        <pc:chgData name="Quang Nguyen" userId="5d670127fb4ed1d3" providerId="LiveId" clId="{84490C82-48EA-4FB1-A22F-A83A10849784}" dt="2024-08-05T08:31:08.024" v="384" actId="47"/>
        <pc:sldMkLst>
          <pc:docMk/>
          <pc:sldMk cId="0" sldId="277"/>
        </pc:sldMkLst>
      </pc:sldChg>
      <pc:sldChg chg="del">
        <pc:chgData name="Quang Nguyen" userId="5d670127fb4ed1d3" providerId="LiveId" clId="{84490C82-48EA-4FB1-A22F-A83A10849784}" dt="2024-08-05T08:31:07.448" v="383" actId="47"/>
        <pc:sldMkLst>
          <pc:docMk/>
          <pc:sldMk cId="0" sldId="278"/>
        </pc:sldMkLst>
      </pc:sldChg>
      <pc:sldChg chg="del">
        <pc:chgData name="Quang Nguyen" userId="5d670127fb4ed1d3" providerId="LiveId" clId="{84490C82-48EA-4FB1-A22F-A83A10849784}" dt="2024-08-05T08:31:06.853" v="382" actId="47"/>
        <pc:sldMkLst>
          <pc:docMk/>
          <pc:sldMk cId="0" sldId="279"/>
        </pc:sldMkLst>
      </pc:sldChg>
      <pc:sldChg chg="del">
        <pc:chgData name="Quang Nguyen" userId="5d670127fb4ed1d3" providerId="LiveId" clId="{84490C82-48EA-4FB1-A22F-A83A10849784}" dt="2024-08-05T08:31:05.707" v="381" actId="47"/>
        <pc:sldMkLst>
          <pc:docMk/>
          <pc:sldMk cId="0" sldId="280"/>
        </pc:sldMkLst>
      </pc:sldChg>
      <pc:sldChg chg="del">
        <pc:chgData name="Quang Nguyen" userId="5d670127fb4ed1d3" providerId="LiveId" clId="{84490C82-48EA-4FB1-A22F-A83A10849784}" dt="2024-08-05T08:31:04.273" v="380" actId="47"/>
        <pc:sldMkLst>
          <pc:docMk/>
          <pc:sldMk cId="0" sldId="281"/>
        </pc:sldMkLst>
      </pc:sldChg>
      <pc:sldChg chg="del">
        <pc:chgData name="Quang Nguyen" userId="5d670127fb4ed1d3" providerId="LiveId" clId="{84490C82-48EA-4FB1-A22F-A83A10849784}" dt="2024-08-05T08:31:02.784" v="379" actId="47"/>
        <pc:sldMkLst>
          <pc:docMk/>
          <pc:sldMk cId="0" sldId="282"/>
        </pc:sldMkLst>
      </pc:sldChg>
      <pc:sldChg chg="del">
        <pc:chgData name="Quang Nguyen" userId="5d670127fb4ed1d3" providerId="LiveId" clId="{84490C82-48EA-4FB1-A22F-A83A10849784}" dt="2024-08-05T08:31:01.184" v="377" actId="47"/>
        <pc:sldMkLst>
          <pc:docMk/>
          <pc:sldMk cId="0" sldId="284"/>
        </pc:sldMkLst>
      </pc:sldChg>
      <pc:sldChg chg="del">
        <pc:chgData name="Quang Nguyen" userId="5d670127fb4ed1d3" providerId="LiveId" clId="{84490C82-48EA-4FB1-A22F-A83A10849784}" dt="2024-08-05T08:31:02.193" v="378" actId="47"/>
        <pc:sldMkLst>
          <pc:docMk/>
          <pc:sldMk cId="0" sldId="285"/>
        </pc:sldMkLst>
      </pc:sldChg>
      <pc:sldChg chg="del">
        <pc:chgData name="Quang Nguyen" userId="5d670127fb4ed1d3" providerId="LiveId" clId="{84490C82-48EA-4FB1-A22F-A83A10849784}" dt="2024-08-05T08:11:31.180" v="359" actId="47"/>
        <pc:sldMkLst>
          <pc:docMk/>
          <pc:sldMk cId="3383452059" sldId="287"/>
        </pc:sldMkLst>
      </pc:sldChg>
      <pc:sldChg chg="del">
        <pc:chgData name="Quang Nguyen" userId="5d670127fb4ed1d3" providerId="LiveId" clId="{84490C82-48EA-4FB1-A22F-A83A10849784}" dt="2024-08-05T08:31:00.321" v="376" actId="47"/>
        <pc:sldMkLst>
          <pc:docMk/>
          <pc:sldMk cId="1156468700" sldId="288"/>
        </pc:sldMkLst>
      </pc:sldChg>
      <pc:sldChg chg="addSp delSp modSp mod">
        <pc:chgData name="Quang Nguyen" userId="5d670127fb4ed1d3" providerId="LiveId" clId="{84490C82-48EA-4FB1-A22F-A83A10849784}" dt="2024-08-07T02:03:21.072" v="2707" actId="1076"/>
        <pc:sldMkLst>
          <pc:docMk/>
          <pc:sldMk cId="2256324767" sldId="289"/>
        </pc:sldMkLst>
        <pc:spChg chg="add del mod">
          <ac:chgData name="Quang Nguyen" userId="5d670127fb4ed1d3" providerId="LiveId" clId="{84490C82-48EA-4FB1-A22F-A83A10849784}" dt="2024-08-05T08:04:16.866" v="290" actId="478"/>
          <ac:spMkLst>
            <pc:docMk/>
            <pc:sldMk cId="2256324767" sldId="289"/>
            <ac:spMk id="3" creationId="{1AB42448-DA8D-8DBF-D3F3-9CC66E0E6FC6}"/>
          </ac:spMkLst>
        </pc:spChg>
        <pc:spChg chg="add del mod">
          <ac:chgData name="Quang Nguyen" userId="5d670127fb4ed1d3" providerId="LiveId" clId="{84490C82-48EA-4FB1-A22F-A83A10849784}" dt="2024-08-05T08:04:21.454" v="293" actId="478"/>
          <ac:spMkLst>
            <pc:docMk/>
            <pc:sldMk cId="2256324767" sldId="289"/>
            <ac:spMk id="5" creationId="{01104D37-0945-4458-35E5-FEA71E29A595}"/>
          </ac:spMkLst>
        </pc:spChg>
        <pc:spChg chg="mod">
          <ac:chgData name="Quang Nguyen" userId="5d670127fb4ed1d3" providerId="LiveId" clId="{84490C82-48EA-4FB1-A22F-A83A10849784}" dt="2024-08-05T08:06:02.908" v="320" actId="403"/>
          <ac:spMkLst>
            <pc:docMk/>
            <pc:sldMk cId="2256324767" sldId="289"/>
            <ac:spMk id="62" creationId="{00000000-0000-0000-0000-000000000000}"/>
          </ac:spMkLst>
        </pc:spChg>
        <pc:spChg chg="mod">
          <ac:chgData name="Quang Nguyen" userId="5d670127fb4ed1d3" providerId="LiveId" clId="{84490C82-48EA-4FB1-A22F-A83A10849784}" dt="2024-08-05T08:06:12.618" v="321" actId="403"/>
          <ac:spMkLst>
            <pc:docMk/>
            <pc:sldMk cId="2256324767" sldId="289"/>
            <ac:spMk id="63" creationId="{00000000-0000-0000-0000-000000000000}"/>
          </ac:spMkLst>
        </pc:spChg>
        <pc:spChg chg="mod">
          <ac:chgData name="Quang Nguyen" userId="5d670127fb4ed1d3" providerId="LiveId" clId="{84490C82-48EA-4FB1-A22F-A83A10849784}" dt="2024-08-05T08:08:50.001" v="344" actId="1076"/>
          <ac:spMkLst>
            <pc:docMk/>
            <pc:sldMk cId="2256324767" sldId="289"/>
            <ac:spMk id="64" creationId="{00000000-0000-0000-0000-000000000000}"/>
          </ac:spMkLst>
        </pc:spChg>
        <pc:spChg chg="del mod">
          <ac:chgData name="Quang Nguyen" userId="5d670127fb4ed1d3" providerId="LiveId" clId="{84490C82-48EA-4FB1-A22F-A83A10849784}" dt="2024-08-05T08:04:14.529" v="289" actId="478"/>
          <ac:spMkLst>
            <pc:docMk/>
            <pc:sldMk cId="2256324767" sldId="289"/>
            <ac:spMk id="65" creationId="{00000000-0000-0000-0000-000000000000}"/>
          </ac:spMkLst>
        </pc:spChg>
        <pc:spChg chg="mod">
          <ac:chgData name="Quang Nguyen" userId="5d670127fb4ed1d3" providerId="LiveId" clId="{84490C82-48EA-4FB1-A22F-A83A10849784}" dt="2024-08-07T02:03:21.072" v="2707" actId="1076"/>
          <ac:spMkLst>
            <pc:docMk/>
            <pc:sldMk cId="2256324767" sldId="289"/>
            <ac:spMk id="66" creationId="{00000000-0000-0000-0000-000000000000}"/>
          </ac:spMkLst>
        </pc:spChg>
        <pc:spChg chg="mod">
          <ac:chgData name="Quang Nguyen" userId="5d670127fb4ed1d3" providerId="LiveId" clId="{84490C82-48EA-4FB1-A22F-A83A10849784}" dt="2024-08-05T08:05:43.135" v="316" actId="403"/>
          <ac:spMkLst>
            <pc:docMk/>
            <pc:sldMk cId="2256324767" sldId="289"/>
            <ac:spMk id="67" creationId="{00000000-0000-0000-0000-000000000000}"/>
          </ac:spMkLst>
        </pc:spChg>
        <pc:spChg chg="mod">
          <ac:chgData name="Quang Nguyen" userId="5d670127fb4ed1d3" providerId="LiveId" clId="{84490C82-48EA-4FB1-A22F-A83A10849784}" dt="2024-08-05T08:08:38.416" v="343" actId="1076"/>
          <ac:spMkLst>
            <pc:docMk/>
            <pc:sldMk cId="2256324767" sldId="289"/>
            <ac:spMk id="68" creationId="{00000000-0000-0000-0000-000000000000}"/>
          </ac:spMkLst>
        </pc:spChg>
        <pc:spChg chg="del mod">
          <ac:chgData name="Quang Nguyen" userId="5d670127fb4ed1d3" providerId="LiveId" clId="{84490C82-48EA-4FB1-A22F-A83A10849784}" dt="2024-08-05T08:04:18.486" v="291" actId="478"/>
          <ac:spMkLst>
            <pc:docMk/>
            <pc:sldMk cId="2256324767" sldId="289"/>
            <ac:spMk id="69" creationId="{00000000-0000-0000-0000-000000000000}"/>
          </ac:spMkLst>
        </pc:spChg>
        <pc:spChg chg="mod">
          <ac:chgData name="Quang Nguyen" userId="5d670127fb4ed1d3" providerId="LiveId" clId="{84490C82-48EA-4FB1-A22F-A83A10849784}" dt="2024-08-05T08:08:38.416" v="343" actId="1076"/>
          <ac:spMkLst>
            <pc:docMk/>
            <pc:sldMk cId="2256324767" sldId="289"/>
            <ac:spMk id="70" creationId="{00000000-0000-0000-0000-000000000000}"/>
          </ac:spMkLst>
        </pc:spChg>
        <pc:spChg chg="del">
          <ac:chgData name="Quang Nguyen" userId="5d670127fb4ed1d3" providerId="LiveId" clId="{84490C82-48EA-4FB1-A22F-A83A10849784}" dt="2024-08-05T08:04:20.086" v="292" actId="478"/>
          <ac:spMkLst>
            <pc:docMk/>
            <pc:sldMk cId="2256324767" sldId="289"/>
            <ac:spMk id="71" creationId="{00000000-0000-0000-0000-000000000000}"/>
          </ac:spMkLst>
        </pc:spChg>
      </pc:sldChg>
      <pc:sldChg chg="addSp delSp modSp add mod">
        <pc:chgData name="Quang Nguyen" userId="5d670127fb4ed1d3" providerId="LiveId" clId="{84490C82-48EA-4FB1-A22F-A83A10849784}" dt="2024-08-07T02:05:26.177" v="2716" actId="12"/>
        <pc:sldMkLst>
          <pc:docMk/>
          <pc:sldMk cId="1555805068" sldId="290"/>
        </pc:sldMkLst>
        <pc:spChg chg="add mod">
          <ac:chgData name="Quang Nguyen" userId="5d670127fb4ed1d3" providerId="LiveId" clId="{84490C82-48EA-4FB1-A22F-A83A10849784}" dt="2024-08-06T08:13:09.088" v="2676" actId="20577"/>
          <ac:spMkLst>
            <pc:docMk/>
            <pc:sldMk cId="1555805068" sldId="290"/>
            <ac:spMk id="2" creationId="{A372D33C-8ECA-D29B-3E2E-2FD501DB954E}"/>
          </ac:spMkLst>
        </pc:spChg>
        <pc:spChg chg="del">
          <ac:chgData name="Quang Nguyen" userId="5d670127fb4ed1d3" providerId="LiveId" clId="{84490C82-48EA-4FB1-A22F-A83A10849784}" dt="2024-08-05T10:13:55.801" v="874" actId="478"/>
          <ac:spMkLst>
            <pc:docMk/>
            <pc:sldMk cId="1555805068" sldId="290"/>
            <ac:spMk id="4" creationId="{84FCFB62-CD76-8A5D-9FE3-BF1652D23CA3}"/>
          </ac:spMkLst>
        </pc:spChg>
        <pc:spChg chg="mod">
          <ac:chgData name="Quang Nguyen" userId="5d670127fb4ed1d3" providerId="LiveId" clId="{84490C82-48EA-4FB1-A22F-A83A10849784}" dt="2024-08-07T02:05:26.177" v="2716" actId="12"/>
          <ac:spMkLst>
            <pc:docMk/>
            <pc:sldMk cId="1555805068" sldId="290"/>
            <ac:spMk id="249" creationId="{00000000-0000-0000-0000-000000000000}"/>
          </ac:spMkLst>
        </pc:spChg>
        <pc:picChg chg="del">
          <ac:chgData name="Quang Nguyen" userId="5d670127fb4ed1d3" providerId="LiveId" clId="{84490C82-48EA-4FB1-A22F-A83A10849784}" dt="2024-08-05T10:13:53.327" v="873" actId="478"/>
          <ac:picMkLst>
            <pc:docMk/>
            <pc:sldMk cId="1555805068" sldId="290"/>
            <ac:picMk id="3" creationId="{82339799-2287-2024-D2FA-21EF7F481A0F}"/>
          </ac:picMkLst>
        </pc:picChg>
        <pc:picChg chg="add mod">
          <ac:chgData name="Quang Nguyen" userId="5d670127fb4ed1d3" providerId="LiveId" clId="{84490C82-48EA-4FB1-A22F-A83A10849784}" dt="2024-08-05T10:14:03.719" v="877" actId="1076"/>
          <ac:picMkLst>
            <pc:docMk/>
            <pc:sldMk cId="1555805068" sldId="290"/>
            <ac:picMk id="1026" creationId="{14D175D5-AF72-FE10-E873-5EDAAA1AF3C7}"/>
          </ac:picMkLst>
        </pc:picChg>
      </pc:sldChg>
      <pc:sldChg chg="addSp delSp modSp add mod">
        <pc:chgData name="Quang Nguyen" userId="5d670127fb4ed1d3" providerId="LiveId" clId="{84490C82-48EA-4FB1-A22F-A83A10849784}" dt="2024-08-07T02:05:35.819" v="2720" actId="12"/>
        <pc:sldMkLst>
          <pc:docMk/>
          <pc:sldMk cId="2794399200" sldId="291"/>
        </pc:sldMkLst>
        <pc:spChg chg="mod">
          <ac:chgData name="Quang Nguyen" userId="5d670127fb4ed1d3" providerId="LiveId" clId="{84490C82-48EA-4FB1-A22F-A83A10849784}" dt="2024-08-06T08:13:11.683" v="2678" actId="20577"/>
          <ac:spMkLst>
            <pc:docMk/>
            <pc:sldMk cId="2794399200" sldId="291"/>
            <ac:spMk id="2" creationId="{A372D33C-8ECA-D29B-3E2E-2FD501DB954E}"/>
          </ac:spMkLst>
        </pc:spChg>
        <pc:spChg chg="mod">
          <ac:chgData name="Quang Nguyen" userId="5d670127fb4ed1d3" providerId="LiveId" clId="{84490C82-48EA-4FB1-A22F-A83A10849784}" dt="2024-08-07T02:05:35.819" v="2720" actId="12"/>
          <ac:spMkLst>
            <pc:docMk/>
            <pc:sldMk cId="2794399200" sldId="291"/>
            <ac:spMk id="249" creationId="{00000000-0000-0000-0000-000000000000}"/>
          </ac:spMkLst>
        </pc:spChg>
        <pc:picChg chg="del">
          <ac:chgData name="Quang Nguyen" userId="5d670127fb4ed1d3" providerId="LiveId" clId="{84490C82-48EA-4FB1-A22F-A83A10849784}" dt="2024-08-05T10:25:21.073" v="1046" actId="478"/>
          <ac:picMkLst>
            <pc:docMk/>
            <pc:sldMk cId="2794399200" sldId="291"/>
            <ac:picMk id="1026" creationId="{14D175D5-AF72-FE10-E873-5EDAAA1AF3C7}"/>
          </ac:picMkLst>
        </pc:picChg>
        <pc:picChg chg="add mod">
          <ac:chgData name="Quang Nguyen" userId="5d670127fb4ed1d3" providerId="LiveId" clId="{84490C82-48EA-4FB1-A22F-A83A10849784}" dt="2024-08-05T10:25:39.116" v="1053" actId="1076"/>
          <ac:picMkLst>
            <pc:docMk/>
            <pc:sldMk cId="2794399200" sldId="291"/>
            <ac:picMk id="2050" creationId="{B111F51B-6BE5-A526-E33B-D9433A84CB6B}"/>
          </ac:picMkLst>
        </pc:picChg>
      </pc:sldChg>
      <pc:sldChg chg="addSp delSp modSp add mod">
        <pc:chgData name="Quang Nguyen" userId="5d670127fb4ed1d3" providerId="LiveId" clId="{84490C82-48EA-4FB1-A22F-A83A10849784}" dt="2024-08-06T08:01:16.813" v="2598" actId="1076"/>
        <pc:sldMkLst>
          <pc:docMk/>
          <pc:sldMk cId="3765194038" sldId="292"/>
        </pc:sldMkLst>
        <pc:spChg chg="del">
          <ac:chgData name="Quang Nguyen" userId="5d670127fb4ed1d3" providerId="LiveId" clId="{84490C82-48EA-4FB1-A22F-A83A10849784}" dt="2024-08-05T10:27:01.544" v="1094" actId="478"/>
          <ac:spMkLst>
            <pc:docMk/>
            <pc:sldMk cId="3765194038" sldId="292"/>
            <ac:spMk id="2" creationId="{A372D33C-8ECA-D29B-3E2E-2FD501DB954E}"/>
          </ac:spMkLst>
        </pc:spChg>
        <pc:spChg chg="add del mod">
          <ac:chgData name="Quang Nguyen" userId="5d670127fb4ed1d3" providerId="LiveId" clId="{84490C82-48EA-4FB1-A22F-A83A10849784}" dt="2024-08-05T10:28:57.852" v="1111" actId="478"/>
          <ac:spMkLst>
            <pc:docMk/>
            <pc:sldMk cId="3765194038" sldId="292"/>
            <ac:spMk id="4" creationId="{ECEF655F-EA09-E9F7-F400-07D88E0D78FA}"/>
          </ac:spMkLst>
        </pc:spChg>
        <pc:spChg chg="add del mod">
          <ac:chgData name="Quang Nguyen" userId="5d670127fb4ed1d3" providerId="LiveId" clId="{84490C82-48EA-4FB1-A22F-A83A10849784}" dt="2024-08-05T10:29:00.865" v="1112" actId="478"/>
          <ac:spMkLst>
            <pc:docMk/>
            <pc:sldMk cId="3765194038" sldId="292"/>
            <ac:spMk id="6" creationId="{D775A348-1CA8-8145-BDEC-9DB117D4C048}"/>
          </ac:spMkLst>
        </pc:spChg>
        <pc:spChg chg="add mod">
          <ac:chgData name="Quang Nguyen" userId="5d670127fb4ed1d3" providerId="LiveId" clId="{84490C82-48EA-4FB1-A22F-A83A10849784}" dt="2024-08-05T10:42:38.349" v="1503" actId="1076"/>
          <ac:spMkLst>
            <pc:docMk/>
            <pc:sldMk cId="3765194038" sldId="292"/>
            <ac:spMk id="7" creationId="{F3009735-8B7B-0173-0E4A-D6089AA18472}"/>
          </ac:spMkLst>
        </pc:spChg>
        <pc:spChg chg="add mod">
          <ac:chgData name="Quang Nguyen" userId="5d670127fb4ed1d3" providerId="LiveId" clId="{84490C82-48EA-4FB1-A22F-A83A10849784}" dt="2024-08-05T10:42:38.349" v="1503" actId="1076"/>
          <ac:spMkLst>
            <pc:docMk/>
            <pc:sldMk cId="3765194038" sldId="292"/>
            <ac:spMk id="8" creationId="{38FAC3DA-22F2-1694-3B20-0074F2DC991E}"/>
          </ac:spMkLst>
        </pc:spChg>
        <pc:spChg chg="add del mod">
          <ac:chgData name="Quang Nguyen" userId="5d670127fb4ed1d3" providerId="LiveId" clId="{84490C82-48EA-4FB1-A22F-A83A10849784}" dt="2024-08-05T10:41:29.474" v="1474" actId="478"/>
          <ac:spMkLst>
            <pc:docMk/>
            <pc:sldMk cId="3765194038" sldId="292"/>
            <ac:spMk id="9" creationId="{65387665-6C08-E895-F768-3044A5B657D6}"/>
          </ac:spMkLst>
        </pc:spChg>
        <pc:spChg chg="add mod">
          <ac:chgData name="Quang Nguyen" userId="5d670127fb4ed1d3" providerId="LiveId" clId="{84490C82-48EA-4FB1-A22F-A83A10849784}" dt="2024-08-06T04:24:36.201" v="2547" actId="20577"/>
          <ac:spMkLst>
            <pc:docMk/>
            <pc:sldMk cId="3765194038" sldId="292"/>
            <ac:spMk id="10" creationId="{4C9C6394-2551-6ED7-8A71-9A6E2DD79716}"/>
          </ac:spMkLst>
        </pc:spChg>
        <pc:spChg chg="add mod">
          <ac:chgData name="Quang Nguyen" userId="5d670127fb4ed1d3" providerId="LiveId" clId="{84490C82-48EA-4FB1-A22F-A83A10849784}" dt="2024-08-06T04:24:44.268" v="2549" actId="20577"/>
          <ac:spMkLst>
            <pc:docMk/>
            <pc:sldMk cId="3765194038" sldId="292"/>
            <ac:spMk id="11" creationId="{C0D1B84F-406A-311B-F9B4-1B47A644CD9C}"/>
          </ac:spMkLst>
        </pc:spChg>
        <pc:spChg chg="add mod">
          <ac:chgData name="Quang Nguyen" userId="5d670127fb4ed1d3" providerId="LiveId" clId="{84490C82-48EA-4FB1-A22F-A83A10849784}" dt="2024-08-05T10:42:38.349" v="1503" actId="1076"/>
          <ac:spMkLst>
            <pc:docMk/>
            <pc:sldMk cId="3765194038" sldId="292"/>
            <ac:spMk id="12" creationId="{1483AA30-274A-C4CA-7035-C07B3F31CC3A}"/>
          </ac:spMkLst>
        </pc:spChg>
        <pc:spChg chg="add del mod">
          <ac:chgData name="Quang Nguyen" userId="5d670127fb4ed1d3" providerId="LiveId" clId="{84490C82-48EA-4FB1-A22F-A83A10849784}" dt="2024-08-05T10:35:25.543" v="1256" actId="478"/>
          <ac:spMkLst>
            <pc:docMk/>
            <pc:sldMk cId="3765194038" sldId="292"/>
            <ac:spMk id="13" creationId="{8A10DB6E-23F3-4133-421D-EF417B93A62F}"/>
          </ac:spMkLst>
        </pc:spChg>
        <pc:spChg chg="add mod">
          <ac:chgData name="Quang Nguyen" userId="5d670127fb4ed1d3" providerId="LiveId" clId="{84490C82-48EA-4FB1-A22F-A83A10849784}" dt="2024-08-06T04:18:56.473" v="2015" actId="1076"/>
          <ac:spMkLst>
            <pc:docMk/>
            <pc:sldMk cId="3765194038" sldId="292"/>
            <ac:spMk id="14" creationId="{7F49A180-D4E9-C046-4E91-269720BDCD3F}"/>
          </ac:spMkLst>
        </pc:spChg>
        <pc:spChg chg="add del mod">
          <ac:chgData name="Quang Nguyen" userId="5d670127fb4ed1d3" providerId="LiveId" clId="{84490C82-48EA-4FB1-A22F-A83A10849784}" dt="2024-08-05T10:43:16.255" v="1515" actId="478"/>
          <ac:spMkLst>
            <pc:docMk/>
            <pc:sldMk cId="3765194038" sldId="292"/>
            <ac:spMk id="15" creationId="{BD58A7F5-4CF9-5CE2-142B-382AA84FD49C}"/>
          </ac:spMkLst>
        </pc:spChg>
        <pc:spChg chg="add mod">
          <ac:chgData name="Quang Nguyen" userId="5d670127fb4ed1d3" providerId="LiveId" clId="{84490C82-48EA-4FB1-A22F-A83A10849784}" dt="2024-08-06T04:19:22.643" v="2019" actId="1076"/>
          <ac:spMkLst>
            <pc:docMk/>
            <pc:sldMk cId="3765194038" sldId="292"/>
            <ac:spMk id="16" creationId="{6AC9F88B-1EB8-F7DE-2805-85BA24B4F0F0}"/>
          </ac:spMkLst>
        </pc:spChg>
        <pc:spChg chg="add mod">
          <ac:chgData name="Quang Nguyen" userId="5d670127fb4ed1d3" providerId="LiveId" clId="{84490C82-48EA-4FB1-A22F-A83A10849784}" dt="2024-08-06T04:24:29.899" v="2544" actId="20577"/>
          <ac:spMkLst>
            <pc:docMk/>
            <pc:sldMk cId="3765194038" sldId="292"/>
            <ac:spMk id="17" creationId="{DC771A9A-5BD2-4713-73AF-623434D52704}"/>
          </ac:spMkLst>
        </pc:spChg>
        <pc:spChg chg="add mod">
          <ac:chgData name="Quang Nguyen" userId="5d670127fb4ed1d3" providerId="LiveId" clId="{84490C82-48EA-4FB1-A22F-A83A10849784}" dt="2024-08-06T08:01:11.909" v="2597" actId="1076"/>
          <ac:spMkLst>
            <pc:docMk/>
            <pc:sldMk cId="3765194038" sldId="292"/>
            <ac:spMk id="18" creationId="{91B3A161-784B-85B0-52E1-5CF9942CB5BB}"/>
          </ac:spMkLst>
        </pc:spChg>
        <pc:spChg chg="add mod">
          <ac:chgData name="Quang Nguyen" userId="5d670127fb4ed1d3" providerId="LiveId" clId="{84490C82-48EA-4FB1-A22F-A83A10849784}" dt="2024-08-06T08:01:16.813" v="2598" actId="1076"/>
          <ac:spMkLst>
            <pc:docMk/>
            <pc:sldMk cId="3765194038" sldId="292"/>
            <ac:spMk id="19" creationId="{585F5636-F4F0-6F52-7333-DFB9E14EF33A}"/>
          </ac:spMkLst>
        </pc:spChg>
        <pc:spChg chg="mod">
          <ac:chgData name="Quang Nguyen" userId="5d670127fb4ed1d3" providerId="LiveId" clId="{84490C82-48EA-4FB1-A22F-A83A10849784}" dt="2024-08-05T10:26:57.238" v="1092" actId="20577"/>
          <ac:spMkLst>
            <pc:docMk/>
            <pc:sldMk cId="3765194038" sldId="292"/>
            <ac:spMk id="247" creationId="{00000000-0000-0000-0000-000000000000}"/>
          </ac:spMkLst>
        </pc:spChg>
        <pc:spChg chg="del">
          <ac:chgData name="Quang Nguyen" userId="5d670127fb4ed1d3" providerId="LiveId" clId="{84490C82-48EA-4FB1-A22F-A83A10849784}" dt="2024-08-05T10:27:03.954" v="1095" actId="478"/>
          <ac:spMkLst>
            <pc:docMk/>
            <pc:sldMk cId="3765194038" sldId="292"/>
            <ac:spMk id="249" creationId="{00000000-0000-0000-0000-000000000000}"/>
          </ac:spMkLst>
        </pc:spChg>
        <pc:picChg chg="del">
          <ac:chgData name="Quang Nguyen" userId="5d670127fb4ed1d3" providerId="LiveId" clId="{84490C82-48EA-4FB1-A22F-A83A10849784}" dt="2024-08-05T10:26:59.647" v="1093" actId="478"/>
          <ac:picMkLst>
            <pc:docMk/>
            <pc:sldMk cId="3765194038" sldId="292"/>
            <ac:picMk id="2050" creationId="{B111F51B-6BE5-A526-E33B-D9433A84CB6B}"/>
          </ac:picMkLst>
        </pc:picChg>
      </pc:sldChg>
      <pc:sldChg chg="addSp delSp modSp new mod">
        <pc:chgData name="Quang Nguyen" userId="5d670127fb4ed1d3" providerId="LiveId" clId="{84490C82-48EA-4FB1-A22F-A83A10849784}" dt="2024-08-06T08:12:59.558" v="2674" actId="1076"/>
        <pc:sldMkLst>
          <pc:docMk/>
          <pc:sldMk cId="3184555338" sldId="293"/>
        </pc:sldMkLst>
        <pc:spChg chg="del">
          <ac:chgData name="Quang Nguyen" userId="5d670127fb4ed1d3" providerId="LiveId" clId="{84490C82-48EA-4FB1-A22F-A83A10849784}" dt="2024-08-06T08:02:39.426" v="2607" actId="478"/>
          <ac:spMkLst>
            <pc:docMk/>
            <pc:sldMk cId="3184555338" sldId="293"/>
            <ac:spMk id="2" creationId="{D20FBCF2-9E69-8187-E0B6-5A1DE60C7A55}"/>
          </ac:spMkLst>
        </pc:spChg>
        <pc:spChg chg="del">
          <ac:chgData name="Quang Nguyen" userId="5d670127fb4ed1d3" providerId="LiveId" clId="{84490C82-48EA-4FB1-A22F-A83A10849784}" dt="2024-08-06T08:02:37.688" v="2606" actId="478"/>
          <ac:spMkLst>
            <pc:docMk/>
            <pc:sldMk cId="3184555338" sldId="293"/>
            <ac:spMk id="4" creationId="{EE1A8453-E586-4476-E4B8-52F549BDD5F5}"/>
          </ac:spMkLst>
        </pc:spChg>
        <pc:spChg chg="add mod">
          <ac:chgData name="Quang Nguyen" userId="5d670127fb4ed1d3" providerId="LiveId" clId="{84490C82-48EA-4FB1-A22F-A83A10849784}" dt="2024-08-06T08:12:59.558" v="2674" actId="1076"/>
          <ac:spMkLst>
            <pc:docMk/>
            <pc:sldMk cId="3184555338" sldId="293"/>
            <ac:spMk id="6" creationId="{84FCFB62-CD76-8A5D-9FE3-BF1652D23CA3}"/>
          </ac:spMkLst>
        </pc:spChg>
        <pc:picChg chg="add mod">
          <ac:chgData name="Quang Nguyen" userId="5d670127fb4ed1d3" providerId="LiveId" clId="{84490C82-48EA-4FB1-A22F-A83A10849784}" dt="2024-08-06T08:03:02.685" v="2615" actId="14100"/>
          <ac:picMkLst>
            <pc:docMk/>
            <pc:sldMk cId="3184555338" sldId="293"/>
            <ac:picMk id="5" creationId="{81E3D282-1A4D-A571-CD62-596ED10F46A8}"/>
          </ac:picMkLst>
        </pc:picChg>
      </pc:sldChg>
      <pc:sldChg chg="modSp add mod ord">
        <pc:chgData name="Quang Nguyen" userId="5d670127fb4ed1d3" providerId="LiveId" clId="{84490C82-48EA-4FB1-A22F-A83A10849784}" dt="2024-08-07T02:40:25.954" v="2858" actId="20577"/>
        <pc:sldMkLst>
          <pc:docMk/>
          <pc:sldMk cId="3014031608" sldId="294"/>
        </pc:sldMkLst>
        <pc:spChg chg="mod">
          <ac:chgData name="Quang Nguyen" userId="5d670127fb4ed1d3" providerId="LiveId" clId="{84490C82-48EA-4FB1-A22F-A83A10849784}" dt="2024-08-07T02:40:25.954" v="2858" actId="20577"/>
          <ac:spMkLst>
            <pc:docMk/>
            <pc:sldMk cId="3014031608" sldId="294"/>
            <ac:spMk id="148" creationId="{00000000-0000-0000-0000-000000000000}"/>
          </ac:spMkLst>
        </pc:spChg>
      </pc:sldChg>
    </pc:docChg>
  </pc:docChgLst>
</pc:chgInfo>
</file>

<file path=ppt/charts/_rels/chart1.xml.rels><?xml version="1.0" encoding="UTF-8" standalone="yes"?>
<Relationships xmlns="http://schemas.openxmlformats.org/package/2006/relationships"><Relationship Id="rId1" Type="http://schemas.openxmlformats.org/officeDocument/2006/relationships/package" Target="../embeddings/Microsoft_Excel_Worksheet.xlsx"/></Relationships>
</file>

<file path=ppt/charts/_rels/chart2.xml.rels><?xml version="1.0" encoding="UTF-8" standalone="yes"?>
<Relationships xmlns="http://schemas.openxmlformats.org/package/2006/relationships"><Relationship Id="rId1" Type="http://schemas.openxmlformats.org/officeDocument/2006/relationships/package" Target="../embeddings/Microsoft_Excel_Worksheet1.xlsx"/></Relationships>
</file>

<file path=ppt/charts/chart1.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1"/>
  <c:style val="2"/>
  <c:chart>
    <c:autoTitleDeleted val="1"/>
    <c:plotArea>
      <c:layout/>
      <c:barChart>
        <c:barDir val="bar"/>
        <c:grouping val="clustered"/>
        <c:varyColors val="0"/>
        <c:ser>
          <c:idx val="0"/>
          <c:order val="0"/>
          <c:tx>
            <c:strRef>
              <c:f>Sheet1!$B$1</c:f>
              <c:strCache>
                <c:ptCount val="1"/>
                <c:pt idx="0">
                  <c:v>VocalSound</c:v>
                </c:pt>
              </c:strCache>
            </c:strRef>
          </c:tx>
          <c:spPr>
            <a:solidFill>
              <a:srgbClr val="EE0033"/>
            </a:solidFill>
          </c:spPr>
          <c:invertIfNegative val="1"/>
          <c:dLbls>
            <c:numFmt formatCode="#,##0" sourceLinked="0"/>
            <c:spPr>
              <a:noFill/>
              <a:ln>
                <a:noFill/>
              </a:ln>
              <a:effectLst/>
            </c:spPr>
            <c:txPr>
              <a:bodyPr/>
              <a:lstStyle/>
              <a:p>
                <a:pPr>
                  <a:defRPr sz="1000">
                    <a:solidFill>
                      <a:srgbClr val="595959"/>
                    </a:solidFill>
                    <a:latin typeface="FS PF BeauSans Pro"/>
                  </a:defRPr>
                </a:pPr>
                <a:endParaRPr lang="en-US"/>
              </a:p>
            </c:txPr>
            <c:dLblPos val="outEnd"/>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Sheet1!$A$2:$A$18</c:f>
              <c:strCache>
                <c:ptCount val="17"/>
                <c:pt idx="0">
                  <c:v>breathing</c:v>
                </c:pt>
                <c:pt idx="1">
                  <c:v>crying</c:v>
                </c:pt>
                <c:pt idx="2">
                  <c:v>laughter</c:v>
                </c:pt>
                <c:pt idx="3">
                  <c:v>sniff</c:v>
                </c:pt>
                <c:pt idx="4">
                  <c:v>sigh</c:v>
                </c:pt>
                <c:pt idx="5">
                  <c:v>cough</c:v>
                </c:pt>
                <c:pt idx="6">
                  <c:v>throatclearing</c:v>
                </c:pt>
                <c:pt idx="7">
                  <c:v>sneeze</c:v>
                </c:pt>
                <c:pt idx="8">
                  <c:v>screaming</c:v>
                </c:pt>
                <c:pt idx="9">
                  <c:v>gasp</c:v>
                </c:pt>
                <c:pt idx="10">
                  <c:v>burp</c:v>
                </c:pt>
                <c:pt idx="11">
                  <c:v>yawn</c:v>
                </c:pt>
                <c:pt idx="12">
                  <c:v>snoring</c:v>
                </c:pt>
                <c:pt idx="13">
                  <c:v>grunt</c:v>
                </c:pt>
                <c:pt idx="14">
                  <c:v>yell</c:v>
                </c:pt>
                <c:pt idx="15">
                  <c:v>moan</c:v>
                </c:pt>
                <c:pt idx="16">
                  <c:v>pant</c:v>
                </c:pt>
              </c:strCache>
            </c:strRef>
          </c:cat>
          <c:val>
            <c:numRef>
              <c:f>Sheet1!$B$2:$B$18</c:f>
              <c:numCache>
                <c:formatCode>General</c:formatCode>
                <c:ptCount val="17"/>
                <c:pt idx="2">
                  <c:v>909</c:v>
                </c:pt>
                <c:pt idx="3">
                  <c:v>909</c:v>
                </c:pt>
                <c:pt idx="4">
                  <c:v>907</c:v>
                </c:pt>
                <c:pt idx="5">
                  <c:v>907</c:v>
                </c:pt>
                <c:pt idx="6">
                  <c:v>907</c:v>
                </c:pt>
                <c:pt idx="7">
                  <c:v>907</c:v>
                </c:pt>
              </c:numCache>
            </c:numRef>
          </c:val>
          <c:extLst>
            <c:ext xmlns:c14="http://schemas.microsoft.com/office/drawing/2007/8/2/chart" uri="{6F2FDCE9-48DA-4B69-8628-5D25D57E5C99}">
              <c14:invertSolidFillFmt>
                <c14:spPr xmlns:c14="http://schemas.microsoft.com/office/drawing/2007/8/2/chart">
                  <a:solidFill>
                    <a:srgbClr val="FFFFFF"/>
                  </a:solidFill>
                </c14:spPr>
              </c14:invertSolidFillFmt>
            </c:ext>
            <c:ext xmlns:c16="http://schemas.microsoft.com/office/drawing/2014/chart" uri="{C3380CC4-5D6E-409C-BE32-E72D297353CC}">
              <c16:uniqueId val="{00000000-E5E4-9849-ACB5-4910AB6F3F6A}"/>
            </c:ext>
          </c:extLst>
        </c:ser>
        <c:ser>
          <c:idx val="1"/>
          <c:order val="1"/>
          <c:tx>
            <c:strRef>
              <c:f>Sheet1!$C$1</c:f>
              <c:strCache>
                <c:ptCount val="1"/>
                <c:pt idx="0">
                  <c:v>Other corpora</c:v>
                </c:pt>
              </c:strCache>
            </c:strRef>
          </c:tx>
          <c:spPr>
            <a:solidFill>
              <a:srgbClr val="5B6075"/>
            </a:solidFill>
          </c:spPr>
          <c:invertIfNegative val="1"/>
          <c:dLbls>
            <c:numFmt formatCode="#,##0" sourceLinked="0"/>
            <c:spPr>
              <a:noFill/>
              <a:ln>
                <a:noFill/>
              </a:ln>
              <a:effectLst/>
            </c:spPr>
            <c:txPr>
              <a:bodyPr/>
              <a:lstStyle/>
              <a:p>
                <a:pPr>
                  <a:defRPr sz="1000">
                    <a:solidFill>
                      <a:srgbClr val="595959"/>
                    </a:solidFill>
                    <a:latin typeface="FS PF BeauSans Pro"/>
                  </a:defRPr>
                </a:pPr>
                <a:endParaRPr lang="en-US"/>
              </a:p>
            </c:txPr>
            <c:dLblPos val="outEnd"/>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Sheet1!$A$2:$A$18</c:f>
              <c:strCache>
                <c:ptCount val="17"/>
                <c:pt idx="0">
                  <c:v>breathing</c:v>
                </c:pt>
                <c:pt idx="1">
                  <c:v>crying</c:v>
                </c:pt>
                <c:pt idx="2">
                  <c:v>laughter</c:v>
                </c:pt>
                <c:pt idx="3">
                  <c:v>sniff</c:v>
                </c:pt>
                <c:pt idx="4">
                  <c:v>sigh</c:v>
                </c:pt>
                <c:pt idx="5">
                  <c:v>cough</c:v>
                </c:pt>
                <c:pt idx="6">
                  <c:v>throatclearing</c:v>
                </c:pt>
                <c:pt idx="7">
                  <c:v>sneeze</c:v>
                </c:pt>
                <c:pt idx="8">
                  <c:v>screaming</c:v>
                </c:pt>
                <c:pt idx="9">
                  <c:v>gasp</c:v>
                </c:pt>
                <c:pt idx="10">
                  <c:v>burp</c:v>
                </c:pt>
                <c:pt idx="11">
                  <c:v>yawn</c:v>
                </c:pt>
                <c:pt idx="12">
                  <c:v>snoring</c:v>
                </c:pt>
                <c:pt idx="13">
                  <c:v>grunt</c:v>
                </c:pt>
                <c:pt idx="14">
                  <c:v>yell</c:v>
                </c:pt>
                <c:pt idx="15">
                  <c:v>moan</c:v>
                </c:pt>
                <c:pt idx="16">
                  <c:v>pant</c:v>
                </c:pt>
              </c:strCache>
            </c:strRef>
          </c:cat>
          <c:val>
            <c:numRef>
              <c:f>Sheet1!$C$2:$C$18</c:f>
              <c:numCache>
                <c:formatCode>General</c:formatCode>
                <c:ptCount val="17"/>
                <c:pt idx="0">
                  <c:v>3196</c:v>
                </c:pt>
                <c:pt idx="1">
                  <c:v>2288</c:v>
                </c:pt>
                <c:pt idx="8">
                  <c:v>896</c:v>
                </c:pt>
                <c:pt idx="9">
                  <c:v>364</c:v>
                </c:pt>
                <c:pt idx="10">
                  <c:v>316</c:v>
                </c:pt>
                <c:pt idx="11">
                  <c:v>309</c:v>
                </c:pt>
                <c:pt idx="12">
                  <c:v>210</c:v>
                </c:pt>
                <c:pt idx="13">
                  <c:v>69</c:v>
                </c:pt>
                <c:pt idx="14">
                  <c:v>37</c:v>
                </c:pt>
                <c:pt idx="15">
                  <c:v>23</c:v>
                </c:pt>
                <c:pt idx="16">
                  <c:v>11</c:v>
                </c:pt>
              </c:numCache>
            </c:numRef>
          </c:val>
          <c:extLst>
            <c:ext xmlns:c14="http://schemas.microsoft.com/office/drawing/2007/8/2/chart" uri="{6F2FDCE9-48DA-4B69-8628-5D25D57E5C99}">
              <c14:invertSolidFillFmt>
                <c14:spPr xmlns:c14="http://schemas.microsoft.com/office/drawing/2007/8/2/chart">
                  <a:solidFill>
                    <a:srgbClr val="FFFFFF"/>
                  </a:solidFill>
                </c14:spPr>
              </c14:invertSolidFillFmt>
            </c:ext>
            <c:ext xmlns:c16="http://schemas.microsoft.com/office/drawing/2014/chart" uri="{C3380CC4-5D6E-409C-BE32-E72D297353CC}">
              <c16:uniqueId val="{00000001-E5E4-9849-ACB5-4910AB6F3F6A}"/>
            </c:ext>
          </c:extLst>
        </c:ser>
        <c:dLbls>
          <c:dLblPos val="outEnd"/>
          <c:showLegendKey val="0"/>
          <c:showVal val="1"/>
          <c:showCatName val="0"/>
          <c:showSerName val="0"/>
          <c:showPercent val="0"/>
          <c:showBubbleSize val="0"/>
        </c:dLbls>
        <c:gapWidth val="45"/>
        <c:overlap val="100"/>
        <c:axId val="-2068027336"/>
        <c:axId val="-2113994440"/>
      </c:barChart>
      <c:catAx>
        <c:axId val="-2068027336"/>
        <c:scaling>
          <c:orientation val="maxMin"/>
        </c:scaling>
        <c:delete val="0"/>
        <c:axPos val="l"/>
        <c:numFmt formatCode="General" sourceLinked="0"/>
        <c:majorTickMark val="out"/>
        <c:minorTickMark val="none"/>
        <c:tickLblPos val="nextTo"/>
        <c:spPr>
          <a:ln>
            <a:solidFill>
              <a:srgbClr val="BFBFBF"/>
            </a:solidFill>
          </a:ln>
        </c:spPr>
        <c:txPr>
          <a:bodyPr/>
          <a:lstStyle/>
          <a:p>
            <a:pPr>
              <a:defRPr sz="1000"/>
            </a:pPr>
            <a:endParaRPr lang="en-US"/>
          </a:p>
        </c:txPr>
        <c:crossAx val="-2113994440"/>
        <c:crosses val="autoZero"/>
        <c:auto val="1"/>
        <c:lblAlgn val="ctr"/>
        <c:lblOffset val="100"/>
        <c:tickLblSkip val="1"/>
        <c:tickMarkSkip val="1"/>
        <c:noMultiLvlLbl val="0"/>
      </c:catAx>
      <c:valAx>
        <c:axId val="-2113994440"/>
        <c:scaling>
          <c:orientation val="minMax"/>
          <c:max val="3700"/>
          <c:min val="0"/>
        </c:scaling>
        <c:delete val="1"/>
        <c:axPos val="t"/>
        <c:numFmt formatCode="General" sourceLinked="1"/>
        <c:majorTickMark val="out"/>
        <c:minorTickMark val="none"/>
        <c:tickLblPos val="nextTo"/>
        <c:crossAx val="-2068027336"/>
        <c:crosses val="autoZero"/>
        <c:crossBetween val="between"/>
      </c:valAx>
    </c:plotArea>
    <c:legend>
      <c:legendPos val="t"/>
      <c:overlay val="0"/>
      <c:txPr>
        <a:bodyPr/>
        <a:lstStyle/>
        <a:p>
          <a:pPr>
            <a:defRPr sz="1100">
              <a:latin typeface="FS PF BeauSans Pro"/>
            </a:defRPr>
          </a:pPr>
          <a:endParaRPr lang="en-US"/>
        </a:p>
      </c:txPr>
    </c:legend>
    <c:plotVisOnly val="1"/>
    <c:dispBlanksAs val="gap"/>
    <c:showDLblsOverMax val="1"/>
  </c:chart>
  <c:txPr>
    <a:bodyPr/>
    <a:lstStyle/>
    <a:p>
      <a:pPr>
        <a:defRPr sz="1100">
          <a:solidFill>
            <a:srgbClr val="262626"/>
          </a:solidFill>
          <a:latin typeface="FS PF BeauSans Pro"/>
        </a:defRPr>
      </a:pPr>
      <a:endParaRPr lang="en-US"/>
    </a:p>
  </c:txPr>
  <c:externalData r:id="rId1">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1"/>
  <c:style val="2"/>
  <c:chart>
    <c:title>
      <c:overlay val="0"/>
    </c:title>
    <c:autoTitleDeleted val="0"/>
    <c:plotArea>
      <c:layout/>
      <c:barChart>
        <c:barDir val="bar"/>
        <c:grouping val="clustered"/>
        <c:varyColors val="0"/>
        <c:ser>
          <c:idx val="0"/>
          <c:order val="0"/>
          <c:tx>
            <c:strRef>
              <c:f>Sheet1!$B$1</c:f>
              <c:strCache>
                <c:ptCount val="1"/>
                <c:pt idx="0">
                  <c:v>Hours</c:v>
                </c:pt>
              </c:strCache>
            </c:strRef>
          </c:tx>
          <c:spPr>
            <a:solidFill>
              <a:srgbClr val="EE0033"/>
            </a:solidFill>
          </c:spPr>
          <c:invertIfNegative val="1"/>
          <c:dLbls>
            <c:numFmt formatCode="0.0&quot; h&quot;" sourceLinked="0"/>
            <c:spPr>
              <a:noFill/>
              <a:ln>
                <a:noFill/>
              </a:ln>
              <a:effectLst/>
            </c:spPr>
            <c:txPr>
              <a:bodyPr/>
              <a:lstStyle/>
              <a:p>
                <a:pPr>
                  <a:defRPr sz="950">
                    <a:solidFill>
                      <a:srgbClr val="595959"/>
                    </a:solidFill>
                    <a:latin typeface="FS PF BeauSans Pro"/>
                  </a:defRPr>
                </a:pPr>
                <a:endParaRPr lang="en-US"/>
              </a:p>
            </c:txPr>
            <c:dLblPos val="outEnd"/>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Sheet1!$A$2:$A$18</c:f>
              <c:strCache>
                <c:ptCount val="17"/>
                <c:pt idx="0">
                  <c:v>laughter</c:v>
                </c:pt>
                <c:pt idx="1">
                  <c:v>sigh</c:v>
                </c:pt>
                <c:pt idx="2">
                  <c:v>sniff</c:v>
                </c:pt>
                <c:pt idx="3">
                  <c:v>crying</c:v>
                </c:pt>
                <c:pt idx="4">
                  <c:v>yawn</c:v>
                </c:pt>
                <c:pt idx="5">
                  <c:v>pant</c:v>
                </c:pt>
                <c:pt idx="6">
                  <c:v>sneeze</c:v>
                </c:pt>
                <c:pt idx="7">
                  <c:v>screaming</c:v>
                </c:pt>
                <c:pt idx="8">
                  <c:v>cough</c:v>
                </c:pt>
                <c:pt idx="9">
                  <c:v>throatclearing</c:v>
                </c:pt>
                <c:pt idx="10">
                  <c:v>breathing</c:v>
                </c:pt>
                <c:pt idx="11">
                  <c:v>moan</c:v>
                </c:pt>
                <c:pt idx="12">
                  <c:v>yell</c:v>
                </c:pt>
                <c:pt idx="13">
                  <c:v>gasp</c:v>
                </c:pt>
                <c:pt idx="14">
                  <c:v>grunt</c:v>
                </c:pt>
                <c:pt idx="15">
                  <c:v>burp</c:v>
                </c:pt>
                <c:pt idx="16">
                  <c:v>snoring</c:v>
                </c:pt>
              </c:strCache>
            </c:strRef>
          </c:cat>
          <c:val>
            <c:numRef>
              <c:f>Sheet1!$B$2:$B$18</c:f>
              <c:numCache>
                <c:formatCode>General</c:formatCode>
                <c:ptCount val="17"/>
                <c:pt idx="0">
                  <c:v>55.2</c:v>
                </c:pt>
                <c:pt idx="1">
                  <c:v>52.46</c:v>
                </c:pt>
                <c:pt idx="2">
                  <c:v>51.7</c:v>
                </c:pt>
                <c:pt idx="3">
                  <c:v>51.01</c:v>
                </c:pt>
                <c:pt idx="4">
                  <c:v>50.59</c:v>
                </c:pt>
                <c:pt idx="5">
                  <c:v>49.94</c:v>
                </c:pt>
                <c:pt idx="6">
                  <c:v>49.55</c:v>
                </c:pt>
                <c:pt idx="7">
                  <c:v>49.42</c:v>
                </c:pt>
                <c:pt idx="8">
                  <c:v>49.2</c:v>
                </c:pt>
                <c:pt idx="9">
                  <c:v>48.69</c:v>
                </c:pt>
                <c:pt idx="10">
                  <c:v>47.69</c:v>
                </c:pt>
                <c:pt idx="11">
                  <c:v>47.33</c:v>
                </c:pt>
                <c:pt idx="12">
                  <c:v>45.33</c:v>
                </c:pt>
                <c:pt idx="13">
                  <c:v>45.1</c:v>
                </c:pt>
                <c:pt idx="14">
                  <c:v>44.11</c:v>
                </c:pt>
                <c:pt idx="15">
                  <c:v>41.82</c:v>
                </c:pt>
                <c:pt idx="16">
                  <c:v>31.69</c:v>
                </c:pt>
              </c:numCache>
            </c:numRef>
          </c:val>
          <c:extLst>
            <c:ext xmlns:c14="http://schemas.microsoft.com/office/drawing/2007/8/2/chart" uri="{6F2FDCE9-48DA-4B69-8628-5D25D57E5C99}">
              <c14:invertSolidFillFmt>
                <c14:spPr xmlns:c14="http://schemas.microsoft.com/office/drawing/2007/8/2/chart">
                  <a:solidFill>
                    <a:srgbClr val="FFFFFF"/>
                  </a:solidFill>
                </c14:spPr>
              </c14:invertSolidFillFmt>
            </c:ext>
            <c:ext xmlns:c16="http://schemas.microsoft.com/office/drawing/2014/chart" uri="{C3380CC4-5D6E-409C-BE32-E72D297353CC}">
              <c16:uniqueId val="{00000000-C695-2D42-A738-4BD0A0EA031B}"/>
            </c:ext>
          </c:extLst>
        </c:ser>
        <c:dLbls>
          <c:dLblPos val="outEnd"/>
          <c:showLegendKey val="0"/>
          <c:showVal val="1"/>
          <c:showCatName val="0"/>
          <c:showSerName val="0"/>
          <c:showPercent val="0"/>
          <c:showBubbleSize val="0"/>
        </c:dLbls>
        <c:gapWidth val="45"/>
        <c:axId val="-2068027336"/>
        <c:axId val="-2113994440"/>
      </c:barChart>
      <c:catAx>
        <c:axId val="-2068027336"/>
        <c:scaling>
          <c:orientation val="maxMin"/>
        </c:scaling>
        <c:delete val="0"/>
        <c:axPos val="l"/>
        <c:numFmt formatCode="General" sourceLinked="0"/>
        <c:majorTickMark val="out"/>
        <c:minorTickMark val="none"/>
        <c:tickLblPos val="nextTo"/>
        <c:spPr>
          <a:ln>
            <a:solidFill>
              <a:srgbClr val="BFBFBF"/>
            </a:solidFill>
          </a:ln>
        </c:spPr>
        <c:txPr>
          <a:bodyPr/>
          <a:lstStyle/>
          <a:p>
            <a:pPr>
              <a:defRPr sz="1000"/>
            </a:pPr>
            <a:endParaRPr lang="en-US"/>
          </a:p>
        </c:txPr>
        <c:crossAx val="-2113994440"/>
        <c:crosses val="autoZero"/>
        <c:auto val="1"/>
        <c:lblAlgn val="ctr"/>
        <c:lblOffset val="100"/>
        <c:tickLblSkip val="1"/>
        <c:tickMarkSkip val="1"/>
        <c:noMultiLvlLbl val="0"/>
      </c:catAx>
      <c:valAx>
        <c:axId val="-2113994440"/>
        <c:scaling>
          <c:orientation val="minMax"/>
          <c:max val="64"/>
          <c:min val="0"/>
        </c:scaling>
        <c:delete val="1"/>
        <c:axPos val="t"/>
        <c:numFmt formatCode="General" sourceLinked="1"/>
        <c:majorTickMark val="out"/>
        <c:minorTickMark val="none"/>
        <c:tickLblPos val="nextTo"/>
        <c:crossAx val="-2068027336"/>
        <c:crosses val="autoZero"/>
        <c:crossBetween val="between"/>
      </c:valAx>
    </c:plotArea>
    <c:plotVisOnly val="1"/>
    <c:dispBlanksAs val="gap"/>
    <c:showDLblsOverMax val="1"/>
  </c:chart>
  <c:txPr>
    <a:bodyPr/>
    <a:lstStyle/>
    <a:p>
      <a:pPr>
        <a:defRPr sz="1100">
          <a:solidFill>
            <a:srgbClr val="262626"/>
          </a:solidFill>
          <a:latin typeface="FS PF BeauSans Pro"/>
        </a:defRPr>
      </a:pPr>
      <a:endParaRPr lang="en-US"/>
    </a:p>
  </c:txPr>
  <c:externalData r:id="rId1">
    <c:autoUpdate val="0"/>
  </c:externalData>
</c:chartSpace>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2"/>
        <p:cNvGrpSpPr/>
        <p:nvPr/>
      </p:nvGrpSpPr>
      <p:grpSpPr>
        <a:xfrm>
          <a:off x="0" y="0"/>
          <a:ext cx="0" cy="0"/>
          <a:chOff x="0" y="0"/>
          <a:chExt cx="0" cy="0"/>
        </a:xfrm>
      </p:grpSpPr>
      <p:sp>
        <p:nvSpPr>
          <p:cNvPr id="3" name="Google Shape;3;n"/>
          <p:cNvSpPr txBox="1">
            <a:spLocks noGrp="1"/>
          </p:cNvSpPr>
          <p:nvPr>
            <p:ph type="hdr" idx="2"/>
          </p:nvPr>
        </p:nvSpPr>
        <p:spPr>
          <a:xfrm>
            <a:off x="0" y="0"/>
            <a:ext cx="2971800" cy="458788"/>
          </a:xfrm>
          <a:prstGeom prst="rect">
            <a:avLst/>
          </a:prstGeom>
          <a:noFill/>
          <a:ln>
            <a:noFill/>
          </a:ln>
        </p:spPr>
        <p:txBody>
          <a:bodyPr spcFirstLastPara="1" wrap="square" lIns="91425" tIns="45700" rIns="91425" bIns="45700" anchor="t" anchorCtr="0">
            <a:noAutofit/>
          </a:bodyPr>
          <a:lstStyle>
            <a:lvl1pPr marR="0" lvl="0" algn="l" rtl="0">
              <a:spcBef>
                <a:spcPts val="0"/>
              </a:spcBef>
              <a:spcAft>
                <a:spcPts val="0"/>
              </a:spcAft>
              <a:buSzPts val="1400"/>
              <a:buNone/>
              <a:defRPr sz="1200" b="0" i="0" u="none" strike="noStrike" cap="none">
                <a:solidFill>
                  <a:schemeClr val="dk1"/>
                </a:solidFill>
                <a:latin typeface="FS PF BeauSans Pro" panose="02000500000000020004" pitchFamily="50" charset="0"/>
                <a:ea typeface="FS PF BeauSans Pro" panose="02000500000000020004" pitchFamily="50" charset="0"/>
                <a:cs typeface="Arial"/>
                <a:sym typeface="Arial"/>
              </a:defRPr>
            </a:lvl1pPr>
            <a:lvl2pPr marR="0" lvl="1" algn="l" rtl="0">
              <a:spcBef>
                <a:spcPts val="0"/>
              </a:spcBef>
              <a:spcAft>
                <a:spcPts val="0"/>
              </a:spcAft>
              <a:buSzPts val="1400"/>
              <a:buNone/>
              <a:defRPr sz="1800" b="0" i="0" u="none" strike="noStrike" cap="none">
                <a:solidFill>
                  <a:schemeClr val="dk1"/>
                </a:solidFill>
                <a:latin typeface="Arial"/>
                <a:ea typeface="Arial"/>
                <a:cs typeface="Arial"/>
                <a:sym typeface="Arial"/>
              </a:defRPr>
            </a:lvl2pPr>
            <a:lvl3pPr marR="0" lvl="2" algn="l" rtl="0">
              <a:spcBef>
                <a:spcPts val="0"/>
              </a:spcBef>
              <a:spcAft>
                <a:spcPts val="0"/>
              </a:spcAft>
              <a:buSzPts val="1400"/>
              <a:buNone/>
              <a:defRPr sz="1800" b="0" i="0" u="none" strike="noStrike" cap="none">
                <a:solidFill>
                  <a:schemeClr val="dk1"/>
                </a:solidFill>
                <a:latin typeface="Arial"/>
                <a:ea typeface="Arial"/>
                <a:cs typeface="Arial"/>
                <a:sym typeface="Arial"/>
              </a:defRPr>
            </a:lvl3pPr>
            <a:lvl4pPr marR="0" lvl="3" algn="l" rtl="0">
              <a:spcBef>
                <a:spcPts val="0"/>
              </a:spcBef>
              <a:spcAft>
                <a:spcPts val="0"/>
              </a:spcAft>
              <a:buSzPts val="1400"/>
              <a:buNone/>
              <a:defRPr sz="1800" b="0" i="0" u="none" strike="noStrike" cap="none">
                <a:solidFill>
                  <a:schemeClr val="dk1"/>
                </a:solidFill>
                <a:latin typeface="Arial"/>
                <a:ea typeface="Arial"/>
                <a:cs typeface="Arial"/>
                <a:sym typeface="Arial"/>
              </a:defRPr>
            </a:lvl4pPr>
            <a:lvl5pPr marR="0" lvl="4" algn="l" rtl="0">
              <a:spcBef>
                <a:spcPts val="0"/>
              </a:spcBef>
              <a:spcAft>
                <a:spcPts val="0"/>
              </a:spcAft>
              <a:buSzPts val="1400"/>
              <a:buNone/>
              <a:defRPr sz="1800" b="0" i="0" u="none" strike="noStrike" cap="none">
                <a:solidFill>
                  <a:schemeClr val="dk1"/>
                </a:solidFill>
                <a:latin typeface="Arial"/>
                <a:ea typeface="Arial"/>
                <a:cs typeface="Arial"/>
                <a:sym typeface="Arial"/>
              </a:defRPr>
            </a:lvl5pPr>
            <a:lvl6pPr marR="0" lvl="5" algn="l" rtl="0">
              <a:spcBef>
                <a:spcPts val="0"/>
              </a:spcBef>
              <a:spcAft>
                <a:spcPts val="0"/>
              </a:spcAft>
              <a:buSzPts val="1400"/>
              <a:buNone/>
              <a:defRPr sz="1800" b="0" i="0" u="none" strike="noStrike" cap="none">
                <a:solidFill>
                  <a:schemeClr val="dk1"/>
                </a:solidFill>
                <a:latin typeface="Arial"/>
                <a:ea typeface="Arial"/>
                <a:cs typeface="Arial"/>
                <a:sym typeface="Arial"/>
              </a:defRPr>
            </a:lvl6pPr>
            <a:lvl7pPr marR="0" lvl="6" algn="l" rtl="0">
              <a:spcBef>
                <a:spcPts val="0"/>
              </a:spcBef>
              <a:spcAft>
                <a:spcPts val="0"/>
              </a:spcAft>
              <a:buSzPts val="1400"/>
              <a:buNone/>
              <a:defRPr sz="1800" b="0" i="0" u="none" strike="noStrike" cap="none">
                <a:solidFill>
                  <a:schemeClr val="dk1"/>
                </a:solidFill>
                <a:latin typeface="Arial"/>
                <a:ea typeface="Arial"/>
                <a:cs typeface="Arial"/>
                <a:sym typeface="Arial"/>
              </a:defRPr>
            </a:lvl7pPr>
            <a:lvl8pPr marR="0" lvl="7" algn="l" rtl="0">
              <a:spcBef>
                <a:spcPts val="0"/>
              </a:spcBef>
              <a:spcAft>
                <a:spcPts val="0"/>
              </a:spcAft>
              <a:buSzPts val="1400"/>
              <a:buNone/>
              <a:defRPr sz="1800" b="0" i="0" u="none" strike="noStrike" cap="none">
                <a:solidFill>
                  <a:schemeClr val="dk1"/>
                </a:solidFill>
                <a:latin typeface="Arial"/>
                <a:ea typeface="Arial"/>
                <a:cs typeface="Arial"/>
                <a:sym typeface="Arial"/>
              </a:defRPr>
            </a:lvl8pPr>
            <a:lvl9pPr marR="0" lvl="8" algn="l" rtl="0">
              <a:spcBef>
                <a:spcPts val="0"/>
              </a:spcBef>
              <a:spcAft>
                <a:spcPts val="0"/>
              </a:spcAft>
              <a:buSzPts val="1400"/>
              <a:buNone/>
              <a:defRPr sz="1800" b="0" i="0" u="none" strike="noStrike" cap="none">
                <a:solidFill>
                  <a:schemeClr val="dk1"/>
                </a:solidFill>
                <a:latin typeface="Arial"/>
                <a:ea typeface="Arial"/>
                <a:cs typeface="Arial"/>
                <a:sym typeface="Arial"/>
              </a:defRPr>
            </a:lvl9pPr>
          </a:lstStyle>
          <a:p>
            <a:endParaRPr lang="vi-VN" dirty="0"/>
          </a:p>
        </p:txBody>
      </p:sp>
      <p:sp>
        <p:nvSpPr>
          <p:cNvPr id="4" name="Google Shape;4;n"/>
          <p:cNvSpPr txBox="1">
            <a:spLocks noGrp="1"/>
          </p:cNvSpPr>
          <p:nvPr>
            <p:ph type="dt" idx="10"/>
          </p:nvPr>
        </p:nvSpPr>
        <p:spPr>
          <a:xfrm>
            <a:off x="3884613" y="0"/>
            <a:ext cx="2971800" cy="458788"/>
          </a:xfrm>
          <a:prstGeom prst="rect">
            <a:avLst/>
          </a:prstGeom>
          <a:noFill/>
          <a:ln>
            <a:noFill/>
          </a:ln>
        </p:spPr>
        <p:txBody>
          <a:bodyPr spcFirstLastPara="1" wrap="square" lIns="91425" tIns="45700" rIns="91425" bIns="45700" anchor="t" anchorCtr="0">
            <a:noAutofit/>
          </a:bodyPr>
          <a:lstStyle>
            <a:lvl1pPr marR="0" lvl="0" algn="r" rtl="0">
              <a:spcBef>
                <a:spcPts val="0"/>
              </a:spcBef>
              <a:spcAft>
                <a:spcPts val="0"/>
              </a:spcAft>
              <a:buSzPts val="1400"/>
              <a:buNone/>
              <a:defRPr sz="1200" b="0" i="0" u="none" strike="noStrike" cap="none">
                <a:solidFill>
                  <a:schemeClr val="dk1"/>
                </a:solidFill>
                <a:latin typeface="FS PF BeauSans Pro" panose="02000500000000020004" pitchFamily="50" charset="0"/>
                <a:ea typeface="FS PF BeauSans Pro" panose="02000500000000020004" pitchFamily="50" charset="0"/>
                <a:cs typeface="Arial"/>
                <a:sym typeface="Arial"/>
              </a:defRPr>
            </a:lvl1pPr>
            <a:lvl2pPr marR="0" lvl="1" algn="l" rtl="0">
              <a:spcBef>
                <a:spcPts val="0"/>
              </a:spcBef>
              <a:spcAft>
                <a:spcPts val="0"/>
              </a:spcAft>
              <a:buSzPts val="1400"/>
              <a:buNone/>
              <a:defRPr sz="1800" b="0" i="0" u="none" strike="noStrike" cap="none">
                <a:solidFill>
                  <a:schemeClr val="dk1"/>
                </a:solidFill>
                <a:latin typeface="Arial"/>
                <a:ea typeface="Arial"/>
                <a:cs typeface="Arial"/>
                <a:sym typeface="Arial"/>
              </a:defRPr>
            </a:lvl2pPr>
            <a:lvl3pPr marR="0" lvl="2" algn="l" rtl="0">
              <a:spcBef>
                <a:spcPts val="0"/>
              </a:spcBef>
              <a:spcAft>
                <a:spcPts val="0"/>
              </a:spcAft>
              <a:buSzPts val="1400"/>
              <a:buNone/>
              <a:defRPr sz="1800" b="0" i="0" u="none" strike="noStrike" cap="none">
                <a:solidFill>
                  <a:schemeClr val="dk1"/>
                </a:solidFill>
                <a:latin typeface="Arial"/>
                <a:ea typeface="Arial"/>
                <a:cs typeface="Arial"/>
                <a:sym typeface="Arial"/>
              </a:defRPr>
            </a:lvl3pPr>
            <a:lvl4pPr marR="0" lvl="3" algn="l" rtl="0">
              <a:spcBef>
                <a:spcPts val="0"/>
              </a:spcBef>
              <a:spcAft>
                <a:spcPts val="0"/>
              </a:spcAft>
              <a:buSzPts val="1400"/>
              <a:buNone/>
              <a:defRPr sz="1800" b="0" i="0" u="none" strike="noStrike" cap="none">
                <a:solidFill>
                  <a:schemeClr val="dk1"/>
                </a:solidFill>
                <a:latin typeface="Arial"/>
                <a:ea typeface="Arial"/>
                <a:cs typeface="Arial"/>
                <a:sym typeface="Arial"/>
              </a:defRPr>
            </a:lvl4pPr>
            <a:lvl5pPr marR="0" lvl="4" algn="l" rtl="0">
              <a:spcBef>
                <a:spcPts val="0"/>
              </a:spcBef>
              <a:spcAft>
                <a:spcPts val="0"/>
              </a:spcAft>
              <a:buSzPts val="1400"/>
              <a:buNone/>
              <a:defRPr sz="1800" b="0" i="0" u="none" strike="noStrike" cap="none">
                <a:solidFill>
                  <a:schemeClr val="dk1"/>
                </a:solidFill>
                <a:latin typeface="Arial"/>
                <a:ea typeface="Arial"/>
                <a:cs typeface="Arial"/>
                <a:sym typeface="Arial"/>
              </a:defRPr>
            </a:lvl5pPr>
            <a:lvl6pPr marR="0" lvl="5" algn="l" rtl="0">
              <a:spcBef>
                <a:spcPts val="0"/>
              </a:spcBef>
              <a:spcAft>
                <a:spcPts val="0"/>
              </a:spcAft>
              <a:buSzPts val="1400"/>
              <a:buNone/>
              <a:defRPr sz="1800" b="0" i="0" u="none" strike="noStrike" cap="none">
                <a:solidFill>
                  <a:schemeClr val="dk1"/>
                </a:solidFill>
                <a:latin typeface="Arial"/>
                <a:ea typeface="Arial"/>
                <a:cs typeface="Arial"/>
                <a:sym typeface="Arial"/>
              </a:defRPr>
            </a:lvl6pPr>
            <a:lvl7pPr marR="0" lvl="6" algn="l" rtl="0">
              <a:spcBef>
                <a:spcPts val="0"/>
              </a:spcBef>
              <a:spcAft>
                <a:spcPts val="0"/>
              </a:spcAft>
              <a:buSzPts val="1400"/>
              <a:buNone/>
              <a:defRPr sz="1800" b="0" i="0" u="none" strike="noStrike" cap="none">
                <a:solidFill>
                  <a:schemeClr val="dk1"/>
                </a:solidFill>
                <a:latin typeface="Arial"/>
                <a:ea typeface="Arial"/>
                <a:cs typeface="Arial"/>
                <a:sym typeface="Arial"/>
              </a:defRPr>
            </a:lvl7pPr>
            <a:lvl8pPr marR="0" lvl="7" algn="l" rtl="0">
              <a:spcBef>
                <a:spcPts val="0"/>
              </a:spcBef>
              <a:spcAft>
                <a:spcPts val="0"/>
              </a:spcAft>
              <a:buSzPts val="1400"/>
              <a:buNone/>
              <a:defRPr sz="1800" b="0" i="0" u="none" strike="noStrike" cap="none">
                <a:solidFill>
                  <a:schemeClr val="dk1"/>
                </a:solidFill>
                <a:latin typeface="Arial"/>
                <a:ea typeface="Arial"/>
                <a:cs typeface="Arial"/>
                <a:sym typeface="Arial"/>
              </a:defRPr>
            </a:lvl8pPr>
            <a:lvl9pPr marR="0" lvl="8" algn="l" rtl="0">
              <a:spcBef>
                <a:spcPts val="0"/>
              </a:spcBef>
              <a:spcAft>
                <a:spcPts val="0"/>
              </a:spcAft>
              <a:buSzPts val="1400"/>
              <a:buNone/>
              <a:defRPr sz="1800" b="0" i="0" u="none" strike="noStrike" cap="none">
                <a:solidFill>
                  <a:schemeClr val="dk1"/>
                </a:solidFill>
                <a:latin typeface="Arial"/>
                <a:ea typeface="Arial"/>
                <a:cs typeface="Arial"/>
                <a:sym typeface="Arial"/>
              </a:defRPr>
            </a:lvl9pPr>
          </a:lstStyle>
          <a:p>
            <a:endParaRPr lang="vi-VN" dirty="0"/>
          </a:p>
        </p:txBody>
      </p:sp>
      <p:sp>
        <p:nvSpPr>
          <p:cNvPr id="5" name="Google Shape;5;n"/>
          <p:cNvSpPr>
            <a:spLocks noGrp="1" noRot="1" noChangeAspect="1"/>
          </p:cNvSpPr>
          <p:nvPr>
            <p:ph type="sldImg" idx="3"/>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6" name="Google Shape;6;n"/>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lvl1pPr marL="457200" marR="0" lvl="0" indent="-228600" algn="l" rtl="0">
              <a:spcBef>
                <a:spcPts val="0"/>
              </a:spcBef>
              <a:spcAft>
                <a:spcPts val="0"/>
              </a:spcAft>
              <a:buSzPts val="1400"/>
              <a:buNone/>
              <a:defRPr sz="1200" b="0" i="0" u="none" strike="noStrike" cap="none">
                <a:solidFill>
                  <a:schemeClr val="dk1"/>
                </a:solidFill>
                <a:latin typeface="Arial"/>
                <a:ea typeface="Arial"/>
                <a:cs typeface="Arial"/>
                <a:sym typeface="Arial"/>
              </a:defRPr>
            </a:lvl1pPr>
            <a:lvl2pPr marL="914400" marR="0" lvl="1" indent="-228600" algn="l" rtl="0">
              <a:spcBef>
                <a:spcPts val="0"/>
              </a:spcBef>
              <a:spcAft>
                <a:spcPts val="0"/>
              </a:spcAft>
              <a:buSzPts val="1400"/>
              <a:buNone/>
              <a:defRPr sz="1200" b="0" i="0" u="none" strike="noStrike" cap="none">
                <a:solidFill>
                  <a:schemeClr val="dk1"/>
                </a:solidFill>
                <a:latin typeface="Arial"/>
                <a:ea typeface="Arial"/>
                <a:cs typeface="Arial"/>
                <a:sym typeface="Arial"/>
              </a:defRPr>
            </a:lvl2pPr>
            <a:lvl3pPr marL="1371600" marR="0" lvl="2" indent="-228600" algn="l" rtl="0">
              <a:spcBef>
                <a:spcPts val="0"/>
              </a:spcBef>
              <a:spcAft>
                <a:spcPts val="0"/>
              </a:spcAft>
              <a:buSzPts val="1400"/>
              <a:buNone/>
              <a:defRPr sz="1200" b="0" i="0" u="none" strike="noStrike" cap="none">
                <a:solidFill>
                  <a:schemeClr val="dk1"/>
                </a:solidFill>
                <a:latin typeface="Arial"/>
                <a:ea typeface="Arial"/>
                <a:cs typeface="Arial"/>
                <a:sym typeface="Arial"/>
              </a:defRPr>
            </a:lvl3pPr>
            <a:lvl4pPr marL="1828800" marR="0" lvl="3" indent="-228600" algn="l" rtl="0">
              <a:spcBef>
                <a:spcPts val="0"/>
              </a:spcBef>
              <a:spcAft>
                <a:spcPts val="0"/>
              </a:spcAft>
              <a:buSzPts val="1400"/>
              <a:buNone/>
              <a:defRPr sz="1200" b="0" i="0" u="none" strike="noStrike" cap="none">
                <a:solidFill>
                  <a:schemeClr val="dk1"/>
                </a:solidFill>
                <a:latin typeface="Arial"/>
                <a:ea typeface="Arial"/>
                <a:cs typeface="Arial"/>
                <a:sym typeface="Arial"/>
              </a:defRPr>
            </a:lvl4pPr>
            <a:lvl5pPr marL="2286000" marR="0" lvl="4" indent="-228600" algn="l" rtl="0">
              <a:spcBef>
                <a:spcPts val="0"/>
              </a:spcBef>
              <a:spcAft>
                <a:spcPts val="0"/>
              </a:spcAft>
              <a:buSzPts val="1400"/>
              <a:buNone/>
              <a:defRPr sz="1200" b="0" i="0" u="none" strike="noStrike" cap="none">
                <a:solidFill>
                  <a:schemeClr val="dk1"/>
                </a:solidFill>
                <a:latin typeface="Arial"/>
                <a:ea typeface="Arial"/>
                <a:cs typeface="Arial"/>
                <a:sym typeface="Arial"/>
              </a:defRPr>
            </a:lvl5pPr>
            <a:lvl6pPr marL="2743200" marR="0" lvl="5" indent="-228600" algn="l" rtl="0">
              <a:spcBef>
                <a:spcPts val="0"/>
              </a:spcBef>
              <a:spcAft>
                <a:spcPts val="0"/>
              </a:spcAft>
              <a:buSzPts val="1400"/>
              <a:buNone/>
              <a:defRPr sz="1200" b="0" i="0" u="none" strike="noStrike" cap="none">
                <a:solidFill>
                  <a:schemeClr val="dk1"/>
                </a:solidFill>
                <a:latin typeface="Arial"/>
                <a:ea typeface="Arial"/>
                <a:cs typeface="Arial"/>
                <a:sym typeface="Arial"/>
              </a:defRPr>
            </a:lvl6pPr>
            <a:lvl7pPr marL="3200400" marR="0" lvl="6" indent="-228600" algn="l" rtl="0">
              <a:spcBef>
                <a:spcPts val="0"/>
              </a:spcBef>
              <a:spcAft>
                <a:spcPts val="0"/>
              </a:spcAft>
              <a:buSzPts val="1400"/>
              <a:buNone/>
              <a:defRPr sz="1200" b="0" i="0" u="none" strike="noStrike" cap="none">
                <a:solidFill>
                  <a:schemeClr val="dk1"/>
                </a:solidFill>
                <a:latin typeface="Arial"/>
                <a:ea typeface="Arial"/>
                <a:cs typeface="Arial"/>
                <a:sym typeface="Arial"/>
              </a:defRPr>
            </a:lvl7pPr>
            <a:lvl8pPr marL="3657600" marR="0" lvl="7" indent="-228600" algn="l" rtl="0">
              <a:spcBef>
                <a:spcPts val="0"/>
              </a:spcBef>
              <a:spcAft>
                <a:spcPts val="0"/>
              </a:spcAft>
              <a:buSzPts val="1400"/>
              <a:buNone/>
              <a:defRPr sz="1200" b="0" i="0" u="none" strike="noStrike" cap="none">
                <a:solidFill>
                  <a:schemeClr val="dk1"/>
                </a:solidFill>
                <a:latin typeface="Arial"/>
                <a:ea typeface="Arial"/>
                <a:cs typeface="Arial"/>
                <a:sym typeface="Arial"/>
              </a:defRPr>
            </a:lvl8pPr>
            <a:lvl9pPr marL="4114800" marR="0" lvl="8" indent="-228600" algn="l" rtl="0">
              <a:spcBef>
                <a:spcPts val="0"/>
              </a:spcBef>
              <a:spcAft>
                <a:spcPts val="0"/>
              </a:spcAft>
              <a:buSzPts val="1400"/>
              <a:buNone/>
              <a:defRPr sz="1200" b="0" i="0" u="none" strike="noStrike" cap="none">
                <a:solidFill>
                  <a:schemeClr val="dk1"/>
                </a:solidFill>
                <a:latin typeface="Arial"/>
                <a:ea typeface="Arial"/>
                <a:cs typeface="Arial"/>
                <a:sym typeface="Arial"/>
              </a:defRPr>
            </a:lvl9pPr>
          </a:lstStyle>
          <a:p>
            <a:endParaRPr dirty="0"/>
          </a:p>
        </p:txBody>
      </p:sp>
      <p:sp>
        <p:nvSpPr>
          <p:cNvPr id="7" name="Google Shape;7;n"/>
          <p:cNvSpPr txBox="1">
            <a:spLocks noGrp="1"/>
          </p:cNvSpPr>
          <p:nvPr>
            <p:ph type="ftr" idx="11"/>
          </p:nvPr>
        </p:nvSpPr>
        <p:spPr>
          <a:xfrm>
            <a:off x="0" y="8685213"/>
            <a:ext cx="2971800" cy="458787"/>
          </a:xfrm>
          <a:prstGeom prst="rect">
            <a:avLst/>
          </a:prstGeom>
          <a:noFill/>
          <a:ln>
            <a:noFill/>
          </a:ln>
        </p:spPr>
        <p:txBody>
          <a:bodyPr spcFirstLastPara="1" wrap="square" lIns="91425" tIns="45700" rIns="91425" bIns="45700" anchor="b" anchorCtr="0">
            <a:noAutofit/>
          </a:bodyPr>
          <a:lstStyle>
            <a:lvl1pPr marR="0" lvl="0" algn="l" rtl="0">
              <a:spcBef>
                <a:spcPts val="0"/>
              </a:spcBef>
              <a:spcAft>
                <a:spcPts val="0"/>
              </a:spcAft>
              <a:buSzPts val="1400"/>
              <a:buNone/>
              <a:defRPr sz="1200" b="0" i="0" u="none" strike="noStrike" cap="none">
                <a:solidFill>
                  <a:schemeClr val="dk1"/>
                </a:solidFill>
                <a:latin typeface="FS PF BeauSans Pro" panose="02000500000000020004" pitchFamily="50" charset="0"/>
                <a:ea typeface="FS PF BeauSans Pro" panose="02000500000000020004" pitchFamily="50" charset="0"/>
                <a:cs typeface="Arial"/>
                <a:sym typeface="Arial"/>
              </a:defRPr>
            </a:lvl1pPr>
            <a:lvl2pPr marR="0" lvl="1" algn="l" rtl="0">
              <a:spcBef>
                <a:spcPts val="0"/>
              </a:spcBef>
              <a:spcAft>
                <a:spcPts val="0"/>
              </a:spcAft>
              <a:buSzPts val="1400"/>
              <a:buNone/>
              <a:defRPr sz="1800" b="0" i="0" u="none" strike="noStrike" cap="none">
                <a:solidFill>
                  <a:schemeClr val="dk1"/>
                </a:solidFill>
                <a:latin typeface="Arial"/>
                <a:ea typeface="Arial"/>
                <a:cs typeface="Arial"/>
                <a:sym typeface="Arial"/>
              </a:defRPr>
            </a:lvl2pPr>
            <a:lvl3pPr marR="0" lvl="2" algn="l" rtl="0">
              <a:spcBef>
                <a:spcPts val="0"/>
              </a:spcBef>
              <a:spcAft>
                <a:spcPts val="0"/>
              </a:spcAft>
              <a:buSzPts val="1400"/>
              <a:buNone/>
              <a:defRPr sz="1800" b="0" i="0" u="none" strike="noStrike" cap="none">
                <a:solidFill>
                  <a:schemeClr val="dk1"/>
                </a:solidFill>
                <a:latin typeface="Arial"/>
                <a:ea typeface="Arial"/>
                <a:cs typeface="Arial"/>
                <a:sym typeface="Arial"/>
              </a:defRPr>
            </a:lvl3pPr>
            <a:lvl4pPr marR="0" lvl="3" algn="l" rtl="0">
              <a:spcBef>
                <a:spcPts val="0"/>
              </a:spcBef>
              <a:spcAft>
                <a:spcPts val="0"/>
              </a:spcAft>
              <a:buSzPts val="1400"/>
              <a:buNone/>
              <a:defRPr sz="1800" b="0" i="0" u="none" strike="noStrike" cap="none">
                <a:solidFill>
                  <a:schemeClr val="dk1"/>
                </a:solidFill>
                <a:latin typeface="Arial"/>
                <a:ea typeface="Arial"/>
                <a:cs typeface="Arial"/>
                <a:sym typeface="Arial"/>
              </a:defRPr>
            </a:lvl4pPr>
            <a:lvl5pPr marR="0" lvl="4" algn="l" rtl="0">
              <a:spcBef>
                <a:spcPts val="0"/>
              </a:spcBef>
              <a:spcAft>
                <a:spcPts val="0"/>
              </a:spcAft>
              <a:buSzPts val="1400"/>
              <a:buNone/>
              <a:defRPr sz="1800" b="0" i="0" u="none" strike="noStrike" cap="none">
                <a:solidFill>
                  <a:schemeClr val="dk1"/>
                </a:solidFill>
                <a:latin typeface="Arial"/>
                <a:ea typeface="Arial"/>
                <a:cs typeface="Arial"/>
                <a:sym typeface="Arial"/>
              </a:defRPr>
            </a:lvl5pPr>
            <a:lvl6pPr marR="0" lvl="5" algn="l" rtl="0">
              <a:spcBef>
                <a:spcPts val="0"/>
              </a:spcBef>
              <a:spcAft>
                <a:spcPts val="0"/>
              </a:spcAft>
              <a:buSzPts val="1400"/>
              <a:buNone/>
              <a:defRPr sz="1800" b="0" i="0" u="none" strike="noStrike" cap="none">
                <a:solidFill>
                  <a:schemeClr val="dk1"/>
                </a:solidFill>
                <a:latin typeface="Arial"/>
                <a:ea typeface="Arial"/>
                <a:cs typeface="Arial"/>
                <a:sym typeface="Arial"/>
              </a:defRPr>
            </a:lvl6pPr>
            <a:lvl7pPr marR="0" lvl="6" algn="l" rtl="0">
              <a:spcBef>
                <a:spcPts val="0"/>
              </a:spcBef>
              <a:spcAft>
                <a:spcPts val="0"/>
              </a:spcAft>
              <a:buSzPts val="1400"/>
              <a:buNone/>
              <a:defRPr sz="1800" b="0" i="0" u="none" strike="noStrike" cap="none">
                <a:solidFill>
                  <a:schemeClr val="dk1"/>
                </a:solidFill>
                <a:latin typeface="Arial"/>
                <a:ea typeface="Arial"/>
                <a:cs typeface="Arial"/>
                <a:sym typeface="Arial"/>
              </a:defRPr>
            </a:lvl7pPr>
            <a:lvl8pPr marR="0" lvl="7" algn="l" rtl="0">
              <a:spcBef>
                <a:spcPts val="0"/>
              </a:spcBef>
              <a:spcAft>
                <a:spcPts val="0"/>
              </a:spcAft>
              <a:buSzPts val="1400"/>
              <a:buNone/>
              <a:defRPr sz="1800" b="0" i="0" u="none" strike="noStrike" cap="none">
                <a:solidFill>
                  <a:schemeClr val="dk1"/>
                </a:solidFill>
                <a:latin typeface="Arial"/>
                <a:ea typeface="Arial"/>
                <a:cs typeface="Arial"/>
                <a:sym typeface="Arial"/>
              </a:defRPr>
            </a:lvl8pPr>
            <a:lvl9pPr marR="0" lvl="8" algn="l" rtl="0">
              <a:spcBef>
                <a:spcPts val="0"/>
              </a:spcBef>
              <a:spcAft>
                <a:spcPts val="0"/>
              </a:spcAft>
              <a:buSzPts val="1400"/>
              <a:buNone/>
              <a:defRPr sz="1800" b="0" i="0" u="none" strike="noStrike" cap="none">
                <a:solidFill>
                  <a:schemeClr val="dk1"/>
                </a:solidFill>
                <a:latin typeface="Arial"/>
                <a:ea typeface="Arial"/>
                <a:cs typeface="Arial"/>
                <a:sym typeface="Arial"/>
              </a:defRPr>
            </a:lvl9pPr>
          </a:lstStyle>
          <a:p>
            <a:endParaRPr lang="vi-VN" dirty="0"/>
          </a:p>
        </p:txBody>
      </p:sp>
      <p:sp>
        <p:nvSpPr>
          <p:cNvPr id="8" name="Google Shape;8;n"/>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lvl1pPr>
              <a:defRPr>
                <a:latin typeface="FS PF BeauSans Pro" panose="02000500000000020004" pitchFamily="50" charset="0"/>
              </a:defRPr>
            </a:lvl1pPr>
          </a:lstStyle>
          <a:p>
            <a:pPr algn="r"/>
            <a:fld id="{00000000-1234-1234-1234-123412341234}" type="slidenum">
              <a:rPr lang="en-US" sz="1200" smtClean="0">
                <a:solidFill>
                  <a:schemeClr val="dk1"/>
                </a:solidFill>
              </a:rPr>
              <a:pPr algn="r"/>
              <a:t>‹#›</a:t>
            </a:fld>
            <a:endParaRPr lang="en-US" sz="1200" dirty="0">
              <a:solidFill>
                <a:schemeClr val="dk1"/>
              </a:solidFill>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FS PF BeauSans Pro" panose="02000500000000020004" pitchFamily="50" charset="0"/>
        <a:ea typeface="FS PF BeauSans Pro" panose="02000500000000020004" pitchFamily="50" charset="0"/>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Title slide" type="title">
  <p:cSld name="TITLE">
    <p:spTree>
      <p:nvGrpSpPr>
        <p:cNvPr id="1" name="Shape 17"/>
        <p:cNvGrpSpPr/>
        <p:nvPr/>
      </p:nvGrpSpPr>
      <p:grpSpPr>
        <a:xfrm>
          <a:off x="0" y="0"/>
          <a:ext cx="0" cy="0"/>
          <a:chOff x="0" y="0"/>
          <a:chExt cx="0" cy="0"/>
        </a:xfrm>
      </p:grpSpPr>
      <p:sp>
        <p:nvSpPr>
          <p:cNvPr id="18" name="Google Shape;18;p33"/>
          <p:cNvSpPr txBox="1">
            <a:spLocks noGrp="1"/>
          </p:cNvSpPr>
          <p:nvPr>
            <p:ph type="ctrTitle"/>
          </p:nvPr>
        </p:nvSpPr>
        <p:spPr>
          <a:xfrm>
            <a:off x="1514641" y="1858265"/>
            <a:ext cx="9182400" cy="2376400"/>
          </a:xfrm>
          <a:prstGeom prst="rect">
            <a:avLst/>
          </a:prstGeom>
          <a:noFill/>
          <a:ln>
            <a:noFill/>
          </a:ln>
        </p:spPr>
        <p:txBody>
          <a:bodyPr spcFirstLastPara="1" wrap="square" lIns="91425" tIns="91425" rIns="91425" bIns="91425" anchor="b" anchorCtr="0">
            <a:noAutofit/>
          </a:bodyPr>
          <a:lstStyle>
            <a:lvl1pPr lvl="0" algn="r">
              <a:lnSpc>
                <a:spcPct val="100000"/>
              </a:lnSpc>
              <a:spcBef>
                <a:spcPts val="0"/>
              </a:spcBef>
              <a:spcAft>
                <a:spcPts val="0"/>
              </a:spcAft>
              <a:buSzPts val="6000"/>
              <a:buNone/>
              <a:defRPr sz="6400">
                <a:solidFill>
                  <a:srgbClr val="EE0033"/>
                </a:solidFill>
                <a:latin typeface="FS PF BeauSans Pro" panose="02000500000000020004" pitchFamily="50" charset="0"/>
                <a:ea typeface="FS PF BeauSans Pro" panose="02000500000000020004" pitchFamily="50" charset="0"/>
                <a:cs typeface="Arial"/>
                <a:sym typeface="Arial"/>
              </a:defRPr>
            </a:lvl1pPr>
            <a:lvl2pPr lvl="1" algn="l">
              <a:lnSpc>
                <a:spcPct val="100000"/>
              </a:lnSpc>
              <a:spcBef>
                <a:spcPts val="0"/>
              </a:spcBef>
              <a:spcAft>
                <a:spcPts val="0"/>
              </a:spcAft>
              <a:buSzPts val="5200"/>
              <a:buNone/>
              <a:defRPr sz="6933"/>
            </a:lvl2pPr>
            <a:lvl3pPr lvl="2" algn="l">
              <a:lnSpc>
                <a:spcPct val="100000"/>
              </a:lnSpc>
              <a:spcBef>
                <a:spcPts val="0"/>
              </a:spcBef>
              <a:spcAft>
                <a:spcPts val="0"/>
              </a:spcAft>
              <a:buSzPts val="5200"/>
              <a:buNone/>
              <a:defRPr sz="6933"/>
            </a:lvl3pPr>
            <a:lvl4pPr lvl="3" algn="l">
              <a:lnSpc>
                <a:spcPct val="100000"/>
              </a:lnSpc>
              <a:spcBef>
                <a:spcPts val="0"/>
              </a:spcBef>
              <a:spcAft>
                <a:spcPts val="0"/>
              </a:spcAft>
              <a:buSzPts val="5200"/>
              <a:buNone/>
              <a:defRPr sz="6933"/>
            </a:lvl4pPr>
            <a:lvl5pPr lvl="4" algn="l">
              <a:lnSpc>
                <a:spcPct val="100000"/>
              </a:lnSpc>
              <a:spcBef>
                <a:spcPts val="0"/>
              </a:spcBef>
              <a:spcAft>
                <a:spcPts val="0"/>
              </a:spcAft>
              <a:buSzPts val="5200"/>
              <a:buNone/>
              <a:defRPr sz="6933"/>
            </a:lvl5pPr>
            <a:lvl6pPr lvl="5" algn="l">
              <a:lnSpc>
                <a:spcPct val="100000"/>
              </a:lnSpc>
              <a:spcBef>
                <a:spcPts val="0"/>
              </a:spcBef>
              <a:spcAft>
                <a:spcPts val="0"/>
              </a:spcAft>
              <a:buSzPts val="5200"/>
              <a:buNone/>
              <a:defRPr sz="6933"/>
            </a:lvl6pPr>
            <a:lvl7pPr lvl="6" algn="l">
              <a:lnSpc>
                <a:spcPct val="100000"/>
              </a:lnSpc>
              <a:spcBef>
                <a:spcPts val="0"/>
              </a:spcBef>
              <a:spcAft>
                <a:spcPts val="0"/>
              </a:spcAft>
              <a:buSzPts val="5200"/>
              <a:buNone/>
              <a:defRPr sz="6933"/>
            </a:lvl7pPr>
            <a:lvl8pPr lvl="7" algn="l">
              <a:lnSpc>
                <a:spcPct val="100000"/>
              </a:lnSpc>
              <a:spcBef>
                <a:spcPts val="0"/>
              </a:spcBef>
              <a:spcAft>
                <a:spcPts val="0"/>
              </a:spcAft>
              <a:buSzPts val="5200"/>
              <a:buNone/>
              <a:defRPr sz="6933"/>
            </a:lvl8pPr>
            <a:lvl9pPr lvl="8" algn="l">
              <a:lnSpc>
                <a:spcPct val="100000"/>
              </a:lnSpc>
              <a:spcBef>
                <a:spcPts val="0"/>
              </a:spcBef>
              <a:spcAft>
                <a:spcPts val="0"/>
              </a:spcAft>
              <a:buSzPts val="5200"/>
              <a:buNone/>
              <a:defRPr sz="6933"/>
            </a:lvl9pPr>
          </a:lstStyle>
          <a:p>
            <a:endParaRPr dirty="0"/>
          </a:p>
        </p:txBody>
      </p:sp>
      <p:sp>
        <p:nvSpPr>
          <p:cNvPr id="19" name="Google Shape;19;p33"/>
          <p:cNvSpPr txBox="1">
            <a:spLocks noGrp="1"/>
          </p:cNvSpPr>
          <p:nvPr>
            <p:ph type="subTitle" idx="1"/>
          </p:nvPr>
        </p:nvSpPr>
        <p:spPr>
          <a:xfrm>
            <a:off x="4894241" y="3911363"/>
            <a:ext cx="5802800" cy="956000"/>
          </a:xfrm>
          <a:prstGeom prst="rect">
            <a:avLst/>
          </a:prstGeom>
          <a:noFill/>
          <a:ln>
            <a:noFill/>
          </a:ln>
        </p:spPr>
        <p:txBody>
          <a:bodyPr spcFirstLastPara="1" wrap="square" lIns="91425" tIns="91425" rIns="91425" bIns="91425" anchor="b" anchorCtr="0">
            <a:noAutofit/>
          </a:bodyPr>
          <a:lstStyle>
            <a:lvl1pPr lvl="0" algn="r">
              <a:lnSpc>
                <a:spcPct val="100000"/>
              </a:lnSpc>
              <a:spcBef>
                <a:spcPts val="0"/>
              </a:spcBef>
              <a:spcAft>
                <a:spcPts val="0"/>
              </a:spcAft>
              <a:buSzPts val="1200"/>
              <a:buFont typeface="Roboto Condensed Light"/>
              <a:buNone/>
              <a:defRPr sz="1867">
                <a:latin typeface="FS PF BeauSans Pro" panose="02000500000000020004" pitchFamily="50" charset="0"/>
                <a:ea typeface="FS PF BeauSans Pro" panose="02000500000000020004" pitchFamily="50" charset="0"/>
                <a:cs typeface="Arial"/>
                <a:sym typeface="Arial"/>
              </a:defRPr>
            </a:lvl1pPr>
            <a:lvl2pPr lvl="1" algn="r">
              <a:lnSpc>
                <a:spcPct val="100000"/>
              </a:lnSpc>
              <a:spcBef>
                <a:spcPts val="0"/>
              </a:spcBef>
              <a:spcAft>
                <a:spcPts val="0"/>
              </a:spcAft>
              <a:buSzPts val="2800"/>
              <a:buNone/>
              <a:defRPr sz="3733"/>
            </a:lvl2pPr>
            <a:lvl3pPr lvl="2" algn="r">
              <a:lnSpc>
                <a:spcPct val="100000"/>
              </a:lnSpc>
              <a:spcBef>
                <a:spcPts val="0"/>
              </a:spcBef>
              <a:spcAft>
                <a:spcPts val="0"/>
              </a:spcAft>
              <a:buSzPts val="2800"/>
              <a:buNone/>
              <a:defRPr sz="3733"/>
            </a:lvl3pPr>
            <a:lvl4pPr lvl="3" algn="r">
              <a:lnSpc>
                <a:spcPct val="100000"/>
              </a:lnSpc>
              <a:spcBef>
                <a:spcPts val="0"/>
              </a:spcBef>
              <a:spcAft>
                <a:spcPts val="0"/>
              </a:spcAft>
              <a:buSzPts val="2800"/>
              <a:buNone/>
              <a:defRPr sz="3733"/>
            </a:lvl4pPr>
            <a:lvl5pPr lvl="4" algn="r">
              <a:lnSpc>
                <a:spcPct val="100000"/>
              </a:lnSpc>
              <a:spcBef>
                <a:spcPts val="0"/>
              </a:spcBef>
              <a:spcAft>
                <a:spcPts val="0"/>
              </a:spcAft>
              <a:buSzPts val="2800"/>
              <a:buNone/>
              <a:defRPr sz="3733"/>
            </a:lvl5pPr>
            <a:lvl6pPr lvl="5" algn="r">
              <a:lnSpc>
                <a:spcPct val="100000"/>
              </a:lnSpc>
              <a:spcBef>
                <a:spcPts val="0"/>
              </a:spcBef>
              <a:spcAft>
                <a:spcPts val="0"/>
              </a:spcAft>
              <a:buSzPts val="2800"/>
              <a:buNone/>
              <a:defRPr sz="3733"/>
            </a:lvl6pPr>
            <a:lvl7pPr lvl="6" algn="r">
              <a:lnSpc>
                <a:spcPct val="100000"/>
              </a:lnSpc>
              <a:spcBef>
                <a:spcPts val="0"/>
              </a:spcBef>
              <a:spcAft>
                <a:spcPts val="0"/>
              </a:spcAft>
              <a:buSzPts val="2800"/>
              <a:buNone/>
              <a:defRPr sz="3733"/>
            </a:lvl7pPr>
            <a:lvl8pPr lvl="7" algn="r">
              <a:lnSpc>
                <a:spcPct val="100000"/>
              </a:lnSpc>
              <a:spcBef>
                <a:spcPts val="0"/>
              </a:spcBef>
              <a:spcAft>
                <a:spcPts val="0"/>
              </a:spcAft>
              <a:buSzPts val="2800"/>
              <a:buNone/>
              <a:defRPr sz="3733"/>
            </a:lvl8pPr>
            <a:lvl9pPr lvl="8" algn="r">
              <a:lnSpc>
                <a:spcPct val="100000"/>
              </a:lnSpc>
              <a:spcBef>
                <a:spcPts val="0"/>
              </a:spcBef>
              <a:spcAft>
                <a:spcPts val="0"/>
              </a:spcAft>
              <a:buSzPts val="2800"/>
              <a:buNone/>
              <a:defRPr sz="3733"/>
            </a:lvl9pPr>
          </a:lstStyle>
          <a:p>
            <a:endParaRPr dirty="0"/>
          </a:p>
        </p:txBody>
      </p:sp>
      <p:sp>
        <p:nvSpPr>
          <p:cNvPr id="20" name="Google Shape;20;p33"/>
          <p:cNvSpPr txBox="1">
            <a:spLocks noGrp="1"/>
          </p:cNvSpPr>
          <p:nvPr>
            <p:ph type="dt" idx="10"/>
          </p:nvPr>
        </p:nvSpPr>
        <p:spPr>
          <a:xfrm>
            <a:off x="838200" y="6356351"/>
            <a:ext cx="2743200" cy="366183"/>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lang="vi-VN" dirty="0"/>
          </a:p>
        </p:txBody>
      </p:sp>
      <p:sp>
        <p:nvSpPr>
          <p:cNvPr id="21" name="Google Shape;21;p33"/>
          <p:cNvSpPr txBox="1">
            <a:spLocks noGrp="1"/>
          </p:cNvSpPr>
          <p:nvPr>
            <p:ph type="sldNum" idx="12"/>
          </p:nvPr>
        </p:nvSpPr>
        <p:spPr>
          <a:xfrm>
            <a:off x="11131827" y="176756"/>
            <a:ext cx="571880" cy="315753"/>
          </a:xfrm>
          <a:prstGeom prst="rect">
            <a:avLst/>
          </a:prstGeom>
          <a:noFill/>
          <a:ln>
            <a:noFill/>
          </a:ln>
        </p:spPr>
        <p:txBody>
          <a:bodyPr spcFirstLastPara="1" wrap="square" lIns="91425" tIns="45700" rIns="91425" bIns="45700" anchor="ctr" anchorCtr="0">
            <a:noAutofit/>
          </a:bodyPr>
          <a:lstStyle>
            <a:lvl1pPr marL="0" lvl="0" indent="0" algn="ctr">
              <a:spcBef>
                <a:spcPts val="0"/>
              </a:spcBef>
              <a:buNone/>
              <a:defRPr/>
            </a:lvl1pPr>
            <a:lvl2pPr marL="0" lvl="1" indent="0" algn="ctr">
              <a:spcBef>
                <a:spcPts val="0"/>
              </a:spcBef>
              <a:buNone/>
              <a:defRPr/>
            </a:lvl2pPr>
            <a:lvl3pPr marL="0" lvl="2" indent="0" algn="ctr">
              <a:spcBef>
                <a:spcPts val="0"/>
              </a:spcBef>
              <a:buNone/>
              <a:defRPr/>
            </a:lvl3pPr>
            <a:lvl4pPr marL="0" lvl="3" indent="0" algn="ctr">
              <a:spcBef>
                <a:spcPts val="0"/>
              </a:spcBef>
              <a:buNone/>
              <a:defRPr/>
            </a:lvl4pPr>
            <a:lvl5pPr marL="0" lvl="4" indent="0" algn="ctr">
              <a:spcBef>
                <a:spcPts val="0"/>
              </a:spcBef>
              <a:buNone/>
              <a:defRPr/>
            </a:lvl5pPr>
            <a:lvl6pPr marL="0" lvl="5" indent="0" algn="ctr">
              <a:spcBef>
                <a:spcPts val="0"/>
              </a:spcBef>
              <a:buNone/>
              <a:defRPr/>
            </a:lvl6pPr>
            <a:lvl7pPr marL="0" lvl="6" indent="0" algn="ctr">
              <a:spcBef>
                <a:spcPts val="0"/>
              </a:spcBef>
              <a:buNone/>
              <a:defRPr/>
            </a:lvl7pPr>
            <a:lvl8pPr marL="0" lvl="7" indent="0" algn="ctr">
              <a:spcBef>
                <a:spcPts val="0"/>
              </a:spcBef>
              <a:buNone/>
              <a:defRPr/>
            </a:lvl8pPr>
            <a:lvl9pPr marL="0" lvl="8" indent="0" algn="ctr">
              <a:spcBef>
                <a:spcPts val="0"/>
              </a:spcBef>
              <a:buNone/>
              <a:defRPr/>
            </a:lvl9pPr>
          </a:lstStyle>
          <a:p>
            <a:pPr marL="0" lvl="0" indent="0" algn="ct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Table of contents">
  <p:cSld name="CUSTOM">
    <p:spTree>
      <p:nvGrpSpPr>
        <p:cNvPr id="1" name="Shape 22"/>
        <p:cNvGrpSpPr/>
        <p:nvPr/>
      </p:nvGrpSpPr>
      <p:grpSpPr>
        <a:xfrm>
          <a:off x="0" y="0"/>
          <a:ext cx="0" cy="0"/>
          <a:chOff x="0" y="0"/>
          <a:chExt cx="0" cy="0"/>
        </a:xfrm>
      </p:grpSpPr>
      <p:sp>
        <p:nvSpPr>
          <p:cNvPr id="23" name="Google Shape;23;p34"/>
          <p:cNvSpPr txBox="1">
            <a:spLocks noGrp="1"/>
          </p:cNvSpPr>
          <p:nvPr>
            <p:ph type="ctrTitle"/>
          </p:nvPr>
        </p:nvSpPr>
        <p:spPr>
          <a:xfrm>
            <a:off x="4514500" y="2798200"/>
            <a:ext cx="3163200" cy="1261600"/>
          </a:xfrm>
          <a:prstGeom prst="rect">
            <a:avLst/>
          </a:prstGeom>
          <a:noFill/>
          <a:ln>
            <a:noFill/>
          </a:ln>
        </p:spPr>
        <p:txBody>
          <a:bodyPr spcFirstLastPara="1" wrap="square" lIns="91425" tIns="91425" rIns="91425" bIns="91425" anchor="ctr" anchorCtr="0">
            <a:noAutofit/>
          </a:bodyPr>
          <a:lstStyle>
            <a:lvl1pPr lvl="0" algn="ctr">
              <a:lnSpc>
                <a:spcPct val="100000"/>
              </a:lnSpc>
              <a:spcBef>
                <a:spcPts val="0"/>
              </a:spcBef>
              <a:spcAft>
                <a:spcPts val="0"/>
              </a:spcAft>
              <a:buSzPts val="3600"/>
              <a:buNone/>
              <a:defRPr sz="4000">
                <a:solidFill>
                  <a:srgbClr val="EE0033"/>
                </a:solidFill>
                <a:latin typeface="FS PF BeauSans Pro" panose="02000500000000020004" pitchFamily="50" charset="0"/>
                <a:ea typeface="FS PF BeauSans Pro" panose="02000500000000020004" pitchFamily="50" charset="0"/>
                <a:cs typeface="Arial"/>
                <a:sym typeface="Arial"/>
              </a:defRPr>
            </a:lvl1pPr>
            <a:lvl2pPr lvl="1" algn="r">
              <a:lnSpc>
                <a:spcPct val="100000"/>
              </a:lnSpc>
              <a:spcBef>
                <a:spcPts val="0"/>
              </a:spcBef>
              <a:spcAft>
                <a:spcPts val="0"/>
              </a:spcAft>
              <a:buSzPts val="1800"/>
              <a:buNone/>
              <a:defRPr sz="2400"/>
            </a:lvl2pPr>
            <a:lvl3pPr lvl="2" algn="r">
              <a:lnSpc>
                <a:spcPct val="100000"/>
              </a:lnSpc>
              <a:spcBef>
                <a:spcPts val="0"/>
              </a:spcBef>
              <a:spcAft>
                <a:spcPts val="0"/>
              </a:spcAft>
              <a:buSzPts val="1800"/>
              <a:buNone/>
              <a:defRPr sz="2400"/>
            </a:lvl3pPr>
            <a:lvl4pPr lvl="3" algn="r">
              <a:lnSpc>
                <a:spcPct val="100000"/>
              </a:lnSpc>
              <a:spcBef>
                <a:spcPts val="0"/>
              </a:spcBef>
              <a:spcAft>
                <a:spcPts val="0"/>
              </a:spcAft>
              <a:buSzPts val="1800"/>
              <a:buNone/>
              <a:defRPr sz="2400"/>
            </a:lvl4pPr>
            <a:lvl5pPr lvl="4" algn="r">
              <a:lnSpc>
                <a:spcPct val="100000"/>
              </a:lnSpc>
              <a:spcBef>
                <a:spcPts val="0"/>
              </a:spcBef>
              <a:spcAft>
                <a:spcPts val="0"/>
              </a:spcAft>
              <a:buSzPts val="1800"/>
              <a:buNone/>
              <a:defRPr sz="2400"/>
            </a:lvl5pPr>
            <a:lvl6pPr lvl="5" algn="r">
              <a:lnSpc>
                <a:spcPct val="100000"/>
              </a:lnSpc>
              <a:spcBef>
                <a:spcPts val="0"/>
              </a:spcBef>
              <a:spcAft>
                <a:spcPts val="0"/>
              </a:spcAft>
              <a:buSzPts val="1800"/>
              <a:buNone/>
              <a:defRPr sz="2400"/>
            </a:lvl6pPr>
            <a:lvl7pPr lvl="6" algn="r">
              <a:lnSpc>
                <a:spcPct val="100000"/>
              </a:lnSpc>
              <a:spcBef>
                <a:spcPts val="0"/>
              </a:spcBef>
              <a:spcAft>
                <a:spcPts val="0"/>
              </a:spcAft>
              <a:buSzPts val="1800"/>
              <a:buNone/>
              <a:defRPr sz="2400"/>
            </a:lvl7pPr>
            <a:lvl8pPr lvl="7" algn="r">
              <a:lnSpc>
                <a:spcPct val="100000"/>
              </a:lnSpc>
              <a:spcBef>
                <a:spcPts val="0"/>
              </a:spcBef>
              <a:spcAft>
                <a:spcPts val="0"/>
              </a:spcAft>
              <a:buSzPts val="1800"/>
              <a:buNone/>
              <a:defRPr sz="2400"/>
            </a:lvl8pPr>
            <a:lvl9pPr lvl="8" algn="r">
              <a:lnSpc>
                <a:spcPct val="100000"/>
              </a:lnSpc>
              <a:spcBef>
                <a:spcPts val="0"/>
              </a:spcBef>
              <a:spcAft>
                <a:spcPts val="0"/>
              </a:spcAft>
              <a:buSzPts val="1800"/>
              <a:buNone/>
              <a:defRPr sz="2400"/>
            </a:lvl9pPr>
          </a:lstStyle>
          <a:p>
            <a:endParaRPr dirty="0"/>
          </a:p>
        </p:txBody>
      </p:sp>
      <p:sp>
        <p:nvSpPr>
          <p:cNvPr id="24" name="Google Shape;24;p34"/>
          <p:cNvSpPr txBox="1">
            <a:spLocks noGrp="1"/>
          </p:cNvSpPr>
          <p:nvPr>
            <p:ph type="ctrTitle" idx="2"/>
          </p:nvPr>
        </p:nvSpPr>
        <p:spPr>
          <a:xfrm>
            <a:off x="520395" y="268871"/>
            <a:ext cx="2632400" cy="770400"/>
          </a:xfrm>
          <a:prstGeom prst="rect">
            <a:avLst/>
          </a:prstGeom>
          <a:noFill/>
          <a:ln>
            <a:noFill/>
          </a:ln>
        </p:spPr>
        <p:txBody>
          <a:bodyPr spcFirstLastPara="1" wrap="square" lIns="91425" tIns="91425" rIns="91425" bIns="91425" anchor="b" anchorCtr="0">
            <a:noAutofit/>
          </a:bodyPr>
          <a:lstStyle>
            <a:lvl1pPr lvl="0" algn="r">
              <a:lnSpc>
                <a:spcPct val="100000"/>
              </a:lnSpc>
              <a:spcBef>
                <a:spcPts val="0"/>
              </a:spcBef>
              <a:spcAft>
                <a:spcPts val="0"/>
              </a:spcAft>
              <a:buSzPts val="1400"/>
              <a:buNone/>
              <a:defRPr sz="1867" b="0">
                <a:solidFill>
                  <a:srgbClr val="EE0033"/>
                </a:solidFill>
                <a:latin typeface="FS PF BeauSans Pro" panose="02000500000000020004" pitchFamily="50" charset="0"/>
                <a:ea typeface="FS PF BeauSans Pro" panose="02000500000000020004" pitchFamily="50" charset="0"/>
                <a:cs typeface="Arial"/>
                <a:sym typeface="Arial"/>
              </a:defRPr>
            </a:lvl1pPr>
            <a:lvl2pPr lvl="1" algn="r">
              <a:lnSpc>
                <a:spcPct val="100000"/>
              </a:lnSpc>
              <a:spcBef>
                <a:spcPts val="0"/>
              </a:spcBef>
              <a:spcAft>
                <a:spcPts val="0"/>
              </a:spcAft>
              <a:buSzPts val="1400"/>
              <a:buNone/>
              <a:defRPr sz="1867"/>
            </a:lvl2pPr>
            <a:lvl3pPr lvl="2" algn="r">
              <a:lnSpc>
                <a:spcPct val="100000"/>
              </a:lnSpc>
              <a:spcBef>
                <a:spcPts val="0"/>
              </a:spcBef>
              <a:spcAft>
                <a:spcPts val="0"/>
              </a:spcAft>
              <a:buSzPts val="1400"/>
              <a:buNone/>
              <a:defRPr sz="1867"/>
            </a:lvl3pPr>
            <a:lvl4pPr lvl="3" algn="r">
              <a:lnSpc>
                <a:spcPct val="100000"/>
              </a:lnSpc>
              <a:spcBef>
                <a:spcPts val="0"/>
              </a:spcBef>
              <a:spcAft>
                <a:spcPts val="0"/>
              </a:spcAft>
              <a:buSzPts val="1400"/>
              <a:buNone/>
              <a:defRPr sz="1867"/>
            </a:lvl4pPr>
            <a:lvl5pPr lvl="4" algn="r">
              <a:lnSpc>
                <a:spcPct val="100000"/>
              </a:lnSpc>
              <a:spcBef>
                <a:spcPts val="0"/>
              </a:spcBef>
              <a:spcAft>
                <a:spcPts val="0"/>
              </a:spcAft>
              <a:buSzPts val="1400"/>
              <a:buNone/>
              <a:defRPr sz="1867"/>
            </a:lvl5pPr>
            <a:lvl6pPr lvl="5" algn="r">
              <a:lnSpc>
                <a:spcPct val="100000"/>
              </a:lnSpc>
              <a:spcBef>
                <a:spcPts val="0"/>
              </a:spcBef>
              <a:spcAft>
                <a:spcPts val="0"/>
              </a:spcAft>
              <a:buSzPts val="1400"/>
              <a:buNone/>
              <a:defRPr sz="1867"/>
            </a:lvl6pPr>
            <a:lvl7pPr lvl="6" algn="r">
              <a:lnSpc>
                <a:spcPct val="100000"/>
              </a:lnSpc>
              <a:spcBef>
                <a:spcPts val="0"/>
              </a:spcBef>
              <a:spcAft>
                <a:spcPts val="0"/>
              </a:spcAft>
              <a:buSzPts val="1400"/>
              <a:buNone/>
              <a:defRPr sz="1867"/>
            </a:lvl7pPr>
            <a:lvl8pPr lvl="7" algn="r">
              <a:lnSpc>
                <a:spcPct val="100000"/>
              </a:lnSpc>
              <a:spcBef>
                <a:spcPts val="0"/>
              </a:spcBef>
              <a:spcAft>
                <a:spcPts val="0"/>
              </a:spcAft>
              <a:buSzPts val="1400"/>
              <a:buNone/>
              <a:defRPr sz="1867"/>
            </a:lvl8pPr>
            <a:lvl9pPr lvl="8" algn="r">
              <a:lnSpc>
                <a:spcPct val="100000"/>
              </a:lnSpc>
              <a:spcBef>
                <a:spcPts val="0"/>
              </a:spcBef>
              <a:spcAft>
                <a:spcPts val="0"/>
              </a:spcAft>
              <a:buSzPts val="1400"/>
              <a:buNone/>
              <a:defRPr sz="1867"/>
            </a:lvl9pPr>
          </a:lstStyle>
          <a:p>
            <a:endParaRPr dirty="0"/>
          </a:p>
        </p:txBody>
      </p:sp>
      <p:sp>
        <p:nvSpPr>
          <p:cNvPr id="25" name="Google Shape;25;p34"/>
          <p:cNvSpPr txBox="1">
            <a:spLocks noGrp="1"/>
          </p:cNvSpPr>
          <p:nvPr>
            <p:ph type="subTitle" idx="1"/>
          </p:nvPr>
        </p:nvSpPr>
        <p:spPr>
          <a:xfrm>
            <a:off x="920595" y="773704"/>
            <a:ext cx="2232400" cy="763200"/>
          </a:xfrm>
          <a:prstGeom prst="rect">
            <a:avLst/>
          </a:prstGeom>
          <a:noFill/>
          <a:ln>
            <a:noFill/>
          </a:ln>
        </p:spPr>
        <p:txBody>
          <a:bodyPr spcFirstLastPara="1" wrap="square" lIns="91425" tIns="91425" rIns="91425" bIns="91425" anchor="t" anchorCtr="0">
            <a:noAutofit/>
          </a:bodyPr>
          <a:lstStyle>
            <a:lvl1pPr lvl="0" algn="r">
              <a:lnSpc>
                <a:spcPct val="100000"/>
              </a:lnSpc>
              <a:spcBef>
                <a:spcPts val="0"/>
              </a:spcBef>
              <a:spcAft>
                <a:spcPts val="0"/>
              </a:spcAft>
              <a:buSzPts val="900"/>
              <a:buNone/>
              <a:defRPr>
                <a:latin typeface="FS PF BeauSans Pro" panose="02000500000000020004" pitchFamily="50" charset="0"/>
                <a:ea typeface="FS PF BeauSans Pro" panose="02000500000000020004" pitchFamily="50" charset="0"/>
                <a:cs typeface="Arial"/>
                <a:sym typeface="Arial"/>
              </a:defRPr>
            </a:lvl1pPr>
            <a:lvl2pPr lvl="1" algn="r">
              <a:lnSpc>
                <a:spcPct val="100000"/>
              </a:lnSpc>
              <a:spcBef>
                <a:spcPts val="0"/>
              </a:spcBef>
              <a:spcAft>
                <a:spcPts val="0"/>
              </a:spcAft>
              <a:buSzPts val="900"/>
              <a:buNone/>
              <a:defRPr sz="1200"/>
            </a:lvl2pPr>
            <a:lvl3pPr lvl="2" algn="r">
              <a:lnSpc>
                <a:spcPct val="100000"/>
              </a:lnSpc>
              <a:spcBef>
                <a:spcPts val="0"/>
              </a:spcBef>
              <a:spcAft>
                <a:spcPts val="0"/>
              </a:spcAft>
              <a:buSzPts val="900"/>
              <a:buNone/>
              <a:defRPr sz="1200"/>
            </a:lvl3pPr>
            <a:lvl4pPr lvl="3" algn="r">
              <a:lnSpc>
                <a:spcPct val="100000"/>
              </a:lnSpc>
              <a:spcBef>
                <a:spcPts val="0"/>
              </a:spcBef>
              <a:spcAft>
                <a:spcPts val="0"/>
              </a:spcAft>
              <a:buSzPts val="900"/>
              <a:buNone/>
              <a:defRPr sz="1200"/>
            </a:lvl4pPr>
            <a:lvl5pPr lvl="4" algn="r">
              <a:lnSpc>
                <a:spcPct val="100000"/>
              </a:lnSpc>
              <a:spcBef>
                <a:spcPts val="0"/>
              </a:spcBef>
              <a:spcAft>
                <a:spcPts val="0"/>
              </a:spcAft>
              <a:buSzPts val="900"/>
              <a:buNone/>
              <a:defRPr sz="1200"/>
            </a:lvl5pPr>
            <a:lvl6pPr lvl="5" algn="r">
              <a:lnSpc>
                <a:spcPct val="100000"/>
              </a:lnSpc>
              <a:spcBef>
                <a:spcPts val="0"/>
              </a:spcBef>
              <a:spcAft>
                <a:spcPts val="0"/>
              </a:spcAft>
              <a:buSzPts val="900"/>
              <a:buNone/>
              <a:defRPr sz="1200"/>
            </a:lvl6pPr>
            <a:lvl7pPr lvl="6" algn="r">
              <a:lnSpc>
                <a:spcPct val="100000"/>
              </a:lnSpc>
              <a:spcBef>
                <a:spcPts val="0"/>
              </a:spcBef>
              <a:spcAft>
                <a:spcPts val="0"/>
              </a:spcAft>
              <a:buSzPts val="900"/>
              <a:buNone/>
              <a:defRPr sz="1200"/>
            </a:lvl7pPr>
            <a:lvl8pPr lvl="7" algn="r">
              <a:lnSpc>
                <a:spcPct val="100000"/>
              </a:lnSpc>
              <a:spcBef>
                <a:spcPts val="0"/>
              </a:spcBef>
              <a:spcAft>
                <a:spcPts val="0"/>
              </a:spcAft>
              <a:buSzPts val="900"/>
              <a:buNone/>
              <a:defRPr sz="1200"/>
            </a:lvl8pPr>
            <a:lvl9pPr lvl="8" algn="r">
              <a:lnSpc>
                <a:spcPct val="100000"/>
              </a:lnSpc>
              <a:spcBef>
                <a:spcPts val="0"/>
              </a:spcBef>
              <a:spcAft>
                <a:spcPts val="0"/>
              </a:spcAft>
              <a:buSzPts val="900"/>
              <a:buNone/>
              <a:defRPr sz="1200"/>
            </a:lvl9pPr>
          </a:lstStyle>
          <a:p>
            <a:endParaRPr dirty="0"/>
          </a:p>
        </p:txBody>
      </p:sp>
      <p:sp>
        <p:nvSpPr>
          <p:cNvPr id="26" name="Google Shape;26;p34"/>
          <p:cNvSpPr txBox="1">
            <a:spLocks noGrp="1"/>
          </p:cNvSpPr>
          <p:nvPr>
            <p:ph type="title" idx="3"/>
          </p:nvPr>
        </p:nvSpPr>
        <p:spPr>
          <a:xfrm>
            <a:off x="2824597" y="725931"/>
            <a:ext cx="1476800" cy="770400"/>
          </a:xfrm>
          <a:prstGeom prst="rect">
            <a:avLst/>
          </a:prstGeom>
          <a:noFill/>
          <a:ln>
            <a:noFill/>
          </a:ln>
        </p:spPr>
        <p:txBody>
          <a:bodyPr spcFirstLastPara="1" wrap="square" lIns="91425" tIns="91425" rIns="91425" bIns="91425" anchor="ctr" anchorCtr="0">
            <a:noAutofit/>
          </a:bodyPr>
          <a:lstStyle>
            <a:lvl1pPr lvl="0" algn="r">
              <a:lnSpc>
                <a:spcPct val="100000"/>
              </a:lnSpc>
              <a:spcBef>
                <a:spcPts val="0"/>
              </a:spcBef>
              <a:spcAft>
                <a:spcPts val="0"/>
              </a:spcAft>
              <a:buSzPts val="4800"/>
              <a:buNone/>
              <a:defRPr sz="4800">
                <a:solidFill>
                  <a:srgbClr val="EE0033"/>
                </a:solidFill>
                <a:latin typeface="FS PF BeauSans Pro" panose="02000500000000020004" pitchFamily="50" charset="0"/>
                <a:ea typeface="FS PF BeauSans Pro" panose="02000500000000020004" pitchFamily="50" charset="0"/>
                <a:cs typeface="Arial"/>
                <a:sym typeface="Arial"/>
              </a:defRPr>
            </a:lvl1pPr>
            <a:lvl2pPr lvl="1" algn="r">
              <a:lnSpc>
                <a:spcPct val="100000"/>
              </a:lnSpc>
              <a:spcBef>
                <a:spcPts val="0"/>
              </a:spcBef>
              <a:spcAft>
                <a:spcPts val="0"/>
              </a:spcAft>
              <a:buSzPts val="4800"/>
              <a:buFont typeface="Fira Sans Extra Condensed Medium"/>
              <a:buNone/>
              <a:defRPr sz="6400">
                <a:latin typeface="Fira Sans Extra Condensed Medium"/>
                <a:ea typeface="Fira Sans Extra Condensed Medium"/>
                <a:cs typeface="Fira Sans Extra Condensed Medium"/>
                <a:sym typeface="Fira Sans Extra Condensed Medium"/>
              </a:defRPr>
            </a:lvl2pPr>
            <a:lvl3pPr lvl="2" algn="r">
              <a:lnSpc>
                <a:spcPct val="100000"/>
              </a:lnSpc>
              <a:spcBef>
                <a:spcPts val="0"/>
              </a:spcBef>
              <a:spcAft>
                <a:spcPts val="0"/>
              </a:spcAft>
              <a:buSzPts val="4800"/>
              <a:buFont typeface="Fira Sans Extra Condensed Medium"/>
              <a:buNone/>
              <a:defRPr sz="6400">
                <a:latin typeface="Fira Sans Extra Condensed Medium"/>
                <a:ea typeface="Fira Sans Extra Condensed Medium"/>
                <a:cs typeface="Fira Sans Extra Condensed Medium"/>
                <a:sym typeface="Fira Sans Extra Condensed Medium"/>
              </a:defRPr>
            </a:lvl3pPr>
            <a:lvl4pPr lvl="3" algn="r">
              <a:lnSpc>
                <a:spcPct val="100000"/>
              </a:lnSpc>
              <a:spcBef>
                <a:spcPts val="0"/>
              </a:spcBef>
              <a:spcAft>
                <a:spcPts val="0"/>
              </a:spcAft>
              <a:buSzPts val="4800"/>
              <a:buFont typeface="Fira Sans Extra Condensed Medium"/>
              <a:buNone/>
              <a:defRPr sz="6400">
                <a:latin typeface="Fira Sans Extra Condensed Medium"/>
                <a:ea typeface="Fira Sans Extra Condensed Medium"/>
                <a:cs typeface="Fira Sans Extra Condensed Medium"/>
                <a:sym typeface="Fira Sans Extra Condensed Medium"/>
              </a:defRPr>
            </a:lvl4pPr>
            <a:lvl5pPr lvl="4" algn="r">
              <a:lnSpc>
                <a:spcPct val="100000"/>
              </a:lnSpc>
              <a:spcBef>
                <a:spcPts val="0"/>
              </a:spcBef>
              <a:spcAft>
                <a:spcPts val="0"/>
              </a:spcAft>
              <a:buSzPts val="4800"/>
              <a:buFont typeface="Fira Sans Extra Condensed Medium"/>
              <a:buNone/>
              <a:defRPr sz="6400">
                <a:latin typeface="Fira Sans Extra Condensed Medium"/>
                <a:ea typeface="Fira Sans Extra Condensed Medium"/>
                <a:cs typeface="Fira Sans Extra Condensed Medium"/>
                <a:sym typeface="Fira Sans Extra Condensed Medium"/>
              </a:defRPr>
            </a:lvl5pPr>
            <a:lvl6pPr lvl="5" algn="r">
              <a:lnSpc>
                <a:spcPct val="100000"/>
              </a:lnSpc>
              <a:spcBef>
                <a:spcPts val="0"/>
              </a:spcBef>
              <a:spcAft>
                <a:spcPts val="0"/>
              </a:spcAft>
              <a:buSzPts val="4800"/>
              <a:buFont typeface="Fira Sans Extra Condensed Medium"/>
              <a:buNone/>
              <a:defRPr sz="6400">
                <a:latin typeface="Fira Sans Extra Condensed Medium"/>
                <a:ea typeface="Fira Sans Extra Condensed Medium"/>
                <a:cs typeface="Fira Sans Extra Condensed Medium"/>
                <a:sym typeface="Fira Sans Extra Condensed Medium"/>
              </a:defRPr>
            </a:lvl6pPr>
            <a:lvl7pPr lvl="6" algn="r">
              <a:lnSpc>
                <a:spcPct val="100000"/>
              </a:lnSpc>
              <a:spcBef>
                <a:spcPts val="0"/>
              </a:spcBef>
              <a:spcAft>
                <a:spcPts val="0"/>
              </a:spcAft>
              <a:buSzPts val="4800"/>
              <a:buFont typeface="Fira Sans Extra Condensed Medium"/>
              <a:buNone/>
              <a:defRPr sz="6400">
                <a:latin typeface="Fira Sans Extra Condensed Medium"/>
                <a:ea typeface="Fira Sans Extra Condensed Medium"/>
                <a:cs typeface="Fira Sans Extra Condensed Medium"/>
                <a:sym typeface="Fira Sans Extra Condensed Medium"/>
              </a:defRPr>
            </a:lvl7pPr>
            <a:lvl8pPr lvl="7" algn="r">
              <a:lnSpc>
                <a:spcPct val="100000"/>
              </a:lnSpc>
              <a:spcBef>
                <a:spcPts val="0"/>
              </a:spcBef>
              <a:spcAft>
                <a:spcPts val="0"/>
              </a:spcAft>
              <a:buSzPts val="4800"/>
              <a:buFont typeface="Fira Sans Extra Condensed Medium"/>
              <a:buNone/>
              <a:defRPr sz="6400">
                <a:latin typeface="Fira Sans Extra Condensed Medium"/>
                <a:ea typeface="Fira Sans Extra Condensed Medium"/>
                <a:cs typeface="Fira Sans Extra Condensed Medium"/>
                <a:sym typeface="Fira Sans Extra Condensed Medium"/>
              </a:defRPr>
            </a:lvl8pPr>
            <a:lvl9pPr lvl="8" algn="r">
              <a:lnSpc>
                <a:spcPct val="100000"/>
              </a:lnSpc>
              <a:spcBef>
                <a:spcPts val="0"/>
              </a:spcBef>
              <a:spcAft>
                <a:spcPts val="0"/>
              </a:spcAft>
              <a:buSzPts val="4800"/>
              <a:buFont typeface="Fira Sans Extra Condensed Medium"/>
              <a:buNone/>
              <a:defRPr sz="6400">
                <a:latin typeface="Fira Sans Extra Condensed Medium"/>
                <a:ea typeface="Fira Sans Extra Condensed Medium"/>
                <a:cs typeface="Fira Sans Extra Condensed Medium"/>
                <a:sym typeface="Fira Sans Extra Condensed Medium"/>
              </a:defRPr>
            </a:lvl9pPr>
          </a:lstStyle>
          <a:p>
            <a:endParaRPr dirty="0"/>
          </a:p>
        </p:txBody>
      </p:sp>
      <p:sp>
        <p:nvSpPr>
          <p:cNvPr id="27" name="Google Shape;27;p34"/>
          <p:cNvSpPr txBox="1">
            <a:spLocks noGrp="1"/>
          </p:cNvSpPr>
          <p:nvPr>
            <p:ph type="title" idx="4"/>
          </p:nvPr>
        </p:nvSpPr>
        <p:spPr>
          <a:xfrm>
            <a:off x="2807208" y="2021077"/>
            <a:ext cx="1476800" cy="770400"/>
          </a:xfrm>
          <a:prstGeom prst="rect">
            <a:avLst/>
          </a:prstGeom>
          <a:noFill/>
          <a:ln>
            <a:noFill/>
          </a:ln>
        </p:spPr>
        <p:txBody>
          <a:bodyPr spcFirstLastPara="1" wrap="square" lIns="91425" tIns="91425" rIns="91425" bIns="91425" anchor="ctr" anchorCtr="0">
            <a:noAutofit/>
          </a:bodyPr>
          <a:lstStyle>
            <a:lvl1pPr lvl="0" algn="r">
              <a:lnSpc>
                <a:spcPct val="100000"/>
              </a:lnSpc>
              <a:spcBef>
                <a:spcPts val="0"/>
              </a:spcBef>
              <a:spcAft>
                <a:spcPts val="0"/>
              </a:spcAft>
              <a:buSzPts val="4800"/>
              <a:buNone/>
              <a:defRPr sz="4800">
                <a:solidFill>
                  <a:srgbClr val="EE0033"/>
                </a:solidFill>
                <a:latin typeface="FS PF BeauSans Pro" panose="02000500000000020004" pitchFamily="50" charset="0"/>
                <a:ea typeface="FS PF BeauSans Pro" panose="02000500000000020004" pitchFamily="50" charset="0"/>
                <a:cs typeface="Arial"/>
                <a:sym typeface="Arial"/>
              </a:defRPr>
            </a:lvl1pPr>
            <a:lvl2pPr lvl="1" algn="ctr">
              <a:lnSpc>
                <a:spcPct val="100000"/>
              </a:lnSpc>
              <a:spcBef>
                <a:spcPts val="0"/>
              </a:spcBef>
              <a:spcAft>
                <a:spcPts val="0"/>
              </a:spcAft>
              <a:buSzPts val="4800"/>
              <a:buFont typeface="Fira Sans Extra Condensed Medium"/>
              <a:buNone/>
              <a:defRPr sz="6400">
                <a:latin typeface="Fira Sans Extra Condensed Medium"/>
                <a:ea typeface="Fira Sans Extra Condensed Medium"/>
                <a:cs typeface="Fira Sans Extra Condensed Medium"/>
                <a:sym typeface="Fira Sans Extra Condensed Medium"/>
              </a:defRPr>
            </a:lvl2pPr>
            <a:lvl3pPr lvl="2" algn="ctr">
              <a:lnSpc>
                <a:spcPct val="100000"/>
              </a:lnSpc>
              <a:spcBef>
                <a:spcPts val="0"/>
              </a:spcBef>
              <a:spcAft>
                <a:spcPts val="0"/>
              </a:spcAft>
              <a:buSzPts val="4800"/>
              <a:buFont typeface="Fira Sans Extra Condensed Medium"/>
              <a:buNone/>
              <a:defRPr sz="6400">
                <a:latin typeface="Fira Sans Extra Condensed Medium"/>
                <a:ea typeface="Fira Sans Extra Condensed Medium"/>
                <a:cs typeface="Fira Sans Extra Condensed Medium"/>
                <a:sym typeface="Fira Sans Extra Condensed Medium"/>
              </a:defRPr>
            </a:lvl3pPr>
            <a:lvl4pPr lvl="3" algn="ctr">
              <a:lnSpc>
                <a:spcPct val="100000"/>
              </a:lnSpc>
              <a:spcBef>
                <a:spcPts val="0"/>
              </a:spcBef>
              <a:spcAft>
                <a:spcPts val="0"/>
              </a:spcAft>
              <a:buSzPts val="4800"/>
              <a:buFont typeface="Fira Sans Extra Condensed Medium"/>
              <a:buNone/>
              <a:defRPr sz="6400">
                <a:latin typeface="Fira Sans Extra Condensed Medium"/>
                <a:ea typeface="Fira Sans Extra Condensed Medium"/>
                <a:cs typeface="Fira Sans Extra Condensed Medium"/>
                <a:sym typeface="Fira Sans Extra Condensed Medium"/>
              </a:defRPr>
            </a:lvl4pPr>
            <a:lvl5pPr lvl="4" algn="ctr">
              <a:lnSpc>
                <a:spcPct val="100000"/>
              </a:lnSpc>
              <a:spcBef>
                <a:spcPts val="0"/>
              </a:spcBef>
              <a:spcAft>
                <a:spcPts val="0"/>
              </a:spcAft>
              <a:buSzPts val="4800"/>
              <a:buFont typeface="Fira Sans Extra Condensed Medium"/>
              <a:buNone/>
              <a:defRPr sz="6400">
                <a:latin typeface="Fira Sans Extra Condensed Medium"/>
                <a:ea typeface="Fira Sans Extra Condensed Medium"/>
                <a:cs typeface="Fira Sans Extra Condensed Medium"/>
                <a:sym typeface="Fira Sans Extra Condensed Medium"/>
              </a:defRPr>
            </a:lvl5pPr>
            <a:lvl6pPr lvl="5" algn="ctr">
              <a:lnSpc>
                <a:spcPct val="100000"/>
              </a:lnSpc>
              <a:spcBef>
                <a:spcPts val="0"/>
              </a:spcBef>
              <a:spcAft>
                <a:spcPts val="0"/>
              </a:spcAft>
              <a:buSzPts val="4800"/>
              <a:buFont typeface="Fira Sans Extra Condensed Medium"/>
              <a:buNone/>
              <a:defRPr sz="6400">
                <a:latin typeface="Fira Sans Extra Condensed Medium"/>
                <a:ea typeface="Fira Sans Extra Condensed Medium"/>
                <a:cs typeface="Fira Sans Extra Condensed Medium"/>
                <a:sym typeface="Fira Sans Extra Condensed Medium"/>
              </a:defRPr>
            </a:lvl6pPr>
            <a:lvl7pPr lvl="6" algn="ctr">
              <a:lnSpc>
                <a:spcPct val="100000"/>
              </a:lnSpc>
              <a:spcBef>
                <a:spcPts val="0"/>
              </a:spcBef>
              <a:spcAft>
                <a:spcPts val="0"/>
              </a:spcAft>
              <a:buSzPts val="4800"/>
              <a:buFont typeface="Fira Sans Extra Condensed Medium"/>
              <a:buNone/>
              <a:defRPr sz="6400">
                <a:latin typeface="Fira Sans Extra Condensed Medium"/>
                <a:ea typeface="Fira Sans Extra Condensed Medium"/>
                <a:cs typeface="Fira Sans Extra Condensed Medium"/>
                <a:sym typeface="Fira Sans Extra Condensed Medium"/>
              </a:defRPr>
            </a:lvl7pPr>
            <a:lvl8pPr lvl="7" algn="ctr">
              <a:lnSpc>
                <a:spcPct val="100000"/>
              </a:lnSpc>
              <a:spcBef>
                <a:spcPts val="0"/>
              </a:spcBef>
              <a:spcAft>
                <a:spcPts val="0"/>
              </a:spcAft>
              <a:buSzPts val="4800"/>
              <a:buFont typeface="Fira Sans Extra Condensed Medium"/>
              <a:buNone/>
              <a:defRPr sz="6400">
                <a:latin typeface="Fira Sans Extra Condensed Medium"/>
                <a:ea typeface="Fira Sans Extra Condensed Medium"/>
                <a:cs typeface="Fira Sans Extra Condensed Medium"/>
                <a:sym typeface="Fira Sans Extra Condensed Medium"/>
              </a:defRPr>
            </a:lvl8pPr>
            <a:lvl9pPr lvl="8" algn="ctr">
              <a:lnSpc>
                <a:spcPct val="100000"/>
              </a:lnSpc>
              <a:spcBef>
                <a:spcPts val="0"/>
              </a:spcBef>
              <a:spcAft>
                <a:spcPts val="0"/>
              </a:spcAft>
              <a:buSzPts val="4800"/>
              <a:buFont typeface="Fira Sans Extra Condensed Medium"/>
              <a:buNone/>
              <a:defRPr sz="6400">
                <a:latin typeface="Fira Sans Extra Condensed Medium"/>
                <a:ea typeface="Fira Sans Extra Condensed Medium"/>
                <a:cs typeface="Fira Sans Extra Condensed Medium"/>
                <a:sym typeface="Fira Sans Extra Condensed Medium"/>
              </a:defRPr>
            </a:lvl9pPr>
          </a:lstStyle>
          <a:p>
            <a:endParaRPr dirty="0"/>
          </a:p>
        </p:txBody>
      </p:sp>
      <p:sp>
        <p:nvSpPr>
          <p:cNvPr id="28" name="Google Shape;28;p34"/>
          <p:cNvSpPr txBox="1">
            <a:spLocks noGrp="1"/>
          </p:cNvSpPr>
          <p:nvPr>
            <p:ph type="title" idx="5"/>
          </p:nvPr>
        </p:nvSpPr>
        <p:spPr>
          <a:xfrm>
            <a:off x="2807208" y="3316224"/>
            <a:ext cx="1476800" cy="770400"/>
          </a:xfrm>
          <a:prstGeom prst="rect">
            <a:avLst/>
          </a:prstGeom>
          <a:noFill/>
          <a:ln>
            <a:noFill/>
          </a:ln>
        </p:spPr>
        <p:txBody>
          <a:bodyPr spcFirstLastPara="1" wrap="square" lIns="91425" tIns="91425" rIns="91425" bIns="91425" anchor="ctr" anchorCtr="0">
            <a:noAutofit/>
          </a:bodyPr>
          <a:lstStyle>
            <a:lvl1pPr lvl="0" algn="r">
              <a:lnSpc>
                <a:spcPct val="100000"/>
              </a:lnSpc>
              <a:spcBef>
                <a:spcPts val="0"/>
              </a:spcBef>
              <a:spcAft>
                <a:spcPts val="0"/>
              </a:spcAft>
              <a:buSzPts val="4800"/>
              <a:buNone/>
              <a:defRPr sz="4800">
                <a:solidFill>
                  <a:srgbClr val="EE0033"/>
                </a:solidFill>
                <a:latin typeface="FS PF BeauSans Pro" panose="02000500000000020004" pitchFamily="50" charset="0"/>
                <a:ea typeface="FS PF BeauSans Pro" panose="02000500000000020004" pitchFamily="50" charset="0"/>
                <a:cs typeface="Arial"/>
                <a:sym typeface="Arial"/>
              </a:defRPr>
            </a:lvl1pPr>
            <a:lvl2pPr lvl="1" algn="l">
              <a:lnSpc>
                <a:spcPct val="100000"/>
              </a:lnSpc>
              <a:spcBef>
                <a:spcPts val="0"/>
              </a:spcBef>
              <a:spcAft>
                <a:spcPts val="0"/>
              </a:spcAft>
              <a:buSzPts val="4800"/>
              <a:buFont typeface="Fira Sans Extra Condensed Medium"/>
              <a:buNone/>
              <a:defRPr sz="6400">
                <a:latin typeface="Fira Sans Extra Condensed Medium"/>
                <a:ea typeface="Fira Sans Extra Condensed Medium"/>
                <a:cs typeface="Fira Sans Extra Condensed Medium"/>
                <a:sym typeface="Fira Sans Extra Condensed Medium"/>
              </a:defRPr>
            </a:lvl2pPr>
            <a:lvl3pPr lvl="2" algn="l">
              <a:lnSpc>
                <a:spcPct val="100000"/>
              </a:lnSpc>
              <a:spcBef>
                <a:spcPts val="0"/>
              </a:spcBef>
              <a:spcAft>
                <a:spcPts val="0"/>
              </a:spcAft>
              <a:buSzPts val="4800"/>
              <a:buFont typeface="Fira Sans Extra Condensed Medium"/>
              <a:buNone/>
              <a:defRPr sz="6400">
                <a:latin typeface="Fira Sans Extra Condensed Medium"/>
                <a:ea typeface="Fira Sans Extra Condensed Medium"/>
                <a:cs typeface="Fira Sans Extra Condensed Medium"/>
                <a:sym typeface="Fira Sans Extra Condensed Medium"/>
              </a:defRPr>
            </a:lvl3pPr>
            <a:lvl4pPr lvl="3" algn="l">
              <a:lnSpc>
                <a:spcPct val="100000"/>
              </a:lnSpc>
              <a:spcBef>
                <a:spcPts val="0"/>
              </a:spcBef>
              <a:spcAft>
                <a:spcPts val="0"/>
              </a:spcAft>
              <a:buSzPts val="4800"/>
              <a:buFont typeface="Fira Sans Extra Condensed Medium"/>
              <a:buNone/>
              <a:defRPr sz="6400">
                <a:latin typeface="Fira Sans Extra Condensed Medium"/>
                <a:ea typeface="Fira Sans Extra Condensed Medium"/>
                <a:cs typeface="Fira Sans Extra Condensed Medium"/>
                <a:sym typeface="Fira Sans Extra Condensed Medium"/>
              </a:defRPr>
            </a:lvl4pPr>
            <a:lvl5pPr lvl="4" algn="l">
              <a:lnSpc>
                <a:spcPct val="100000"/>
              </a:lnSpc>
              <a:spcBef>
                <a:spcPts val="0"/>
              </a:spcBef>
              <a:spcAft>
                <a:spcPts val="0"/>
              </a:spcAft>
              <a:buSzPts val="4800"/>
              <a:buFont typeface="Fira Sans Extra Condensed Medium"/>
              <a:buNone/>
              <a:defRPr sz="6400">
                <a:latin typeface="Fira Sans Extra Condensed Medium"/>
                <a:ea typeface="Fira Sans Extra Condensed Medium"/>
                <a:cs typeface="Fira Sans Extra Condensed Medium"/>
                <a:sym typeface="Fira Sans Extra Condensed Medium"/>
              </a:defRPr>
            </a:lvl5pPr>
            <a:lvl6pPr lvl="5" algn="l">
              <a:lnSpc>
                <a:spcPct val="100000"/>
              </a:lnSpc>
              <a:spcBef>
                <a:spcPts val="0"/>
              </a:spcBef>
              <a:spcAft>
                <a:spcPts val="0"/>
              </a:spcAft>
              <a:buSzPts val="4800"/>
              <a:buFont typeface="Fira Sans Extra Condensed Medium"/>
              <a:buNone/>
              <a:defRPr sz="6400">
                <a:latin typeface="Fira Sans Extra Condensed Medium"/>
                <a:ea typeface="Fira Sans Extra Condensed Medium"/>
                <a:cs typeface="Fira Sans Extra Condensed Medium"/>
                <a:sym typeface="Fira Sans Extra Condensed Medium"/>
              </a:defRPr>
            </a:lvl6pPr>
            <a:lvl7pPr lvl="6" algn="l">
              <a:lnSpc>
                <a:spcPct val="100000"/>
              </a:lnSpc>
              <a:spcBef>
                <a:spcPts val="0"/>
              </a:spcBef>
              <a:spcAft>
                <a:spcPts val="0"/>
              </a:spcAft>
              <a:buSzPts val="4800"/>
              <a:buFont typeface="Fira Sans Extra Condensed Medium"/>
              <a:buNone/>
              <a:defRPr sz="6400">
                <a:latin typeface="Fira Sans Extra Condensed Medium"/>
                <a:ea typeface="Fira Sans Extra Condensed Medium"/>
                <a:cs typeface="Fira Sans Extra Condensed Medium"/>
                <a:sym typeface="Fira Sans Extra Condensed Medium"/>
              </a:defRPr>
            </a:lvl7pPr>
            <a:lvl8pPr lvl="7" algn="l">
              <a:lnSpc>
                <a:spcPct val="100000"/>
              </a:lnSpc>
              <a:spcBef>
                <a:spcPts val="0"/>
              </a:spcBef>
              <a:spcAft>
                <a:spcPts val="0"/>
              </a:spcAft>
              <a:buSzPts val="4800"/>
              <a:buFont typeface="Fira Sans Extra Condensed Medium"/>
              <a:buNone/>
              <a:defRPr sz="6400">
                <a:latin typeface="Fira Sans Extra Condensed Medium"/>
                <a:ea typeface="Fira Sans Extra Condensed Medium"/>
                <a:cs typeface="Fira Sans Extra Condensed Medium"/>
                <a:sym typeface="Fira Sans Extra Condensed Medium"/>
              </a:defRPr>
            </a:lvl8pPr>
            <a:lvl9pPr lvl="8" algn="l">
              <a:lnSpc>
                <a:spcPct val="100000"/>
              </a:lnSpc>
              <a:spcBef>
                <a:spcPts val="0"/>
              </a:spcBef>
              <a:spcAft>
                <a:spcPts val="0"/>
              </a:spcAft>
              <a:buSzPts val="4800"/>
              <a:buFont typeface="Fira Sans Extra Condensed Medium"/>
              <a:buNone/>
              <a:defRPr sz="6400">
                <a:latin typeface="Fira Sans Extra Condensed Medium"/>
                <a:ea typeface="Fira Sans Extra Condensed Medium"/>
                <a:cs typeface="Fira Sans Extra Condensed Medium"/>
                <a:sym typeface="Fira Sans Extra Condensed Medium"/>
              </a:defRPr>
            </a:lvl9pPr>
          </a:lstStyle>
          <a:p>
            <a:endParaRPr dirty="0"/>
          </a:p>
        </p:txBody>
      </p:sp>
      <p:sp>
        <p:nvSpPr>
          <p:cNvPr id="29" name="Google Shape;29;p34"/>
          <p:cNvSpPr txBox="1">
            <a:spLocks noGrp="1"/>
          </p:cNvSpPr>
          <p:nvPr>
            <p:ph type="title" idx="6"/>
          </p:nvPr>
        </p:nvSpPr>
        <p:spPr>
          <a:xfrm>
            <a:off x="7896011" y="2790184"/>
            <a:ext cx="1429600" cy="770400"/>
          </a:xfrm>
          <a:prstGeom prst="rect">
            <a:avLst/>
          </a:prstGeom>
          <a:noFill/>
          <a:ln>
            <a:noFill/>
          </a:ln>
        </p:spPr>
        <p:txBody>
          <a:bodyPr spcFirstLastPara="1" wrap="square" lIns="91425" tIns="91425" rIns="91425" bIns="91425" anchor="ctr" anchorCtr="0">
            <a:noAutofit/>
          </a:bodyPr>
          <a:lstStyle>
            <a:lvl1pPr lvl="0" algn="l">
              <a:lnSpc>
                <a:spcPct val="100000"/>
              </a:lnSpc>
              <a:spcBef>
                <a:spcPts val="0"/>
              </a:spcBef>
              <a:spcAft>
                <a:spcPts val="0"/>
              </a:spcAft>
              <a:buSzPts val="4800"/>
              <a:buNone/>
              <a:defRPr sz="4800">
                <a:solidFill>
                  <a:srgbClr val="EE0033"/>
                </a:solidFill>
                <a:latin typeface="FS PF BeauSans Pro" panose="02000500000000020004" pitchFamily="50" charset="0"/>
                <a:ea typeface="FS PF BeauSans Pro" panose="02000500000000020004" pitchFamily="50" charset="0"/>
                <a:cs typeface="Arial"/>
                <a:sym typeface="Arial"/>
              </a:defRPr>
            </a:lvl1pPr>
            <a:lvl2pPr lvl="1" algn="r">
              <a:lnSpc>
                <a:spcPct val="100000"/>
              </a:lnSpc>
              <a:spcBef>
                <a:spcPts val="0"/>
              </a:spcBef>
              <a:spcAft>
                <a:spcPts val="0"/>
              </a:spcAft>
              <a:buSzPts val="4800"/>
              <a:buFont typeface="Fira Sans Extra Condensed Medium"/>
              <a:buNone/>
              <a:defRPr sz="6400">
                <a:latin typeface="Fira Sans Extra Condensed Medium"/>
                <a:ea typeface="Fira Sans Extra Condensed Medium"/>
                <a:cs typeface="Fira Sans Extra Condensed Medium"/>
                <a:sym typeface="Fira Sans Extra Condensed Medium"/>
              </a:defRPr>
            </a:lvl2pPr>
            <a:lvl3pPr lvl="2" algn="r">
              <a:lnSpc>
                <a:spcPct val="100000"/>
              </a:lnSpc>
              <a:spcBef>
                <a:spcPts val="0"/>
              </a:spcBef>
              <a:spcAft>
                <a:spcPts val="0"/>
              </a:spcAft>
              <a:buSzPts val="4800"/>
              <a:buFont typeface="Fira Sans Extra Condensed Medium"/>
              <a:buNone/>
              <a:defRPr sz="6400">
                <a:latin typeface="Fira Sans Extra Condensed Medium"/>
                <a:ea typeface="Fira Sans Extra Condensed Medium"/>
                <a:cs typeface="Fira Sans Extra Condensed Medium"/>
                <a:sym typeface="Fira Sans Extra Condensed Medium"/>
              </a:defRPr>
            </a:lvl3pPr>
            <a:lvl4pPr lvl="3" algn="r">
              <a:lnSpc>
                <a:spcPct val="100000"/>
              </a:lnSpc>
              <a:spcBef>
                <a:spcPts val="0"/>
              </a:spcBef>
              <a:spcAft>
                <a:spcPts val="0"/>
              </a:spcAft>
              <a:buSzPts val="4800"/>
              <a:buFont typeface="Fira Sans Extra Condensed Medium"/>
              <a:buNone/>
              <a:defRPr sz="6400">
                <a:latin typeface="Fira Sans Extra Condensed Medium"/>
                <a:ea typeface="Fira Sans Extra Condensed Medium"/>
                <a:cs typeface="Fira Sans Extra Condensed Medium"/>
                <a:sym typeface="Fira Sans Extra Condensed Medium"/>
              </a:defRPr>
            </a:lvl4pPr>
            <a:lvl5pPr lvl="4" algn="r">
              <a:lnSpc>
                <a:spcPct val="100000"/>
              </a:lnSpc>
              <a:spcBef>
                <a:spcPts val="0"/>
              </a:spcBef>
              <a:spcAft>
                <a:spcPts val="0"/>
              </a:spcAft>
              <a:buSzPts val="4800"/>
              <a:buFont typeface="Fira Sans Extra Condensed Medium"/>
              <a:buNone/>
              <a:defRPr sz="6400">
                <a:latin typeface="Fira Sans Extra Condensed Medium"/>
                <a:ea typeface="Fira Sans Extra Condensed Medium"/>
                <a:cs typeface="Fira Sans Extra Condensed Medium"/>
                <a:sym typeface="Fira Sans Extra Condensed Medium"/>
              </a:defRPr>
            </a:lvl5pPr>
            <a:lvl6pPr lvl="5" algn="r">
              <a:lnSpc>
                <a:spcPct val="100000"/>
              </a:lnSpc>
              <a:spcBef>
                <a:spcPts val="0"/>
              </a:spcBef>
              <a:spcAft>
                <a:spcPts val="0"/>
              </a:spcAft>
              <a:buSzPts val="4800"/>
              <a:buFont typeface="Fira Sans Extra Condensed Medium"/>
              <a:buNone/>
              <a:defRPr sz="6400">
                <a:latin typeface="Fira Sans Extra Condensed Medium"/>
                <a:ea typeface="Fira Sans Extra Condensed Medium"/>
                <a:cs typeface="Fira Sans Extra Condensed Medium"/>
                <a:sym typeface="Fira Sans Extra Condensed Medium"/>
              </a:defRPr>
            </a:lvl6pPr>
            <a:lvl7pPr lvl="6" algn="r">
              <a:lnSpc>
                <a:spcPct val="100000"/>
              </a:lnSpc>
              <a:spcBef>
                <a:spcPts val="0"/>
              </a:spcBef>
              <a:spcAft>
                <a:spcPts val="0"/>
              </a:spcAft>
              <a:buSzPts val="4800"/>
              <a:buFont typeface="Fira Sans Extra Condensed Medium"/>
              <a:buNone/>
              <a:defRPr sz="6400">
                <a:latin typeface="Fira Sans Extra Condensed Medium"/>
                <a:ea typeface="Fira Sans Extra Condensed Medium"/>
                <a:cs typeface="Fira Sans Extra Condensed Medium"/>
                <a:sym typeface="Fira Sans Extra Condensed Medium"/>
              </a:defRPr>
            </a:lvl7pPr>
            <a:lvl8pPr lvl="7" algn="r">
              <a:lnSpc>
                <a:spcPct val="100000"/>
              </a:lnSpc>
              <a:spcBef>
                <a:spcPts val="0"/>
              </a:spcBef>
              <a:spcAft>
                <a:spcPts val="0"/>
              </a:spcAft>
              <a:buSzPts val="4800"/>
              <a:buFont typeface="Fira Sans Extra Condensed Medium"/>
              <a:buNone/>
              <a:defRPr sz="6400">
                <a:latin typeface="Fira Sans Extra Condensed Medium"/>
                <a:ea typeface="Fira Sans Extra Condensed Medium"/>
                <a:cs typeface="Fira Sans Extra Condensed Medium"/>
                <a:sym typeface="Fira Sans Extra Condensed Medium"/>
              </a:defRPr>
            </a:lvl8pPr>
            <a:lvl9pPr lvl="8" algn="r">
              <a:lnSpc>
                <a:spcPct val="100000"/>
              </a:lnSpc>
              <a:spcBef>
                <a:spcPts val="0"/>
              </a:spcBef>
              <a:spcAft>
                <a:spcPts val="0"/>
              </a:spcAft>
              <a:buSzPts val="4800"/>
              <a:buFont typeface="Fira Sans Extra Condensed Medium"/>
              <a:buNone/>
              <a:defRPr sz="6400">
                <a:latin typeface="Fira Sans Extra Condensed Medium"/>
                <a:ea typeface="Fira Sans Extra Condensed Medium"/>
                <a:cs typeface="Fira Sans Extra Condensed Medium"/>
                <a:sym typeface="Fira Sans Extra Condensed Medium"/>
              </a:defRPr>
            </a:lvl9pPr>
          </a:lstStyle>
          <a:p>
            <a:endParaRPr dirty="0"/>
          </a:p>
        </p:txBody>
      </p:sp>
      <p:sp>
        <p:nvSpPr>
          <p:cNvPr id="30" name="Google Shape;30;p34"/>
          <p:cNvSpPr txBox="1">
            <a:spLocks noGrp="1"/>
          </p:cNvSpPr>
          <p:nvPr>
            <p:ph type="title" idx="7"/>
          </p:nvPr>
        </p:nvSpPr>
        <p:spPr>
          <a:xfrm>
            <a:off x="7896011" y="4149781"/>
            <a:ext cx="1429600" cy="770400"/>
          </a:xfrm>
          <a:prstGeom prst="rect">
            <a:avLst/>
          </a:prstGeom>
          <a:noFill/>
          <a:ln>
            <a:noFill/>
          </a:ln>
        </p:spPr>
        <p:txBody>
          <a:bodyPr spcFirstLastPara="1" wrap="square" lIns="91425" tIns="91425" rIns="91425" bIns="91425" anchor="ctr" anchorCtr="0">
            <a:noAutofit/>
          </a:bodyPr>
          <a:lstStyle>
            <a:lvl1pPr lvl="0" algn="l">
              <a:lnSpc>
                <a:spcPct val="100000"/>
              </a:lnSpc>
              <a:spcBef>
                <a:spcPts val="0"/>
              </a:spcBef>
              <a:spcAft>
                <a:spcPts val="0"/>
              </a:spcAft>
              <a:buSzPts val="4800"/>
              <a:buNone/>
              <a:defRPr sz="4800">
                <a:solidFill>
                  <a:srgbClr val="EE0033"/>
                </a:solidFill>
                <a:latin typeface="FS PF BeauSans Pro" panose="02000500000000020004" pitchFamily="50" charset="0"/>
                <a:ea typeface="FS PF BeauSans Pro" panose="02000500000000020004" pitchFamily="50" charset="0"/>
                <a:cs typeface="Arial"/>
                <a:sym typeface="Arial"/>
              </a:defRPr>
            </a:lvl1pPr>
            <a:lvl2pPr lvl="1" algn="ctr">
              <a:lnSpc>
                <a:spcPct val="100000"/>
              </a:lnSpc>
              <a:spcBef>
                <a:spcPts val="0"/>
              </a:spcBef>
              <a:spcAft>
                <a:spcPts val="0"/>
              </a:spcAft>
              <a:buSzPts val="4800"/>
              <a:buFont typeface="Fira Sans Extra Condensed Medium"/>
              <a:buNone/>
              <a:defRPr sz="6400">
                <a:latin typeface="Fira Sans Extra Condensed Medium"/>
                <a:ea typeface="Fira Sans Extra Condensed Medium"/>
                <a:cs typeface="Fira Sans Extra Condensed Medium"/>
                <a:sym typeface="Fira Sans Extra Condensed Medium"/>
              </a:defRPr>
            </a:lvl2pPr>
            <a:lvl3pPr lvl="2" algn="ctr">
              <a:lnSpc>
                <a:spcPct val="100000"/>
              </a:lnSpc>
              <a:spcBef>
                <a:spcPts val="0"/>
              </a:spcBef>
              <a:spcAft>
                <a:spcPts val="0"/>
              </a:spcAft>
              <a:buSzPts val="4800"/>
              <a:buFont typeface="Fira Sans Extra Condensed Medium"/>
              <a:buNone/>
              <a:defRPr sz="6400">
                <a:latin typeface="Fira Sans Extra Condensed Medium"/>
                <a:ea typeface="Fira Sans Extra Condensed Medium"/>
                <a:cs typeface="Fira Sans Extra Condensed Medium"/>
                <a:sym typeface="Fira Sans Extra Condensed Medium"/>
              </a:defRPr>
            </a:lvl3pPr>
            <a:lvl4pPr lvl="3" algn="ctr">
              <a:lnSpc>
                <a:spcPct val="100000"/>
              </a:lnSpc>
              <a:spcBef>
                <a:spcPts val="0"/>
              </a:spcBef>
              <a:spcAft>
                <a:spcPts val="0"/>
              </a:spcAft>
              <a:buSzPts val="4800"/>
              <a:buFont typeface="Fira Sans Extra Condensed Medium"/>
              <a:buNone/>
              <a:defRPr sz="6400">
                <a:latin typeface="Fira Sans Extra Condensed Medium"/>
                <a:ea typeface="Fira Sans Extra Condensed Medium"/>
                <a:cs typeface="Fira Sans Extra Condensed Medium"/>
                <a:sym typeface="Fira Sans Extra Condensed Medium"/>
              </a:defRPr>
            </a:lvl4pPr>
            <a:lvl5pPr lvl="4" algn="ctr">
              <a:lnSpc>
                <a:spcPct val="100000"/>
              </a:lnSpc>
              <a:spcBef>
                <a:spcPts val="0"/>
              </a:spcBef>
              <a:spcAft>
                <a:spcPts val="0"/>
              </a:spcAft>
              <a:buSzPts val="4800"/>
              <a:buFont typeface="Fira Sans Extra Condensed Medium"/>
              <a:buNone/>
              <a:defRPr sz="6400">
                <a:latin typeface="Fira Sans Extra Condensed Medium"/>
                <a:ea typeface="Fira Sans Extra Condensed Medium"/>
                <a:cs typeface="Fira Sans Extra Condensed Medium"/>
                <a:sym typeface="Fira Sans Extra Condensed Medium"/>
              </a:defRPr>
            </a:lvl5pPr>
            <a:lvl6pPr lvl="5" algn="ctr">
              <a:lnSpc>
                <a:spcPct val="100000"/>
              </a:lnSpc>
              <a:spcBef>
                <a:spcPts val="0"/>
              </a:spcBef>
              <a:spcAft>
                <a:spcPts val="0"/>
              </a:spcAft>
              <a:buSzPts val="4800"/>
              <a:buFont typeface="Fira Sans Extra Condensed Medium"/>
              <a:buNone/>
              <a:defRPr sz="6400">
                <a:latin typeface="Fira Sans Extra Condensed Medium"/>
                <a:ea typeface="Fira Sans Extra Condensed Medium"/>
                <a:cs typeface="Fira Sans Extra Condensed Medium"/>
                <a:sym typeface="Fira Sans Extra Condensed Medium"/>
              </a:defRPr>
            </a:lvl6pPr>
            <a:lvl7pPr lvl="6" algn="ctr">
              <a:lnSpc>
                <a:spcPct val="100000"/>
              </a:lnSpc>
              <a:spcBef>
                <a:spcPts val="0"/>
              </a:spcBef>
              <a:spcAft>
                <a:spcPts val="0"/>
              </a:spcAft>
              <a:buSzPts val="4800"/>
              <a:buFont typeface="Fira Sans Extra Condensed Medium"/>
              <a:buNone/>
              <a:defRPr sz="6400">
                <a:latin typeface="Fira Sans Extra Condensed Medium"/>
                <a:ea typeface="Fira Sans Extra Condensed Medium"/>
                <a:cs typeface="Fira Sans Extra Condensed Medium"/>
                <a:sym typeface="Fira Sans Extra Condensed Medium"/>
              </a:defRPr>
            </a:lvl7pPr>
            <a:lvl8pPr lvl="7" algn="ctr">
              <a:lnSpc>
                <a:spcPct val="100000"/>
              </a:lnSpc>
              <a:spcBef>
                <a:spcPts val="0"/>
              </a:spcBef>
              <a:spcAft>
                <a:spcPts val="0"/>
              </a:spcAft>
              <a:buSzPts val="4800"/>
              <a:buFont typeface="Fira Sans Extra Condensed Medium"/>
              <a:buNone/>
              <a:defRPr sz="6400">
                <a:latin typeface="Fira Sans Extra Condensed Medium"/>
                <a:ea typeface="Fira Sans Extra Condensed Medium"/>
                <a:cs typeface="Fira Sans Extra Condensed Medium"/>
                <a:sym typeface="Fira Sans Extra Condensed Medium"/>
              </a:defRPr>
            </a:lvl8pPr>
            <a:lvl9pPr lvl="8" algn="ctr">
              <a:lnSpc>
                <a:spcPct val="100000"/>
              </a:lnSpc>
              <a:spcBef>
                <a:spcPts val="0"/>
              </a:spcBef>
              <a:spcAft>
                <a:spcPts val="0"/>
              </a:spcAft>
              <a:buSzPts val="4800"/>
              <a:buFont typeface="Fira Sans Extra Condensed Medium"/>
              <a:buNone/>
              <a:defRPr sz="6400">
                <a:latin typeface="Fira Sans Extra Condensed Medium"/>
                <a:ea typeface="Fira Sans Extra Condensed Medium"/>
                <a:cs typeface="Fira Sans Extra Condensed Medium"/>
                <a:sym typeface="Fira Sans Extra Condensed Medium"/>
              </a:defRPr>
            </a:lvl9pPr>
          </a:lstStyle>
          <a:p>
            <a:endParaRPr dirty="0"/>
          </a:p>
        </p:txBody>
      </p:sp>
      <p:sp>
        <p:nvSpPr>
          <p:cNvPr id="31" name="Google Shape;31;p34"/>
          <p:cNvSpPr txBox="1">
            <a:spLocks noGrp="1"/>
          </p:cNvSpPr>
          <p:nvPr>
            <p:ph type="title" idx="8"/>
          </p:nvPr>
        </p:nvSpPr>
        <p:spPr>
          <a:xfrm>
            <a:off x="7896011" y="5509377"/>
            <a:ext cx="1429600" cy="770400"/>
          </a:xfrm>
          <a:prstGeom prst="rect">
            <a:avLst/>
          </a:prstGeom>
          <a:noFill/>
          <a:ln>
            <a:noFill/>
          </a:ln>
        </p:spPr>
        <p:txBody>
          <a:bodyPr spcFirstLastPara="1" wrap="square" lIns="91425" tIns="91425" rIns="91425" bIns="91425" anchor="ctr" anchorCtr="0">
            <a:noAutofit/>
          </a:bodyPr>
          <a:lstStyle>
            <a:lvl1pPr lvl="0" algn="l">
              <a:lnSpc>
                <a:spcPct val="100000"/>
              </a:lnSpc>
              <a:spcBef>
                <a:spcPts val="0"/>
              </a:spcBef>
              <a:spcAft>
                <a:spcPts val="0"/>
              </a:spcAft>
              <a:buSzPts val="4800"/>
              <a:buNone/>
              <a:defRPr sz="4800">
                <a:solidFill>
                  <a:srgbClr val="EE0033"/>
                </a:solidFill>
                <a:latin typeface="FS PF BeauSans Pro" panose="02000500000000020004" pitchFamily="50" charset="0"/>
                <a:ea typeface="FS PF BeauSans Pro" panose="02000500000000020004" pitchFamily="50" charset="0"/>
                <a:cs typeface="Arial"/>
                <a:sym typeface="Arial"/>
              </a:defRPr>
            </a:lvl1pPr>
            <a:lvl2pPr lvl="1" algn="l">
              <a:lnSpc>
                <a:spcPct val="100000"/>
              </a:lnSpc>
              <a:spcBef>
                <a:spcPts val="0"/>
              </a:spcBef>
              <a:spcAft>
                <a:spcPts val="0"/>
              </a:spcAft>
              <a:buSzPts val="4800"/>
              <a:buFont typeface="Fira Sans Extra Condensed Medium"/>
              <a:buNone/>
              <a:defRPr sz="6400">
                <a:latin typeface="Fira Sans Extra Condensed Medium"/>
                <a:ea typeface="Fira Sans Extra Condensed Medium"/>
                <a:cs typeface="Fira Sans Extra Condensed Medium"/>
                <a:sym typeface="Fira Sans Extra Condensed Medium"/>
              </a:defRPr>
            </a:lvl2pPr>
            <a:lvl3pPr lvl="2" algn="l">
              <a:lnSpc>
                <a:spcPct val="100000"/>
              </a:lnSpc>
              <a:spcBef>
                <a:spcPts val="0"/>
              </a:spcBef>
              <a:spcAft>
                <a:spcPts val="0"/>
              </a:spcAft>
              <a:buSzPts val="4800"/>
              <a:buFont typeface="Fira Sans Extra Condensed Medium"/>
              <a:buNone/>
              <a:defRPr sz="6400">
                <a:latin typeface="Fira Sans Extra Condensed Medium"/>
                <a:ea typeface="Fira Sans Extra Condensed Medium"/>
                <a:cs typeface="Fira Sans Extra Condensed Medium"/>
                <a:sym typeface="Fira Sans Extra Condensed Medium"/>
              </a:defRPr>
            </a:lvl3pPr>
            <a:lvl4pPr lvl="3" algn="l">
              <a:lnSpc>
                <a:spcPct val="100000"/>
              </a:lnSpc>
              <a:spcBef>
                <a:spcPts val="0"/>
              </a:spcBef>
              <a:spcAft>
                <a:spcPts val="0"/>
              </a:spcAft>
              <a:buSzPts val="4800"/>
              <a:buFont typeface="Fira Sans Extra Condensed Medium"/>
              <a:buNone/>
              <a:defRPr sz="6400">
                <a:latin typeface="Fira Sans Extra Condensed Medium"/>
                <a:ea typeface="Fira Sans Extra Condensed Medium"/>
                <a:cs typeface="Fira Sans Extra Condensed Medium"/>
                <a:sym typeface="Fira Sans Extra Condensed Medium"/>
              </a:defRPr>
            </a:lvl4pPr>
            <a:lvl5pPr lvl="4" algn="l">
              <a:lnSpc>
                <a:spcPct val="100000"/>
              </a:lnSpc>
              <a:spcBef>
                <a:spcPts val="0"/>
              </a:spcBef>
              <a:spcAft>
                <a:spcPts val="0"/>
              </a:spcAft>
              <a:buSzPts val="4800"/>
              <a:buFont typeface="Fira Sans Extra Condensed Medium"/>
              <a:buNone/>
              <a:defRPr sz="6400">
                <a:latin typeface="Fira Sans Extra Condensed Medium"/>
                <a:ea typeface="Fira Sans Extra Condensed Medium"/>
                <a:cs typeface="Fira Sans Extra Condensed Medium"/>
                <a:sym typeface="Fira Sans Extra Condensed Medium"/>
              </a:defRPr>
            </a:lvl5pPr>
            <a:lvl6pPr lvl="5" algn="l">
              <a:lnSpc>
                <a:spcPct val="100000"/>
              </a:lnSpc>
              <a:spcBef>
                <a:spcPts val="0"/>
              </a:spcBef>
              <a:spcAft>
                <a:spcPts val="0"/>
              </a:spcAft>
              <a:buSzPts val="4800"/>
              <a:buFont typeface="Fira Sans Extra Condensed Medium"/>
              <a:buNone/>
              <a:defRPr sz="6400">
                <a:latin typeface="Fira Sans Extra Condensed Medium"/>
                <a:ea typeface="Fira Sans Extra Condensed Medium"/>
                <a:cs typeface="Fira Sans Extra Condensed Medium"/>
                <a:sym typeface="Fira Sans Extra Condensed Medium"/>
              </a:defRPr>
            </a:lvl6pPr>
            <a:lvl7pPr lvl="6" algn="l">
              <a:lnSpc>
                <a:spcPct val="100000"/>
              </a:lnSpc>
              <a:spcBef>
                <a:spcPts val="0"/>
              </a:spcBef>
              <a:spcAft>
                <a:spcPts val="0"/>
              </a:spcAft>
              <a:buSzPts val="4800"/>
              <a:buFont typeface="Fira Sans Extra Condensed Medium"/>
              <a:buNone/>
              <a:defRPr sz="6400">
                <a:latin typeface="Fira Sans Extra Condensed Medium"/>
                <a:ea typeface="Fira Sans Extra Condensed Medium"/>
                <a:cs typeface="Fira Sans Extra Condensed Medium"/>
                <a:sym typeface="Fira Sans Extra Condensed Medium"/>
              </a:defRPr>
            </a:lvl7pPr>
            <a:lvl8pPr lvl="7" algn="l">
              <a:lnSpc>
                <a:spcPct val="100000"/>
              </a:lnSpc>
              <a:spcBef>
                <a:spcPts val="0"/>
              </a:spcBef>
              <a:spcAft>
                <a:spcPts val="0"/>
              </a:spcAft>
              <a:buSzPts val="4800"/>
              <a:buFont typeface="Fira Sans Extra Condensed Medium"/>
              <a:buNone/>
              <a:defRPr sz="6400">
                <a:latin typeface="Fira Sans Extra Condensed Medium"/>
                <a:ea typeface="Fira Sans Extra Condensed Medium"/>
                <a:cs typeface="Fira Sans Extra Condensed Medium"/>
                <a:sym typeface="Fira Sans Extra Condensed Medium"/>
              </a:defRPr>
            </a:lvl8pPr>
            <a:lvl9pPr lvl="8" algn="l">
              <a:lnSpc>
                <a:spcPct val="100000"/>
              </a:lnSpc>
              <a:spcBef>
                <a:spcPts val="0"/>
              </a:spcBef>
              <a:spcAft>
                <a:spcPts val="0"/>
              </a:spcAft>
              <a:buSzPts val="4800"/>
              <a:buFont typeface="Fira Sans Extra Condensed Medium"/>
              <a:buNone/>
              <a:defRPr sz="6400">
                <a:latin typeface="Fira Sans Extra Condensed Medium"/>
                <a:ea typeface="Fira Sans Extra Condensed Medium"/>
                <a:cs typeface="Fira Sans Extra Condensed Medium"/>
                <a:sym typeface="Fira Sans Extra Condensed Medium"/>
              </a:defRPr>
            </a:lvl9pPr>
          </a:lstStyle>
          <a:p>
            <a:endParaRPr dirty="0"/>
          </a:p>
        </p:txBody>
      </p:sp>
      <p:sp>
        <p:nvSpPr>
          <p:cNvPr id="32" name="Google Shape;32;p34"/>
          <p:cNvSpPr txBox="1">
            <a:spLocks noGrp="1"/>
          </p:cNvSpPr>
          <p:nvPr>
            <p:ph type="ctrTitle" idx="9"/>
          </p:nvPr>
        </p:nvSpPr>
        <p:spPr>
          <a:xfrm>
            <a:off x="520395" y="1557139"/>
            <a:ext cx="2632400" cy="770400"/>
          </a:xfrm>
          <a:prstGeom prst="rect">
            <a:avLst/>
          </a:prstGeom>
          <a:noFill/>
          <a:ln>
            <a:noFill/>
          </a:ln>
        </p:spPr>
        <p:txBody>
          <a:bodyPr spcFirstLastPara="1" wrap="square" lIns="91425" tIns="91425" rIns="91425" bIns="91425" anchor="b" anchorCtr="0">
            <a:noAutofit/>
          </a:bodyPr>
          <a:lstStyle>
            <a:lvl1pPr lvl="0" algn="r">
              <a:lnSpc>
                <a:spcPct val="100000"/>
              </a:lnSpc>
              <a:spcBef>
                <a:spcPts val="0"/>
              </a:spcBef>
              <a:spcAft>
                <a:spcPts val="0"/>
              </a:spcAft>
              <a:buSzPts val="1400"/>
              <a:buNone/>
              <a:defRPr sz="1867" b="0">
                <a:solidFill>
                  <a:srgbClr val="EE0033"/>
                </a:solidFill>
                <a:latin typeface="FS PF BeauSans Pro" panose="02000500000000020004" pitchFamily="50" charset="0"/>
                <a:ea typeface="FS PF BeauSans Pro" panose="02000500000000020004" pitchFamily="50" charset="0"/>
                <a:cs typeface="Arial"/>
                <a:sym typeface="Arial"/>
              </a:defRPr>
            </a:lvl1pPr>
            <a:lvl2pPr lvl="1" algn="r">
              <a:lnSpc>
                <a:spcPct val="100000"/>
              </a:lnSpc>
              <a:spcBef>
                <a:spcPts val="0"/>
              </a:spcBef>
              <a:spcAft>
                <a:spcPts val="0"/>
              </a:spcAft>
              <a:buSzPts val="1400"/>
              <a:buNone/>
              <a:defRPr sz="1867"/>
            </a:lvl2pPr>
            <a:lvl3pPr lvl="2" algn="r">
              <a:lnSpc>
                <a:spcPct val="100000"/>
              </a:lnSpc>
              <a:spcBef>
                <a:spcPts val="0"/>
              </a:spcBef>
              <a:spcAft>
                <a:spcPts val="0"/>
              </a:spcAft>
              <a:buSzPts val="1400"/>
              <a:buNone/>
              <a:defRPr sz="1867"/>
            </a:lvl3pPr>
            <a:lvl4pPr lvl="3" algn="r">
              <a:lnSpc>
                <a:spcPct val="100000"/>
              </a:lnSpc>
              <a:spcBef>
                <a:spcPts val="0"/>
              </a:spcBef>
              <a:spcAft>
                <a:spcPts val="0"/>
              </a:spcAft>
              <a:buSzPts val="1400"/>
              <a:buNone/>
              <a:defRPr sz="1867"/>
            </a:lvl4pPr>
            <a:lvl5pPr lvl="4" algn="r">
              <a:lnSpc>
                <a:spcPct val="100000"/>
              </a:lnSpc>
              <a:spcBef>
                <a:spcPts val="0"/>
              </a:spcBef>
              <a:spcAft>
                <a:spcPts val="0"/>
              </a:spcAft>
              <a:buSzPts val="1400"/>
              <a:buNone/>
              <a:defRPr sz="1867"/>
            </a:lvl5pPr>
            <a:lvl6pPr lvl="5" algn="r">
              <a:lnSpc>
                <a:spcPct val="100000"/>
              </a:lnSpc>
              <a:spcBef>
                <a:spcPts val="0"/>
              </a:spcBef>
              <a:spcAft>
                <a:spcPts val="0"/>
              </a:spcAft>
              <a:buSzPts val="1400"/>
              <a:buNone/>
              <a:defRPr sz="1867"/>
            </a:lvl6pPr>
            <a:lvl7pPr lvl="6" algn="r">
              <a:lnSpc>
                <a:spcPct val="100000"/>
              </a:lnSpc>
              <a:spcBef>
                <a:spcPts val="0"/>
              </a:spcBef>
              <a:spcAft>
                <a:spcPts val="0"/>
              </a:spcAft>
              <a:buSzPts val="1400"/>
              <a:buNone/>
              <a:defRPr sz="1867"/>
            </a:lvl7pPr>
            <a:lvl8pPr lvl="7" algn="r">
              <a:lnSpc>
                <a:spcPct val="100000"/>
              </a:lnSpc>
              <a:spcBef>
                <a:spcPts val="0"/>
              </a:spcBef>
              <a:spcAft>
                <a:spcPts val="0"/>
              </a:spcAft>
              <a:buSzPts val="1400"/>
              <a:buNone/>
              <a:defRPr sz="1867"/>
            </a:lvl8pPr>
            <a:lvl9pPr lvl="8" algn="r">
              <a:lnSpc>
                <a:spcPct val="100000"/>
              </a:lnSpc>
              <a:spcBef>
                <a:spcPts val="0"/>
              </a:spcBef>
              <a:spcAft>
                <a:spcPts val="0"/>
              </a:spcAft>
              <a:buSzPts val="1400"/>
              <a:buNone/>
              <a:defRPr sz="1867"/>
            </a:lvl9pPr>
          </a:lstStyle>
          <a:p>
            <a:endParaRPr dirty="0"/>
          </a:p>
        </p:txBody>
      </p:sp>
      <p:sp>
        <p:nvSpPr>
          <p:cNvPr id="33" name="Google Shape;33;p34"/>
          <p:cNvSpPr txBox="1">
            <a:spLocks noGrp="1"/>
          </p:cNvSpPr>
          <p:nvPr>
            <p:ph type="subTitle" idx="13"/>
          </p:nvPr>
        </p:nvSpPr>
        <p:spPr>
          <a:xfrm>
            <a:off x="920595" y="2061969"/>
            <a:ext cx="2232400" cy="763200"/>
          </a:xfrm>
          <a:prstGeom prst="rect">
            <a:avLst/>
          </a:prstGeom>
          <a:noFill/>
          <a:ln>
            <a:noFill/>
          </a:ln>
        </p:spPr>
        <p:txBody>
          <a:bodyPr spcFirstLastPara="1" wrap="square" lIns="91425" tIns="91425" rIns="91425" bIns="91425" anchor="t" anchorCtr="0">
            <a:noAutofit/>
          </a:bodyPr>
          <a:lstStyle>
            <a:lvl1pPr lvl="0" algn="r">
              <a:lnSpc>
                <a:spcPct val="100000"/>
              </a:lnSpc>
              <a:spcBef>
                <a:spcPts val="0"/>
              </a:spcBef>
              <a:spcAft>
                <a:spcPts val="0"/>
              </a:spcAft>
              <a:buSzPts val="900"/>
              <a:buNone/>
              <a:defRPr>
                <a:latin typeface="FS PF BeauSans Pro" panose="02000500000000020004" pitchFamily="50" charset="0"/>
                <a:ea typeface="FS PF BeauSans Pro" panose="02000500000000020004" pitchFamily="50" charset="0"/>
                <a:cs typeface="Arial"/>
                <a:sym typeface="Arial"/>
              </a:defRPr>
            </a:lvl1pPr>
            <a:lvl2pPr lvl="1" algn="r">
              <a:lnSpc>
                <a:spcPct val="100000"/>
              </a:lnSpc>
              <a:spcBef>
                <a:spcPts val="0"/>
              </a:spcBef>
              <a:spcAft>
                <a:spcPts val="0"/>
              </a:spcAft>
              <a:buSzPts val="900"/>
              <a:buNone/>
              <a:defRPr sz="1200"/>
            </a:lvl2pPr>
            <a:lvl3pPr lvl="2" algn="r">
              <a:lnSpc>
                <a:spcPct val="100000"/>
              </a:lnSpc>
              <a:spcBef>
                <a:spcPts val="0"/>
              </a:spcBef>
              <a:spcAft>
                <a:spcPts val="0"/>
              </a:spcAft>
              <a:buSzPts val="900"/>
              <a:buNone/>
              <a:defRPr sz="1200"/>
            </a:lvl3pPr>
            <a:lvl4pPr lvl="3" algn="r">
              <a:lnSpc>
                <a:spcPct val="100000"/>
              </a:lnSpc>
              <a:spcBef>
                <a:spcPts val="0"/>
              </a:spcBef>
              <a:spcAft>
                <a:spcPts val="0"/>
              </a:spcAft>
              <a:buSzPts val="900"/>
              <a:buNone/>
              <a:defRPr sz="1200"/>
            </a:lvl4pPr>
            <a:lvl5pPr lvl="4" algn="r">
              <a:lnSpc>
                <a:spcPct val="100000"/>
              </a:lnSpc>
              <a:spcBef>
                <a:spcPts val="0"/>
              </a:spcBef>
              <a:spcAft>
                <a:spcPts val="0"/>
              </a:spcAft>
              <a:buSzPts val="900"/>
              <a:buNone/>
              <a:defRPr sz="1200"/>
            </a:lvl5pPr>
            <a:lvl6pPr lvl="5" algn="r">
              <a:lnSpc>
                <a:spcPct val="100000"/>
              </a:lnSpc>
              <a:spcBef>
                <a:spcPts val="0"/>
              </a:spcBef>
              <a:spcAft>
                <a:spcPts val="0"/>
              </a:spcAft>
              <a:buSzPts val="900"/>
              <a:buNone/>
              <a:defRPr sz="1200"/>
            </a:lvl6pPr>
            <a:lvl7pPr lvl="6" algn="r">
              <a:lnSpc>
                <a:spcPct val="100000"/>
              </a:lnSpc>
              <a:spcBef>
                <a:spcPts val="0"/>
              </a:spcBef>
              <a:spcAft>
                <a:spcPts val="0"/>
              </a:spcAft>
              <a:buSzPts val="900"/>
              <a:buNone/>
              <a:defRPr sz="1200"/>
            </a:lvl7pPr>
            <a:lvl8pPr lvl="7" algn="r">
              <a:lnSpc>
                <a:spcPct val="100000"/>
              </a:lnSpc>
              <a:spcBef>
                <a:spcPts val="0"/>
              </a:spcBef>
              <a:spcAft>
                <a:spcPts val="0"/>
              </a:spcAft>
              <a:buSzPts val="900"/>
              <a:buNone/>
              <a:defRPr sz="1200"/>
            </a:lvl8pPr>
            <a:lvl9pPr lvl="8" algn="r">
              <a:lnSpc>
                <a:spcPct val="100000"/>
              </a:lnSpc>
              <a:spcBef>
                <a:spcPts val="0"/>
              </a:spcBef>
              <a:spcAft>
                <a:spcPts val="0"/>
              </a:spcAft>
              <a:buSzPts val="900"/>
              <a:buNone/>
              <a:defRPr sz="1200"/>
            </a:lvl9pPr>
          </a:lstStyle>
          <a:p>
            <a:endParaRPr dirty="0"/>
          </a:p>
        </p:txBody>
      </p:sp>
      <p:sp>
        <p:nvSpPr>
          <p:cNvPr id="34" name="Google Shape;34;p34"/>
          <p:cNvSpPr txBox="1">
            <a:spLocks noGrp="1"/>
          </p:cNvSpPr>
          <p:nvPr>
            <p:ph type="ctrTitle" idx="14"/>
          </p:nvPr>
        </p:nvSpPr>
        <p:spPr>
          <a:xfrm>
            <a:off x="520395" y="2855115"/>
            <a:ext cx="2632400" cy="770400"/>
          </a:xfrm>
          <a:prstGeom prst="rect">
            <a:avLst/>
          </a:prstGeom>
          <a:noFill/>
          <a:ln>
            <a:noFill/>
          </a:ln>
        </p:spPr>
        <p:txBody>
          <a:bodyPr spcFirstLastPara="1" wrap="square" lIns="91425" tIns="91425" rIns="91425" bIns="91425" anchor="b" anchorCtr="0">
            <a:noAutofit/>
          </a:bodyPr>
          <a:lstStyle>
            <a:lvl1pPr lvl="0" algn="r">
              <a:lnSpc>
                <a:spcPct val="100000"/>
              </a:lnSpc>
              <a:spcBef>
                <a:spcPts val="0"/>
              </a:spcBef>
              <a:spcAft>
                <a:spcPts val="0"/>
              </a:spcAft>
              <a:buSzPts val="1400"/>
              <a:buNone/>
              <a:defRPr sz="1867" b="0">
                <a:solidFill>
                  <a:srgbClr val="EE0033"/>
                </a:solidFill>
                <a:latin typeface="FS PF BeauSans Pro" panose="02000500000000020004" pitchFamily="50" charset="0"/>
                <a:ea typeface="FS PF BeauSans Pro" panose="02000500000000020004" pitchFamily="50" charset="0"/>
                <a:cs typeface="Arial"/>
                <a:sym typeface="Arial"/>
              </a:defRPr>
            </a:lvl1pPr>
            <a:lvl2pPr lvl="1" algn="r">
              <a:lnSpc>
                <a:spcPct val="100000"/>
              </a:lnSpc>
              <a:spcBef>
                <a:spcPts val="0"/>
              </a:spcBef>
              <a:spcAft>
                <a:spcPts val="0"/>
              </a:spcAft>
              <a:buSzPts val="1400"/>
              <a:buNone/>
              <a:defRPr sz="1867"/>
            </a:lvl2pPr>
            <a:lvl3pPr lvl="2" algn="r">
              <a:lnSpc>
                <a:spcPct val="100000"/>
              </a:lnSpc>
              <a:spcBef>
                <a:spcPts val="0"/>
              </a:spcBef>
              <a:spcAft>
                <a:spcPts val="0"/>
              </a:spcAft>
              <a:buSzPts val="1400"/>
              <a:buNone/>
              <a:defRPr sz="1867"/>
            </a:lvl3pPr>
            <a:lvl4pPr lvl="3" algn="r">
              <a:lnSpc>
                <a:spcPct val="100000"/>
              </a:lnSpc>
              <a:spcBef>
                <a:spcPts val="0"/>
              </a:spcBef>
              <a:spcAft>
                <a:spcPts val="0"/>
              </a:spcAft>
              <a:buSzPts val="1400"/>
              <a:buNone/>
              <a:defRPr sz="1867"/>
            </a:lvl4pPr>
            <a:lvl5pPr lvl="4" algn="r">
              <a:lnSpc>
                <a:spcPct val="100000"/>
              </a:lnSpc>
              <a:spcBef>
                <a:spcPts val="0"/>
              </a:spcBef>
              <a:spcAft>
                <a:spcPts val="0"/>
              </a:spcAft>
              <a:buSzPts val="1400"/>
              <a:buNone/>
              <a:defRPr sz="1867"/>
            </a:lvl5pPr>
            <a:lvl6pPr lvl="5" algn="r">
              <a:lnSpc>
                <a:spcPct val="100000"/>
              </a:lnSpc>
              <a:spcBef>
                <a:spcPts val="0"/>
              </a:spcBef>
              <a:spcAft>
                <a:spcPts val="0"/>
              </a:spcAft>
              <a:buSzPts val="1400"/>
              <a:buNone/>
              <a:defRPr sz="1867"/>
            </a:lvl6pPr>
            <a:lvl7pPr lvl="6" algn="r">
              <a:lnSpc>
                <a:spcPct val="100000"/>
              </a:lnSpc>
              <a:spcBef>
                <a:spcPts val="0"/>
              </a:spcBef>
              <a:spcAft>
                <a:spcPts val="0"/>
              </a:spcAft>
              <a:buSzPts val="1400"/>
              <a:buNone/>
              <a:defRPr sz="1867"/>
            </a:lvl7pPr>
            <a:lvl8pPr lvl="7" algn="r">
              <a:lnSpc>
                <a:spcPct val="100000"/>
              </a:lnSpc>
              <a:spcBef>
                <a:spcPts val="0"/>
              </a:spcBef>
              <a:spcAft>
                <a:spcPts val="0"/>
              </a:spcAft>
              <a:buSzPts val="1400"/>
              <a:buNone/>
              <a:defRPr sz="1867"/>
            </a:lvl8pPr>
            <a:lvl9pPr lvl="8" algn="r">
              <a:lnSpc>
                <a:spcPct val="100000"/>
              </a:lnSpc>
              <a:spcBef>
                <a:spcPts val="0"/>
              </a:spcBef>
              <a:spcAft>
                <a:spcPts val="0"/>
              </a:spcAft>
              <a:buSzPts val="1400"/>
              <a:buNone/>
              <a:defRPr sz="1867"/>
            </a:lvl9pPr>
          </a:lstStyle>
          <a:p>
            <a:endParaRPr dirty="0"/>
          </a:p>
        </p:txBody>
      </p:sp>
      <p:sp>
        <p:nvSpPr>
          <p:cNvPr id="35" name="Google Shape;35;p34"/>
          <p:cNvSpPr txBox="1">
            <a:spLocks noGrp="1"/>
          </p:cNvSpPr>
          <p:nvPr>
            <p:ph type="subTitle" idx="15"/>
          </p:nvPr>
        </p:nvSpPr>
        <p:spPr>
          <a:xfrm>
            <a:off x="920595" y="3359941"/>
            <a:ext cx="2232400" cy="763200"/>
          </a:xfrm>
          <a:prstGeom prst="rect">
            <a:avLst/>
          </a:prstGeom>
          <a:noFill/>
          <a:ln>
            <a:noFill/>
          </a:ln>
        </p:spPr>
        <p:txBody>
          <a:bodyPr spcFirstLastPara="1" wrap="square" lIns="91425" tIns="91425" rIns="91425" bIns="91425" anchor="t" anchorCtr="0">
            <a:noAutofit/>
          </a:bodyPr>
          <a:lstStyle>
            <a:lvl1pPr lvl="0" algn="r">
              <a:lnSpc>
                <a:spcPct val="100000"/>
              </a:lnSpc>
              <a:spcBef>
                <a:spcPts val="0"/>
              </a:spcBef>
              <a:spcAft>
                <a:spcPts val="0"/>
              </a:spcAft>
              <a:buSzPts val="900"/>
              <a:buNone/>
              <a:defRPr>
                <a:latin typeface="FS PF BeauSans Pro" panose="02000500000000020004" pitchFamily="50" charset="0"/>
                <a:ea typeface="FS PF BeauSans Pro" panose="02000500000000020004" pitchFamily="50" charset="0"/>
                <a:cs typeface="Arial"/>
                <a:sym typeface="Arial"/>
              </a:defRPr>
            </a:lvl1pPr>
            <a:lvl2pPr lvl="1" algn="r">
              <a:lnSpc>
                <a:spcPct val="100000"/>
              </a:lnSpc>
              <a:spcBef>
                <a:spcPts val="0"/>
              </a:spcBef>
              <a:spcAft>
                <a:spcPts val="0"/>
              </a:spcAft>
              <a:buSzPts val="900"/>
              <a:buNone/>
              <a:defRPr sz="1200"/>
            </a:lvl2pPr>
            <a:lvl3pPr lvl="2" algn="r">
              <a:lnSpc>
                <a:spcPct val="100000"/>
              </a:lnSpc>
              <a:spcBef>
                <a:spcPts val="0"/>
              </a:spcBef>
              <a:spcAft>
                <a:spcPts val="0"/>
              </a:spcAft>
              <a:buSzPts val="900"/>
              <a:buNone/>
              <a:defRPr sz="1200"/>
            </a:lvl3pPr>
            <a:lvl4pPr lvl="3" algn="r">
              <a:lnSpc>
                <a:spcPct val="100000"/>
              </a:lnSpc>
              <a:spcBef>
                <a:spcPts val="0"/>
              </a:spcBef>
              <a:spcAft>
                <a:spcPts val="0"/>
              </a:spcAft>
              <a:buSzPts val="900"/>
              <a:buNone/>
              <a:defRPr sz="1200"/>
            </a:lvl4pPr>
            <a:lvl5pPr lvl="4" algn="r">
              <a:lnSpc>
                <a:spcPct val="100000"/>
              </a:lnSpc>
              <a:spcBef>
                <a:spcPts val="0"/>
              </a:spcBef>
              <a:spcAft>
                <a:spcPts val="0"/>
              </a:spcAft>
              <a:buSzPts val="900"/>
              <a:buNone/>
              <a:defRPr sz="1200"/>
            </a:lvl5pPr>
            <a:lvl6pPr lvl="5" algn="r">
              <a:lnSpc>
                <a:spcPct val="100000"/>
              </a:lnSpc>
              <a:spcBef>
                <a:spcPts val="0"/>
              </a:spcBef>
              <a:spcAft>
                <a:spcPts val="0"/>
              </a:spcAft>
              <a:buSzPts val="900"/>
              <a:buNone/>
              <a:defRPr sz="1200"/>
            </a:lvl6pPr>
            <a:lvl7pPr lvl="6" algn="r">
              <a:lnSpc>
                <a:spcPct val="100000"/>
              </a:lnSpc>
              <a:spcBef>
                <a:spcPts val="0"/>
              </a:spcBef>
              <a:spcAft>
                <a:spcPts val="0"/>
              </a:spcAft>
              <a:buSzPts val="900"/>
              <a:buNone/>
              <a:defRPr sz="1200"/>
            </a:lvl7pPr>
            <a:lvl8pPr lvl="7" algn="r">
              <a:lnSpc>
                <a:spcPct val="100000"/>
              </a:lnSpc>
              <a:spcBef>
                <a:spcPts val="0"/>
              </a:spcBef>
              <a:spcAft>
                <a:spcPts val="0"/>
              </a:spcAft>
              <a:buSzPts val="900"/>
              <a:buNone/>
              <a:defRPr sz="1200"/>
            </a:lvl8pPr>
            <a:lvl9pPr lvl="8" algn="r">
              <a:lnSpc>
                <a:spcPct val="100000"/>
              </a:lnSpc>
              <a:spcBef>
                <a:spcPts val="0"/>
              </a:spcBef>
              <a:spcAft>
                <a:spcPts val="0"/>
              </a:spcAft>
              <a:buSzPts val="900"/>
              <a:buNone/>
              <a:defRPr sz="1200"/>
            </a:lvl9pPr>
          </a:lstStyle>
          <a:p>
            <a:endParaRPr dirty="0"/>
          </a:p>
        </p:txBody>
      </p:sp>
      <p:sp>
        <p:nvSpPr>
          <p:cNvPr id="36" name="Google Shape;36;p34"/>
          <p:cNvSpPr txBox="1">
            <a:spLocks noGrp="1"/>
          </p:cNvSpPr>
          <p:nvPr>
            <p:ph type="ctrTitle" idx="16"/>
          </p:nvPr>
        </p:nvSpPr>
        <p:spPr>
          <a:xfrm>
            <a:off x="9082077" y="2366907"/>
            <a:ext cx="2632400" cy="770400"/>
          </a:xfrm>
          <a:prstGeom prst="rect">
            <a:avLst/>
          </a:prstGeom>
          <a:noFill/>
          <a:ln>
            <a:noFill/>
          </a:ln>
        </p:spPr>
        <p:txBody>
          <a:bodyPr spcFirstLastPara="1" wrap="square" lIns="91425" tIns="91425" rIns="91425" bIns="91425" anchor="b" anchorCtr="0">
            <a:noAutofit/>
          </a:bodyPr>
          <a:lstStyle>
            <a:lvl1pPr lvl="0" algn="l">
              <a:lnSpc>
                <a:spcPct val="100000"/>
              </a:lnSpc>
              <a:spcBef>
                <a:spcPts val="0"/>
              </a:spcBef>
              <a:spcAft>
                <a:spcPts val="0"/>
              </a:spcAft>
              <a:buSzPts val="1400"/>
              <a:buNone/>
              <a:defRPr sz="1867" b="0">
                <a:solidFill>
                  <a:srgbClr val="EE0033"/>
                </a:solidFill>
                <a:latin typeface="FS PF BeauSans Pro" panose="02000500000000020004" pitchFamily="50" charset="0"/>
                <a:ea typeface="FS PF BeauSans Pro" panose="02000500000000020004" pitchFamily="50" charset="0"/>
                <a:cs typeface="Arial"/>
                <a:sym typeface="Arial"/>
              </a:defRPr>
            </a:lvl1pPr>
            <a:lvl2pPr lvl="1" algn="l">
              <a:lnSpc>
                <a:spcPct val="100000"/>
              </a:lnSpc>
              <a:spcBef>
                <a:spcPts val="0"/>
              </a:spcBef>
              <a:spcAft>
                <a:spcPts val="0"/>
              </a:spcAft>
              <a:buSzPts val="1400"/>
              <a:buNone/>
              <a:defRPr sz="1867"/>
            </a:lvl2pPr>
            <a:lvl3pPr lvl="2" algn="l">
              <a:lnSpc>
                <a:spcPct val="100000"/>
              </a:lnSpc>
              <a:spcBef>
                <a:spcPts val="0"/>
              </a:spcBef>
              <a:spcAft>
                <a:spcPts val="0"/>
              </a:spcAft>
              <a:buSzPts val="1400"/>
              <a:buNone/>
              <a:defRPr sz="1867"/>
            </a:lvl3pPr>
            <a:lvl4pPr lvl="3" algn="l">
              <a:lnSpc>
                <a:spcPct val="100000"/>
              </a:lnSpc>
              <a:spcBef>
                <a:spcPts val="0"/>
              </a:spcBef>
              <a:spcAft>
                <a:spcPts val="0"/>
              </a:spcAft>
              <a:buSzPts val="1400"/>
              <a:buNone/>
              <a:defRPr sz="1867"/>
            </a:lvl4pPr>
            <a:lvl5pPr lvl="4" algn="l">
              <a:lnSpc>
                <a:spcPct val="100000"/>
              </a:lnSpc>
              <a:spcBef>
                <a:spcPts val="0"/>
              </a:spcBef>
              <a:spcAft>
                <a:spcPts val="0"/>
              </a:spcAft>
              <a:buSzPts val="1400"/>
              <a:buNone/>
              <a:defRPr sz="1867"/>
            </a:lvl5pPr>
            <a:lvl6pPr lvl="5" algn="l">
              <a:lnSpc>
                <a:spcPct val="100000"/>
              </a:lnSpc>
              <a:spcBef>
                <a:spcPts val="0"/>
              </a:spcBef>
              <a:spcAft>
                <a:spcPts val="0"/>
              </a:spcAft>
              <a:buSzPts val="1400"/>
              <a:buNone/>
              <a:defRPr sz="1867"/>
            </a:lvl6pPr>
            <a:lvl7pPr lvl="6" algn="l">
              <a:lnSpc>
                <a:spcPct val="100000"/>
              </a:lnSpc>
              <a:spcBef>
                <a:spcPts val="0"/>
              </a:spcBef>
              <a:spcAft>
                <a:spcPts val="0"/>
              </a:spcAft>
              <a:buSzPts val="1400"/>
              <a:buNone/>
              <a:defRPr sz="1867"/>
            </a:lvl7pPr>
            <a:lvl8pPr lvl="7" algn="l">
              <a:lnSpc>
                <a:spcPct val="100000"/>
              </a:lnSpc>
              <a:spcBef>
                <a:spcPts val="0"/>
              </a:spcBef>
              <a:spcAft>
                <a:spcPts val="0"/>
              </a:spcAft>
              <a:buSzPts val="1400"/>
              <a:buNone/>
              <a:defRPr sz="1867"/>
            </a:lvl8pPr>
            <a:lvl9pPr lvl="8" algn="l">
              <a:lnSpc>
                <a:spcPct val="100000"/>
              </a:lnSpc>
              <a:spcBef>
                <a:spcPts val="0"/>
              </a:spcBef>
              <a:spcAft>
                <a:spcPts val="0"/>
              </a:spcAft>
              <a:buSzPts val="1400"/>
              <a:buNone/>
              <a:defRPr sz="1867"/>
            </a:lvl9pPr>
          </a:lstStyle>
          <a:p>
            <a:endParaRPr dirty="0"/>
          </a:p>
        </p:txBody>
      </p:sp>
      <p:sp>
        <p:nvSpPr>
          <p:cNvPr id="37" name="Google Shape;37;p34"/>
          <p:cNvSpPr txBox="1">
            <a:spLocks noGrp="1"/>
          </p:cNvSpPr>
          <p:nvPr>
            <p:ph type="subTitle" idx="17"/>
          </p:nvPr>
        </p:nvSpPr>
        <p:spPr>
          <a:xfrm>
            <a:off x="9082077" y="2871740"/>
            <a:ext cx="2232400" cy="763200"/>
          </a:xfrm>
          <a:prstGeom prst="rect">
            <a:avLst/>
          </a:prstGeom>
          <a:noFill/>
          <a:ln>
            <a:noFill/>
          </a:ln>
        </p:spPr>
        <p:txBody>
          <a:bodyPr spcFirstLastPara="1" wrap="square" lIns="91425" tIns="91425" rIns="91425" bIns="91425" anchor="t" anchorCtr="0">
            <a:noAutofit/>
          </a:bodyPr>
          <a:lstStyle>
            <a:lvl1pPr lvl="0" algn="l">
              <a:lnSpc>
                <a:spcPct val="100000"/>
              </a:lnSpc>
              <a:spcBef>
                <a:spcPts val="0"/>
              </a:spcBef>
              <a:spcAft>
                <a:spcPts val="0"/>
              </a:spcAft>
              <a:buSzPts val="900"/>
              <a:buNone/>
              <a:defRPr>
                <a:latin typeface="FS PF BeauSans Pro" panose="02000500000000020004" pitchFamily="50" charset="0"/>
                <a:ea typeface="FS PF BeauSans Pro" panose="02000500000000020004" pitchFamily="50" charset="0"/>
                <a:cs typeface="Arial"/>
                <a:sym typeface="Arial"/>
              </a:defRPr>
            </a:lvl1pPr>
            <a:lvl2pPr lvl="1" algn="l">
              <a:lnSpc>
                <a:spcPct val="100000"/>
              </a:lnSpc>
              <a:spcBef>
                <a:spcPts val="0"/>
              </a:spcBef>
              <a:spcAft>
                <a:spcPts val="0"/>
              </a:spcAft>
              <a:buSzPts val="900"/>
              <a:buNone/>
              <a:defRPr sz="1200"/>
            </a:lvl2pPr>
            <a:lvl3pPr lvl="2" algn="l">
              <a:lnSpc>
                <a:spcPct val="100000"/>
              </a:lnSpc>
              <a:spcBef>
                <a:spcPts val="0"/>
              </a:spcBef>
              <a:spcAft>
                <a:spcPts val="0"/>
              </a:spcAft>
              <a:buSzPts val="900"/>
              <a:buNone/>
              <a:defRPr sz="1200"/>
            </a:lvl3pPr>
            <a:lvl4pPr lvl="3" algn="l">
              <a:lnSpc>
                <a:spcPct val="100000"/>
              </a:lnSpc>
              <a:spcBef>
                <a:spcPts val="0"/>
              </a:spcBef>
              <a:spcAft>
                <a:spcPts val="0"/>
              </a:spcAft>
              <a:buSzPts val="900"/>
              <a:buNone/>
              <a:defRPr sz="1200"/>
            </a:lvl4pPr>
            <a:lvl5pPr lvl="4" algn="l">
              <a:lnSpc>
                <a:spcPct val="100000"/>
              </a:lnSpc>
              <a:spcBef>
                <a:spcPts val="0"/>
              </a:spcBef>
              <a:spcAft>
                <a:spcPts val="0"/>
              </a:spcAft>
              <a:buSzPts val="900"/>
              <a:buNone/>
              <a:defRPr sz="1200"/>
            </a:lvl5pPr>
            <a:lvl6pPr lvl="5" algn="l">
              <a:lnSpc>
                <a:spcPct val="100000"/>
              </a:lnSpc>
              <a:spcBef>
                <a:spcPts val="0"/>
              </a:spcBef>
              <a:spcAft>
                <a:spcPts val="0"/>
              </a:spcAft>
              <a:buSzPts val="900"/>
              <a:buNone/>
              <a:defRPr sz="1200"/>
            </a:lvl6pPr>
            <a:lvl7pPr lvl="6" algn="l">
              <a:lnSpc>
                <a:spcPct val="100000"/>
              </a:lnSpc>
              <a:spcBef>
                <a:spcPts val="0"/>
              </a:spcBef>
              <a:spcAft>
                <a:spcPts val="0"/>
              </a:spcAft>
              <a:buSzPts val="900"/>
              <a:buNone/>
              <a:defRPr sz="1200"/>
            </a:lvl7pPr>
            <a:lvl8pPr lvl="7" algn="l">
              <a:lnSpc>
                <a:spcPct val="100000"/>
              </a:lnSpc>
              <a:spcBef>
                <a:spcPts val="0"/>
              </a:spcBef>
              <a:spcAft>
                <a:spcPts val="0"/>
              </a:spcAft>
              <a:buSzPts val="900"/>
              <a:buNone/>
              <a:defRPr sz="1200"/>
            </a:lvl8pPr>
            <a:lvl9pPr lvl="8" algn="l">
              <a:lnSpc>
                <a:spcPct val="100000"/>
              </a:lnSpc>
              <a:spcBef>
                <a:spcPts val="0"/>
              </a:spcBef>
              <a:spcAft>
                <a:spcPts val="0"/>
              </a:spcAft>
              <a:buSzPts val="900"/>
              <a:buNone/>
              <a:defRPr sz="1200"/>
            </a:lvl9pPr>
          </a:lstStyle>
          <a:p>
            <a:endParaRPr dirty="0"/>
          </a:p>
        </p:txBody>
      </p:sp>
      <p:sp>
        <p:nvSpPr>
          <p:cNvPr id="38" name="Google Shape;38;p34"/>
          <p:cNvSpPr txBox="1">
            <a:spLocks noGrp="1"/>
          </p:cNvSpPr>
          <p:nvPr>
            <p:ph type="ctrTitle" idx="18"/>
          </p:nvPr>
        </p:nvSpPr>
        <p:spPr>
          <a:xfrm>
            <a:off x="9082077" y="3732127"/>
            <a:ext cx="2632400" cy="770400"/>
          </a:xfrm>
          <a:prstGeom prst="rect">
            <a:avLst/>
          </a:prstGeom>
          <a:noFill/>
          <a:ln>
            <a:noFill/>
          </a:ln>
        </p:spPr>
        <p:txBody>
          <a:bodyPr spcFirstLastPara="1" wrap="square" lIns="91425" tIns="91425" rIns="91425" bIns="91425" anchor="b" anchorCtr="0">
            <a:noAutofit/>
          </a:bodyPr>
          <a:lstStyle>
            <a:lvl1pPr lvl="0" algn="l">
              <a:lnSpc>
                <a:spcPct val="100000"/>
              </a:lnSpc>
              <a:spcBef>
                <a:spcPts val="0"/>
              </a:spcBef>
              <a:spcAft>
                <a:spcPts val="0"/>
              </a:spcAft>
              <a:buSzPts val="1400"/>
              <a:buNone/>
              <a:defRPr sz="1867" b="0">
                <a:solidFill>
                  <a:srgbClr val="EE0033"/>
                </a:solidFill>
                <a:latin typeface="FS PF BeauSans Pro" panose="02000500000000020004" pitchFamily="50" charset="0"/>
                <a:ea typeface="FS PF BeauSans Pro" panose="02000500000000020004" pitchFamily="50" charset="0"/>
                <a:cs typeface="Arial"/>
                <a:sym typeface="Arial"/>
              </a:defRPr>
            </a:lvl1pPr>
            <a:lvl2pPr lvl="1" algn="l">
              <a:lnSpc>
                <a:spcPct val="100000"/>
              </a:lnSpc>
              <a:spcBef>
                <a:spcPts val="0"/>
              </a:spcBef>
              <a:spcAft>
                <a:spcPts val="0"/>
              </a:spcAft>
              <a:buSzPts val="1400"/>
              <a:buNone/>
              <a:defRPr sz="1867"/>
            </a:lvl2pPr>
            <a:lvl3pPr lvl="2" algn="l">
              <a:lnSpc>
                <a:spcPct val="100000"/>
              </a:lnSpc>
              <a:spcBef>
                <a:spcPts val="0"/>
              </a:spcBef>
              <a:spcAft>
                <a:spcPts val="0"/>
              </a:spcAft>
              <a:buSzPts val="1400"/>
              <a:buNone/>
              <a:defRPr sz="1867"/>
            </a:lvl3pPr>
            <a:lvl4pPr lvl="3" algn="l">
              <a:lnSpc>
                <a:spcPct val="100000"/>
              </a:lnSpc>
              <a:spcBef>
                <a:spcPts val="0"/>
              </a:spcBef>
              <a:spcAft>
                <a:spcPts val="0"/>
              </a:spcAft>
              <a:buSzPts val="1400"/>
              <a:buNone/>
              <a:defRPr sz="1867"/>
            </a:lvl4pPr>
            <a:lvl5pPr lvl="4" algn="l">
              <a:lnSpc>
                <a:spcPct val="100000"/>
              </a:lnSpc>
              <a:spcBef>
                <a:spcPts val="0"/>
              </a:spcBef>
              <a:spcAft>
                <a:spcPts val="0"/>
              </a:spcAft>
              <a:buSzPts val="1400"/>
              <a:buNone/>
              <a:defRPr sz="1867"/>
            </a:lvl5pPr>
            <a:lvl6pPr lvl="5" algn="l">
              <a:lnSpc>
                <a:spcPct val="100000"/>
              </a:lnSpc>
              <a:spcBef>
                <a:spcPts val="0"/>
              </a:spcBef>
              <a:spcAft>
                <a:spcPts val="0"/>
              </a:spcAft>
              <a:buSzPts val="1400"/>
              <a:buNone/>
              <a:defRPr sz="1867"/>
            </a:lvl6pPr>
            <a:lvl7pPr lvl="6" algn="l">
              <a:lnSpc>
                <a:spcPct val="100000"/>
              </a:lnSpc>
              <a:spcBef>
                <a:spcPts val="0"/>
              </a:spcBef>
              <a:spcAft>
                <a:spcPts val="0"/>
              </a:spcAft>
              <a:buSzPts val="1400"/>
              <a:buNone/>
              <a:defRPr sz="1867"/>
            </a:lvl7pPr>
            <a:lvl8pPr lvl="7" algn="l">
              <a:lnSpc>
                <a:spcPct val="100000"/>
              </a:lnSpc>
              <a:spcBef>
                <a:spcPts val="0"/>
              </a:spcBef>
              <a:spcAft>
                <a:spcPts val="0"/>
              </a:spcAft>
              <a:buSzPts val="1400"/>
              <a:buNone/>
              <a:defRPr sz="1867"/>
            </a:lvl8pPr>
            <a:lvl9pPr lvl="8" algn="l">
              <a:lnSpc>
                <a:spcPct val="100000"/>
              </a:lnSpc>
              <a:spcBef>
                <a:spcPts val="0"/>
              </a:spcBef>
              <a:spcAft>
                <a:spcPts val="0"/>
              </a:spcAft>
              <a:buSzPts val="1400"/>
              <a:buNone/>
              <a:defRPr sz="1867"/>
            </a:lvl9pPr>
          </a:lstStyle>
          <a:p>
            <a:endParaRPr dirty="0"/>
          </a:p>
        </p:txBody>
      </p:sp>
      <p:sp>
        <p:nvSpPr>
          <p:cNvPr id="39" name="Google Shape;39;p34"/>
          <p:cNvSpPr txBox="1">
            <a:spLocks noGrp="1"/>
          </p:cNvSpPr>
          <p:nvPr>
            <p:ph type="subTitle" idx="19"/>
          </p:nvPr>
        </p:nvSpPr>
        <p:spPr>
          <a:xfrm>
            <a:off x="9082077" y="4236956"/>
            <a:ext cx="2232400" cy="763200"/>
          </a:xfrm>
          <a:prstGeom prst="rect">
            <a:avLst/>
          </a:prstGeom>
          <a:noFill/>
          <a:ln>
            <a:noFill/>
          </a:ln>
        </p:spPr>
        <p:txBody>
          <a:bodyPr spcFirstLastPara="1" wrap="square" lIns="91425" tIns="91425" rIns="91425" bIns="91425" anchor="t" anchorCtr="0">
            <a:noAutofit/>
          </a:bodyPr>
          <a:lstStyle>
            <a:lvl1pPr lvl="0" algn="l">
              <a:lnSpc>
                <a:spcPct val="100000"/>
              </a:lnSpc>
              <a:spcBef>
                <a:spcPts val="0"/>
              </a:spcBef>
              <a:spcAft>
                <a:spcPts val="0"/>
              </a:spcAft>
              <a:buSzPts val="900"/>
              <a:buNone/>
              <a:defRPr>
                <a:latin typeface="FS PF BeauSans Pro" panose="02000500000000020004" pitchFamily="50" charset="0"/>
                <a:ea typeface="FS PF BeauSans Pro" panose="02000500000000020004" pitchFamily="50" charset="0"/>
                <a:cs typeface="Arial"/>
                <a:sym typeface="Arial"/>
              </a:defRPr>
            </a:lvl1pPr>
            <a:lvl2pPr lvl="1" algn="l">
              <a:lnSpc>
                <a:spcPct val="100000"/>
              </a:lnSpc>
              <a:spcBef>
                <a:spcPts val="0"/>
              </a:spcBef>
              <a:spcAft>
                <a:spcPts val="0"/>
              </a:spcAft>
              <a:buSzPts val="900"/>
              <a:buNone/>
              <a:defRPr sz="1200"/>
            </a:lvl2pPr>
            <a:lvl3pPr lvl="2" algn="l">
              <a:lnSpc>
                <a:spcPct val="100000"/>
              </a:lnSpc>
              <a:spcBef>
                <a:spcPts val="0"/>
              </a:spcBef>
              <a:spcAft>
                <a:spcPts val="0"/>
              </a:spcAft>
              <a:buSzPts val="900"/>
              <a:buNone/>
              <a:defRPr sz="1200"/>
            </a:lvl3pPr>
            <a:lvl4pPr lvl="3" algn="l">
              <a:lnSpc>
                <a:spcPct val="100000"/>
              </a:lnSpc>
              <a:spcBef>
                <a:spcPts val="0"/>
              </a:spcBef>
              <a:spcAft>
                <a:spcPts val="0"/>
              </a:spcAft>
              <a:buSzPts val="900"/>
              <a:buNone/>
              <a:defRPr sz="1200"/>
            </a:lvl4pPr>
            <a:lvl5pPr lvl="4" algn="l">
              <a:lnSpc>
                <a:spcPct val="100000"/>
              </a:lnSpc>
              <a:spcBef>
                <a:spcPts val="0"/>
              </a:spcBef>
              <a:spcAft>
                <a:spcPts val="0"/>
              </a:spcAft>
              <a:buSzPts val="900"/>
              <a:buNone/>
              <a:defRPr sz="1200"/>
            </a:lvl5pPr>
            <a:lvl6pPr lvl="5" algn="l">
              <a:lnSpc>
                <a:spcPct val="100000"/>
              </a:lnSpc>
              <a:spcBef>
                <a:spcPts val="0"/>
              </a:spcBef>
              <a:spcAft>
                <a:spcPts val="0"/>
              </a:spcAft>
              <a:buSzPts val="900"/>
              <a:buNone/>
              <a:defRPr sz="1200"/>
            </a:lvl6pPr>
            <a:lvl7pPr lvl="6" algn="l">
              <a:lnSpc>
                <a:spcPct val="100000"/>
              </a:lnSpc>
              <a:spcBef>
                <a:spcPts val="0"/>
              </a:spcBef>
              <a:spcAft>
                <a:spcPts val="0"/>
              </a:spcAft>
              <a:buSzPts val="900"/>
              <a:buNone/>
              <a:defRPr sz="1200"/>
            </a:lvl7pPr>
            <a:lvl8pPr lvl="7" algn="l">
              <a:lnSpc>
                <a:spcPct val="100000"/>
              </a:lnSpc>
              <a:spcBef>
                <a:spcPts val="0"/>
              </a:spcBef>
              <a:spcAft>
                <a:spcPts val="0"/>
              </a:spcAft>
              <a:buSzPts val="900"/>
              <a:buNone/>
              <a:defRPr sz="1200"/>
            </a:lvl8pPr>
            <a:lvl9pPr lvl="8" algn="l">
              <a:lnSpc>
                <a:spcPct val="100000"/>
              </a:lnSpc>
              <a:spcBef>
                <a:spcPts val="0"/>
              </a:spcBef>
              <a:spcAft>
                <a:spcPts val="0"/>
              </a:spcAft>
              <a:buSzPts val="900"/>
              <a:buNone/>
              <a:defRPr sz="1200"/>
            </a:lvl9pPr>
          </a:lstStyle>
          <a:p>
            <a:endParaRPr dirty="0"/>
          </a:p>
        </p:txBody>
      </p:sp>
      <p:sp>
        <p:nvSpPr>
          <p:cNvPr id="40" name="Google Shape;40;p34"/>
          <p:cNvSpPr txBox="1">
            <a:spLocks noGrp="1"/>
          </p:cNvSpPr>
          <p:nvPr>
            <p:ph type="ctrTitle" idx="20"/>
          </p:nvPr>
        </p:nvSpPr>
        <p:spPr>
          <a:xfrm>
            <a:off x="9082077" y="5081804"/>
            <a:ext cx="2632400" cy="770400"/>
          </a:xfrm>
          <a:prstGeom prst="rect">
            <a:avLst/>
          </a:prstGeom>
          <a:noFill/>
          <a:ln>
            <a:noFill/>
          </a:ln>
        </p:spPr>
        <p:txBody>
          <a:bodyPr spcFirstLastPara="1" wrap="square" lIns="91425" tIns="91425" rIns="91425" bIns="91425" anchor="b" anchorCtr="0">
            <a:noAutofit/>
          </a:bodyPr>
          <a:lstStyle>
            <a:lvl1pPr lvl="0" algn="l">
              <a:lnSpc>
                <a:spcPct val="100000"/>
              </a:lnSpc>
              <a:spcBef>
                <a:spcPts val="0"/>
              </a:spcBef>
              <a:spcAft>
                <a:spcPts val="0"/>
              </a:spcAft>
              <a:buSzPts val="1400"/>
              <a:buNone/>
              <a:defRPr sz="1867" b="0">
                <a:solidFill>
                  <a:srgbClr val="EE0033"/>
                </a:solidFill>
                <a:latin typeface="FS PF BeauSans Pro" panose="02000500000000020004" pitchFamily="50" charset="0"/>
                <a:ea typeface="FS PF BeauSans Pro" panose="02000500000000020004" pitchFamily="50" charset="0"/>
                <a:cs typeface="Arial"/>
                <a:sym typeface="Arial"/>
              </a:defRPr>
            </a:lvl1pPr>
            <a:lvl2pPr lvl="1" algn="l">
              <a:lnSpc>
                <a:spcPct val="100000"/>
              </a:lnSpc>
              <a:spcBef>
                <a:spcPts val="0"/>
              </a:spcBef>
              <a:spcAft>
                <a:spcPts val="0"/>
              </a:spcAft>
              <a:buSzPts val="1400"/>
              <a:buNone/>
              <a:defRPr sz="1867"/>
            </a:lvl2pPr>
            <a:lvl3pPr lvl="2" algn="l">
              <a:lnSpc>
                <a:spcPct val="100000"/>
              </a:lnSpc>
              <a:spcBef>
                <a:spcPts val="0"/>
              </a:spcBef>
              <a:spcAft>
                <a:spcPts val="0"/>
              </a:spcAft>
              <a:buSzPts val="1400"/>
              <a:buNone/>
              <a:defRPr sz="1867"/>
            </a:lvl3pPr>
            <a:lvl4pPr lvl="3" algn="l">
              <a:lnSpc>
                <a:spcPct val="100000"/>
              </a:lnSpc>
              <a:spcBef>
                <a:spcPts val="0"/>
              </a:spcBef>
              <a:spcAft>
                <a:spcPts val="0"/>
              </a:spcAft>
              <a:buSzPts val="1400"/>
              <a:buNone/>
              <a:defRPr sz="1867"/>
            </a:lvl4pPr>
            <a:lvl5pPr lvl="4" algn="l">
              <a:lnSpc>
                <a:spcPct val="100000"/>
              </a:lnSpc>
              <a:spcBef>
                <a:spcPts val="0"/>
              </a:spcBef>
              <a:spcAft>
                <a:spcPts val="0"/>
              </a:spcAft>
              <a:buSzPts val="1400"/>
              <a:buNone/>
              <a:defRPr sz="1867"/>
            </a:lvl5pPr>
            <a:lvl6pPr lvl="5" algn="l">
              <a:lnSpc>
                <a:spcPct val="100000"/>
              </a:lnSpc>
              <a:spcBef>
                <a:spcPts val="0"/>
              </a:spcBef>
              <a:spcAft>
                <a:spcPts val="0"/>
              </a:spcAft>
              <a:buSzPts val="1400"/>
              <a:buNone/>
              <a:defRPr sz="1867"/>
            </a:lvl6pPr>
            <a:lvl7pPr lvl="6" algn="l">
              <a:lnSpc>
                <a:spcPct val="100000"/>
              </a:lnSpc>
              <a:spcBef>
                <a:spcPts val="0"/>
              </a:spcBef>
              <a:spcAft>
                <a:spcPts val="0"/>
              </a:spcAft>
              <a:buSzPts val="1400"/>
              <a:buNone/>
              <a:defRPr sz="1867"/>
            </a:lvl7pPr>
            <a:lvl8pPr lvl="7" algn="l">
              <a:lnSpc>
                <a:spcPct val="100000"/>
              </a:lnSpc>
              <a:spcBef>
                <a:spcPts val="0"/>
              </a:spcBef>
              <a:spcAft>
                <a:spcPts val="0"/>
              </a:spcAft>
              <a:buSzPts val="1400"/>
              <a:buNone/>
              <a:defRPr sz="1867"/>
            </a:lvl8pPr>
            <a:lvl9pPr lvl="8" algn="l">
              <a:lnSpc>
                <a:spcPct val="100000"/>
              </a:lnSpc>
              <a:spcBef>
                <a:spcPts val="0"/>
              </a:spcBef>
              <a:spcAft>
                <a:spcPts val="0"/>
              </a:spcAft>
              <a:buSzPts val="1400"/>
              <a:buNone/>
              <a:defRPr sz="1867"/>
            </a:lvl9pPr>
          </a:lstStyle>
          <a:p>
            <a:endParaRPr dirty="0"/>
          </a:p>
        </p:txBody>
      </p:sp>
      <p:sp>
        <p:nvSpPr>
          <p:cNvPr id="41" name="Google Shape;41;p34"/>
          <p:cNvSpPr txBox="1">
            <a:spLocks noGrp="1"/>
          </p:cNvSpPr>
          <p:nvPr>
            <p:ph type="subTitle" idx="21"/>
          </p:nvPr>
        </p:nvSpPr>
        <p:spPr>
          <a:xfrm>
            <a:off x="9082077" y="5586631"/>
            <a:ext cx="2232400" cy="763200"/>
          </a:xfrm>
          <a:prstGeom prst="rect">
            <a:avLst/>
          </a:prstGeom>
          <a:noFill/>
          <a:ln>
            <a:noFill/>
          </a:ln>
        </p:spPr>
        <p:txBody>
          <a:bodyPr spcFirstLastPara="1" wrap="square" lIns="91425" tIns="91425" rIns="91425" bIns="91425" anchor="t" anchorCtr="0">
            <a:noAutofit/>
          </a:bodyPr>
          <a:lstStyle>
            <a:lvl1pPr lvl="0" algn="l">
              <a:lnSpc>
                <a:spcPct val="100000"/>
              </a:lnSpc>
              <a:spcBef>
                <a:spcPts val="0"/>
              </a:spcBef>
              <a:spcAft>
                <a:spcPts val="0"/>
              </a:spcAft>
              <a:buSzPts val="900"/>
              <a:buNone/>
              <a:defRPr>
                <a:latin typeface="FS PF BeauSans Pro" panose="02000500000000020004" pitchFamily="50" charset="0"/>
                <a:ea typeface="FS PF BeauSans Pro" panose="02000500000000020004" pitchFamily="50" charset="0"/>
                <a:cs typeface="Arial"/>
                <a:sym typeface="Arial"/>
              </a:defRPr>
            </a:lvl1pPr>
            <a:lvl2pPr lvl="1" algn="l">
              <a:lnSpc>
                <a:spcPct val="100000"/>
              </a:lnSpc>
              <a:spcBef>
                <a:spcPts val="0"/>
              </a:spcBef>
              <a:spcAft>
                <a:spcPts val="0"/>
              </a:spcAft>
              <a:buSzPts val="900"/>
              <a:buNone/>
              <a:defRPr sz="1200"/>
            </a:lvl2pPr>
            <a:lvl3pPr lvl="2" algn="l">
              <a:lnSpc>
                <a:spcPct val="100000"/>
              </a:lnSpc>
              <a:spcBef>
                <a:spcPts val="0"/>
              </a:spcBef>
              <a:spcAft>
                <a:spcPts val="0"/>
              </a:spcAft>
              <a:buSzPts val="900"/>
              <a:buNone/>
              <a:defRPr sz="1200"/>
            </a:lvl3pPr>
            <a:lvl4pPr lvl="3" algn="l">
              <a:lnSpc>
                <a:spcPct val="100000"/>
              </a:lnSpc>
              <a:spcBef>
                <a:spcPts val="0"/>
              </a:spcBef>
              <a:spcAft>
                <a:spcPts val="0"/>
              </a:spcAft>
              <a:buSzPts val="900"/>
              <a:buNone/>
              <a:defRPr sz="1200"/>
            </a:lvl4pPr>
            <a:lvl5pPr lvl="4" algn="l">
              <a:lnSpc>
                <a:spcPct val="100000"/>
              </a:lnSpc>
              <a:spcBef>
                <a:spcPts val="0"/>
              </a:spcBef>
              <a:spcAft>
                <a:spcPts val="0"/>
              </a:spcAft>
              <a:buSzPts val="900"/>
              <a:buNone/>
              <a:defRPr sz="1200"/>
            </a:lvl5pPr>
            <a:lvl6pPr lvl="5" algn="l">
              <a:lnSpc>
                <a:spcPct val="100000"/>
              </a:lnSpc>
              <a:spcBef>
                <a:spcPts val="0"/>
              </a:spcBef>
              <a:spcAft>
                <a:spcPts val="0"/>
              </a:spcAft>
              <a:buSzPts val="900"/>
              <a:buNone/>
              <a:defRPr sz="1200"/>
            </a:lvl6pPr>
            <a:lvl7pPr lvl="6" algn="l">
              <a:lnSpc>
                <a:spcPct val="100000"/>
              </a:lnSpc>
              <a:spcBef>
                <a:spcPts val="0"/>
              </a:spcBef>
              <a:spcAft>
                <a:spcPts val="0"/>
              </a:spcAft>
              <a:buSzPts val="900"/>
              <a:buNone/>
              <a:defRPr sz="1200"/>
            </a:lvl7pPr>
            <a:lvl8pPr lvl="7" algn="l">
              <a:lnSpc>
                <a:spcPct val="100000"/>
              </a:lnSpc>
              <a:spcBef>
                <a:spcPts val="0"/>
              </a:spcBef>
              <a:spcAft>
                <a:spcPts val="0"/>
              </a:spcAft>
              <a:buSzPts val="900"/>
              <a:buNone/>
              <a:defRPr sz="1200"/>
            </a:lvl8pPr>
            <a:lvl9pPr lvl="8" algn="l">
              <a:lnSpc>
                <a:spcPct val="100000"/>
              </a:lnSpc>
              <a:spcBef>
                <a:spcPts val="0"/>
              </a:spcBef>
              <a:spcAft>
                <a:spcPts val="0"/>
              </a:spcAft>
              <a:buSzPts val="900"/>
              <a:buNone/>
              <a:defRPr sz="1200"/>
            </a:lvl9pPr>
          </a:lstStyle>
          <a:p>
            <a:endParaRPr dirty="0"/>
          </a:p>
        </p:txBody>
      </p:sp>
      <p:sp>
        <p:nvSpPr>
          <p:cNvPr id="42" name="Google Shape;42;p34"/>
          <p:cNvSpPr txBox="1">
            <a:spLocks noGrp="1"/>
          </p:cNvSpPr>
          <p:nvPr>
            <p:ph type="sldNum" idx="12"/>
          </p:nvPr>
        </p:nvSpPr>
        <p:spPr>
          <a:xfrm>
            <a:off x="11131827" y="176756"/>
            <a:ext cx="571880" cy="315753"/>
          </a:xfrm>
          <a:prstGeom prst="rect">
            <a:avLst/>
          </a:prstGeom>
          <a:noFill/>
          <a:ln>
            <a:noFill/>
          </a:ln>
        </p:spPr>
        <p:txBody>
          <a:bodyPr spcFirstLastPara="1" wrap="square" lIns="91425" tIns="45700" rIns="91425" bIns="45700" anchor="ctr" anchorCtr="0">
            <a:noAutofit/>
          </a:bodyPr>
          <a:lstStyle>
            <a:lvl1pPr marL="0" lvl="0" indent="0" algn="ctr">
              <a:spcBef>
                <a:spcPts val="0"/>
              </a:spcBef>
              <a:buNone/>
              <a:defRPr>
                <a:solidFill>
                  <a:schemeClr val="bg1"/>
                </a:solidFill>
              </a:defRPr>
            </a:lvl1pPr>
            <a:lvl2pPr marL="0" lvl="1" indent="0" algn="ctr">
              <a:spcBef>
                <a:spcPts val="0"/>
              </a:spcBef>
              <a:buNone/>
              <a:defRPr/>
            </a:lvl2pPr>
            <a:lvl3pPr marL="0" lvl="2" indent="0" algn="ctr">
              <a:spcBef>
                <a:spcPts val="0"/>
              </a:spcBef>
              <a:buNone/>
              <a:defRPr/>
            </a:lvl3pPr>
            <a:lvl4pPr marL="0" lvl="3" indent="0" algn="ctr">
              <a:spcBef>
                <a:spcPts val="0"/>
              </a:spcBef>
              <a:buNone/>
              <a:defRPr/>
            </a:lvl4pPr>
            <a:lvl5pPr marL="0" lvl="4" indent="0" algn="ctr">
              <a:spcBef>
                <a:spcPts val="0"/>
              </a:spcBef>
              <a:buNone/>
              <a:defRPr/>
            </a:lvl5pPr>
            <a:lvl6pPr marL="0" lvl="5" indent="0" algn="ctr">
              <a:spcBef>
                <a:spcPts val="0"/>
              </a:spcBef>
              <a:buNone/>
              <a:defRPr/>
            </a:lvl6pPr>
            <a:lvl7pPr marL="0" lvl="6" indent="0" algn="ctr">
              <a:spcBef>
                <a:spcPts val="0"/>
              </a:spcBef>
              <a:buNone/>
              <a:defRPr/>
            </a:lvl7pPr>
            <a:lvl8pPr marL="0" lvl="7" indent="0" algn="ctr">
              <a:spcBef>
                <a:spcPts val="0"/>
              </a:spcBef>
              <a:buNone/>
              <a:defRPr/>
            </a:lvl8pPr>
            <a:lvl9pPr marL="0" lvl="8" indent="0" algn="ctr">
              <a:spcBef>
                <a:spcPts val="0"/>
              </a:spcBef>
              <a:buNone/>
              <a:defRPr/>
            </a:lvl9pPr>
          </a:lstStyle>
          <a:p>
            <a:fld id="{00000000-1234-1234-1234-123412341234}"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Title and three columns 1">
  <p:cSld name="CUSTOM_23">
    <p:spTree>
      <p:nvGrpSpPr>
        <p:cNvPr id="1" name="Shape 43"/>
        <p:cNvGrpSpPr/>
        <p:nvPr/>
      </p:nvGrpSpPr>
      <p:grpSpPr>
        <a:xfrm>
          <a:off x="0" y="0"/>
          <a:ext cx="0" cy="0"/>
          <a:chOff x="0" y="0"/>
          <a:chExt cx="0" cy="0"/>
        </a:xfrm>
      </p:grpSpPr>
      <p:sp>
        <p:nvSpPr>
          <p:cNvPr id="44" name="Google Shape;44;p35"/>
          <p:cNvSpPr txBox="1">
            <a:spLocks noGrp="1"/>
          </p:cNvSpPr>
          <p:nvPr>
            <p:ph type="ctrTitle"/>
          </p:nvPr>
        </p:nvSpPr>
        <p:spPr>
          <a:xfrm>
            <a:off x="2619801" y="470467"/>
            <a:ext cx="6952400" cy="727397"/>
          </a:xfrm>
          <a:prstGeom prst="rect">
            <a:avLst/>
          </a:prstGeom>
          <a:noFill/>
          <a:ln>
            <a:noFill/>
          </a:ln>
        </p:spPr>
        <p:txBody>
          <a:bodyPr spcFirstLastPara="1" wrap="square" lIns="91425" tIns="91425" rIns="91425" bIns="91425" anchor="t" anchorCtr="0">
            <a:noAutofit/>
          </a:bodyPr>
          <a:lstStyle>
            <a:lvl1pPr lvl="0" algn="ctr">
              <a:lnSpc>
                <a:spcPct val="100000"/>
              </a:lnSpc>
              <a:spcBef>
                <a:spcPts val="0"/>
              </a:spcBef>
              <a:spcAft>
                <a:spcPts val="0"/>
              </a:spcAft>
              <a:buSzPts val="2400"/>
              <a:buNone/>
              <a:defRPr sz="4000" b="1">
                <a:solidFill>
                  <a:srgbClr val="EE0033"/>
                </a:solidFill>
                <a:latin typeface="FS PF BeauSans Pro" panose="02000500000000020004" pitchFamily="50" charset="0"/>
                <a:ea typeface="Roboto"/>
                <a:cs typeface="Roboto"/>
                <a:sym typeface="Roboto"/>
              </a:defRPr>
            </a:lvl1pPr>
            <a:lvl2pPr lvl="1" algn="r">
              <a:lnSpc>
                <a:spcPct val="100000"/>
              </a:lnSpc>
              <a:spcBef>
                <a:spcPts val="0"/>
              </a:spcBef>
              <a:spcAft>
                <a:spcPts val="0"/>
              </a:spcAft>
              <a:buClr>
                <a:schemeClr val="hlink"/>
              </a:buClr>
              <a:buSzPts val="2400"/>
              <a:buNone/>
              <a:defRPr sz="3200">
                <a:solidFill>
                  <a:schemeClr val="hlink"/>
                </a:solidFill>
              </a:defRPr>
            </a:lvl2pPr>
            <a:lvl3pPr lvl="2" algn="r">
              <a:lnSpc>
                <a:spcPct val="100000"/>
              </a:lnSpc>
              <a:spcBef>
                <a:spcPts val="0"/>
              </a:spcBef>
              <a:spcAft>
                <a:spcPts val="0"/>
              </a:spcAft>
              <a:buClr>
                <a:schemeClr val="hlink"/>
              </a:buClr>
              <a:buSzPts val="2400"/>
              <a:buNone/>
              <a:defRPr sz="3200">
                <a:solidFill>
                  <a:schemeClr val="hlink"/>
                </a:solidFill>
              </a:defRPr>
            </a:lvl3pPr>
            <a:lvl4pPr lvl="3" algn="r">
              <a:lnSpc>
                <a:spcPct val="100000"/>
              </a:lnSpc>
              <a:spcBef>
                <a:spcPts val="0"/>
              </a:spcBef>
              <a:spcAft>
                <a:spcPts val="0"/>
              </a:spcAft>
              <a:buClr>
                <a:schemeClr val="hlink"/>
              </a:buClr>
              <a:buSzPts val="2400"/>
              <a:buNone/>
              <a:defRPr sz="3200">
                <a:solidFill>
                  <a:schemeClr val="hlink"/>
                </a:solidFill>
              </a:defRPr>
            </a:lvl4pPr>
            <a:lvl5pPr lvl="4" algn="r">
              <a:lnSpc>
                <a:spcPct val="100000"/>
              </a:lnSpc>
              <a:spcBef>
                <a:spcPts val="0"/>
              </a:spcBef>
              <a:spcAft>
                <a:spcPts val="0"/>
              </a:spcAft>
              <a:buClr>
                <a:schemeClr val="hlink"/>
              </a:buClr>
              <a:buSzPts val="2400"/>
              <a:buNone/>
              <a:defRPr sz="3200">
                <a:solidFill>
                  <a:schemeClr val="hlink"/>
                </a:solidFill>
              </a:defRPr>
            </a:lvl5pPr>
            <a:lvl6pPr lvl="5" algn="r">
              <a:lnSpc>
                <a:spcPct val="100000"/>
              </a:lnSpc>
              <a:spcBef>
                <a:spcPts val="0"/>
              </a:spcBef>
              <a:spcAft>
                <a:spcPts val="0"/>
              </a:spcAft>
              <a:buClr>
                <a:schemeClr val="hlink"/>
              </a:buClr>
              <a:buSzPts val="2400"/>
              <a:buNone/>
              <a:defRPr sz="3200">
                <a:solidFill>
                  <a:schemeClr val="hlink"/>
                </a:solidFill>
              </a:defRPr>
            </a:lvl6pPr>
            <a:lvl7pPr lvl="6" algn="r">
              <a:lnSpc>
                <a:spcPct val="100000"/>
              </a:lnSpc>
              <a:spcBef>
                <a:spcPts val="0"/>
              </a:spcBef>
              <a:spcAft>
                <a:spcPts val="0"/>
              </a:spcAft>
              <a:buClr>
                <a:schemeClr val="hlink"/>
              </a:buClr>
              <a:buSzPts val="2400"/>
              <a:buNone/>
              <a:defRPr sz="3200">
                <a:solidFill>
                  <a:schemeClr val="hlink"/>
                </a:solidFill>
              </a:defRPr>
            </a:lvl7pPr>
            <a:lvl8pPr lvl="7" algn="r">
              <a:lnSpc>
                <a:spcPct val="100000"/>
              </a:lnSpc>
              <a:spcBef>
                <a:spcPts val="0"/>
              </a:spcBef>
              <a:spcAft>
                <a:spcPts val="0"/>
              </a:spcAft>
              <a:buClr>
                <a:schemeClr val="hlink"/>
              </a:buClr>
              <a:buSzPts val="2400"/>
              <a:buNone/>
              <a:defRPr sz="3200">
                <a:solidFill>
                  <a:schemeClr val="hlink"/>
                </a:solidFill>
              </a:defRPr>
            </a:lvl8pPr>
            <a:lvl9pPr lvl="8" algn="r">
              <a:lnSpc>
                <a:spcPct val="100000"/>
              </a:lnSpc>
              <a:spcBef>
                <a:spcPts val="0"/>
              </a:spcBef>
              <a:spcAft>
                <a:spcPts val="0"/>
              </a:spcAft>
              <a:buClr>
                <a:schemeClr val="hlink"/>
              </a:buClr>
              <a:buSzPts val="2400"/>
              <a:buNone/>
              <a:defRPr sz="3200">
                <a:solidFill>
                  <a:schemeClr val="hlink"/>
                </a:solidFill>
              </a:defRPr>
            </a:lvl9pPr>
          </a:lstStyle>
          <a:p>
            <a:endParaRPr dirty="0"/>
          </a:p>
        </p:txBody>
      </p:sp>
      <p:sp>
        <p:nvSpPr>
          <p:cNvPr id="45" name="Google Shape;45;p35"/>
          <p:cNvSpPr txBox="1">
            <a:spLocks noGrp="1"/>
          </p:cNvSpPr>
          <p:nvPr>
            <p:ph type="sldNum" idx="12"/>
          </p:nvPr>
        </p:nvSpPr>
        <p:spPr>
          <a:xfrm>
            <a:off x="11131827" y="176756"/>
            <a:ext cx="571880" cy="315753"/>
          </a:xfrm>
          <a:prstGeom prst="rect">
            <a:avLst/>
          </a:prstGeom>
          <a:noFill/>
          <a:ln>
            <a:noFill/>
          </a:ln>
        </p:spPr>
        <p:txBody>
          <a:bodyPr spcFirstLastPara="1" wrap="square" lIns="91425" tIns="45700" rIns="91425" bIns="45700" anchor="ctr" anchorCtr="0">
            <a:noAutofit/>
          </a:bodyPr>
          <a:lstStyle>
            <a:lvl1pPr marL="0" lvl="0" indent="0" algn="ctr">
              <a:spcBef>
                <a:spcPts val="0"/>
              </a:spcBef>
              <a:buNone/>
              <a:defRPr/>
            </a:lvl1pPr>
            <a:lvl2pPr marL="0" lvl="1" indent="0" algn="ctr">
              <a:spcBef>
                <a:spcPts val="0"/>
              </a:spcBef>
              <a:buNone/>
              <a:defRPr/>
            </a:lvl2pPr>
            <a:lvl3pPr marL="0" lvl="2" indent="0" algn="ctr">
              <a:spcBef>
                <a:spcPts val="0"/>
              </a:spcBef>
              <a:buNone/>
              <a:defRPr/>
            </a:lvl3pPr>
            <a:lvl4pPr marL="0" lvl="3" indent="0" algn="ctr">
              <a:spcBef>
                <a:spcPts val="0"/>
              </a:spcBef>
              <a:buNone/>
              <a:defRPr/>
            </a:lvl4pPr>
            <a:lvl5pPr marL="0" lvl="4" indent="0" algn="ctr">
              <a:spcBef>
                <a:spcPts val="0"/>
              </a:spcBef>
              <a:buNone/>
              <a:defRPr/>
            </a:lvl5pPr>
            <a:lvl6pPr marL="0" lvl="5" indent="0" algn="ctr">
              <a:spcBef>
                <a:spcPts val="0"/>
              </a:spcBef>
              <a:buNone/>
              <a:defRPr/>
            </a:lvl6pPr>
            <a:lvl7pPr marL="0" lvl="6" indent="0" algn="ctr">
              <a:spcBef>
                <a:spcPts val="0"/>
              </a:spcBef>
              <a:buNone/>
              <a:defRPr/>
            </a:lvl7pPr>
            <a:lvl8pPr marL="0" lvl="7" indent="0" algn="ctr">
              <a:spcBef>
                <a:spcPts val="0"/>
              </a:spcBef>
              <a:buNone/>
              <a:defRPr/>
            </a:lvl8pPr>
            <a:lvl9pPr marL="0" lvl="8" indent="0" algn="ctr">
              <a:spcBef>
                <a:spcPts val="0"/>
              </a:spcBef>
              <a:buNone/>
              <a:defRPr/>
            </a:lvl9pPr>
          </a:lstStyle>
          <a:p>
            <a:pPr marL="0" lvl="0" indent="0" algn="ctr" rtl="0">
              <a:spcBef>
                <a:spcPts val="0"/>
              </a:spcBef>
              <a:spcAft>
                <a:spcPts val="0"/>
              </a:spcAft>
              <a:buNone/>
            </a:pPr>
            <a:fld id="{00000000-1234-1234-1234-123412341234}" type="slidenum">
              <a:rPr lang="en-US"/>
              <a:t>‹#›</a:t>
            </a:fld>
            <a:endParaRPr dirty="0"/>
          </a:p>
        </p:txBody>
      </p:sp>
      <p:sp>
        <p:nvSpPr>
          <p:cNvPr id="46" name="Google Shape;46;p35"/>
          <p:cNvSpPr txBox="1">
            <a:spLocks noGrp="1"/>
          </p:cNvSpPr>
          <p:nvPr>
            <p:ph type="body" idx="1"/>
          </p:nvPr>
        </p:nvSpPr>
        <p:spPr>
          <a:xfrm>
            <a:off x="850392" y="1435608"/>
            <a:ext cx="10570464" cy="4553712"/>
          </a:xfrm>
          <a:prstGeom prst="rect">
            <a:avLst/>
          </a:prstGeom>
          <a:noFill/>
          <a:ln>
            <a:noFill/>
          </a:ln>
        </p:spPr>
        <p:txBody>
          <a:bodyPr spcFirstLastPara="1" wrap="square" lIns="91425" tIns="91425" rIns="91425" bIns="91425" anchor="t" anchorCtr="0">
            <a:noAutofit/>
          </a:bodyPr>
          <a:lstStyle>
            <a:lvl1pPr marL="457200" lvl="0" indent="-381000" algn="l">
              <a:lnSpc>
                <a:spcPct val="115000"/>
              </a:lnSpc>
              <a:spcBef>
                <a:spcPts val="0"/>
              </a:spcBef>
              <a:spcAft>
                <a:spcPts val="0"/>
              </a:spcAft>
              <a:buSzPts val="2400"/>
              <a:buChar char="●"/>
              <a:defRPr sz="2400">
                <a:latin typeface="FS PF BeauSans Pro" panose="02000500000000020004" pitchFamily="50" charset="0"/>
                <a:ea typeface="Roboto"/>
                <a:cs typeface="Roboto"/>
                <a:sym typeface="Roboto"/>
              </a:defRPr>
            </a:lvl1pPr>
            <a:lvl2pPr marL="914400" lvl="1" indent="-381000" algn="l">
              <a:lnSpc>
                <a:spcPct val="115000"/>
              </a:lnSpc>
              <a:spcBef>
                <a:spcPts val="1600"/>
              </a:spcBef>
              <a:spcAft>
                <a:spcPts val="0"/>
              </a:spcAft>
              <a:buSzPts val="2400"/>
              <a:buChar char="○"/>
              <a:defRPr sz="2400">
                <a:latin typeface="Roboto"/>
                <a:ea typeface="Roboto"/>
                <a:cs typeface="Roboto"/>
                <a:sym typeface="Roboto"/>
              </a:defRPr>
            </a:lvl2pPr>
            <a:lvl3pPr marL="1371600" lvl="2" indent="-381000" algn="l">
              <a:lnSpc>
                <a:spcPct val="115000"/>
              </a:lnSpc>
              <a:spcBef>
                <a:spcPts val="1600"/>
              </a:spcBef>
              <a:spcAft>
                <a:spcPts val="0"/>
              </a:spcAft>
              <a:buSzPts val="2400"/>
              <a:buChar char="■"/>
              <a:defRPr sz="2400">
                <a:latin typeface="Roboto"/>
                <a:ea typeface="Roboto"/>
                <a:cs typeface="Roboto"/>
                <a:sym typeface="Roboto"/>
              </a:defRPr>
            </a:lvl3pPr>
            <a:lvl4pPr marL="1828800" lvl="3" indent="-304800" algn="l">
              <a:lnSpc>
                <a:spcPct val="115000"/>
              </a:lnSpc>
              <a:spcBef>
                <a:spcPts val="1600"/>
              </a:spcBef>
              <a:spcAft>
                <a:spcPts val="0"/>
              </a:spcAft>
              <a:buSzPts val="1200"/>
              <a:buChar char="●"/>
              <a:defRPr sz="2400">
                <a:latin typeface="Roboto"/>
                <a:ea typeface="Roboto"/>
                <a:cs typeface="Roboto"/>
                <a:sym typeface="Roboto"/>
              </a:defRPr>
            </a:lvl4pPr>
            <a:lvl5pPr marL="2286000" lvl="4" indent="-304800" algn="l">
              <a:lnSpc>
                <a:spcPct val="115000"/>
              </a:lnSpc>
              <a:spcBef>
                <a:spcPts val="1600"/>
              </a:spcBef>
              <a:spcAft>
                <a:spcPts val="0"/>
              </a:spcAft>
              <a:buSzPts val="1200"/>
              <a:buChar char="○"/>
              <a:defRPr sz="2400">
                <a:latin typeface="Roboto"/>
                <a:ea typeface="Roboto"/>
                <a:cs typeface="Roboto"/>
                <a:sym typeface="Roboto"/>
              </a:defRPr>
            </a:lvl5pPr>
            <a:lvl6pPr marL="2743200" lvl="5" indent="-304800" algn="l">
              <a:lnSpc>
                <a:spcPct val="115000"/>
              </a:lnSpc>
              <a:spcBef>
                <a:spcPts val="1600"/>
              </a:spcBef>
              <a:spcAft>
                <a:spcPts val="0"/>
              </a:spcAft>
              <a:buSzPts val="1200"/>
              <a:buChar char="■"/>
              <a:defRPr/>
            </a:lvl6pPr>
            <a:lvl7pPr marL="3200400" lvl="6" indent="-304800" algn="l">
              <a:lnSpc>
                <a:spcPct val="115000"/>
              </a:lnSpc>
              <a:spcBef>
                <a:spcPts val="1600"/>
              </a:spcBef>
              <a:spcAft>
                <a:spcPts val="0"/>
              </a:spcAft>
              <a:buSzPts val="1200"/>
              <a:buChar char="●"/>
              <a:defRPr/>
            </a:lvl7pPr>
            <a:lvl8pPr marL="3657600" lvl="7" indent="-304800" algn="l">
              <a:lnSpc>
                <a:spcPct val="115000"/>
              </a:lnSpc>
              <a:spcBef>
                <a:spcPts val="1600"/>
              </a:spcBef>
              <a:spcAft>
                <a:spcPts val="0"/>
              </a:spcAft>
              <a:buSzPts val="1200"/>
              <a:buChar char="○"/>
              <a:defRPr/>
            </a:lvl8pPr>
            <a:lvl9pPr marL="4114800" lvl="8" indent="-304800" algn="l">
              <a:lnSpc>
                <a:spcPct val="115000"/>
              </a:lnSpc>
              <a:spcBef>
                <a:spcPts val="1600"/>
              </a:spcBef>
              <a:spcAft>
                <a:spcPts val="1600"/>
              </a:spcAft>
              <a:buSzPts val="1200"/>
              <a:buChar char="■"/>
              <a:defRPr/>
            </a:lvl9pPr>
          </a:lstStyle>
          <a:p>
            <a:endParaRPr dirty="0"/>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Thanks">
  <p:cSld name="CUSTOM_10">
    <p:spTree>
      <p:nvGrpSpPr>
        <p:cNvPr id="1" name="Shape 47"/>
        <p:cNvGrpSpPr/>
        <p:nvPr/>
      </p:nvGrpSpPr>
      <p:grpSpPr>
        <a:xfrm>
          <a:off x="0" y="0"/>
          <a:ext cx="0" cy="0"/>
          <a:chOff x="0" y="0"/>
          <a:chExt cx="0" cy="0"/>
        </a:xfrm>
      </p:grpSpPr>
      <p:sp>
        <p:nvSpPr>
          <p:cNvPr id="48" name="Google Shape;48;p36"/>
          <p:cNvSpPr txBox="1">
            <a:spLocks noGrp="1"/>
          </p:cNvSpPr>
          <p:nvPr>
            <p:ph type="ctrTitle"/>
          </p:nvPr>
        </p:nvSpPr>
        <p:spPr>
          <a:xfrm flipH="1">
            <a:off x="2632200" y="1548000"/>
            <a:ext cx="6927600" cy="1820400"/>
          </a:xfrm>
          <a:prstGeom prst="rect">
            <a:avLst/>
          </a:prstGeom>
          <a:noFill/>
          <a:ln>
            <a:noFill/>
          </a:ln>
        </p:spPr>
        <p:txBody>
          <a:bodyPr spcFirstLastPara="1" wrap="square" lIns="91425" tIns="91425" rIns="91425" bIns="91425" anchor="b" anchorCtr="0">
            <a:noAutofit/>
          </a:bodyPr>
          <a:lstStyle>
            <a:lvl1pPr lvl="0" algn="ctr">
              <a:lnSpc>
                <a:spcPct val="100000"/>
              </a:lnSpc>
              <a:spcBef>
                <a:spcPts val="0"/>
              </a:spcBef>
              <a:spcAft>
                <a:spcPts val="0"/>
              </a:spcAft>
              <a:buClr>
                <a:srgbClr val="000000"/>
              </a:buClr>
              <a:buSzPts val="4800"/>
              <a:buNone/>
              <a:defRPr sz="6400" b="0">
                <a:solidFill>
                  <a:srgbClr val="EE0033"/>
                </a:solidFill>
                <a:latin typeface="FS PF BeauSans Pro" panose="02000500000000020004" pitchFamily="50" charset="0"/>
                <a:ea typeface="FS PF BeauSans Pro" panose="02000500000000020004" pitchFamily="50" charset="0"/>
                <a:cs typeface="Arial"/>
                <a:sym typeface="Arial"/>
              </a:defRPr>
            </a:lvl1pPr>
            <a:lvl2pPr lvl="1" algn="ctr">
              <a:lnSpc>
                <a:spcPct val="100000"/>
              </a:lnSpc>
              <a:spcBef>
                <a:spcPts val="0"/>
              </a:spcBef>
              <a:spcAft>
                <a:spcPts val="0"/>
              </a:spcAft>
              <a:buClr>
                <a:schemeClr val="lt1"/>
              </a:buClr>
              <a:buSzPts val="4800"/>
              <a:buNone/>
              <a:defRPr sz="6400">
                <a:solidFill>
                  <a:schemeClr val="lt1"/>
                </a:solidFill>
              </a:defRPr>
            </a:lvl2pPr>
            <a:lvl3pPr lvl="2" algn="ctr">
              <a:lnSpc>
                <a:spcPct val="100000"/>
              </a:lnSpc>
              <a:spcBef>
                <a:spcPts val="0"/>
              </a:spcBef>
              <a:spcAft>
                <a:spcPts val="0"/>
              </a:spcAft>
              <a:buClr>
                <a:schemeClr val="lt1"/>
              </a:buClr>
              <a:buSzPts val="4800"/>
              <a:buNone/>
              <a:defRPr sz="6400">
                <a:solidFill>
                  <a:schemeClr val="lt1"/>
                </a:solidFill>
              </a:defRPr>
            </a:lvl3pPr>
            <a:lvl4pPr lvl="3" algn="ctr">
              <a:lnSpc>
                <a:spcPct val="100000"/>
              </a:lnSpc>
              <a:spcBef>
                <a:spcPts val="0"/>
              </a:spcBef>
              <a:spcAft>
                <a:spcPts val="0"/>
              </a:spcAft>
              <a:buClr>
                <a:schemeClr val="lt1"/>
              </a:buClr>
              <a:buSzPts val="4800"/>
              <a:buNone/>
              <a:defRPr sz="6400">
                <a:solidFill>
                  <a:schemeClr val="lt1"/>
                </a:solidFill>
              </a:defRPr>
            </a:lvl4pPr>
            <a:lvl5pPr lvl="4" algn="ctr">
              <a:lnSpc>
                <a:spcPct val="100000"/>
              </a:lnSpc>
              <a:spcBef>
                <a:spcPts val="0"/>
              </a:spcBef>
              <a:spcAft>
                <a:spcPts val="0"/>
              </a:spcAft>
              <a:buClr>
                <a:schemeClr val="lt1"/>
              </a:buClr>
              <a:buSzPts val="4800"/>
              <a:buNone/>
              <a:defRPr sz="6400">
                <a:solidFill>
                  <a:schemeClr val="lt1"/>
                </a:solidFill>
              </a:defRPr>
            </a:lvl5pPr>
            <a:lvl6pPr lvl="5" algn="ctr">
              <a:lnSpc>
                <a:spcPct val="100000"/>
              </a:lnSpc>
              <a:spcBef>
                <a:spcPts val="0"/>
              </a:spcBef>
              <a:spcAft>
                <a:spcPts val="0"/>
              </a:spcAft>
              <a:buClr>
                <a:schemeClr val="lt1"/>
              </a:buClr>
              <a:buSzPts val="4800"/>
              <a:buNone/>
              <a:defRPr sz="6400">
                <a:solidFill>
                  <a:schemeClr val="lt1"/>
                </a:solidFill>
              </a:defRPr>
            </a:lvl6pPr>
            <a:lvl7pPr lvl="6" algn="ctr">
              <a:lnSpc>
                <a:spcPct val="100000"/>
              </a:lnSpc>
              <a:spcBef>
                <a:spcPts val="0"/>
              </a:spcBef>
              <a:spcAft>
                <a:spcPts val="0"/>
              </a:spcAft>
              <a:buClr>
                <a:schemeClr val="lt1"/>
              </a:buClr>
              <a:buSzPts val="4800"/>
              <a:buNone/>
              <a:defRPr sz="6400">
                <a:solidFill>
                  <a:schemeClr val="lt1"/>
                </a:solidFill>
              </a:defRPr>
            </a:lvl7pPr>
            <a:lvl8pPr lvl="7" algn="ctr">
              <a:lnSpc>
                <a:spcPct val="100000"/>
              </a:lnSpc>
              <a:spcBef>
                <a:spcPts val="0"/>
              </a:spcBef>
              <a:spcAft>
                <a:spcPts val="0"/>
              </a:spcAft>
              <a:buClr>
                <a:schemeClr val="lt1"/>
              </a:buClr>
              <a:buSzPts val="4800"/>
              <a:buNone/>
              <a:defRPr sz="6400">
                <a:solidFill>
                  <a:schemeClr val="lt1"/>
                </a:solidFill>
              </a:defRPr>
            </a:lvl8pPr>
            <a:lvl9pPr lvl="8" algn="ctr">
              <a:lnSpc>
                <a:spcPct val="100000"/>
              </a:lnSpc>
              <a:spcBef>
                <a:spcPts val="0"/>
              </a:spcBef>
              <a:spcAft>
                <a:spcPts val="0"/>
              </a:spcAft>
              <a:buClr>
                <a:schemeClr val="lt1"/>
              </a:buClr>
              <a:buSzPts val="4800"/>
              <a:buNone/>
              <a:defRPr sz="6400">
                <a:solidFill>
                  <a:schemeClr val="lt1"/>
                </a:solidFill>
              </a:defRPr>
            </a:lvl9pPr>
          </a:lstStyle>
          <a:p>
            <a:endParaRPr dirty="0"/>
          </a:p>
        </p:txBody>
      </p:sp>
      <p:sp>
        <p:nvSpPr>
          <p:cNvPr id="49" name="Google Shape;49;p36"/>
          <p:cNvSpPr txBox="1">
            <a:spLocks noGrp="1"/>
          </p:cNvSpPr>
          <p:nvPr>
            <p:ph type="subTitle" idx="1"/>
          </p:nvPr>
        </p:nvSpPr>
        <p:spPr>
          <a:xfrm>
            <a:off x="2870000" y="3326467"/>
            <a:ext cx="6452000" cy="1337600"/>
          </a:xfrm>
          <a:prstGeom prst="rect">
            <a:avLst/>
          </a:prstGeom>
          <a:noFill/>
          <a:ln>
            <a:noFill/>
          </a:ln>
        </p:spPr>
        <p:txBody>
          <a:bodyPr spcFirstLastPara="1" wrap="square" lIns="91425" tIns="91425" rIns="91425" bIns="91425" anchor="t" anchorCtr="0">
            <a:noAutofit/>
          </a:bodyPr>
          <a:lstStyle>
            <a:lvl1pPr lvl="0" algn="ctr">
              <a:lnSpc>
                <a:spcPct val="100000"/>
              </a:lnSpc>
              <a:spcBef>
                <a:spcPts val="0"/>
              </a:spcBef>
              <a:spcAft>
                <a:spcPts val="0"/>
              </a:spcAft>
              <a:buSzPts val="1200"/>
              <a:buNone/>
              <a:defRPr sz="1867">
                <a:latin typeface="FS PF BeauSans Pro" panose="02000500000000020004" pitchFamily="50" charset="0"/>
                <a:ea typeface="FS PF BeauSans Pro" panose="02000500000000020004" pitchFamily="50" charset="0"/>
                <a:cs typeface="Arial"/>
                <a:sym typeface="Arial"/>
              </a:defRPr>
            </a:lvl1pPr>
            <a:lvl2pPr lvl="1" algn="ctr">
              <a:lnSpc>
                <a:spcPct val="100000"/>
              </a:lnSpc>
              <a:spcBef>
                <a:spcPts val="0"/>
              </a:spcBef>
              <a:spcAft>
                <a:spcPts val="0"/>
              </a:spcAft>
              <a:buSzPts val="1200"/>
              <a:buNone/>
              <a:defRPr/>
            </a:lvl2pPr>
            <a:lvl3pPr lvl="2" algn="ctr">
              <a:lnSpc>
                <a:spcPct val="100000"/>
              </a:lnSpc>
              <a:spcBef>
                <a:spcPts val="0"/>
              </a:spcBef>
              <a:spcAft>
                <a:spcPts val="0"/>
              </a:spcAft>
              <a:buSzPts val="1200"/>
              <a:buNone/>
              <a:defRPr/>
            </a:lvl3pPr>
            <a:lvl4pPr lvl="3" algn="ctr">
              <a:lnSpc>
                <a:spcPct val="100000"/>
              </a:lnSpc>
              <a:spcBef>
                <a:spcPts val="0"/>
              </a:spcBef>
              <a:spcAft>
                <a:spcPts val="0"/>
              </a:spcAft>
              <a:buSzPts val="1200"/>
              <a:buNone/>
              <a:defRPr/>
            </a:lvl4pPr>
            <a:lvl5pPr lvl="4" algn="ctr">
              <a:lnSpc>
                <a:spcPct val="100000"/>
              </a:lnSpc>
              <a:spcBef>
                <a:spcPts val="0"/>
              </a:spcBef>
              <a:spcAft>
                <a:spcPts val="0"/>
              </a:spcAft>
              <a:buSzPts val="1200"/>
              <a:buNone/>
              <a:defRPr/>
            </a:lvl5pPr>
            <a:lvl6pPr lvl="5" algn="ctr">
              <a:lnSpc>
                <a:spcPct val="100000"/>
              </a:lnSpc>
              <a:spcBef>
                <a:spcPts val="0"/>
              </a:spcBef>
              <a:spcAft>
                <a:spcPts val="0"/>
              </a:spcAft>
              <a:buSzPts val="1200"/>
              <a:buNone/>
              <a:defRPr/>
            </a:lvl6pPr>
            <a:lvl7pPr lvl="6" algn="ctr">
              <a:lnSpc>
                <a:spcPct val="100000"/>
              </a:lnSpc>
              <a:spcBef>
                <a:spcPts val="0"/>
              </a:spcBef>
              <a:spcAft>
                <a:spcPts val="0"/>
              </a:spcAft>
              <a:buSzPts val="1200"/>
              <a:buNone/>
              <a:defRPr/>
            </a:lvl7pPr>
            <a:lvl8pPr lvl="7" algn="ctr">
              <a:lnSpc>
                <a:spcPct val="100000"/>
              </a:lnSpc>
              <a:spcBef>
                <a:spcPts val="0"/>
              </a:spcBef>
              <a:spcAft>
                <a:spcPts val="0"/>
              </a:spcAft>
              <a:buSzPts val="1200"/>
              <a:buNone/>
              <a:defRPr/>
            </a:lvl8pPr>
            <a:lvl9pPr lvl="8" algn="ctr">
              <a:lnSpc>
                <a:spcPct val="100000"/>
              </a:lnSpc>
              <a:spcBef>
                <a:spcPts val="0"/>
              </a:spcBef>
              <a:spcAft>
                <a:spcPts val="0"/>
              </a:spcAft>
              <a:buSzPts val="1200"/>
              <a:buNone/>
              <a:defRPr/>
            </a:lvl9pPr>
          </a:lstStyle>
          <a:p>
            <a:endParaRPr dirty="0"/>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image" Target="../media/image3.png"/><Relationship Id="rId3" Type="http://schemas.openxmlformats.org/officeDocument/2006/relationships/slideLayout" Target="../slideLayouts/slideLayout3.xml"/><Relationship Id="rId7" Type="http://schemas.openxmlformats.org/officeDocument/2006/relationships/image" Target="../media/image2.png"/><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image" Target="../media/image1.png"/><Relationship Id="rId5" Type="http://schemas.openxmlformats.org/officeDocument/2006/relationships/theme" Target="../theme/theme1.xml"/><Relationship Id="rId4" Type="http://schemas.openxmlformats.org/officeDocument/2006/relationships/slideLayout" Target="../slideLayouts/slideLayout4.xml"/><Relationship Id="rId9" Type="http://schemas.openxmlformats.org/officeDocument/2006/relationships/image" Target="../media/image4.png"/></Relationships>
</file>

<file path=ppt/slideMasters/slideMaster1.xml><?xml version="1.0" encoding="utf-8"?>
<p:sldMaster xmlns:a="http://schemas.openxmlformats.org/drawingml/2006/main" xmlns:r="http://schemas.openxmlformats.org/officeDocument/2006/relationships" xmlns:p="http://schemas.openxmlformats.org/presentationml/2006/main">
  <p:cSld name="simple-light-2">
    <p:bg>
      <p:bgPr>
        <a:blipFill>
          <a:blip r:embed="rId6">
            <a:alphaModFix/>
          </a:blip>
          <a:stretch>
            <a:fillRect/>
          </a:stretch>
        </a:blipFill>
        <a:effectLst/>
      </p:bgPr>
    </p:bg>
    <p:spTree>
      <p:nvGrpSpPr>
        <p:cNvPr id="1" name="Shape 9"/>
        <p:cNvGrpSpPr/>
        <p:nvPr/>
      </p:nvGrpSpPr>
      <p:grpSpPr>
        <a:xfrm>
          <a:off x="0" y="0"/>
          <a:ext cx="0" cy="0"/>
          <a:chOff x="0" y="0"/>
          <a:chExt cx="0" cy="0"/>
        </a:xfrm>
      </p:grpSpPr>
      <p:pic>
        <p:nvPicPr>
          <p:cNvPr id="10" name="Google Shape;10;p32" descr="A red and black background&#10;&#10;Description automatically generated"/>
          <p:cNvPicPr preferRelativeResize="0"/>
          <p:nvPr/>
        </p:nvPicPr>
        <p:blipFill rotWithShape="1">
          <a:blip r:embed="rId7">
            <a:alphaModFix/>
          </a:blip>
          <a:srcRect/>
          <a:stretch/>
        </p:blipFill>
        <p:spPr>
          <a:xfrm>
            <a:off x="11177545" y="116750"/>
            <a:ext cx="490504" cy="593900"/>
          </a:xfrm>
          <a:prstGeom prst="rect">
            <a:avLst/>
          </a:prstGeom>
          <a:noFill/>
          <a:ln>
            <a:noFill/>
          </a:ln>
        </p:spPr>
      </p:pic>
      <p:sp>
        <p:nvSpPr>
          <p:cNvPr id="11" name="Google Shape;11;p32"/>
          <p:cNvSpPr txBox="1">
            <a:spLocks noGrp="1"/>
          </p:cNvSpPr>
          <p:nvPr>
            <p:ph type="title"/>
          </p:nvPr>
        </p:nvSpPr>
        <p:spPr>
          <a:xfrm>
            <a:off x="415600" y="593367"/>
            <a:ext cx="11360800" cy="763600"/>
          </a:xfrm>
          <a:prstGeom prst="rect">
            <a:avLst/>
          </a:prstGeom>
          <a:noFill/>
          <a:ln>
            <a:noFill/>
          </a:ln>
        </p:spPr>
        <p:txBody>
          <a:bodyPr spcFirstLastPara="1" wrap="square" lIns="91425" tIns="91425" rIns="91425" bIns="91425" anchor="t" anchorCtr="0">
            <a:noAutofit/>
          </a:bodyPr>
          <a:lstStyle>
            <a:lvl1pPr marR="0" lvl="0" algn="l" rtl="0">
              <a:lnSpc>
                <a:spcPct val="100000"/>
              </a:lnSpc>
              <a:spcBef>
                <a:spcPts val="0"/>
              </a:spcBef>
              <a:spcAft>
                <a:spcPts val="0"/>
              </a:spcAft>
              <a:buClr>
                <a:schemeClr val="hlink"/>
              </a:buClr>
              <a:buSzPts val="2800"/>
              <a:buFont typeface="Exo 2"/>
              <a:buNone/>
              <a:defRPr sz="2800" b="1" i="0" u="none" strike="noStrike" cap="none">
                <a:solidFill>
                  <a:schemeClr val="hlink"/>
                </a:solidFill>
                <a:latin typeface="Exo 2"/>
                <a:ea typeface="Exo 2"/>
                <a:cs typeface="Exo 2"/>
                <a:sym typeface="Exo 2"/>
              </a:defRPr>
            </a:lvl1pPr>
            <a:lvl2pPr marR="0" lvl="1" algn="l" rtl="0">
              <a:lnSpc>
                <a:spcPct val="100000"/>
              </a:lnSpc>
              <a:spcBef>
                <a:spcPts val="0"/>
              </a:spcBef>
              <a:spcAft>
                <a:spcPts val="0"/>
              </a:spcAft>
              <a:buClr>
                <a:schemeClr val="dk1"/>
              </a:buClr>
              <a:buSzPts val="2800"/>
              <a:buFont typeface="Exo 2"/>
              <a:buNone/>
              <a:defRPr sz="2800" b="0" i="0" u="none" strike="noStrike" cap="none">
                <a:solidFill>
                  <a:schemeClr val="dk1"/>
                </a:solidFill>
                <a:latin typeface="Exo 2"/>
                <a:ea typeface="Exo 2"/>
                <a:cs typeface="Exo 2"/>
                <a:sym typeface="Exo 2"/>
              </a:defRPr>
            </a:lvl2pPr>
            <a:lvl3pPr marR="0" lvl="2" algn="l" rtl="0">
              <a:lnSpc>
                <a:spcPct val="100000"/>
              </a:lnSpc>
              <a:spcBef>
                <a:spcPts val="0"/>
              </a:spcBef>
              <a:spcAft>
                <a:spcPts val="0"/>
              </a:spcAft>
              <a:buClr>
                <a:schemeClr val="dk1"/>
              </a:buClr>
              <a:buSzPts val="2800"/>
              <a:buFont typeface="Exo 2"/>
              <a:buNone/>
              <a:defRPr sz="2800" b="0" i="0" u="none" strike="noStrike" cap="none">
                <a:solidFill>
                  <a:schemeClr val="dk1"/>
                </a:solidFill>
                <a:latin typeface="Exo 2"/>
                <a:ea typeface="Exo 2"/>
                <a:cs typeface="Exo 2"/>
                <a:sym typeface="Exo 2"/>
              </a:defRPr>
            </a:lvl3pPr>
            <a:lvl4pPr marR="0" lvl="3" algn="l" rtl="0">
              <a:lnSpc>
                <a:spcPct val="100000"/>
              </a:lnSpc>
              <a:spcBef>
                <a:spcPts val="0"/>
              </a:spcBef>
              <a:spcAft>
                <a:spcPts val="0"/>
              </a:spcAft>
              <a:buClr>
                <a:schemeClr val="dk1"/>
              </a:buClr>
              <a:buSzPts val="2800"/>
              <a:buFont typeface="Exo 2"/>
              <a:buNone/>
              <a:defRPr sz="2800" b="0" i="0" u="none" strike="noStrike" cap="none">
                <a:solidFill>
                  <a:schemeClr val="dk1"/>
                </a:solidFill>
                <a:latin typeface="Exo 2"/>
                <a:ea typeface="Exo 2"/>
                <a:cs typeface="Exo 2"/>
                <a:sym typeface="Exo 2"/>
              </a:defRPr>
            </a:lvl4pPr>
            <a:lvl5pPr marR="0" lvl="4" algn="l" rtl="0">
              <a:lnSpc>
                <a:spcPct val="100000"/>
              </a:lnSpc>
              <a:spcBef>
                <a:spcPts val="0"/>
              </a:spcBef>
              <a:spcAft>
                <a:spcPts val="0"/>
              </a:spcAft>
              <a:buClr>
                <a:schemeClr val="dk1"/>
              </a:buClr>
              <a:buSzPts val="2800"/>
              <a:buFont typeface="Exo 2"/>
              <a:buNone/>
              <a:defRPr sz="2800" b="0" i="0" u="none" strike="noStrike" cap="none">
                <a:solidFill>
                  <a:schemeClr val="dk1"/>
                </a:solidFill>
                <a:latin typeface="Exo 2"/>
                <a:ea typeface="Exo 2"/>
                <a:cs typeface="Exo 2"/>
                <a:sym typeface="Exo 2"/>
              </a:defRPr>
            </a:lvl5pPr>
            <a:lvl6pPr marR="0" lvl="5" algn="l" rtl="0">
              <a:lnSpc>
                <a:spcPct val="100000"/>
              </a:lnSpc>
              <a:spcBef>
                <a:spcPts val="0"/>
              </a:spcBef>
              <a:spcAft>
                <a:spcPts val="0"/>
              </a:spcAft>
              <a:buClr>
                <a:schemeClr val="dk1"/>
              </a:buClr>
              <a:buSzPts val="2800"/>
              <a:buFont typeface="Exo 2"/>
              <a:buNone/>
              <a:defRPr sz="2800" b="0" i="0" u="none" strike="noStrike" cap="none">
                <a:solidFill>
                  <a:schemeClr val="dk1"/>
                </a:solidFill>
                <a:latin typeface="Exo 2"/>
                <a:ea typeface="Exo 2"/>
                <a:cs typeface="Exo 2"/>
                <a:sym typeface="Exo 2"/>
              </a:defRPr>
            </a:lvl6pPr>
            <a:lvl7pPr marR="0" lvl="6" algn="l" rtl="0">
              <a:lnSpc>
                <a:spcPct val="100000"/>
              </a:lnSpc>
              <a:spcBef>
                <a:spcPts val="0"/>
              </a:spcBef>
              <a:spcAft>
                <a:spcPts val="0"/>
              </a:spcAft>
              <a:buClr>
                <a:schemeClr val="dk1"/>
              </a:buClr>
              <a:buSzPts val="2800"/>
              <a:buFont typeface="Exo 2"/>
              <a:buNone/>
              <a:defRPr sz="2800" b="0" i="0" u="none" strike="noStrike" cap="none">
                <a:solidFill>
                  <a:schemeClr val="dk1"/>
                </a:solidFill>
                <a:latin typeface="Exo 2"/>
                <a:ea typeface="Exo 2"/>
                <a:cs typeface="Exo 2"/>
                <a:sym typeface="Exo 2"/>
              </a:defRPr>
            </a:lvl7pPr>
            <a:lvl8pPr marR="0" lvl="7" algn="l" rtl="0">
              <a:lnSpc>
                <a:spcPct val="100000"/>
              </a:lnSpc>
              <a:spcBef>
                <a:spcPts val="0"/>
              </a:spcBef>
              <a:spcAft>
                <a:spcPts val="0"/>
              </a:spcAft>
              <a:buClr>
                <a:schemeClr val="dk1"/>
              </a:buClr>
              <a:buSzPts val="2800"/>
              <a:buFont typeface="Exo 2"/>
              <a:buNone/>
              <a:defRPr sz="2800" b="0" i="0" u="none" strike="noStrike" cap="none">
                <a:solidFill>
                  <a:schemeClr val="dk1"/>
                </a:solidFill>
                <a:latin typeface="Exo 2"/>
                <a:ea typeface="Exo 2"/>
                <a:cs typeface="Exo 2"/>
                <a:sym typeface="Exo 2"/>
              </a:defRPr>
            </a:lvl8pPr>
            <a:lvl9pPr marR="0" lvl="8" algn="l" rtl="0">
              <a:lnSpc>
                <a:spcPct val="100000"/>
              </a:lnSpc>
              <a:spcBef>
                <a:spcPts val="0"/>
              </a:spcBef>
              <a:spcAft>
                <a:spcPts val="0"/>
              </a:spcAft>
              <a:buClr>
                <a:schemeClr val="dk1"/>
              </a:buClr>
              <a:buSzPts val="2800"/>
              <a:buFont typeface="Exo 2"/>
              <a:buNone/>
              <a:defRPr sz="2800" b="0" i="0" u="none" strike="noStrike" cap="none">
                <a:solidFill>
                  <a:schemeClr val="dk1"/>
                </a:solidFill>
                <a:latin typeface="Exo 2"/>
                <a:ea typeface="Exo 2"/>
                <a:cs typeface="Exo 2"/>
                <a:sym typeface="Exo 2"/>
              </a:defRPr>
            </a:lvl9pPr>
          </a:lstStyle>
          <a:p>
            <a:endParaRPr/>
          </a:p>
        </p:txBody>
      </p:sp>
      <p:sp>
        <p:nvSpPr>
          <p:cNvPr id="12" name="Google Shape;12;p32"/>
          <p:cNvSpPr txBox="1">
            <a:spLocks noGrp="1"/>
          </p:cNvSpPr>
          <p:nvPr>
            <p:ph type="body" idx="1"/>
          </p:nvPr>
        </p:nvSpPr>
        <p:spPr>
          <a:xfrm>
            <a:off x="415600" y="1536633"/>
            <a:ext cx="11360800" cy="4555200"/>
          </a:xfrm>
          <a:prstGeom prst="rect">
            <a:avLst/>
          </a:prstGeom>
          <a:noFill/>
          <a:ln>
            <a:noFill/>
          </a:ln>
        </p:spPr>
        <p:txBody>
          <a:bodyPr spcFirstLastPara="1" wrap="square" lIns="91425" tIns="91425" rIns="91425" bIns="91425" anchor="t" anchorCtr="0">
            <a:noAutofit/>
          </a:bodyPr>
          <a:lstStyle>
            <a:lvl1pPr marL="457200" marR="0" lvl="0" indent="-304800" algn="l" rtl="0">
              <a:lnSpc>
                <a:spcPct val="115000"/>
              </a:lnSpc>
              <a:spcBef>
                <a:spcPts val="0"/>
              </a:spcBef>
              <a:spcAft>
                <a:spcPts val="0"/>
              </a:spcAft>
              <a:buClr>
                <a:schemeClr val="hlink"/>
              </a:buClr>
              <a:buSzPts val="1200"/>
              <a:buFont typeface="Roboto Condensed Light"/>
              <a:buChar char="●"/>
              <a:defRPr sz="1200" b="0" i="0" u="none" strike="noStrike" cap="none">
                <a:solidFill>
                  <a:schemeClr val="hlink"/>
                </a:solidFill>
                <a:latin typeface="Roboto Condensed Light"/>
                <a:ea typeface="Roboto Condensed Light"/>
                <a:cs typeface="Roboto Condensed Light"/>
                <a:sym typeface="Roboto Condensed Light"/>
              </a:defRPr>
            </a:lvl1pPr>
            <a:lvl2pPr marL="914400" marR="0" lvl="1" indent="-304800" algn="l" rtl="0">
              <a:lnSpc>
                <a:spcPct val="115000"/>
              </a:lnSpc>
              <a:spcBef>
                <a:spcPts val="1600"/>
              </a:spcBef>
              <a:spcAft>
                <a:spcPts val="0"/>
              </a:spcAft>
              <a:buClr>
                <a:schemeClr val="hlink"/>
              </a:buClr>
              <a:buSzPts val="1200"/>
              <a:buFont typeface="Roboto Condensed Light"/>
              <a:buChar char="○"/>
              <a:defRPr sz="1200" b="0" i="0" u="none" strike="noStrike" cap="none">
                <a:solidFill>
                  <a:schemeClr val="hlink"/>
                </a:solidFill>
                <a:latin typeface="Roboto Condensed Light"/>
                <a:ea typeface="Roboto Condensed Light"/>
                <a:cs typeface="Roboto Condensed Light"/>
                <a:sym typeface="Roboto Condensed Light"/>
              </a:defRPr>
            </a:lvl2pPr>
            <a:lvl3pPr marL="1371600" marR="0" lvl="2" indent="-304800" algn="l" rtl="0">
              <a:lnSpc>
                <a:spcPct val="115000"/>
              </a:lnSpc>
              <a:spcBef>
                <a:spcPts val="1600"/>
              </a:spcBef>
              <a:spcAft>
                <a:spcPts val="0"/>
              </a:spcAft>
              <a:buClr>
                <a:schemeClr val="hlink"/>
              </a:buClr>
              <a:buSzPts val="1200"/>
              <a:buFont typeface="Roboto Condensed Light"/>
              <a:buChar char="■"/>
              <a:defRPr sz="1200" b="0" i="0" u="none" strike="noStrike" cap="none">
                <a:solidFill>
                  <a:schemeClr val="hlink"/>
                </a:solidFill>
                <a:latin typeface="Roboto Condensed Light"/>
                <a:ea typeface="Roboto Condensed Light"/>
                <a:cs typeface="Roboto Condensed Light"/>
                <a:sym typeface="Roboto Condensed Light"/>
              </a:defRPr>
            </a:lvl3pPr>
            <a:lvl4pPr marL="1828800" marR="0" lvl="3" indent="-304800" algn="l" rtl="0">
              <a:lnSpc>
                <a:spcPct val="115000"/>
              </a:lnSpc>
              <a:spcBef>
                <a:spcPts val="1600"/>
              </a:spcBef>
              <a:spcAft>
                <a:spcPts val="0"/>
              </a:spcAft>
              <a:buClr>
                <a:schemeClr val="hlink"/>
              </a:buClr>
              <a:buSzPts val="1200"/>
              <a:buFont typeface="Roboto Condensed Light"/>
              <a:buChar char="●"/>
              <a:defRPr sz="1200" b="0" i="0" u="none" strike="noStrike" cap="none">
                <a:solidFill>
                  <a:schemeClr val="hlink"/>
                </a:solidFill>
                <a:latin typeface="Roboto Condensed Light"/>
                <a:ea typeface="Roboto Condensed Light"/>
                <a:cs typeface="Roboto Condensed Light"/>
                <a:sym typeface="Roboto Condensed Light"/>
              </a:defRPr>
            </a:lvl4pPr>
            <a:lvl5pPr marL="2286000" marR="0" lvl="4" indent="-304800" algn="l" rtl="0">
              <a:lnSpc>
                <a:spcPct val="115000"/>
              </a:lnSpc>
              <a:spcBef>
                <a:spcPts val="1600"/>
              </a:spcBef>
              <a:spcAft>
                <a:spcPts val="0"/>
              </a:spcAft>
              <a:buClr>
                <a:schemeClr val="hlink"/>
              </a:buClr>
              <a:buSzPts val="1200"/>
              <a:buFont typeface="Roboto Condensed Light"/>
              <a:buChar char="○"/>
              <a:defRPr sz="1200" b="0" i="0" u="none" strike="noStrike" cap="none">
                <a:solidFill>
                  <a:schemeClr val="hlink"/>
                </a:solidFill>
                <a:latin typeface="Roboto Condensed Light"/>
                <a:ea typeface="Roboto Condensed Light"/>
                <a:cs typeface="Roboto Condensed Light"/>
                <a:sym typeface="Roboto Condensed Light"/>
              </a:defRPr>
            </a:lvl5pPr>
            <a:lvl6pPr marL="2743200" marR="0" lvl="5" indent="-304800" algn="l" rtl="0">
              <a:lnSpc>
                <a:spcPct val="115000"/>
              </a:lnSpc>
              <a:spcBef>
                <a:spcPts val="1600"/>
              </a:spcBef>
              <a:spcAft>
                <a:spcPts val="0"/>
              </a:spcAft>
              <a:buClr>
                <a:schemeClr val="hlink"/>
              </a:buClr>
              <a:buSzPts val="1200"/>
              <a:buFont typeface="Roboto Condensed Light"/>
              <a:buChar char="■"/>
              <a:defRPr sz="1200" b="0" i="0" u="none" strike="noStrike" cap="none">
                <a:solidFill>
                  <a:schemeClr val="hlink"/>
                </a:solidFill>
                <a:latin typeface="Roboto Condensed Light"/>
                <a:ea typeface="Roboto Condensed Light"/>
                <a:cs typeface="Roboto Condensed Light"/>
                <a:sym typeface="Roboto Condensed Light"/>
              </a:defRPr>
            </a:lvl6pPr>
            <a:lvl7pPr marL="3200400" marR="0" lvl="6" indent="-304800" algn="l" rtl="0">
              <a:lnSpc>
                <a:spcPct val="115000"/>
              </a:lnSpc>
              <a:spcBef>
                <a:spcPts val="1600"/>
              </a:spcBef>
              <a:spcAft>
                <a:spcPts val="0"/>
              </a:spcAft>
              <a:buClr>
                <a:schemeClr val="hlink"/>
              </a:buClr>
              <a:buSzPts val="1200"/>
              <a:buFont typeface="Roboto Condensed Light"/>
              <a:buChar char="●"/>
              <a:defRPr sz="1200" b="0" i="0" u="none" strike="noStrike" cap="none">
                <a:solidFill>
                  <a:schemeClr val="hlink"/>
                </a:solidFill>
                <a:latin typeface="Roboto Condensed Light"/>
                <a:ea typeface="Roboto Condensed Light"/>
                <a:cs typeface="Roboto Condensed Light"/>
                <a:sym typeface="Roboto Condensed Light"/>
              </a:defRPr>
            </a:lvl7pPr>
            <a:lvl8pPr marL="3657600" marR="0" lvl="7" indent="-304800" algn="l" rtl="0">
              <a:lnSpc>
                <a:spcPct val="115000"/>
              </a:lnSpc>
              <a:spcBef>
                <a:spcPts val="1600"/>
              </a:spcBef>
              <a:spcAft>
                <a:spcPts val="0"/>
              </a:spcAft>
              <a:buClr>
                <a:schemeClr val="hlink"/>
              </a:buClr>
              <a:buSzPts val="1200"/>
              <a:buFont typeface="Roboto Condensed Light"/>
              <a:buChar char="○"/>
              <a:defRPr sz="1200" b="0" i="0" u="none" strike="noStrike" cap="none">
                <a:solidFill>
                  <a:schemeClr val="hlink"/>
                </a:solidFill>
                <a:latin typeface="Roboto Condensed Light"/>
                <a:ea typeface="Roboto Condensed Light"/>
                <a:cs typeface="Roboto Condensed Light"/>
                <a:sym typeface="Roboto Condensed Light"/>
              </a:defRPr>
            </a:lvl8pPr>
            <a:lvl9pPr marL="4114800" marR="0" lvl="8" indent="-304800" algn="l" rtl="0">
              <a:lnSpc>
                <a:spcPct val="115000"/>
              </a:lnSpc>
              <a:spcBef>
                <a:spcPts val="1600"/>
              </a:spcBef>
              <a:spcAft>
                <a:spcPts val="1600"/>
              </a:spcAft>
              <a:buClr>
                <a:schemeClr val="hlink"/>
              </a:buClr>
              <a:buSzPts val="1200"/>
              <a:buFont typeface="Roboto Condensed Light"/>
              <a:buChar char="■"/>
              <a:defRPr sz="1200" b="0" i="0" u="none" strike="noStrike" cap="none">
                <a:solidFill>
                  <a:schemeClr val="hlink"/>
                </a:solidFill>
                <a:latin typeface="Roboto Condensed Light"/>
                <a:ea typeface="Roboto Condensed Light"/>
                <a:cs typeface="Roboto Condensed Light"/>
                <a:sym typeface="Roboto Condensed Light"/>
              </a:defRPr>
            </a:lvl9pPr>
          </a:lstStyle>
          <a:p>
            <a:endParaRPr/>
          </a:p>
        </p:txBody>
      </p:sp>
      <p:pic>
        <p:nvPicPr>
          <p:cNvPr id="13" name="Google Shape;13;p32"/>
          <p:cNvPicPr preferRelativeResize="0"/>
          <p:nvPr/>
        </p:nvPicPr>
        <p:blipFill rotWithShape="1">
          <a:blip r:embed="rId8">
            <a:alphaModFix/>
          </a:blip>
          <a:srcRect/>
          <a:stretch/>
        </p:blipFill>
        <p:spPr>
          <a:xfrm>
            <a:off x="0" y="6137661"/>
            <a:ext cx="12192000" cy="720339"/>
          </a:xfrm>
          <a:prstGeom prst="rect">
            <a:avLst/>
          </a:prstGeom>
          <a:noFill/>
          <a:ln>
            <a:noFill/>
          </a:ln>
        </p:spPr>
      </p:pic>
      <p:pic>
        <p:nvPicPr>
          <p:cNvPr id="14" name="Google Shape;14;p32"/>
          <p:cNvPicPr preferRelativeResize="0"/>
          <p:nvPr/>
        </p:nvPicPr>
        <p:blipFill rotWithShape="1">
          <a:blip r:embed="rId9">
            <a:alphaModFix/>
          </a:blip>
          <a:srcRect/>
          <a:stretch/>
        </p:blipFill>
        <p:spPr>
          <a:xfrm>
            <a:off x="10332107" y="6349639"/>
            <a:ext cx="1300285" cy="286347"/>
          </a:xfrm>
          <a:prstGeom prst="rect">
            <a:avLst/>
          </a:prstGeom>
          <a:noFill/>
          <a:ln>
            <a:noFill/>
          </a:ln>
        </p:spPr>
      </p:pic>
      <p:sp>
        <p:nvSpPr>
          <p:cNvPr id="15" name="Google Shape;15;p32"/>
          <p:cNvSpPr txBox="1">
            <a:spLocks noGrp="1"/>
          </p:cNvSpPr>
          <p:nvPr>
            <p:ph type="dt" idx="10"/>
          </p:nvPr>
        </p:nvSpPr>
        <p:spPr>
          <a:xfrm>
            <a:off x="838200" y="6356351"/>
            <a:ext cx="2743200" cy="366183"/>
          </a:xfrm>
          <a:prstGeom prst="rect">
            <a:avLst/>
          </a:prstGeom>
          <a:noFill/>
          <a:ln>
            <a:noFill/>
          </a:ln>
        </p:spPr>
        <p:txBody>
          <a:bodyPr spcFirstLastPara="1" wrap="square" lIns="91425" tIns="45700" rIns="91425" bIns="45700" anchor="ctr" anchorCtr="0">
            <a:noAutofit/>
          </a:bodyPr>
          <a:lstStyle>
            <a:lvl1pPr marR="0" lvl="0" algn="l" rtl="0">
              <a:spcBef>
                <a:spcPts val="0"/>
              </a:spcBef>
              <a:spcAft>
                <a:spcPts val="0"/>
              </a:spcAft>
              <a:buSzPts val="1400"/>
              <a:buNone/>
              <a:defRPr sz="1467" b="0" i="0" u="none" strike="noStrike" cap="none">
                <a:solidFill>
                  <a:srgbClr val="888888"/>
                </a:solidFill>
                <a:latin typeface="FS PF BeauSans Pro" panose="02000500000000020004" pitchFamily="50" charset="0"/>
                <a:ea typeface="FS PF BeauSans Pro" panose="02000500000000020004" pitchFamily="50" charset="0"/>
                <a:cs typeface="Arial"/>
                <a:sym typeface="Arial"/>
              </a:defRPr>
            </a:lvl1pPr>
            <a:lvl2pPr marR="0" lvl="1" algn="l" rtl="0">
              <a:spcBef>
                <a:spcPts val="0"/>
              </a:spcBef>
              <a:spcAft>
                <a:spcPts val="0"/>
              </a:spcAft>
              <a:buSzPts val="1400"/>
              <a:buNone/>
              <a:defRPr sz="1800" b="0" i="0" u="none" strike="noStrike" cap="none">
                <a:solidFill>
                  <a:schemeClr val="dk1"/>
                </a:solidFill>
                <a:latin typeface="Arial"/>
                <a:ea typeface="Arial"/>
                <a:cs typeface="Arial"/>
                <a:sym typeface="Arial"/>
              </a:defRPr>
            </a:lvl2pPr>
            <a:lvl3pPr marR="0" lvl="2" algn="l" rtl="0">
              <a:spcBef>
                <a:spcPts val="0"/>
              </a:spcBef>
              <a:spcAft>
                <a:spcPts val="0"/>
              </a:spcAft>
              <a:buSzPts val="1400"/>
              <a:buNone/>
              <a:defRPr sz="1800" b="0" i="0" u="none" strike="noStrike" cap="none">
                <a:solidFill>
                  <a:schemeClr val="dk1"/>
                </a:solidFill>
                <a:latin typeface="Arial"/>
                <a:ea typeface="Arial"/>
                <a:cs typeface="Arial"/>
                <a:sym typeface="Arial"/>
              </a:defRPr>
            </a:lvl3pPr>
            <a:lvl4pPr marR="0" lvl="3" algn="l" rtl="0">
              <a:spcBef>
                <a:spcPts val="0"/>
              </a:spcBef>
              <a:spcAft>
                <a:spcPts val="0"/>
              </a:spcAft>
              <a:buSzPts val="1400"/>
              <a:buNone/>
              <a:defRPr sz="1800" b="0" i="0" u="none" strike="noStrike" cap="none">
                <a:solidFill>
                  <a:schemeClr val="dk1"/>
                </a:solidFill>
                <a:latin typeface="Arial"/>
                <a:ea typeface="Arial"/>
                <a:cs typeface="Arial"/>
                <a:sym typeface="Arial"/>
              </a:defRPr>
            </a:lvl4pPr>
            <a:lvl5pPr marR="0" lvl="4" algn="l" rtl="0">
              <a:spcBef>
                <a:spcPts val="0"/>
              </a:spcBef>
              <a:spcAft>
                <a:spcPts val="0"/>
              </a:spcAft>
              <a:buSzPts val="1400"/>
              <a:buNone/>
              <a:defRPr sz="1800" b="0" i="0" u="none" strike="noStrike" cap="none">
                <a:solidFill>
                  <a:schemeClr val="dk1"/>
                </a:solidFill>
                <a:latin typeface="Arial"/>
                <a:ea typeface="Arial"/>
                <a:cs typeface="Arial"/>
                <a:sym typeface="Arial"/>
              </a:defRPr>
            </a:lvl5pPr>
            <a:lvl6pPr marR="0" lvl="5" algn="l" rtl="0">
              <a:spcBef>
                <a:spcPts val="0"/>
              </a:spcBef>
              <a:spcAft>
                <a:spcPts val="0"/>
              </a:spcAft>
              <a:buSzPts val="1400"/>
              <a:buNone/>
              <a:defRPr sz="1800" b="0" i="0" u="none" strike="noStrike" cap="none">
                <a:solidFill>
                  <a:schemeClr val="dk1"/>
                </a:solidFill>
                <a:latin typeface="Arial"/>
                <a:ea typeface="Arial"/>
                <a:cs typeface="Arial"/>
                <a:sym typeface="Arial"/>
              </a:defRPr>
            </a:lvl6pPr>
            <a:lvl7pPr marR="0" lvl="6" algn="l" rtl="0">
              <a:spcBef>
                <a:spcPts val="0"/>
              </a:spcBef>
              <a:spcAft>
                <a:spcPts val="0"/>
              </a:spcAft>
              <a:buSzPts val="1400"/>
              <a:buNone/>
              <a:defRPr sz="1800" b="0" i="0" u="none" strike="noStrike" cap="none">
                <a:solidFill>
                  <a:schemeClr val="dk1"/>
                </a:solidFill>
                <a:latin typeface="Arial"/>
                <a:ea typeface="Arial"/>
                <a:cs typeface="Arial"/>
                <a:sym typeface="Arial"/>
              </a:defRPr>
            </a:lvl7pPr>
            <a:lvl8pPr marR="0" lvl="7" algn="l" rtl="0">
              <a:spcBef>
                <a:spcPts val="0"/>
              </a:spcBef>
              <a:spcAft>
                <a:spcPts val="0"/>
              </a:spcAft>
              <a:buSzPts val="1400"/>
              <a:buNone/>
              <a:defRPr sz="1800" b="0" i="0" u="none" strike="noStrike" cap="none">
                <a:solidFill>
                  <a:schemeClr val="dk1"/>
                </a:solidFill>
                <a:latin typeface="Arial"/>
                <a:ea typeface="Arial"/>
                <a:cs typeface="Arial"/>
                <a:sym typeface="Arial"/>
              </a:defRPr>
            </a:lvl8pPr>
            <a:lvl9pPr marR="0" lvl="8" algn="l" rtl="0">
              <a:spcBef>
                <a:spcPts val="0"/>
              </a:spcBef>
              <a:spcAft>
                <a:spcPts val="0"/>
              </a:spcAft>
              <a:buSzPts val="1400"/>
              <a:buNone/>
              <a:defRPr sz="1800" b="0" i="0" u="none" strike="noStrike" cap="none">
                <a:solidFill>
                  <a:schemeClr val="dk1"/>
                </a:solidFill>
                <a:latin typeface="Arial"/>
                <a:ea typeface="Arial"/>
                <a:cs typeface="Arial"/>
                <a:sym typeface="Arial"/>
              </a:defRPr>
            </a:lvl9pPr>
          </a:lstStyle>
          <a:p>
            <a:endParaRPr lang="vi-VN" dirty="0"/>
          </a:p>
        </p:txBody>
      </p:sp>
      <p:sp>
        <p:nvSpPr>
          <p:cNvPr id="16" name="Google Shape;16;p32"/>
          <p:cNvSpPr txBox="1">
            <a:spLocks noGrp="1"/>
          </p:cNvSpPr>
          <p:nvPr>
            <p:ph type="sldNum" idx="12"/>
          </p:nvPr>
        </p:nvSpPr>
        <p:spPr>
          <a:xfrm>
            <a:off x="11131827" y="176756"/>
            <a:ext cx="571880" cy="315753"/>
          </a:xfrm>
          <a:prstGeom prst="rect">
            <a:avLst/>
          </a:prstGeom>
          <a:noFill/>
          <a:ln>
            <a:noFill/>
          </a:ln>
        </p:spPr>
        <p:txBody>
          <a:bodyPr spcFirstLastPara="1" wrap="square" lIns="91425" tIns="45700" rIns="91425" bIns="45700" anchor="ctr" anchorCtr="0">
            <a:noAutofit/>
          </a:bodyPr>
          <a:lstStyle>
            <a:lvl1pPr marL="0" marR="0" lvl="0" indent="0" algn="ctr" rtl="0">
              <a:spcBef>
                <a:spcPts val="0"/>
              </a:spcBef>
              <a:buNone/>
              <a:defRPr sz="1333" b="0" i="0" u="none" strike="noStrike" cap="none">
                <a:solidFill>
                  <a:schemeClr val="lt1"/>
                </a:solidFill>
                <a:latin typeface="Sarabun Light"/>
                <a:ea typeface="Sarabun Light"/>
                <a:cs typeface="Sarabun Light"/>
                <a:sym typeface="Sarabun Light"/>
              </a:defRPr>
            </a:lvl1pPr>
            <a:lvl2pPr marL="0" marR="0" lvl="1" indent="0" algn="ctr" rtl="0">
              <a:spcBef>
                <a:spcPts val="0"/>
              </a:spcBef>
              <a:buNone/>
              <a:defRPr sz="1333" b="0" i="0" u="none" strike="noStrike" cap="none">
                <a:solidFill>
                  <a:schemeClr val="lt1"/>
                </a:solidFill>
                <a:latin typeface="Sarabun Light"/>
                <a:ea typeface="Sarabun Light"/>
                <a:cs typeface="Sarabun Light"/>
                <a:sym typeface="Sarabun Light"/>
              </a:defRPr>
            </a:lvl2pPr>
            <a:lvl3pPr marL="0" marR="0" lvl="2" indent="0" algn="ctr" rtl="0">
              <a:spcBef>
                <a:spcPts val="0"/>
              </a:spcBef>
              <a:buNone/>
              <a:defRPr sz="1333" b="0" i="0" u="none" strike="noStrike" cap="none">
                <a:solidFill>
                  <a:schemeClr val="lt1"/>
                </a:solidFill>
                <a:latin typeface="Sarabun Light"/>
                <a:ea typeface="Sarabun Light"/>
                <a:cs typeface="Sarabun Light"/>
                <a:sym typeface="Sarabun Light"/>
              </a:defRPr>
            </a:lvl3pPr>
            <a:lvl4pPr marL="0" marR="0" lvl="3" indent="0" algn="ctr" rtl="0">
              <a:spcBef>
                <a:spcPts val="0"/>
              </a:spcBef>
              <a:buNone/>
              <a:defRPr sz="1333" b="0" i="0" u="none" strike="noStrike" cap="none">
                <a:solidFill>
                  <a:schemeClr val="lt1"/>
                </a:solidFill>
                <a:latin typeface="Sarabun Light"/>
                <a:ea typeface="Sarabun Light"/>
                <a:cs typeface="Sarabun Light"/>
                <a:sym typeface="Sarabun Light"/>
              </a:defRPr>
            </a:lvl4pPr>
            <a:lvl5pPr marL="0" marR="0" lvl="4" indent="0" algn="ctr" rtl="0">
              <a:spcBef>
                <a:spcPts val="0"/>
              </a:spcBef>
              <a:buNone/>
              <a:defRPr sz="1333" b="0" i="0" u="none" strike="noStrike" cap="none">
                <a:solidFill>
                  <a:schemeClr val="lt1"/>
                </a:solidFill>
                <a:latin typeface="Sarabun Light"/>
                <a:ea typeface="Sarabun Light"/>
                <a:cs typeface="Sarabun Light"/>
                <a:sym typeface="Sarabun Light"/>
              </a:defRPr>
            </a:lvl5pPr>
            <a:lvl6pPr marL="0" marR="0" lvl="5" indent="0" algn="ctr" rtl="0">
              <a:spcBef>
                <a:spcPts val="0"/>
              </a:spcBef>
              <a:buNone/>
              <a:defRPr sz="1333" b="0" i="0" u="none" strike="noStrike" cap="none">
                <a:solidFill>
                  <a:schemeClr val="lt1"/>
                </a:solidFill>
                <a:latin typeface="Sarabun Light"/>
                <a:ea typeface="Sarabun Light"/>
                <a:cs typeface="Sarabun Light"/>
                <a:sym typeface="Sarabun Light"/>
              </a:defRPr>
            </a:lvl6pPr>
            <a:lvl7pPr marL="0" marR="0" lvl="6" indent="0" algn="ctr" rtl="0">
              <a:spcBef>
                <a:spcPts val="0"/>
              </a:spcBef>
              <a:buNone/>
              <a:defRPr sz="1333" b="0" i="0" u="none" strike="noStrike" cap="none">
                <a:solidFill>
                  <a:schemeClr val="lt1"/>
                </a:solidFill>
                <a:latin typeface="Sarabun Light"/>
                <a:ea typeface="Sarabun Light"/>
                <a:cs typeface="Sarabun Light"/>
                <a:sym typeface="Sarabun Light"/>
              </a:defRPr>
            </a:lvl7pPr>
            <a:lvl8pPr marL="0" marR="0" lvl="7" indent="0" algn="ctr" rtl="0">
              <a:spcBef>
                <a:spcPts val="0"/>
              </a:spcBef>
              <a:buNone/>
              <a:defRPr sz="1333" b="0" i="0" u="none" strike="noStrike" cap="none">
                <a:solidFill>
                  <a:schemeClr val="lt1"/>
                </a:solidFill>
                <a:latin typeface="Sarabun Light"/>
                <a:ea typeface="Sarabun Light"/>
                <a:cs typeface="Sarabun Light"/>
                <a:sym typeface="Sarabun Light"/>
              </a:defRPr>
            </a:lvl8pPr>
            <a:lvl9pPr marL="0" marR="0" lvl="8" indent="0" algn="ctr" rtl="0">
              <a:spcBef>
                <a:spcPts val="0"/>
              </a:spcBef>
              <a:buNone/>
              <a:defRPr sz="1333" b="0" i="0" u="none" strike="noStrike" cap="none">
                <a:solidFill>
                  <a:schemeClr val="lt1"/>
                </a:solidFill>
                <a:latin typeface="Sarabun Light"/>
                <a:ea typeface="Sarabun Light"/>
                <a:cs typeface="Sarabun Light"/>
                <a:sym typeface="Sarabun Light"/>
              </a:defRPr>
            </a:lvl9pPr>
          </a:lstStyle>
          <a:p>
            <a:pPr marL="0" lvl="0" indent="0" algn="ctr" rtl="0">
              <a:spcBef>
                <a:spcPts val="0"/>
              </a:spcBef>
              <a:spcAft>
                <a:spcPts val="0"/>
              </a:spcAft>
              <a:buNone/>
            </a:pPr>
            <a:fld id="{00000000-1234-1234-1234-123412341234}" type="slidenum">
              <a:rPr lang="en-US"/>
              <a:t>‹#›</a:t>
            </a:fld>
            <a:endParaRPr/>
          </a:p>
        </p:txBody>
      </p:sp>
    </p:spTree>
  </p:cSld>
  <p:clrMap bg1="lt1" tx1="dk1" bg2="dk2" tx2="lt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Lst>
  <p:hf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slide" Target="slide3.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3" Type="http://schemas.openxmlformats.org/officeDocument/2006/relationships/slideLayout" Target="../slideLayouts/slideLayout3.xml"/><Relationship Id="rId2" Type="http://schemas.openxmlformats.org/officeDocument/2006/relationships/audio" Target="../media/media1.flac"/><Relationship Id="rId1" Type="http://schemas.microsoft.com/office/2007/relationships/media" Target="../media/media1.flac"/><Relationship Id="rId5" Type="http://schemas.openxmlformats.org/officeDocument/2006/relationships/image" Target="../media/image6.png"/><Relationship Id="rId4" Type="http://schemas.openxmlformats.org/officeDocument/2006/relationships/image" Target="../media/image5.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5.xml.rels><?xml version="1.0" encoding="UTF-8" standalone="yes"?>
<Relationships xmlns="http://schemas.openxmlformats.org/package/2006/relationships"><Relationship Id="rId3" Type="http://schemas.microsoft.com/office/2007/relationships/media" Target="../media/media3.wav"/><Relationship Id="rId2" Type="http://schemas.openxmlformats.org/officeDocument/2006/relationships/audio" Target="../media/media2.wav"/><Relationship Id="rId1" Type="http://schemas.microsoft.com/office/2007/relationships/media" Target="../media/media2.wav"/><Relationship Id="rId6" Type="http://schemas.openxmlformats.org/officeDocument/2006/relationships/image" Target="../media/image6.png"/><Relationship Id="rId5" Type="http://schemas.openxmlformats.org/officeDocument/2006/relationships/slideLayout" Target="../slideLayouts/slideLayout3.xml"/><Relationship Id="rId4" Type="http://schemas.openxmlformats.org/officeDocument/2006/relationships/audio" Target="../media/media3.wav"/></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7.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3.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9.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image" Target="../media/image9.png"/><Relationship Id="rId1" Type="http://schemas.openxmlformats.org/officeDocument/2006/relationships/slideLayout" Target="../slideLayouts/slideLayout3.xml"/><Relationship Id="rId4" Type="http://schemas.openxmlformats.org/officeDocument/2006/relationships/image" Target="../media/image11.png"/></Relationships>
</file>

<file path=ppt/slides/_rels/slide10.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image" Target="../media/image12.png"/><Relationship Id="rId1" Type="http://schemas.openxmlformats.org/officeDocument/2006/relationships/slideLayout" Target="../slideLayouts/slideLayout3.xml"/><Relationship Id="rId4" Type="http://schemas.openxmlformats.org/officeDocument/2006/relationships/image" Target="../media/image13.png"/></Relationships>
</file>

<file path=ppt/slides/_rels/slide11.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image" Target="../media/image14.png"/><Relationship Id="rId1" Type="http://schemas.openxmlformats.org/officeDocument/2006/relationships/slideLayout" Target="../slideLayouts/slideLayout3.xml"/><Relationship Id="rId4" Type="http://schemas.openxmlformats.org/officeDocument/2006/relationships/image" Target="../media/image15.png"/></Relationships>
</file>

<file path=ppt/slides/_rels/slide12.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image" Target="../media/image16.png"/><Relationship Id="rId1" Type="http://schemas.openxmlformats.org/officeDocument/2006/relationships/slideLayout" Target="../slideLayouts/slideLayout3.xml"/><Relationship Id="rId4" Type="http://schemas.openxmlformats.org/officeDocument/2006/relationships/image" Target="../media/image17.png"/></Relationships>
</file>

<file path=ppt/slides/_rels/slide13.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image" Target="../media/image18.png"/><Relationship Id="rId1" Type="http://schemas.openxmlformats.org/officeDocument/2006/relationships/slideLayout" Target="../slideLayouts/slideLayout3.xml"/><Relationship Id="rId4" Type="http://schemas.openxmlformats.org/officeDocument/2006/relationships/image" Target="../media/image19.png"/></Relationships>
</file>

<file path=ppt/slides/_rels/slide14.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image" Target="../media/image20.png"/><Relationship Id="rId1" Type="http://schemas.openxmlformats.org/officeDocument/2006/relationships/slideLayout" Target="../slideLayouts/slideLayout3.xml"/><Relationship Id="rId4" Type="http://schemas.openxmlformats.org/officeDocument/2006/relationships/image" Target="../media/image21.png"/></Relationships>
</file>

<file path=ppt/slides/_rels/slide15.xml.rels><?xml version="1.0" encoding="UTF-8" standalone="yes"?>
<Relationships xmlns="http://schemas.openxmlformats.org/package/2006/relationships"><Relationship Id="rId2" Type="http://schemas.openxmlformats.org/officeDocument/2006/relationships/image" Target="../media/image22.png"/><Relationship Id="rId1" Type="http://schemas.openxmlformats.org/officeDocument/2006/relationships/slideLayout" Target="../slideLayouts/slideLayout3.xml"/></Relationships>
</file>

<file path=ppt/slides/_rels/slide16.xml.rels><?xml version="1.0" encoding="UTF-8" standalone="yes"?>
<Relationships xmlns="http://schemas.openxmlformats.org/package/2006/relationships"><Relationship Id="rId2" Type="http://schemas.openxmlformats.org/officeDocument/2006/relationships/image" Target="../media/image23.png"/><Relationship Id="rId1" Type="http://schemas.openxmlformats.org/officeDocument/2006/relationships/slideLayout" Target="../slideLayouts/slideLayout3.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8.xml.rels><?xml version="1.0" encoding="UTF-8" standalone="yes"?>
<Relationships xmlns="http://schemas.openxmlformats.org/package/2006/relationships"><Relationship Id="rId2" Type="http://schemas.openxmlformats.org/officeDocument/2006/relationships/chart" Target="../charts/chart1.xml"/><Relationship Id="rId1" Type="http://schemas.openxmlformats.org/officeDocument/2006/relationships/slideLayout" Target="../slideLayouts/slideLayout3.xml"/></Relationships>
</file>

<file path=ppt/slides/_rels/slide19.xml.rels><?xml version="1.0" encoding="UTF-8" standalone="yes"?>
<Relationships xmlns="http://schemas.openxmlformats.org/package/2006/relationships"><Relationship Id="rId2" Type="http://schemas.openxmlformats.org/officeDocument/2006/relationships/chart" Target="../charts/chart2.xml"/><Relationship Id="rId1" Type="http://schemas.openxmlformats.org/officeDocument/2006/relationships/slideLayout" Target="../slideLayouts/slideLayout3.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24.xml.rels><?xml version="1.0" encoding="UTF-8" standalone="yes"?>
<Relationships xmlns="http://schemas.openxmlformats.org/package/2006/relationships"><Relationship Id="rId13" Type="http://schemas.microsoft.com/office/2007/relationships/media" Target="../media/media10.wav"/><Relationship Id="rId18" Type="http://schemas.openxmlformats.org/officeDocument/2006/relationships/audio" Target="../media/media12.wav"/><Relationship Id="rId26" Type="http://schemas.openxmlformats.org/officeDocument/2006/relationships/audio" Target="../media/media16.wav"/><Relationship Id="rId3" Type="http://schemas.microsoft.com/office/2007/relationships/media" Target="../media/media5.wav"/><Relationship Id="rId21" Type="http://schemas.microsoft.com/office/2007/relationships/media" Target="../media/media14.wav"/><Relationship Id="rId34" Type="http://schemas.openxmlformats.org/officeDocument/2006/relationships/image" Target="../media/image24.png"/><Relationship Id="rId7" Type="http://schemas.microsoft.com/office/2007/relationships/media" Target="../media/media7.wav"/><Relationship Id="rId12" Type="http://schemas.openxmlformats.org/officeDocument/2006/relationships/audio" Target="../media/media9.wav"/><Relationship Id="rId17" Type="http://schemas.microsoft.com/office/2007/relationships/media" Target="../media/media12.wav"/><Relationship Id="rId25" Type="http://schemas.microsoft.com/office/2007/relationships/media" Target="../media/media16.wav"/><Relationship Id="rId33" Type="http://schemas.openxmlformats.org/officeDocument/2006/relationships/slideLayout" Target="../slideLayouts/slideLayout3.xml"/><Relationship Id="rId2" Type="http://schemas.openxmlformats.org/officeDocument/2006/relationships/audio" Target="../media/media4.wav"/><Relationship Id="rId16" Type="http://schemas.openxmlformats.org/officeDocument/2006/relationships/audio" Target="../media/media11.wav"/><Relationship Id="rId20" Type="http://schemas.openxmlformats.org/officeDocument/2006/relationships/audio" Target="../media/media13.wav"/><Relationship Id="rId29" Type="http://schemas.microsoft.com/office/2007/relationships/media" Target="../media/media18.wav"/><Relationship Id="rId1" Type="http://schemas.microsoft.com/office/2007/relationships/media" Target="../media/media4.wav"/><Relationship Id="rId6" Type="http://schemas.openxmlformats.org/officeDocument/2006/relationships/audio" Target="../media/media6.wav"/><Relationship Id="rId11" Type="http://schemas.microsoft.com/office/2007/relationships/media" Target="../media/media9.wav"/><Relationship Id="rId24" Type="http://schemas.openxmlformats.org/officeDocument/2006/relationships/audio" Target="../media/media15.wav"/><Relationship Id="rId32" Type="http://schemas.openxmlformats.org/officeDocument/2006/relationships/audio" Target="../media/media19.wav"/><Relationship Id="rId5" Type="http://schemas.microsoft.com/office/2007/relationships/media" Target="../media/media6.wav"/><Relationship Id="rId15" Type="http://schemas.microsoft.com/office/2007/relationships/media" Target="../media/media11.wav"/><Relationship Id="rId23" Type="http://schemas.microsoft.com/office/2007/relationships/media" Target="../media/media15.wav"/><Relationship Id="rId28" Type="http://schemas.openxmlformats.org/officeDocument/2006/relationships/audio" Target="../media/media17.wav"/><Relationship Id="rId10" Type="http://schemas.openxmlformats.org/officeDocument/2006/relationships/audio" Target="../media/media8.wav"/><Relationship Id="rId19" Type="http://schemas.microsoft.com/office/2007/relationships/media" Target="../media/media13.wav"/><Relationship Id="rId31" Type="http://schemas.microsoft.com/office/2007/relationships/media" Target="../media/media19.wav"/><Relationship Id="rId4" Type="http://schemas.openxmlformats.org/officeDocument/2006/relationships/audio" Target="../media/media5.wav"/><Relationship Id="rId9" Type="http://schemas.microsoft.com/office/2007/relationships/media" Target="../media/media8.wav"/><Relationship Id="rId14" Type="http://schemas.openxmlformats.org/officeDocument/2006/relationships/audio" Target="../media/media10.wav"/><Relationship Id="rId22" Type="http://schemas.openxmlformats.org/officeDocument/2006/relationships/audio" Target="../media/media14.wav"/><Relationship Id="rId27" Type="http://schemas.microsoft.com/office/2007/relationships/media" Target="../media/media17.wav"/><Relationship Id="rId30" Type="http://schemas.openxmlformats.org/officeDocument/2006/relationships/audio" Target="../media/media18.wav"/><Relationship Id="rId8" Type="http://schemas.openxmlformats.org/officeDocument/2006/relationships/audio" Target="../media/media7.wav"/></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53"/>
        <p:cNvGrpSpPr/>
        <p:nvPr/>
      </p:nvGrpSpPr>
      <p:grpSpPr>
        <a:xfrm>
          <a:off x="0" y="0"/>
          <a:ext cx="0" cy="0"/>
          <a:chOff x="0" y="0"/>
          <a:chExt cx="0" cy="0"/>
        </a:xfrm>
      </p:grpSpPr>
      <p:sp>
        <p:nvSpPr>
          <p:cNvPr id="54" name="Google Shape;54;p1"/>
          <p:cNvSpPr txBox="1">
            <a:spLocks noGrp="1"/>
          </p:cNvSpPr>
          <p:nvPr>
            <p:ph type="ctrTitle"/>
          </p:nvPr>
        </p:nvSpPr>
        <p:spPr>
          <a:xfrm>
            <a:off x="807175" y="1612420"/>
            <a:ext cx="10536015" cy="2376400"/>
          </a:xfrm>
          <a:prstGeom prst="rect">
            <a:avLst/>
          </a:prstGeom>
          <a:noFill/>
          <a:ln>
            <a:noFill/>
          </a:ln>
        </p:spPr>
        <p:txBody>
          <a:bodyPr spcFirstLastPara="1" wrap="square" lIns="121900" tIns="121900" rIns="121900" bIns="121900" anchor="b" anchorCtr="0">
            <a:noAutofit/>
          </a:bodyPr>
          <a:lstStyle/>
          <a:p>
            <a:pPr lvl="0">
              <a:lnSpc>
                <a:spcPct val="120000"/>
              </a:lnSpc>
              <a:buClr>
                <a:schemeClr val="dk1"/>
              </a:buClr>
              <a:buSzPts val="1100"/>
            </a:pPr>
            <a:r>
              <a:rPr lang="en-US" sz="4400" dirty="0">
                <a:latin typeface="FS PF BeauSans Pro"/>
              </a:rPr>
              <a:t>Non-verbal Vocalizations for </a:t>
            </a:r>
            <a:br>
              <a:rPr lang="en-US" sz="4400" dirty="0">
                <a:latin typeface="FS PF BeauSans Pro"/>
              </a:rPr>
            </a:br>
            <a:r>
              <a:rPr lang="en-US" sz="4400" dirty="0">
                <a:latin typeface="FS PF BeauSans Pro"/>
              </a:rPr>
              <a:t>Zero-shot Vietnamese TTS</a:t>
            </a:r>
            <a:endParaRPr sz="4400" i="0" u="none" strike="noStrike" cap="none" dirty="0">
              <a:solidFill>
                <a:srgbClr val="FF0000"/>
              </a:solidFill>
              <a:latin typeface="FS Magistral Bold" panose="020B0804030204080304" pitchFamily="34" charset="0"/>
              <a:ea typeface="Roboto"/>
              <a:cs typeface="Roboto"/>
              <a:sym typeface="Roboto"/>
            </a:endParaRPr>
          </a:p>
        </p:txBody>
      </p:sp>
      <p:sp>
        <p:nvSpPr>
          <p:cNvPr id="55" name="Google Shape;55;p1"/>
          <p:cNvSpPr txBox="1">
            <a:spLocks noGrp="1"/>
          </p:cNvSpPr>
          <p:nvPr>
            <p:ph type="subTitle" idx="1"/>
          </p:nvPr>
        </p:nvSpPr>
        <p:spPr>
          <a:xfrm>
            <a:off x="4227755" y="3998204"/>
            <a:ext cx="7004077" cy="1252984"/>
          </a:xfrm>
          <a:prstGeom prst="rect">
            <a:avLst/>
          </a:prstGeom>
          <a:noFill/>
          <a:ln>
            <a:noFill/>
          </a:ln>
        </p:spPr>
        <p:txBody>
          <a:bodyPr spcFirstLastPara="1" wrap="square" lIns="121900" tIns="121900" rIns="121900" bIns="121900" anchor="b" anchorCtr="0">
            <a:noAutofit/>
          </a:bodyPr>
          <a:lstStyle/>
          <a:p>
            <a:pPr marL="0" marR="0" lvl="0" indent="0" algn="r" rtl="0">
              <a:lnSpc>
                <a:spcPct val="100000"/>
              </a:lnSpc>
              <a:spcBef>
                <a:spcPts val="0"/>
              </a:spcBef>
              <a:spcAft>
                <a:spcPts val="0"/>
              </a:spcAft>
              <a:buClr>
                <a:srgbClr val="000000"/>
              </a:buClr>
              <a:buSzPts val="1200"/>
              <a:buFont typeface="Arial"/>
              <a:buNone/>
            </a:pPr>
            <a:endParaRPr lang="vi-VN" sz="2000" b="0" i="0" u="none" strike="noStrike" cap="none" dirty="0">
              <a:solidFill>
                <a:schemeClr val="tx1">
                  <a:lumMod val="75000"/>
                  <a:lumOff val="25000"/>
                </a:schemeClr>
              </a:solidFill>
              <a:latin typeface="FS PF BeauSans Pro" panose="020B0704030204080304" pitchFamily="34" charset="0"/>
              <a:ea typeface="Roboto"/>
              <a:cs typeface="Roboto"/>
              <a:sym typeface="Roboto"/>
            </a:endParaRPr>
          </a:p>
          <a:p>
            <a:pPr marL="0" marR="0" lvl="0" indent="0" algn="r" rtl="0">
              <a:lnSpc>
                <a:spcPct val="100000"/>
              </a:lnSpc>
              <a:spcBef>
                <a:spcPts val="0"/>
              </a:spcBef>
              <a:spcAft>
                <a:spcPts val="0"/>
              </a:spcAft>
              <a:buClr>
                <a:srgbClr val="000000"/>
              </a:buClr>
              <a:buSzPts val="1200"/>
              <a:buFont typeface="Arial"/>
              <a:buNone/>
            </a:pPr>
            <a:r>
              <a:rPr lang="vi-VN" sz="2000" dirty="0">
                <a:solidFill>
                  <a:schemeClr val="tx1">
                    <a:lumMod val="75000"/>
                    <a:lumOff val="25000"/>
                  </a:schemeClr>
                </a:solidFill>
                <a:latin typeface="FS PF BeauSans Pro" panose="020B0704030204080304" pitchFamily="34" charset="0"/>
                <a:ea typeface="Roboto"/>
                <a:cs typeface="Roboto"/>
                <a:sym typeface="Roboto"/>
              </a:rPr>
              <a:t>Mentee</a:t>
            </a:r>
            <a:r>
              <a:rPr lang="vi-VN" sz="2000" b="0" i="0" u="none" strike="noStrike" cap="none" dirty="0">
                <a:solidFill>
                  <a:schemeClr val="tx1">
                    <a:lumMod val="75000"/>
                    <a:lumOff val="25000"/>
                  </a:schemeClr>
                </a:solidFill>
                <a:latin typeface="FS PF BeauSans Pro" panose="020B0704030204080304" pitchFamily="34" charset="0"/>
                <a:ea typeface="Roboto"/>
                <a:cs typeface="Roboto"/>
                <a:sym typeface="Roboto"/>
              </a:rPr>
              <a:t>: </a:t>
            </a:r>
            <a:r>
              <a:rPr lang="en-US" sz="2000" dirty="0">
                <a:solidFill>
                  <a:schemeClr val="tx1">
                    <a:lumMod val="75000"/>
                    <a:lumOff val="25000"/>
                  </a:schemeClr>
                </a:solidFill>
                <a:latin typeface="FS PF BeauSans Pro" panose="020B0704030204080304" pitchFamily="34" charset="0"/>
                <a:ea typeface="Roboto"/>
                <a:cs typeface="Roboto"/>
                <a:sym typeface="Roboto"/>
              </a:rPr>
              <a:t>Tô Duy An</a:t>
            </a:r>
            <a:endParaRPr lang="vi-VN" sz="2000" dirty="0">
              <a:solidFill>
                <a:schemeClr val="tx1">
                  <a:lumMod val="75000"/>
                  <a:lumOff val="25000"/>
                </a:schemeClr>
              </a:solidFill>
              <a:latin typeface="FS PF BeauSans Pro" panose="020B0704030204080304" pitchFamily="34" charset="0"/>
            </a:endParaRPr>
          </a:p>
          <a:p>
            <a:pPr marL="0" marR="0" lvl="0" indent="0" algn="r" rtl="0">
              <a:lnSpc>
                <a:spcPct val="100000"/>
              </a:lnSpc>
              <a:spcBef>
                <a:spcPts val="0"/>
              </a:spcBef>
              <a:spcAft>
                <a:spcPts val="0"/>
              </a:spcAft>
              <a:buClr>
                <a:srgbClr val="000000"/>
              </a:buClr>
              <a:buSzPts val="1200"/>
              <a:buFont typeface="Arial"/>
              <a:buNone/>
            </a:pPr>
            <a:r>
              <a:rPr lang="vi-VN" sz="2000" b="0" i="0" u="none" strike="noStrike" cap="none" dirty="0">
                <a:solidFill>
                  <a:schemeClr val="tx1">
                    <a:lumMod val="75000"/>
                    <a:lumOff val="25000"/>
                  </a:schemeClr>
                </a:solidFill>
                <a:latin typeface="FS PF BeauSans Pro" panose="020B0704030204080304" pitchFamily="34" charset="0"/>
                <a:ea typeface="Roboto"/>
                <a:cs typeface="Roboto"/>
                <a:sym typeface="Roboto"/>
              </a:rPr>
              <a:t>Mentor: Nguyễn Tùng Lương, Trần Hồng Nhật, Đỗ Văn Hải</a:t>
            </a:r>
          </a:p>
        </p:txBody>
      </p:sp>
      <p:cxnSp>
        <p:nvCxnSpPr>
          <p:cNvPr id="56" name="Google Shape;56;p1"/>
          <p:cNvCxnSpPr/>
          <p:nvPr/>
        </p:nvCxnSpPr>
        <p:spPr>
          <a:xfrm>
            <a:off x="7951832" y="3988820"/>
            <a:ext cx="3280000" cy="0"/>
          </a:xfrm>
          <a:prstGeom prst="straightConnector1">
            <a:avLst/>
          </a:prstGeom>
          <a:noFill/>
          <a:ln w="9525" cap="flat" cmpd="sng">
            <a:solidFill>
              <a:schemeClr val="hlink"/>
            </a:solidFill>
            <a:prstDash val="solid"/>
            <a:round/>
            <a:headEnd type="none" w="sm" len="sm"/>
            <a:tailEnd type="none" w="sm" len="sm"/>
          </a:ln>
        </p:spPr>
      </p:cxn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61"/>
        <p:cNvGrpSpPr/>
        <p:nvPr/>
      </p:nvGrpSpPr>
      <p:grpSpPr>
        <a:xfrm>
          <a:off x="0" y="0"/>
          <a:ext cx="0" cy="0"/>
          <a:chOff x="0" y="0"/>
          <a:chExt cx="0" cy="0"/>
        </a:xfrm>
      </p:grpSpPr>
      <p:sp>
        <p:nvSpPr>
          <p:cNvPr id="62" name="Google Shape;62;p2"/>
          <p:cNvSpPr txBox="1">
            <a:spLocks noGrp="1"/>
          </p:cNvSpPr>
          <p:nvPr>
            <p:ph type="ctrTitle"/>
          </p:nvPr>
        </p:nvSpPr>
        <p:spPr>
          <a:xfrm>
            <a:off x="5442772" y="2514345"/>
            <a:ext cx="4756021" cy="1261600"/>
          </a:xfrm>
          <a:prstGeom prst="rect">
            <a:avLst/>
          </a:prstGeom>
          <a:noFill/>
          <a:ln>
            <a:noFill/>
          </a:ln>
        </p:spPr>
        <p:txBody>
          <a:bodyPr spcFirstLastPara="1" wrap="square" lIns="121900" tIns="121900" rIns="121900" bIns="121900" anchor="ctr" anchorCtr="0">
            <a:noAutofit/>
          </a:bodyPr>
          <a:lstStyle/>
          <a:p>
            <a:pPr marL="0" marR="0" lvl="0" indent="0" algn="ctr" rtl="0">
              <a:lnSpc>
                <a:spcPct val="100000"/>
              </a:lnSpc>
              <a:spcBef>
                <a:spcPts val="0"/>
              </a:spcBef>
              <a:spcAft>
                <a:spcPts val="0"/>
              </a:spcAft>
              <a:buClr>
                <a:srgbClr val="000000"/>
              </a:buClr>
              <a:buSzPts val="3600"/>
              <a:buFont typeface="Arial"/>
              <a:buNone/>
            </a:pPr>
            <a:r>
              <a:rPr lang="en-US" b="1" i="0" u="none" strike="noStrike" cap="none" dirty="0">
                <a:solidFill>
                  <a:schemeClr val="tx1">
                    <a:lumMod val="75000"/>
                    <a:lumOff val="25000"/>
                  </a:schemeClr>
                </a:solidFill>
                <a:latin typeface="FS PF BeauSans Pro" panose="020B0704030204080304" pitchFamily="34" charset="0"/>
                <a:ea typeface="Roboto"/>
                <a:cs typeface="Roboto"/>
                <a:sym typeface="Roboto"/>
              </a:rPr>
              <a:t>Table of contents</a:t>
            </a:r>
            <a:endParaRPr b="1" i="0" u="none" strike="noStrike" cap="none" dirty="0">
              <a:solidFill>
                <a:schemeClr val="tx1">
                  <a:lumMod val="75000"/>
                  <a:lumOff val="25000"/>
                </a:schemeClr>
              </a:solidFill>
              <a:latin typeface="FS PF BeauSans Pro" panose="020B0704030204080304" pitchFamily="34" charset="0"/>
              <a:ea typeface="Roboto"/>
              <a:cs typeface="Roboto"/>
              <a:sym typeface="Roboto"/>
            </a:endParaRPr>
          </a:p>
        </p:txBody>
      </p:sp>
      <p:sp>
        <p:nvSpPr>
          <p:cNvPr id="63" name="Google Shape;63;p2"/>
          <p:cNvSpPr txBox="1">
            <a:spLocks noGrp="1"/>
          </p:cNvSpPr>
          <p:nvPr>
            <p:ph type="title" idx="5"/>
          </p:nvPr>
        </p:nvSpPr>
        <p:spPr>
          <a:xfrm>
            <a:off x="3543328" y="3653967"/>
            <a:ext cx="1476800" cy="770400"/>
          </a:xfrm>
          <a:prstGeom prst="rect">
            <a:avLst/>
          </a:prstGeom>
          <a:noFill/>
          <a:ln>
            <a:noFill/>
          </a:ln>
        </p:spPr>
        <p:txBody>
          <a:bodyPr spcFirstLastPara="1" wrap="square" lIns="121900" tIns="121900" rIns="121900" bIns="121900" anchor="ctr" anchorCtr="0">
            <a:noAutofit/>
          </a:bodyPr>
          <a:lstStyle/>
          <a:p>
            <a:pPr marL="0" marR="0" lvl="0" indent="0" algn="r" rtl="0">
              <a:lnSpc>
                <a:spcPct val="100000"/>
              </a:lnSpc>
              <a:spcBef>
                <a:spcPts val="0"/>
              </a:spcBef>
              <a:spcAft>
                <a:spcPts val="0"/>
              </a:spcAft>
              <a:buClr>
                <a:srgbClr val="000000"/>
              </a:buClr>
              <a:buSzPts val="4800"/>
              <a:buFont typeface="Arial"/>
              <a:buNone/>
            </a:pPr>
            <a:r>
              <a:rPr lang="en-US" sz="4000" b="1" i="0" u="none" strike="noStrike" cap="none" dirty="0">
                <a:solidFill>
                  <a:srgbClr val="FF0000"/>
                </a:solidFill>
                <a:latin typeface="FS PF BeauSans Pro" panose="020B0704030204080304" pitchFamily="34" charset="0"/>
                <a:ea typeface="Roboto"/>
                <a:cs typeface="Roboto"/>
                <a:sym typeface="Roboto"/>
              </a:rPr>
              <a:t>03</a:t>
            </a:r>
            <a:endParaRPr sz="4000" b="1" i="0" u="none" strike="noStrike" cap="none" dirty="0">
              <a:solidFill>
                <a:srgbClr val="FF0000"/>
              </a:solidFill>
              <a:latin typeface="FS PF BeauSans Pro" panose="020B0704030204080304" pitchFamily="34" charset="0"/>
              <a:ea typeface="Roboto"/>
              <a:cs typeface="Roboto"/>
              <a:sym typeface="Roboto"/>
            </a:endParaRPr>
          </a:p>
        </p:txBody>
      </p:sp>
      <p:sp>
        <p:nvSpPr>
          <p:cNvPr id="64" name="Google Shape;64;p2"/>
          <p:cNvSpPr txBox="1">
            <a:spLocks noGrp="1"/>
          </p:cNvSpPr>
          <p:nvPr>
            <p:ph type="ctrTitle" idx="2"/>
          </p:nvPr>
        </p:nvSpPr>
        <p:spPr>
          <a:xfrm>
            <a:off x="613180" y="1938470"/>
            <a:ext cx="3517636" cy="770400"/>
          </a:xfrm>
          <a:prstGeom prst="rect">
            <a:avLst/>
          </a:prstGeom>
          <a:noFill/>
          <a:ln>
            <a:noFill/>
          </a:ln>
        </p:spPr>
        <p:txBody>
          <a:bodyPr spcFirstLastPara="1" wrap="square" lIns="121900" tIns="121900" rIns="121900" bIns="121900" anchor="b" anchorCtr="0">
            <a:noAutofit/>
          </a:bodyPr>
          <a:lstStyle/>
          <a:p>
            <a:pPr marL="0" marR="0" lvl="0" indent="0" algn="r" rtl="0">
              <a:lnSpc>
                <a:spcPct val="100000"/>
              </a:lnSpc>
              <a:spcBef>
                <a:spcPts val="0"/>
              </a:spcBef>
              <a:spcAft>
                <a:spcPts val="0"/>
              </a:spcAft>
              <a:buClr>
                <a:schemeClr val="dk1"/>
              </a:buClr>
              <a:buSzPts val="1100"/>
              <a:buFont typeface="Arial"/>
              <a:buNone/>
            </a:pPr>
            <a:r>
              <a:rPr lang="en-US" sz="3600" b="1" i="0" u="none" strike="noStrike" cap="none" dirty="0">
                <a:solidFill>
                  <a:srgbClr val="FF0000"/>
                </a:solidFill>
                <a:latin typeface="FS PF BeauSans Pro" panose="020B0704030204080304" pitchFamily="34" charset="0"/>
                <a:ea typeface="Roboto"/>
                <a:cs typeface="Roboto"/>
                <a:sym typeface="Roboto"/>
              </a:rPr>
              <a:t>Introduction</a:t>
            </a:r>
            <a:endParaRPr sz="2400" dirty="0">
              <a:latin typeface="FS PF BeauSans Pro" panose="020B0704030204080304" pitchFamily="34" charset="0"/>
            </a:endParaRPr>
          </a:p>
        </p:txBody>
      </p:sp>
      <p:sp>
        <p:nvSpPr>
          <p:cNvPr id="66" name="Google Shape;66;p2">
            <a:hlinkClick r:id="rId2" action="ppaction://hlinksldjump"/>
          </p:cNvPr>
          <p:cNvSpPr txBox="1">
            <a:spLocks noGrp="1"/>
          </p:cNvSpPr>
          <p:nvPr>
            <p:ph type="title" idx="3"/>
          </p:nvPr>
        </p:nvSpPr>
        <p:spPr>
          <a:xfrm>
            <a:off x="3543328" y="1961615"/>
            <a:ext cx="1476800" cy="770400"/>
          </a:xfrm>
          <a:prstGeom prst="rect">
            <a:avLst/>
          </a:prstGeom>
          <a:noFill/>
          <a:ln>
            <a:noFill/>
          </a:ln>
        </p:spPr>
        <p:txBody>
          <a:bodyPr spcFirstLastPara="1" wrap="square" lIns="121900" tIns="121900" rIns="121900" bIns="121900" anchor="ctr" anchorCtr="0">
            <a:noAutofit/>
          </a:bodyPr>
          <a:lstStyle/>
          <a:p>
            <a:pPr marL="0" marR="0" lvl="0" indent="0" algn="r" rtl="0">
              <a:lnSpc>
                <a:spcPct val="100000"/>
              </a:lnSpc>
              <a:spcBef>
                <a:spcPts val="0"/>
              </a:spcBef>
              <a:spcAft>
                <a:spcPts val="0"/>
              </a:spcAft>
              <a:buClr>
                <a:srgbClr val="000000"/>
              </a:buClr>
              <a:buSzPts val="4800"/>
              <a:buFont typeface="Arial"/>
              <a:buNone/>
            </a:pPr>
            <a:r>
              <a:rPr lang="en-US" sz="4000" b="1" i="0" u="none" strike="noStrike" cap="none" dirty="0">
                <a:solidFill>
                  <a:srgbClr val="FF0000"/>
                </a:solidFill>
                <a:latin typeface="FS PF BeauSans Pro" panose="020B0704030204080304" pitchFamily="34" charset="0"/>
                <a:ea typeface="Roboto"/>
                <a:cs typeface="Roboto"/>
                <a:sym typeface="Roboto"/>
              </a:rPr>
              <a:t>01</a:t>
            </a:r>
            <a:endParaRPr sz="4000" b="1" i="0" u="none" strike="noStrike" cap="none" dirty="0">
              <a:solidFill>
                <a:srgbClr val="FF0000"/>
              </a:solidFill>
              <a:latin typeface="FS PF BeauSans Pro" panose="020B0704030204080304" pitchFamily="34" charset="0"/>
              <a:ea typeface="Roboto"/>
              <a:cs typeface="Roboto"/>
              <a:sym typeface="Roboto"/>
            </a:endParaRPr>
          </a:p>
        </p:txBody>
      </p:sp>
      <p:sp>
        <p:nvSpPr>
          <p:cNvPr id="67" name="Google Shape;67;p2">
            <a:hlinkClick r:id="" action="ppaction://noaction"/>
          </p:cNvPr>
          <p:cNvSpPr txBox="1">
            <a:spLocks noGrp="1"/>
          </p:cNvSpPr>
          <p:nvPr>
            <p:ph type="title" idx="4"/>
          </p:nvPr>
        </p:nvSpPr>
        <p:spPr>
          <a:xfrm>
            <a:off x="3543328" y="2782532"/>
            <a:ext cx="1476800" cy="770400"/>
          </a:xfrm>
          <a:prstGeom prst="rect">
            <a:avLst/>
          </a:prstGeom>
          <a:noFill/>
          <a:ln>
            <a:noFill/>
          </a:ln>
        </p:spPr>
        <p:txBody>
          <a:bodyPr spcFirstLastPara="1" wrap="square" lIns="121900" tIns="121900" rIns="121900" bIns="121900" anchor="ctr" anchorCtr="0">
            <a:noAutofit/>
          </a:bodyPr>
          <a:lstStyle/>
          <a:p>
            <a:pPr marL="0" marR="0" lvl="0" indent="0" algn="r" rtl="0">
              <a:lnSpc>
                <a:spcPct val="100000"/>
              </a:lnSpc>
              <a:spcBef>
                <a:spcPts val="0"/>
              </a:spcBef>
              <a:spcAft>
                <a:spcPts val="0"/>
              </a:spcAft>
              <a:buClr>
                <a:srgbClr val="000000"/>
              </a:buClr>
              <a:buSzPts val="4800"/>
              <a:buFont typeface="Arial"/>
              <a:buNone/>
            </a:pPr>
            <a:r>
              <a:rPr lang="en-US" sz="4000" b="1" i="0" u="none" strike="noStrike" cap="none" dirty="0">
                <a:solidFill>
                  <a:srgbClr val="FF0000"/>
                </a:solidFill>
                <a:latin typeface="FS PF BeauSans Pro" panose="020B0704030204080304" pitchFamily="34" charset="0"/>
                <a:ea typeface="Roboto"/>
                <a:cs typeface="Roboto"/>
                <a:sym typeface="Roboto"/>
              </a:rPr>
              <a:t>02</a:t>
            </a:r>
            <a:endParaRPr sz="4000" b="1" i="0" u="none" strike="noStrike" cap="none" dirty="0">
              <a:solidFill>
                <a:srgbClr val="FF0000"/>
              </a:solidFill>
              <a:latin typeface="FS PF BeauSans Pro" panose="020B0704030204080304" pitchFamily="34" charset="0"/>
              <a:ea typeface="Roboto"/>
              <a:cs typeface="Roboto"/>
              <a:sym typeface="Roboto"/>
            </a:endParaRPr>
          </a:p>
        </p:txBody>
      </p:sp>
      <p:sp>
        <p:nvSpPr>
          <p:cNvPr id="68" name="Google Shape;68;p2"/>
          <p:cNvSpPr txBox="1">
            <a:spLocks noGrp="1"/>
          </p:cNvSpPr>
          <p:nvPr>
            <p:ph type="ctrTitle" idx="9"/>
          </p:nvPr>
        </p:nvSpPr>
        <p:spPr>
          <a:xfrm>
            <a:off x="1182837" y="2809905"/>
            <a:ext cx="2942751" cy="770400"/>
          </a:xfrm>
          <a:prstGeom prst="rect">
            <a:avLst/>
          </a:prstGeom>
          <a:noFill/>
          <a:ln>
            <a:noFill/>
          </a:ln>
        </p:spPr>
        <p:txBody>
          <a:bodyPr spcFirstLastPara="1" wrap="square" lIns="121900" tIns="121900" rIns="121900" bIns="121900" anchor="b" anchorCtr="0">
            <a:noAutofit/>
          </a:bodyPr>
          <a:lstStyle/>
          <a:p>
            <a:pPr marL="0" marR="0" lvl="0" indent="0" algn="r" rtl="0">
              <a:lnSpc>
                <a:spcPct val="100000"/>
              </a:lnSpc>
              <a:spcBef>
                <a:spcPts val="0"/>
              </a:spcBef>
              <a:spcAft>
                <a:spcPts val="0"/>
              </a:spcAft>
              <a:buClr>
                <a:srgbClr val="000000"/>
              </a:buClr>
              <a:buSzPts val="1400"/>
              <a:buFont typeface="Arial"/>
              <a:buNone/>
            </a:pPr>
            <a:r>
              <a:rPr lang="en-US" sz="3600" b="1" dirty="0">
                <a:solidFill>
                  <a:srgbClr val="FF0000"/>
                </a:solidFill>
                <a:latin typeface="FS PF BeauSans Pro" panose="020B0704030204080304" pitchFamily="34" charset="0"/>
                <a:ea typeface="Roboto"/>
                <a:cs typeface="Roboto"/>
                <a:sym typeface="Roboto"/>
              </a:rPr>
              <a:t>Method</a:t>
            </a:r>
            <a:endParaRPr sz="2400" dirty="0">
              <a:latin typeface="FS PF BeauSans Pro" panose="020B0704030204080304" pitchFamily="34" charset="0"/>
            </a:endParaRPr>
          </a:p>
        </p:txBody>
      </p:sp>
      <p:sp>
        <p:nvSpPr>
          <p:cNvPr id="70" name="Google Shape;70;p2"/>
          <p:cNvSpPr txBox="1">
            <a:spLocks noGrp="1"/>
          </p:cNvSpPr>
          <p:nvPr>
            <p:ph type="ctrTitle" idx="14"/>
          </p:nvPr>
        </p:nvSpPr>
        <p:spPr>
          <a:xfrm>
            <a:off x="1182837" y="3653967"/>
            <a:ext cx="2942751" cy="770400"/>
          </a:xfrm>
          <a:prstGeom prst="rect">
            <a:avLst/>
          </a:prstGeom>
          <a:noFill/>
          <a:ln>
            <a:noFill/>
          </a:ln>
        </p:spPr>
        <p:txBody>
          <a:bodyPr spcFirstLastPara="1" wrap="square" lIns="121900" tIns="121900" rIns="121900" bIns="121900" anchor="b" anchorCtr="0">
            <a:noAutofit/>
          </a:bodyPr>
          <a:lstStyle/>
          <a:p>
            <a:pPr marL="0" marR="0" lvl="0" indent="0" algn="r" rtl="0">
              <a:lnSpc>
                <a:spcPct val="100000"/>
              </a:lnSpc>
              <a:spcBef>
                <a:spcPts val="0"/>
              </a:spcBef>
              <a:spcAft>
                <a:spcPts val="0"/>
              </a:spcAft>
              <a:buClr>
                <a:srgbClr val="000000"/>
              </a:buClr>
              <a:buSzPts val="1400"/>
              <a:buFont typeface="Arial"/>
              <a:buNone/>
            </a:pPr>
            <a:r>
              <a:rPr lang="en-US" sz="3600" b="1" dirty="0">
                <a:solidFill>
                  <a:srgbClr val="FF0000"/>
                </a:solidFill>
                <a:latin typeface="FS PF BeauSans Pro" panose="020B0704030204080304" pitchFamily="34" charset="0"/>
                <a:ea typeface="Roboto"/>
                <a:cs typeface="Roboto"/>
                <a:sym typeface="Roboto"/>
              </a:rPr>
              <a:t>Results</a:t>
            </a:r>
            <a:endParaRPr sz="2400" dirty="0">
              <a:latin typeface="FS PF BeauSans Pro" panose="020B0704030204080304" pitchFamily="34" charset="0"/>
            </a:endParaRPr>
          </a:p>
        </p:txBody>
      </p:sp>
      <p:cxnSp>
        <p:nvCxnSpPr>
          <p:cNvPr id="72" name="Google Shape;72;p2"/>
          <p:cNvCxnSpPr/>
          <p:nvPr/>
        </p:nvCxnSpPr>
        <p:spPr>
          <a:xfrm flipH="1">
            <a:off x="5122878" y="0"/>
            <a:ext cx="9543" cy="5491992"/>
          </a:xfrm>
          <a:prstGeom prst="straightConnector1">
            <a:avLst/>
          </a:prstGeom>
          <a:noFill/>
          <a:ln w="9525" cap="flat" cmpd="sng">
            <a:solidFill>
              <a:schemeClr val="dk2"/>
            </a:solidFill>
            <a:prstDash val="solid"/>
            <a:round/>
            <a:headEnd type="none" w="sm" len="sm"/>
            <a:tailEnd type="none" w="sm" len="sm"/>
          </a:ln>
        </p:spPr>
      </p:cxnSp>
      <p:sp>
        <p:nvSpPr>
          <p:cNvPr id="11" name="Google Shape;63;p2">
            <a:extLst>
              <a:ext uri="{FF2B5EF4-FFF2-40B4-BE49-F238E27FC236}">
                <a16:creationId xmlns:a16="http://schemas.microsoft.com/office/drawing/2014/main" id="{01C89487-F96A-4D4D-9A0F-64351D3210E7}"/>
              </a:ext>
            </a:extLst>
          </p:cNvPr>
          <p:cNvSpPr txBox="1">
            <a:spLocks/>
          </p:cNvSpPr>
          <p:nvPr/>
        </p:nvSpPr>
        <p:spPr>
          <a:xfrm>
            <a:off x="3594703" y="4498029"/>
            <a:ext cx="1476800" cy="770400"/>
          </a:xfrm>
          <a:prstGeom prst="rect">
            <a:avLst/>
          </a:prstGeom>
          <a:noFill/>
          <a:ln>
            <a:noFill/>
          </a:ln>
        </p:spPr>
        <p:txBody>
          <a:bodyPr spcFirstLastPara="1" wrap="square" lIns="121900" tIns="121900" rIns="121900" bIns="121900" anchor="ctr" anchorCtr="0">
            <a:noAutofit/>
          </a:bodyPr>
          <a:lstStyle>
            <a:defPPr marR="0" lvl="0" algn="l" rtl="0">
              <a:lnSpc>
                <a:spcPct val="100000"/>
              </a:lnSpc>
              <a:spcBef>
                <a:spcPts val="0"/>
              </a:spcBef>
              <a:spcAft>
                <a:spcPts val="0"/>
              </a:spcAft>
            </a:defPPr>
            <a:lvl1pPr marR="0" lvl="0" algn="r" rtl="0">
              <a:lnSpc>
                <a:spcPct val="100000"/>
              </a:lnSpc>
              <a:spcBef>
                <a:spcPts val="0"/>
              </a:spcBef>
              <a:spcAft>
                <a:spcPts val="0"/>
              </a:spcAft>
              <a:buClr>
                <a:schemeClr val="hlink"/>
              </a:buClr>
              <a:buSzPts val="4800"/>
              <a:buFont typeface="Exo 2"/>
              <a:buNone/>
              <a:defRPr sz="4800" b="1" i="0" u="none" strike="noStrike" cap="none">
                <a:solidFill>
                  <a:srgbClr val="EE0033"/>
                </a:solidFill>
                <a:latin typeface="FS PF BeauSans Pro" panose="02000500000000020004" pitchFamily="50" charset="0"/>
                <a:ea typeface="FS PF BeauSans Pro" panose="02000500000000020004" pitchFamily="50" charset="0"/>
                <a:cs typeface="Arial"/>
                <a:sym typeface="Arial"/>
              </a:defRPr>
            </a:lvl1pPr>
            <a:lvl2pPr marR="0" lvl="1" algn="l" rtl="0">
              <a:lnSpc>
                <a:spcPct val="100000"/>
              </a:lnSpc>
              <a:spcBef>
                <a:spcPts val="0"/>
              </a:spcBef>
              <a:spcAft>
                <a:spcPts val="0"/>
              </a:spcAft>
              <a:buClr>
                <a:schemeClr val="dk1"/>
              </a:buClr>
              <a:buSzPts val="4800"/>
              <a:buFont typeface="Fira Sans Extra Condensed Medium"/>
              <a:buNone/>
              <a:defRPr sz="6400" b="0" i="0" u="none" strike="noStrike" cap="none">
                <a:solidFill>
                  <a:schemeClr val="dk1"/>
                </a:solidFill>
                <a:latin typeface="Fira Sans Extra Condensed Medium"/>
                <a:ea typeface="Fira Sans Extra Condensed Medium"/>
                <a:cs typeface="Fira Sans Extra Condensed Medium"/>
                <a:sym typeface="Fira Sans Extra Condensed Medium"/>
              </a:defRPr>
            </a:lvl2pPr>
            <a:lvl3pPr marR="0" lvl="2" algn="l" rtl="0">
              <a:lnSpc>
                <a:spcPct val="100000"/>
              </a:lnSpc>
              <a:spcBef>
                <a:spcPts val="0"/>
              </a:spcBef>
              <a:spcAft>
                <a:spcPts val="0"/>
              </a:spcAft>
              <a:buClr>
                <a:schemeClr val="dk1"/>
              </a:buClr>
              <a:buSzPts val="4800"/>
              <a:buFont typeface="Fira Sans Extra Condensed Medium"/>
              <a:buNone/>
              <a:defRPr sz="6400" b="0" i="0" u="none" strike="noStrike" cap="none">
                <a:solidFill>
                  <a:schemeClr val="dk1"/>
                </a:solidFill>
                <a:latin typeface="Fira Sans Extra Condensed Medium"/>
                <a:ea typeface="Fira Sans Extra Condensed Medium"/>
                <a:cs typeface="Fira Sans Extra Condensed Medium"/>
                <a:sym typeface="Fira Sans Extra Condensed Medium"/>
              </a:defRPr>
            </a:lvl3pPr>
            <a:lvl4pPr marR="0" lvl="3" algn="l" rtl="0">
              <a:lnSpc>
                <a:spcPct val="100000"/>
              </a:lnSpc>
              <a:spcBef>
                <a:spcPts val="0"/>
              </a:spcBef>
              <a:spcAft>
                <a:spcPts val="0"/>
              </a:spcAft>
              <a:buClr>
                <a:schemeClr val="dk1"/>
              </a:buClr>
              <a:buSzPts val="4800"/>
              <a:buFont typeface="Fira Sans Extra Condensed Medium"/>
              <a:buNone/>
              <a:defRPr sz="6400" b="0" i="0" u="none" strike="noStrike" cap="none">
                <a:solidFill>
                  <a:schemeClr val="dk1"/>
                </a:solidFill>
                <a:latin typeface="Fira Sans Extra Condensed Medium"/>
                <a:ea typeface="Fira Sans Extra Condensed Medium"/>
                <a:cs typeface="Fira Sans Extra Condensed Medium"/>
                <a:sym typeface="Fira Sans Extra Condensed Medium"/>
              </a:defRPr>
            </a:lvl4pPr>
            <a:lvl5pPr marR="0" lvl="4" algn="l" rtl="0">
              <a:lnSpc>
                <a:spcPct val="100000"/>
              </a:lnSpc>
              <a:spcBef>
                <a:spcPts val="0"/>
              </a:spcBef>
              <a:spcAft>
                <a:spcPts val="0"/>
              </a:spcAft>
              <a:buClr>
                <a:schemeClr val="dk1"/>
              </a:buClr>
              <a:buSzPts val="4800"/>
              <a:buFont typeface="Fira Sans Extra Condensed Medium"/>
              <a:buNone/>
              <a:defRPr sz="6400" b="0" i="0" u="none" strike="noStrike" cap="none">
                <a:solidFill>
                  <a:schemeClr val="dk1"/>
                </a:solidFill>
                <a:latin typeface="Fira Sans Extra Condensed Medium"/>
                <a:ea typeface="Fira Sans Extra Condensed Medium"/>
                <a:cs typeface="Fira Sans Extra Condensed Medium"/>
                <a:sym typeface="Fira Sans Extra Condensed Medium"/>
              </a:defRPr>
            </a:lvl5pPr>
            <a:lvl6pPr marR="0" lvl="5" algn="l" rtl="0">
              <a:lnSpc>
                <a:spcPct val="100000"/>
              </a:lnSpc>
              <a:spcBef>
                <a:spcPts val="0"/>
              </a:spcBef>
              <a:spcAft>
                <a:spcPts val="0"/>
              </a:spcAft>
              <a:buClr>
                <a:schemeClr val="dk1"/>
              </a:buClr>
              <a:buSzPts val="4800"/>
              <a:buFont typeface="Fira Sans Extra Condensed Medium"/>
              <a:buNone/>
              <a:defRPr sz="6400" b="0" i="0" u="none" strike="noStrike" cap="none">
                <a:solidFill>
                  <a:schemeClr val="dk1"/>
                </a:solidFill>
                <a:latin typeface="Fira Sans Extra Condensed Medium"/>
                <a:ea typeface="Fira Sans Extra Condensed Medium"/>
                <a:cs typeface="Fira Sans Extra Condensed Medium"/>
                <a:sym typeface="Fira Sans Extra Condensed Medium"/>
              </a:defRPr>
            </a:lvl6pPr>
            <a:lvl7pPr marR="0" lvl="6" algn="l" rtl="0">
              <a:lnSpc>
                <a:spcPct val="100000"/>
              </a:lnSpc>
              <a:spcBef>
                <a:spcPts val="0"/>
              </a:spcBef>
              <a:spcAft>
                <a:spcPts val="0"/>
              </a:spcAft>
              <a:buClr>
                <a:schemeClr val="dk1"/>
              </a:buClr>
              <a:buSzPts val="4800"/>
              <a:buFont typeface="Fira Sans Extra Condensed Medium"/>
              <a:buNone/>
              <a:defRPr sz="6400" b="0" i="0" u="none" strike="noStrike" cap="none">
                <a:solidFill>
                  <a:schemeClr val="dk1"/>
                </a:solidFill>
                <a:latin typeface="Fira Sans Extra Condensed Medium"/>
                <a:ea typeface="Fira Sans Extra Condensed Medium"/>
                <a:cs typeface="Fira Sans Extra Condensed Medium"/>
                <a:sym typeface="Fira Sans Extra Condensed Medium"/>
              </a:defRPr>
            </a:lvl7pPr>
            <a:lvl8pPr marR="0" lvl="7" algn="l" rtl="0">
              <a:lnSpc>
                <a:spcPct val="100000"/>
              </a:lnSpc>
              <a:spcBef>
                <a:spcPts val="0"/>
              </a:spcBef>
              <a:spcAft>
                <a:spcPts val="0"/>
              </a:spcAft>
              <a:buClr>
                <a:schemeClr val="dk1"/>
              </a:buClr>
              <a:buSzPts val="4800"/>
              <a:buFont typeface="Fira Sans Extra Condensed Medium"/>
              <a:buNone/>
              <a:defRPr sz="6400" b="0" i="0" u="none" strike="noStrike" cap="none">
                <a:solidFill>
                  <a:schemeClr val="dk1"/>
                </a:solidFill>
                <a:latin typeface="Fira Sans Extra Condensed Medium"/>
                <a:ea typeface="Fira Sans Extra Condensed Medium"/>
                <a:cs typeface="Fira Sans Extra Condensed Medium"/>
                <a:sym typeface="Fira Sans Extra Condensed Medium"/>
              </a:defRPr>
            </a:lvl8pPr>
            <a:lvl9pPr marR="0" lvl="8" algn="l" rtl="0">
              <a:lnSpc>
                <a:spcPct val="100000"/>
              </a:lnSpc>
              <a:spcBef>
                <a:spcPts val="0"/>
              </a:spcBef>
              <a:spcAft>
                <a:spcPts val="0"/>
              </a:spcAft>
              <a:buClr>
                <a:schemeClr val="dk1"/>
              </a:buClr>
              <a:buSzPts val="4800"/>
              <a:buFont typeface="Fira Sans Extra Condensed Medium"/>
              <a:buNone/>
              <a:defRPr sz="6400" b="0" i="0" u="none" strike="noStrike" cap="none">
                <a:solidFill>
                  <a:schemeClr val="dk1"/>
                </a:solidFill>
                <a:latin typeface="Fira Sans Extra Condensed Medium"/>
                <a:ea typeface="Fira Sans Extra Condensed Medium"/>
                <a:cs typeface="Fira Sans Extra Condensed Medium"/>
                <a:sym typeface="Fira Sans Extra Condensed Medium"/>
              </a:defRPr>
            </a:lvl9pPr>
          </a:lstStyle>
          <a:p>
            <a:pPr>
              <a:buClr>
                <a:srgbClr val="000000"/>
              </a:buClr>
              <a:buFont typeface="Arial"/>
              <a:buNone/>
            </a:pPr>
            <a:r>
              <a:rPr lang="en-US" sz="4000" dirty="0">
                <a:solidFill>
                  <a:srgbClr val="FF0000"/>
                </a:solidFill>
                <a:latin typeface="FS PF BeauSans Pro" panose="020B0704030204080304" pitchFamily="34" charset="0"/>
                <a:ea typeface="Roboto"/>
                <a:cs typeface="Roboto"/>
                <a:sym typeface="Roboto"/>
              </a:rPr>
              <a:t>04</a:t>
            </a:r>
          </a:p>
        </p:txBody>
      </p:sp>
      <p:sp>
        <p:nvSpPr>
          <p:cNvPr id="12" name="Google Shape;70;p2">
            <a:extLst>
              <a:ext uri="{FF2B5EF4-FFF2-40B4-BE49-F238E27FC236}">
                <a16:creationId xmlns:a16="http://schemas.microsoft.com/office/drawing/2014/main" id="{BC46DE92-AC5D-4F08-B457-63C55C531422}"/>
              </a:ext>
            </a:extLst>
          </p:cNvPr>
          <p:cNvSpPr txBox="1">
            <a:spLocks/>
          </p:cNvSpPr>
          <p:nvPr/>
        </p:nvSpPr>
        <p:spPr>
          <a:xfrm>
            <a:off x="152399" y="4498029"/>
            <a:ext cx="3973189" cy="770400"/>
          </a:xfrm>
          <a:prstGeom prst="rect">
            <a:avLst/>
          </a:prstGeom>
          <a:noFill/>
          <a:ln>
            <a:noFill/>
          </a:ln>
        </p:spPr>
        <p:txBody>
          <a:bodyPr spcFirstLastPara="1" wrap="square" lIns="121900" tIns="121900" rIns="121900" bIns="121900" anchor="b" anchorCtr="0">
            <a:noAutofit/>
          </a:bodyPr>
          <a:lstStyle>
            <a:defPPr marR="0" lvl="0" algn="l" rtl="0">
              <a:lnSpc>
                <a:spcPct val="100000"/>
              </a:lnSpc>
              <a:spcBef>
                <a:spcPts val="0"/>
              </a:spcBef>
              <a:spcAft>
                <a:spcPts val="0"/>
              </a:spcAft>
            </a:defPPr>
            <a:lvl1pPr marR="0" lvl="0" algn="r" rtl="0">
              <a:lnSpc>
                <a:spcPct val="100000"/>
              </a:lnSpc>
              <a:spcBef>
                <a:spcPts val="0"/>
              </a:spcBef>
              <a:spcAft>
                <a:spcPts val="0"/>
              </a:spcAft>
              <a:buClr>
                <a:schemeClr val="hlink"/>
              </a:buClr>
              <a:buSzPts val="1400"/>
              <a:buFont typeface="Exo 2"/>
              <a:buNone/>
              <a:defRPr sz="1867" b="0" i="0" u="none" strike="noStrike" cap="none">
                <a:solidFill>
                  <a:srgbClr val="EE0033"/>
                </a:solidFill>
                <a:latin typeface="FS PF BeauSans Pro" panose="02000500000000020004" pitchFamily="50" charset="0"/>
                <a:ea typeface="FS PF BeauSans Pro" panose="02000500000000020004" pitchFamily="50" charset="0"/>
                <a:cs typeface="Arial"/>
                <a:sym typeface="Arial"/>
              </a:defRPr>
            </a:lvl1pPr>
            <a:lvl2pPr marR="0" lvl="1" algn="r" rtl="0">
              <a:lnSpc>
                <a:spcPct val="100000"/>
              </a:lnSpc>
              <a:spcBef>
                <a:spcPts val="0"/>
              </a:spcBef>
              <a:spcAft>
                <a:spcPts val="0"/>
              </a:spcAft>
              <a:buClr>
                <a:schemeClr val="dk1"/>
              </a:buClr>
              <a:buSzPts val="1400"/>
              <a:buFont typeface="Exo 2"/>
              <a:buNone/>
              <a:defRPr sz="1867" b="0" i="0" u="none" strike="noStrike" cap="none">
                <a:solidFill>
                  <a:schemeClr val="dk1"/>
                </a:solidFill>
                <a:latin typeface="Exo 2"/>
                <a:ea typeface="Exo 2"/>
                <a:cs typeface="Exo 2"/>
                <a:sym typeface="Exo 2"/>
              </a:defRPr>
            </a:lvl2pPr>
            <a:lvl3pPr marR="0" lvl="2" algn="r" rtl="0">
              <a:lnSpc>
                <a:spcPct val="100000"/>
              </a:lnSpc>
              <a:spcBef>
                <a:spcPts val="0"/>
              </a:spcBef>
              <a:spcAft>
                <a:spcPts val="0"/>
              </a:spcAft>
              <a:buClr>
                <a:schemeClr val="dk1"/>
              </a:buClr>
              <a:buSzPts val="1400"/>
              <a:buFont typeface="Exo 2"/>
              <a:buNone/>
              <a:defRPr sz="1867" b="0" i="0" u="none" strike="noStrike" cap="none">
                <a:solidFill>
                  <a:schemeClr val="dk1"/>
                </a:solidFill>
                <a:latin typeface="Exo 2"/>
                <a:ea typeface="Exo 2"/>
                <a:cs typeface="Exo 2"/>
                <a:sym typeface="Exo 2"/>
              </a:defRPr>
            </a:lvl3pPr>
            <a:lvl4pPr marR="0" lvl="3" algn="r" rtl="0">
              <a:lnSpc>
                <a:spcPct val="100000"/>
              </a:lnSpc>
              <a:spcBef>
                <a:spcPts val="0"/>
              </a:spcBef>
              <a:spcAft>
                <a:spcPts val="0"/>
              </a:spcAft>
              <a:buClr>
                <a:schemeClr val="dk1"/>
              </a:buClr>
              <a:buSzPts val="1400"/>
              <a:buFont typeface="Exo 2"/>
              <a:buNone/>
              <a:defRPr sz="1867" b="0" i="0" u="none" strike="noStrike" cap="none">
                <a:solidFill>
                  <a:schemeClr val="dk1"/>
                </a:solidFill>
                <a:latin typeface="Exo 2"/>
                <a:ea typeface="Exo 2"/>
                <a:cs typeface="Exo 2"/>
                <a:sym typeface="Exo 2"/>
              </a:defRPr>
            </a:lvl4pPr>
            <a:lvl5pPr marR="0" lvl="4" algn="r" rtl="0">
              <a:lnSpc>
                <a:spcPct val="100000"/>
              </a:lnSpc>
              <a:spcBef>
                <a:spcPts val="0"/>
              </a:spcBef>
              <a:spcAft>
                <a:spcPts val="0"/>
              </a:spcAft>
              <a:buClr>
                <a:schemeClr val="dk1"/>
              </a:buClr>
              <a:buSzPts val="1400"/>
              <a:buFont typeface="Exo 2"/>
              <a:buNone/>
              <a:defRPr sz="1867" b="0" i="0" u="none" strike="noStrike" cap="none">
                <a:solidFill>
                  <a:schemeClr val="dk1"/>
                </a:solidFill>
                <a:latin typeface="Exo 2"/>
                <a:ea typeface="Exo 2"/>
                <a:cs typeface="Exo 2"/>
                <a:sym typeface="Exo 2"/>
              </a:defRPr>
            </a:lvl5pPr>
            <a:lvl6pPr marR="0" lvl="5" algn="r" rtl="0">
              <a:lnSpc>
                <a:spcPct val="100000"/>
              </a:lnSpc>
              <a:spcBef>
                <a:spcPts val="0"/>
              </a:spcBef>
              <a:spcAft>
                <a:spcPts val="0"/>
              </a:spcAft>
              <a:buClr>
                <a:schemeClr val="dk1"/>
              </a:buClr>
              <a:buSzPts val="1400"/>
              <a:buFont typeface="Exo 2"/>
              <a:buNone/>
              <a:defRPr sz="1867" b="0" i="0" u="none" strike="noStrike" cap="none">
                <a:solidFill>
                  <a:schemeClr val="dk1"/>
                </a:solidFill>
                <a:latin typeface="Exo 2"/>
                <a:ea typeface="Exo 2"/>
                <a:cs typeface="Exo 2"/>
                <a:sym typeface="Exo 2"/>
              </a:defRPr>
            </a:lvl6pPr>
            <a:lvl7pPr marR="0" lvl="6" algn="r" rtl="0">
              <a:lnSpc>
                <a:spcPct val="100000"/>
              </a:lnSpc>
              <a:spcBef>
                <a:spcPts val="0"/>
              </a:spcBef>
              <a:spcAft>
                <a:spcPts val="0"/>
              </a:spcAft>
              <a:buClr>
                <a:schemeClr val="dk1"/>
              </a:buClr>
              <a:buSzPts val="1400"/>
              <a:buFont typeface="Exo 2"/>
              <a:buNone/>
              <a:defRPr sz="1867" b="0" i="0" u="none" strike="noStrike" cap="none">
                <a:solidFill>
                  <a:schemeClr val="dk1"/>
                </a:solidFill>
                <a:latin typeface="Exo 2"/>
                <a:ea typeface="Exo 2"/>
                <a:cs typeface="Exo 2"/>
                <a:sym typeface="Exo 2"/>
              </a:defRPr>
            </a:lvl7pPr>
            <a:lvl8pPr marR="0" lvl="7" algn="r" rtl="0">
              <a:lnSpc>
                <a:spcPct val="100000"/>
              </a:lnSpc>
              <a:spcBef>
                <a:spcPts val="0"/>
              </a:spcBef>
              <a:spcAft>
                <a:spcPts val="0"/>
              </a:spcAft>
              <a:buClr>
                <a:schemeClr val="dk1"/>
              </a:buClr>
              <a:buSzPts val="1400"/>
              <a:buFont typeface="Exo 2"/>
              <a:buNone/>
              <a:defRPr sz="1867" b="0" i="0" u="none" strike="noStrike" cap="none">
                <a:solidFill>
                  <a:schemeClr val="dk1"/>
                </a:solidFill>
                <a:latin typeface="Exo 2"/>
                <a:ea typeface="Exo 2"/>
                <a:cs typeface="Exo 2"/>
                <a:sym typeface="Exo 2"/>
              </a:defRPr>
            </a:lvl8pPr>
            <a:lvl9pPr marR="0" lvl="8" algn="r" rtl="0">
              <a:lnSpc>
                <a:spcPct val="100000"/>
              </a:lnSpc>
              <a:spcBef>
                <a:spcPts val="0"/>
              </a:spcBef>
              <a:spcAft>
                <a:spcPts val="0"/>
              </a:spcAft>
              <a:buClr>
                <a:schemeClr val="dk1"/>
              </a:buClr>
              <a:buSzPts val="1400"/>
              <a:buFont typeface="Exo 2"/>
              <a:buNone/>
              <a:defRPr sz="1867" b="0" i="0" u="none" strike="noStrike" cap="none">
                <a:solidFill>
                  <a:schemeClr val="dk1"/>
                </a:solidFill>
                <a:latin typeface="Exo 2"/>
                <a:ea typeface="Exo 2"/>
                <a:cs typeface="Exo 2"/>
                <a:sym typeface="Exo 2"/>
              </a:defRPr>
            </a:lvl9pPr>
          </a:lstStyle>
          <a:p>
            <a:pPr>
              <a:buClr>
                <a:srgbClr val="000000"/>
              </a:buClr>
              <a:buFont typeface="Arial"/>
              <a:buNone/>
            </a:pPr>
            <a:r>
              <a:rPr lang="en-US" sz="3600" b="1" dirty="0">
                <a:solidFill>
                  <a:srgbClr val="FF0000"/>
                </a:solidFill>
                <a:latin typeface="FS PF BeauSans Pro" panose="020B0704030204080304" pitchFamily="34" charset="0"/>
                <a:ea typeface="Roboto"/>
                <a:cs typeface="Roboto"/>
                <a:sym typeface="Roboto"/>
              </a:rPr>
              <a:t>Conclusion</a:t>
            </a:r>
            <a:endParaRPr lang="en-US" sz="2400" dirty="0">
              <a:latin typeface="FS PF BeauSans Pro" panose="020B0704030204080304" pitchFamily="34" charset="0"/>
            </a:endParaRPr>
          </a:p>
        </p:txBody>
      </p:sp>
      <p:sp>
        <p:nvSpPr>
          <p:cNvPr id="2" name="Slide Number Placeholder 1">
            <a:extLst>
              <a:ext uri="{FF2B5EF4-FFF2-40B4-BE49-F238E27FC236}">
                <a16:creationId xmlns:a16="http://schemas.microsoft.com/office/drawing/2014/main" id="{A6126ACD-A00C-4676-88AE-13C7EB9C66FF}"/>
              </a:ext>
            </a:extLst>
          </p:cNvPr>
          <p:cNvSpPr>
            <a:spLocks noGrp="1"/>
          </p:cNvSpPr>
          <p:nvPr>
            <p:ph type="sldNum" idx="12"/>
          </p:nvPr>
        </p:nvSpPr>
        <p:spPr/>
        <p:txBody>
          <a:bodyPr/>
          <a:lstStyle/>
          <a:p>
            <a:fld id="{00000000-1234-1234-1234-123412341234}" type="slidenum">
              <a:rPr lang="en-US" smtClean="0"/>
              <a:pPr/>
              <a:t>2</a:t>
            </a:fld>
            <a:endParaRPr lang="en-US"/>
          </a:p>
        </p:txBody>
      </p:sp>
    </p:spTree>
    <p:extLst>
      <p:ext uri="{BB962C8B-B14F-4D97-AF65-F5344CB8AC3E}">
        <p14:creationId xmlns:p14="http://schemas.microsoft.com/office/powerpoint/2010/main" val="2256324767"/>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Shape 145"/>
        <p:cNvGrpSpPr/>
        <p:nvPr/>
      </p:nvGrpSpPr>
      <p:grpSpPr>
        <a:xfrm>
          <a:off x="0" y="0"/>
          <a:ext cx="0" cy="0"/>
          <a:chOff x="0" y="0"/>
          <a:chExt cx="0" cy="0"/>
        </a:xfrm>
      </p:grpSpPr>
      <p:sp>
        <p:nvSpPr>
          <p:cNvPr id="146" name="Google Shape;146;p10"/>
          <p:cNvSpPr txBox="1">
            <a:spLocks noGrp="1"/>
          </p:cNvSpPr>
          <p:nvPr>
            <p:ph type="ctrTitle"/>
          </p:nvPr>
        </p:nvSpPr>
        <p:spPr>
          <a:xfrm>
            <a:off x="822960" y="466344"/>
            <a:ext cx="10543032" cy="731520"/>
          </a:xfrm>
          <a:prstGeom prst="rect">
            <a:avLst/>
          </a:prstGeom>
          <a:noFill/>
          <a:ln>
            <a:noFill/>
          </a:ln>
        </p:spPr>
        <p:txBody>
          <a:bodyPr spcFirstLastPara="1" wrap="square" lIns="91425" tIns="91425" rIns="91425" bIns="91425" anchor="t" anchorCtr="0">
            <a:noAutofit/>
          </a:bodyPr>
          <a:lstStyle/>
          <a:p>
            <a:pPr marL="0" lvl="0" indent="0" algn="ctr" rtl="0">
              <a:buNone/>
            </a:pPr>
            <a:r>
              <a:rPr lang="en-US" dirty="0"/>
              <a:t>Introduction</a:t>
            </a:r>
          </a:p>
        </p:txBody>
      </p:sp>
      <p:sp>
        <p:nvSpPr>
          <p:cNvPr id="148" name="Google Shape;148;p10"/>
          <p:cNvSpPr txBox="1">
            <a:spLocks noGrp="1"/>
          </p:cNvSpPr>
          <p:nvPr>
            <p:ph type="body" idx="1"/>
          </p:nvPr>
        </p:nvSpPr>
        <p:spPr>
          <a:xfrm>
            <a:off x="502920" y="1325880"/>
            <a:ext cx="6172200" cy="4480560"/>
          </a:xfrm>
          <a:prstGeom prst="rect">
            <a:avLst/>
          </a:prstGeom>
          <a:noFill/>
          <a:ln>
            <a:noFill/>
          </a:ln>
        </p:spPr>
        <p:txBody>
          <a:bodyPr spcFirstLastPara="1" wrap="square" lIns="91425" tIns="91425" rIns="91425" bIns="91425" anchor="t" anchorCtr="0">
            <a:noAutofit/>
          </a:bodyPr>
          <a:lstStyle/>
          <a:p>
            <a:pPr marL="495300" indent="-342900">
              <a:lnSpc>
                <a:spcPct val="110000"/>
              </a:lnSpc>
              <a:spcAft>
                <a:spcPts val="1000"/>
              </a:spcAft>
              <a:buFont typeface="Wingdings" panose="05000000000000000000" pitchFamily="2" charset="2"/>
              <a:buChar char="Ø"/>
            </a:pPr>
            <a:r>
              <a:rPr lang="en-US" sz="2000" b="1" dirty="0">
                <a:latin typeface="FS PF BeauSans Pro"/>
                <a:ea typeface="FS PF BeauSans Pro"/>
                <a:cs typeface="FS PF BeauSans Pro"/>
              </a:rPr>
              <a:t>Zero-shot TTS</a:t>
            </a:r>
            <a:r>
              <a:rPr lang="en-US" sz="2000" dirty="0">
                <a:latin typeface="FS PF BeauSans Pro"/>
                <a:ea typeface="FS PF BeauSans Pro"/>
                <a:cs typeface="FS PF BeauSans Pro"/>
              </a:rPr>
              <a:t>: clones any voice from a few seconds of audio</a:t>
            </a:r>
          </a:p>
          <a:p>
            <a:pPr marL="495300" indent="-342900">
              <a:lnSpc>
                <a:spcPct val="110000"/>
              </a:lnSpc>
              <a:spcAft>
                <a:spcPts val="1000"/>
              </a:spcAft>
              <a:buFont typeface="Wingdings" panose="05000000000000000000" pitchFamily="2" charset="2"/>
              <a:buChar char="Ø"/>
            </a:pPr>
            <a:r>
              <a:rPr lang="en-US" sz="2000" b="1" dirty="0">
                <a:latin typeface="FS PF BeauSans Pro"/>
                <a:ea typeface="FS PF BeauSans Pro"/>
                <a:cs typeface="FS PF BeauSans Pro"/>
              </a:rPr>
              <a:t>NVVs</a:t>
            </a:r>
            <a:r>
              <a:rPr lang="en-US" sz="2000" dirty="0">
                <a:latin typeface="FS PF BeauSans Pro"/>
                <a:ea typeface="FS PF BeauSans Pro"/>
                <a:cs typeface="FS PF BeauSans Pro"/>
              </a:rPr>
              <a:t> (laughter, sighs, breaths, coughs…) carry emotion and intent</a:t>
            </a:r>
          </a:p>
          <a:p>
            <a:pPr marL="495300" indent="-342900">
              <a:lnSpc>
                <a:spcPct val="110000"/>
              </a:lnSpc>
              <a:spcAft>
                <a:spcPts val="1000"/>
              </a:spcAft>
              <a:buFont typeface="Wingdings" panose="05000000000000000000" pitchFamily="2" charset="2"/>
              <a:buChar char="Ø"/>
            </a:pPr>
            <a:r>
              <a:rPr lang="en-US" sz="2000" dirty="0">
                <a:latin typeface="FS PF BeauSans Pro"/>
                <a:ea typeface="FS PF BeauSans Pro"/>
                <a:cs typeface="FS PF BeauSans Pro"/>
              </a:rPr>
              <a:t>Without them, speech sounds flat</a:t>
            </a:r>
          </a:p>
          <a:p>
            <a:pPr marL="495300" indent="-342900">
              <a:lnSpc>
                <a:spcPct val="110000"/>
              </a:lnSpc>
              <a:spcAft>
                <a:spcPts val="1000"/>
              </a:spcAft>
              <a:buFont typeface="Wingdings" panose="05000000000000000000" pitchFamily="2" charset="2"/>
              <a:buChar char="Ø"/>
            </a:pPr>
            <a:r>
              <a:rPr lang="en-US" sz="2000" b="1" dirty="0">
                <a:latin typeface="FS PF BeauSans Pro"/>
                <a:ea typeface="FS PF BeauSans Pro"/>
                <a:cs typeface="FS PF BeauSans Pro"/>
              </a:rPr>
              <a:t>Inline tags</a:t>
            </a:r>
            <a:r>
              <a:rPr lang="en-US" sz="2000" dirty="0">
                <a:latin typeface="FS PF BeauSans Pro"/>
                <a:ea typeface="FS PF BeauSans Pro"/>
                <a:cs typeface="FS PF BeauSans Pro"/>
              </a:rPr>
              <a:t> place the sound: “Thật à </a:t>
            </a:r>
            <a:r>
              <a:rPr lang="en-US" sz="2000" b="1" dirty="0">
                <a:latin typeface="FS PF BeauSans Pro"/>
                <a:ea typeface="FS PF BeauSans Pro"/>
                <a:cs typeface="FS PF BeauSans Pro"/>
              </a:rPr>
              <a:t>[laughter]</a:t>
            </a:r>
            <a:r>
              <a:rPr lang="en-US" sz="2000" dirty="0">
                <a:latin typeface="FS PF BeauSans Pro"/>
                <a:ea typeface="FS PF BeauSans Pro"/>
                <a:cs typeface="FS PF BeauSans Pro"/>
              </a:rPr>
              <a:t> mình không ngờ luôn”</a:t>
            </a:r>
          </a:p>
          <a:p>
            <a:pPr marL="495300" indent="-342900">
              <a:lnSpc>
                <a:spcPct val="110000"/>
              </a:lnSpc>
              <a:spcAft>
                <a:spcPts val="1000"/>
              </a:spcAft>
              <a:buFont typeface="Wingdings" panose="05000000000000000000" pitchFamily="2" charset="2"/>
              <a:buChar char="Ø"/>
            </a:pPr>
            <a:r>
              <a:rPr lang="en-US" sz="2000" b="1" dirty="0">
                <a:latin typeface="FS PF BeauSans Pro"/>
                <a:ea typeface="FS PF BeauSans Pro"/>
                <a:cs typeface="FS PF BeauSans Pro"/>
              </a:rPr>
              <a:t>Used in</a:t>
            </a:r>
            <a:r>
              <a:rPr lang="en-US" sz="2000" dirty="0">
                <a:latin typeface="FS PF BeauSans Pro"/>
                <a:ea typeface="FS PF BeauSans Pro"/>
                <a:cs typeface="FS PF BeauSans Pro"/>
              </a:rPr>
              <a:t>: voice agents, audiobooks, dubbing</a:t>
            </a:r>
          </a:p>
        </p:txBody>
      </p:sp>
      <p:sp>
        <p:nvSpPr>
          <p:cNvPr id="2" name="Slide Number Placeholder 1">
            <a:extLst>
              <a:ext uri="{FF2B5EF4-FFF2-40B4-BE49-F238E27FC236}">
                <a16:creationId xmlns:a16="http://schemas.microsoft.com/office/drawing/2014/main" id="{249CE59B-DD91-4B3A-8ACA-10EA59D7C3EE}"/>
              </a:ext>
            </a:extLst>
          </p:cNvPr>
          <p:cNvSpPr>
            <a:spLocks noGrp="1"/>
          </p:cNvSpPr>
          <p:nvPr>
            <p:ph type="sldNum" idx="12"/>
          </p:nvPr>
        </p:nvSpPr>
        <p:spPr/>
        <p:txBody>
          <a:bodyPr/>
          <a:lstStyle/>
          <a:p>
            <a:pPr marL="0" lvl="0" indent="0" algn="ctr" rtl="0">
              <a:spcBef>
                <a:spcPts val="0"/>
              </a:spcBef>
              <a:spcAft>
                <a:spcPts val="0"/>
              </a:spcAft>
              <a:buNone/>
            </a:pPr>
            <a:fld id="{00000000-1234-1234-1234-123412341234}" type="slidenum">
              <a:rPr lang="en-US" smtClean="0"/>
              <a:t>3</a:t>
            </a:fld>
            <a:endParaRPr lang="en-US" dirty="0"/>
          </a:p>
        </p:txBody>
      </p:sp>
      <p:pic>
        <p:nvPicPr>
          <p:cNvPr id="1010" name="Picture 9" descr="Germany's WDR Implements Text to Speech System for Disaster Messages -  Content + Technology">
            <a:extLst>
              <a:ext uri="{FF2B5EF4-FFF2-40B4-BE49-F238E27FC236}">
                <a16:creationId xmlns:a16="http://schemas.microsoft.com/office/drawing/2014/main" id="{009CCD44-64F3-9237-66BF-50FE06231339}"/>
              </a:ext>
            </a:extLst>
          </p:cNvPr>
          <p:cNvPicPr>
            <a:picLocks noChangeAspect="1"/>
          </p:cNvPicPr>
          <p:nvPr/>
        </p:nvPicPr>
        <p:blipFill>
          <a:blip r:embed="rId4"/>
          <a:stretch>
            <a:fillRect/>
          </a:stretch>
        </p:blipFill>
        <p:spPr>
          <a:xfrm>
            <a:off x="6903720" y="1463040"/>
            <a:ext cx="4754880" cy="2679192"/>
          </a:xfrm>
          <a:prstGeom prst="rect">
            <a:avLst/>
          </a:prstGeom>
        </p:spPr>
      </p:pic>
      <p:pic>
        <p:nvPicPr>
          <p:cNvPr id="7" name="0006">
            <a:hlinkClick r:id="" action="ppaction://media"/>
            <a:extLst>
              <a:ext uri="{FF2B5EF4-FFF2-40B4-BE49-F238E27FC236}">
                <a16:creationId xmlns:a16="http://schemas.microsoft.com/office/drawing/2014/main" id="{E30AAE9C-1F89-FF05-1C93-7FA866DDCE32}"/>
              </a:ext>
            </a:extLst>
          </p:cNvPr>
          <p:cNvPicPr>
            <a:picLocks noChangeAspect="1"/>
          </p:cNvPicPr>
          <p:nvPr>
            <a:audioFile r:link="rId2"/>
            <p:extLst>
              <p:ext uri="{DAA4B4D4-6D71-4841-9C94-3DE7FCFB9230}">
                <p14:media xmlns:p14="http://schemas.microsoft.com/office/powerpoint/2010/main" r:embed="rId1"/>
              </p:ext>
            </p:extLst>
          </p:nvPr>
        </p:nvPicPr>
        <p:blipFill>
          <a:blip r:embed="rId5"/>
          <a:stretch>
            <a:fillRect/>
          </a:stretch>
        </p:blipFill>
        <p:spPr>
          <a:xfrm>
            <a:off x="6949440" y="4526280"/>
            <a:ext cx="548640" cy="548640"/>
          </a:xfrm>
          <a:prstGeom prst="rect">
            <a:avLst/>
          </a:prstGeom>
        </p:spPr>
      </p:pic>
      <p:sp>
        <p:nvSpPr>
          <p:cNvPr id="8" name="TextBox 7">
            <a:extLst>
              <a:ext uri="{FF2B5EF4-FFF2-40B4-BE49-F238E27FC236}">
                <a16:creationId xmlns:a16="http://schemas.microsoft.com/office/drawing/2014/main" id="{B0328333-BFCA-E2CF-F6BD-82D876D09314}"/>
              </a:ext>
            </a:extLst>
          </p:cNvPr>
          <p:cNvSpPr txBox="1"/>
          <p:nvPr/>
        </p:nvSpPr>
        <p:spPr>
          <a:xfrm>
            <a:off x="7635240" y="4434840"/>
            <a:ext cx="4023360" cy="777240"/>
          </a:xfrm>
          <a:prstGeom prst="rect">
            <a:avLst/>
          </a:prstGeom>
          <a:noFill/>
        </p:spPr>
        <p:txBody>
          <a:bodyPr wrap="square" rtlCol="0">
            <a:spAutoFit/>
          </a:bodyPr>
          <a:lstStyle/>
          <a:p>
            <a:r>
              <a:rPr lang="en-US" dirty="0" err="1"/>
              <a:t>và</a:t>
            </a:r>
            <a:r>
              <a:rPr lang="en-US" dirty="0"/>
              <a:t> </a:t>
            </a:r>
            <a:r>
              <a:rPr lang="en-US" dirty="0" err="1"/>
              <a:t>nguyễn</a:t>
            </a:r>
            <a:r>
              <a:rPr lang="en-US" dirty="0"/>
              <a:t> </a:t>
            </a:r>
            <a:r>
              <a:rPr lang="en-US" dirty="0" err="1"/>
              <a:t>đô</a:t>
            </a:r>
            <a:r>
              <a:rPr lang="en-US" dirty="0"/>
              <a:t> </a:t>
            </a:r>
            <a:r>
              <a:rPr lang="en-US" dirty="0" err="1"/>
              <a:t>này</a:t>
            </a:r>
            <a:r>
              <a:rPr lang="en-US" dirty="0"/>
              <a:t> </a:t>
            </a:r>
            <a:r>
              <a:rPr lang="en-US" dirty="0" err="1"/>
              <a:t>anh</a:t>
            </a:r>
            <a:r>
              <a:rPr lang="en-US" dirty="0"/>
              <a:t> </a:t>
            </a:r>
            <a:r>
              <a:rPr lang="en-US" dirty="0" err="1"/>
              <a:t>tùng</a:t>
            </a:r>
            <a:r>
              <a:rPr lang="en-US" dirty="0"/>
              <a:t> chia </a:t>
            </a:r>
            <a:r>
              <a:rPr lang="en-US" dirty="0" err="1"/>
              <a:t>sẻ</a:t>
            </a:r>
            <a:r>
              <a:rPr lang="en-US" dirty="0"/>
              <a:t> </a:t>
            </a:r>
            <a:r>
              <a:rPr lang="en-US" dirty="0" err="1"/>
              <a:t>cách</a:t>
            </a:r>
            <a:r>
              <a:rPr lang="en-US" dirty="0"/>
              <a:t>. </a:t>
            </a:r>
            <a:r>
              <a:rPr lang="en-US" dirty="0" err="1"/>
              <a:t>đợi</a:t>
            </a:r>
            <a:r>
              <a:rPr lang="en-US" dirty="0"/>
              <a:t> </a:t>
            </a:r>
            <a:r>
              <a:rPr lang="en-US" dirty="0" err="1"/>
              <a:t>vô</a:t>
            </a:r>
            <a:r>
              <a:rPr lang="en-US" dirty="0"/>
              <a:t> </a:t>
            </a:r>
            <a:r>
              <a:rPr lang="en-US" dirty="0" err="1"/>
              <a:t>địch</a:t>
            </a:r>
            <a:r>
              <a:rPr lang="en-US" dirty="0"/>
              <a:t> </a:t>
            </a:r>
            <a:r>
              <a:rPr lang="en-US" dirty="0" err="1"/>
              <a:t>ipo</a:t>
            </a:r>
            <a:r>
              <a:rPr lang="en-US" dirty="0"/>
              <a:t> </a:t>
            </a:r>
            <a:r>
              <a:rPr lang="en-US" dirty="0" err="1"/>
              <a:t>cho</a:t>
            </a:r>
            <a:r>
              <a:rPr lang="en-US" dirty="0"/>
              <a:t> fan meeting </a:t>
            </a:r>
            <a:r>
              <a:rPr lang="en-US" dirty="0" err="1"/>
              <a:t>tích</a:t>
            </a:r>
            <a:r>
              <a:rPr lang="en-US" dirty="0"/>
              <a:t> </a:t>
            </a:r>
            <a:r>
              <a:rPr lang="en-US" dirty="0" err="1"/>
              <a:t>mới</a:t>
            </a:r>
            <a:r>
              <a:rPr lang="en-US" dirty="0"/>
              <a:t> </a:t>
            </a:r>
            <a:r>
              <a:rPr lang="en-US" dirty="0" err="1"/>
              <a:t>ạ</a:t>
            </a:r>
            <a:r>
              <a:rPr lang="en-US" dirty="0"/>
              <a:t> [laughter]</a:t>
            </a:r>
          </a:p>
        </p:txBody>
      </p:sp>
    </p:spTree>
    <p:extLst>
      <p:ext uri="{BB962C8B-B14F-4D97-AF65-F5344CB8AC3E}">
        <p14:creationId xmlns:p14="http://schemas.microsoft.com/office/powerpoint/2010/main" val="584723571"/>
      </p:ext>
    </p:extLst>
  </p:cSld>
  <p:clrMapOvr>
    <a:masterClrMapping/>
  </p:clrMapOvr>
  <p:timing>
    <p:tnLst>
      <p:par>
        <p:cTn id="1" dur="indefinite" restart="never" nodeType="tmRoot">
          <p:childTnLst>
            <p:audio>
              <p:cMediaNode vol="80000">
                <p:cTn id="2" fill="hold" display="0">
                  <p:stCondLst>
                    <p:cond delay="indefinite"/>
                  </p:stCondLst>
                  <p:endCondLst>
                    <p:cond evt="onStopAudio" delay="0">
                      <p:tgtEl>
                        <p:sldTgt/>
                      </p:tgtEl>
                    </p:cond>
                  </p:endCondLst>
                </p:cTn>
                <p:tgtEl>
                  <p:spTgt spid="7"/>
                </p:tgtEl>
              </p:cMediaNode>
            </p:audio>
          </p:childTnLst>
        </p:cTn>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Shape 145"/>
        <p:cNvGrpSpPr/>
        <p:nvPr/>
      </p:nvGrpSpPr>
      <p:grpSpPr>
        <a:xfrm>
          <a:off x="0" y="0"/>
          <a:ext cx="0" cy="0"/>
          <a:chOff x="0" y="0"/>
          <a:chExt cx="0" cy="0"/>
        </a:xfrm>
      </p:grpSpPr>
      <p:sp>
        <p:nvSpPr>
          <p:cNvPr id="146" name="Google Shape;146;p10"/>
          <p:cNvSpPr txBox="1">
            <a:spLocks noGrp="1"/>
          </p:cNvSpPr>
          <p:nvPr>
            <p:ph type="ctrTitle"/>
          </p:nvPr>
        </p:nvSpPr>
        <p:spPr>
          <a:xfrm>
            <a:off x="822960" y="466344"/>
            <a:ext cx="10543032" cy="731520"/>
          </a:xfrm>
          <a:prstGeom prst="rect">
            <a:avLst/>
          </a:prstGeom>
          <a:noFill/>
          <a:ln>
            <a:noFill/>
          </a:ln>
        </p:spPr>
        <p:txBody>
          <a:bodyPr spcFirstLastPara="1" wrap="square" lIns="91425" tIns="91425" rIns="91425" bIns="91425" anchor="t" anchorCtr="0">
            <a:noAutofit/>
          </a:bodyPr>
          <a:lstStyle/>
          <a:p>
            <a:pPr lvl="0"/>
            <a:r>
              <a:rPr lang="en-US" dirty="0"/>
              <a:t>Introduction</a:t>
            </a:r>
          </a:p>
        </p:txBody>
      </p:sp>
      <p:sp>
        <p:nvSpPr>
          <p:cNvPr id="2" name="Slide Number Placeholder 1">
            <a:extLst>
              <a:ext uri="{FF2B5EF4-FFF2-40B4-BE49-F238E27FC236}">
                <a16:creationId xmlns:a16="http://schemas.microsoft.com/office/drawing/2014/main" id="{249CE59B-DD91-4B3A-8ACA-10EA59D7C3EE}"/>
              </a:ext>
            </a:extLst>
          </p:cNvPr>
          <p:cNvSpPr>
            <a:spLocks noGrp="1"/>
          </p:cNvSpPr>
          <p:nvPr>
            <p:ph type="sldNum" idx="12"/>
          </p:nvPr>
        </p:nvSpPr>
        <p:spPr/>
        <p:txBody>
          <a:bodyPr/>
          <a:lstStyle/>
          <a:p>
            <a:pPr marL="0" lvl="0" indent="0" algn="ctr" rtl="0">
              <a:spcBef>
                <a:spcPts val="0"/>
              </a:spcBef>
              <a:spcAft>
                <a:spcPts val="0"/>
              </a:spcAft>
              <a:buNone/>
            </a:pPr>
            <a:fld id="{00000000-1234-1234-1234-123412341234}" type="slidenum">
              <a:rPr lang="en-US" smtClean="0"/>
              <a:t>4</a:t>
            </a:fld>
            <a:endParaRPr lang="en-US" dirty="0"/>
          </a:p>
        </p:txBody>
      </p:sp>
      <p:sp>
        <p:nvSpPr>
          <p:cNvPr id="1015" name="Footnote citations"/>
          <p:cNvSpPr txBox="1"/>
          <p:nvPr/>
        </p:nvSpPr>
        <p:spPr>
          <a:xfrm>
            <a:off x="411480" y="5852160"/>
            <a:ext cx="8869680" cy="914400"/>
          </a:xfrm>
          <a:prstGeom prst="rect">
            <a:avLst/>
          </a:prstGeom>
          <a:noFill/>
          <a:ln>
            <a:noFill/>
          </a:ln>
        </p:spPr>
        <p:txBody>
          <a:bodyPr wrap="square" lIns="45720" tIns="45720" rIns="45720" bIns="45720" anchor="b">
            <a:noAutofit/>
          </a:bodyPr>
          <a:lstStyle/>
          <a:p>
            <a:r>
              <a:rPr lang="en-US" sz="900" b="1" dirty="0">
                <a:solidFill>
                  <a:srgbClr val="595959"/>
                </a:solidFill>
                <a:latin typeface="FS PF BeauSans Pro"/>
                <a:ea typeface="FS PF BeauSans Pro"/>
                <a:cs typeface="FS PF BeauSans Pro"/>
              </a:rPr>
              <a:t>NVV-</a:t>
            </a:r>
            <a:r>
              <a:rPr lang="en-US" sz="900" b="1" dirty="0" err="1">
                <a:solidFill>
                  <a:srgbClr val="595959"/>
                </a:solidFill>
                <a:latin typeface="FS PF BeauSans Pro"/>
                <a:ea typeface="FS PF BeauSans Pro"/>
                <a:cs typeface="FS PF BeauSans Pro"/>
              </a:rPr>
              <a:t>SuperBench</a:t>
            </a:r>
            <a:r>
              <a:rPr lang="en-US" sz="900" b="1" dirty="0">
                <a:solidFill>
                  <a:srgbClr val="595959"/>
                </a:solidFill>
                <a:latin typeface="FS PF BeauSans Pro"/>
                <a:ea typeface="FS PF BeauSans Pro"/>
                <a:cs typeface="FS PF BeauSans Pro"/>
              </a:rPr>
              <a:t>: </a:t>
            </a:r>
            <a:r>
              <a:rPr lang="en-US" sz="900" dirty="0">
                <a:solidFill>
                  <a:srgbClr val="595959"/>
                </a:solidFill>
                <a:latin typeface="FS PF BeauSans Pro"/>
                <a:ea typeface="FS PF BeauSans Pro"/>
                <a:cs typeface="FS PF BeauSans Pro"/>
              </a:rPr>
              <a:t>Xue et al., </a:t>
            </a:r>
            <a:r>
              <a:rPr lang="en-US" sz="900" dirty="0"/>
              <a:t>arXiv:2604.16211</a:t>
            </a:r>
            <a:endParaRPr lang="en-US" sz="900" dirty="0">
              <a:solidFill>
                <a:srgbClr val="595959"/>
              </a:solidFill>
              <a:latin typeface="FS PF BeauSans Pro"/>
              <a:ea typeface="FS PF BeauSans Pro"/>
              <a:cs typeface="FS PF BeauSans Pro"/>
            </a:endParaRPr>
          </a:p>
        </p:txBody>
      </p:sp>
      <p:sp>
        <p:nvSpPr>
          <p:cNvPr id="4" name="Text Placeholder 3">
            <a:extLst>
              <a:ext uri="{FF2B5EF4-FFF2-40B4-BE49-F238E27FC236}">
                <a16:creationId xmlns:a16="http://schemas.microsoft.com/office/drawing/2014/main" id="{3989AA92-F76E-A548-A84D-F9C2236EF69A}"/>
              </a:ext>
            </a:extLst>
          </p:cNvPr>
          <p:cNvSpPr>
            <a:spLocks noGrp="1"/>
          </p:cNvSpPr>
          <p:nvPr>
            <p:ph type="body" idx="1"/>
          </p:nvPr>
        </p:nvSpPr>
        <p:spPr/>
        <p:txBody>
          <a:bodyPr/>
          <a:lstStyle/>
          <a:p>
            <a:r>
              <a:rPr lang="en-US" dirty="0"/>
              <a:t>Survey on commercial and open models</a:t>
            </a:r>
          </a:p>
          <a:p>
            <a:pPr marL="76200" indent="0">
              <a:buNone/>
            </a:pPr>
            <a:endParaRPr lang="en-US" dirty="0"/>
          </a:p>
        </p:txBody>
      </p:sp>
      <p:sp>
        <p:nvSpPr>
          <p:cNvPr id="7" name="TextBox 6">
            <a:extLst>
              <a:ext uri="{FF2B5EF4-FFF2-40B4-BE49-F238E27FC236}">
                <a16:creationId xmlns:a16="http://schemas.microsoft.com/office/drawing/2014/main" id="{06507E08-B887-3BC9-7DED-ED2D53AD86B5}"/>
              </a:ext>
            </a:extLst>
          </p:cNvPr>
          <p:cNvSpPr txBox="1"/>
          <p:nvPr/>
        </p:nvSpPr>
        <p:spPr>
          <a:xfrm>
            <a:off x="3613668" y="5285232"/>
            <a:ext cx="4961615" cy="307777"/>
          </a:xfrm>
          <a:prstGeom prst="rect">
            <a:avLst/>
          </a:prstGeom>
          <a:noFill/>
        </p:spPr>
        <p:txBody>
          <a:bodyPr wrap="none" rtlCol="0">
            <a:spAutoFit/>
          </a:bodyPr>
          <a:lstStyle/>
          <a:p>
            <a:r>
              <a:rPr lang="en-US" dirty="0"/>
              <a:t>Table 1: Performance of leading NVV TTS model on English</a:t>
            </a:r>
          </a:p>
        </p:txBody>
      </p:sp>
      <p:graphicFrame>
        <p:nvGraphicFramePr>
          <p:cNvPr id="1016" name="Table survey"/>
          <p:cNvGraphicFramePr>
            <a:graphicFrameLocks noGrp="1"/>
          </p:cNvGraphicFramePr>
          <p:nvPr/>
        </p:nvGraphicFramePr>
        <p:xfrm>
          <a:off x="1523847" y="2103120"/>
          <a:ext cx="9144000" cy="3072384"/>
        </p:xfrm>
        <a:graphic>
          <a:graphicData uri="http://schemas.openxmlformats.org/drawingml/2006/table">
            <a:tbl>
              <a:tblPr firstRow="1"/>
              <a:tblGrid>
                <a:gridCol w="3657600"/>
                <a:gridCol w="2377440"/>
                <a:gridCol w="3108960"/>
              </a:tblGrid>
              <a:tr h="438912">
                <a:tc>
                  <a:txBody>
                    <a:bodyPr/>
                    <a:lstStyle/>
                    <a:p>
                      <a:pPr algn="l"/>
                      <a:r>
                        <a:rPr lang="en-US" sz="1500" b="1" dirty="0">
                          <a:solidFill>
                            <a:srgbClr val="262626"/>
                          </a:solidFill>
                          <a:latin typeface="FS PF BeauSans Pro"/>
                          <a:ea typeface="FS PF BeauSans Pro"/>
                          <a:cs typeface="FS PF BeauSans Pro"/>
                        </a:rPr>
                        <a:t>System tested</a:t>
                      </a:r>
                    </a:p>
                  </a:txBody>
                  <a:tcPr marL="68580" marR="68580" marT="22860" marB="22860" anchor="ctr">
                    <a:lnL w="0">
                      <a:noFill/>
                    </a:lnL>
                    <a:lnR w="0">
                      <a:noFill/>
                    </a:lnR>
                    <a:lnT w="19050">
                      <a:solidFill>
                        <a:srgbClr val="262626"/>
                      </a:solidFill>
                    </a:lnT>
                    <a:lnB w="9525">
                      <a:solidFill>
                        <a:srgbClr val="262626"/>
                      </a:solidFill>
                    </a:lnB>
                    <a:noFill/>
                  </a:tcPr>
                </a:tc>
                <a:tc>
                  <a:txBody>
                    <a:bodyPr/>
                    <a:lstStyle/>
                    <a:p>
                      <a:pPr algn="ctr"/>
                      <a:r>
                        <a:rPr lang="en-US" sz="1500" b="1" dirty="0">
                          <a:solidFill>
                            <a:srgbClr val="262626"/>
                          </a:solidFill>
                          <a:latin typeface="FS PF BeauSans Pro"/>
                          <a:ea typeface="FS PF BeauSans Pro"/>
                          <a:cs typeface="FS PF BeauSans Pro"/>
                        </a:rPr>
                        <a:t>NVV recall ↑</a:t>
                      </a:r>
                    </a:p>
                  </a:txBody>
                  <a:tcPr marL="68580" marR="68580" marT="22860" marB="22860" anchor="ctr">
                    <a:lnL w="0">
                      <a:noFill/>
                    </a:lnL>
                    <a:lnR w="0">
                      <a:noFill/>
                    </a:lnR>
                    <a:lnT w="19050">
                      <a:solidFill>
                        <a:srgbClr val="262626"/>
                      </a:solidFill>
                    </a:lnT>
                    <a:lnB w="9525">
                      <a:solidFill>
                        <a:srgbClr val="262626"/>
                      </a:solidFill>
                    </a:lnB>
                    <a:noFill/>
                  </a:tcPr>
                </a:tc>
                <a:tc>
                  <a:txBody>
                    <a:bodyPr/>
                    <a:lstStyle/>
                    <a:p>
                      <a:pPr algn="ctr"/>
                      <a:r>
                        <a:rPr lang="en-US" sz="1500" b="1" dirty="0">
                          <a:solidFill>
                            <a:srgbClr val="262626"/>
                          </a:solidFill>
                          <a:latin typeface="FS PF BeauSans Pro"/>
                          <a:ea typeface="FS PF BeauSans Pro"/>
                          <a:cs typeface="FS PF BeauSans Pro"/>
                        </a:rPr>
                        <a:t>Unmatched target NVVs ↓</a:t>
                      </a:r>
                    </a:p>
                  </a:txBody>
                  <a:tcPr marL="68580" marR="68580" marT="22860" marB="22860" anchor="ctr">
                    <a:lnL w="0">
                      <a:noFill/>
                    </a:lnL>
                    <a:lnR w="0">
                      <a:noFill/>
                    </a:lnR>
                    <a:lnT w="19050">
                      <a:solidFill>
                        <a:srgbClr val="262626"/>
                      </a:solidFill>
                    </a:lnT>
                    <a:lnB w="9525">
                      <a:solidFill>
                        <a:srgbClr val="262626"/>
                      </a:solidFill>
                    </a:lnB>
                    <a:noFill/>
                  </a:tcPr>
                </a:tc>
              </a:tr>
              <a:tr h="438912">
                <a:tc>
                  <a:txBody>
                    <a:bodyPr/>
                    <a:lstStyle/>
                    <a:p>
                      <a:pPr algn="l"/>
                      <a:r>
                        <a:rPr lang="en-US" sz="1500" dirty="0">
                          <a:solidFill>
                            <a:srgbClr val="262626"/>
                          </a:solidFill>
                          <a:latin typeface="FS PF BeauSans Pro"/>
                          <a:ea typeface="FS PF BeauSans Pro"/>
                          <a:cs typeface="FS PF BeauSans Pro"/>
                        </a:rPr>
                        <a:t>ElevenLabs</a:t>
                      </a:r>
                    </a:p>
                  </a:txBody>
                  <a:tcPr marL="68580" marR="68580" marT="22860" marB="22860" anchor="ctr">
                    <a:lnL w="0">
                      <a:noFill/>
                    </a:lnL>
                    <a:lnR w="0">
                      <a:noFill/>
                    </a:lnR>
                    <a:lnT w="0">
                      <a:noFill/>
                    </a:lnT>
                    <a:lnB w="0">
                      <a:noFill/>
                    </a:lnB>
                    <a:noFill/>
                  </a:tcPr>
                </a:tc>
                <a:tc>
                  <a:txBody>
                    <a:bodyPr/>
                    <a:lstStyle/>
                    <a:p>
                      <a:pPr algn="ctr"/>
                      <a:r>
                        <a:rPr lang="en-US" sz="1500" dirty="0">
                          <a:solidFill>
                            <a:srgbClr val="262626"/>
                          </a:solidFill>
                          <a:latin typeface="FS PF BeauSans Pro"/>
                          <a:ea typeface="FS PF BeauSans Pro"/>
                          <a:cs typeface="FS PF BeauSans Pro"/>
                        </a:rPr>
                        <a:t>78.7%</a:t>
                      </a:r>
                    </a:p>
                  </a:txBody>
                  <a:tcPr marL="68580" marR="68580" marT="22860" marB="22860" anchor="ctr">
                    <a:lnL w="0">
                      <a:noFill/>
                    </a:lnL>
                    <a:lnR w="0">
                      <a:noFill/>
                    </a:lnR>
                    <a:lnT w="0">
                      <a:noFill/>
                    </a:lnT>
                    <a:lnB w="0">
                      <a:noFill/>
                    </a:lnB>
                    <a:noFill/>
                  </a:tcPr>
                </a:tc>
                <a:tc>
                  <a:txBody>
                    <a:bodyPr/>
                    <a:lstStyle/>
                    <a:p>
                      <a:pPr algn="ctr"/>
                      <a:r>
                        <a:rPr lang="en-US" sz="1500" dirty="0">
                          <a:solidFill>
                            <a:srgbClr val="262626"/>
                          </a:solidFill>
                          <a:latin typeface="FS PF BeauSans Pro"/>
                          <a:ea typeface="FS PF BeauSans Pro"/>
                          <a:cs typeface="FS PF BeauSans Pro"/>
                        </a:rPr>
                        <a:t>21.3%</a:t>
                      </a:r>
                    </a:p>
                  </a:txBody>
                  <a:tcPr marL="68580" marR="68580" marT="22860" marB="22860" anchor="ctr">
                    <a:lnL w="0">
                      <a:noFill/>
                    </a:lnL>
                    <a:lnR w="0">
                      <a:noFill/>
                    </a:lnR>
                    <a:lnT w="0">
                      <a:noFill/>
                    </a:lnT>
                    <a:lnB w="0">
                      <a:noFill/>
                    </a:lnB>
                    <a:noFill/>
                  </a:tcPr>
                </a:tc>
              </a:tr>
              <a:tr h="438912">
                <a:tc>
                  <a:txBody>
                    <a:bodyPr/>
                    <a:lstStyle/>
                    <a:p>
                      <a:pPr algn="l"/>
                      <a:r>
                        <a:rPr lang="en-US" sz="1500" dirty="0">
                          <a:solidFill>
                            <a:srgbClr val="262626"/>
                          </a:solidFill>
                          <a:latin typeface="FS PF BeauSans Pro"/>
                          <a:ea typeface="FS PF BeauSans Pro"/>
                          <a:cs typeface="FS PF BeauSans Pro"/>
                        </a:rPr>
                        <a:t>Orpheus TTS</a:t>
                      </a:r>
                    </a:p>
                  </a:txBody>
                  <a:tcPr marL="68580" marR="68580" marT="22860" marB="22860" anchor="ctr">
                    <a:lnL w="0">
                      <a:noFill/>
                    </a:lnL>
                    <a:lnR w="0">
                      <a:noFill/>
                    </a:lnR>
                    <a:lnT w="0">
                      <a:noFill/>
                    </a:lnT>
                    <a:lnB w="0">
                      <a:noFill/>
                    </a:lnB>
                    <a:noFill/>
                  </a:tcPr>
                </a:tc>
                <a:tc>
                  <a:txBody>
                    <a:bodyPr/>
                    <a:lstStyle/>
                    <a:p>
                      <a:pPr algn="ctr"/>
                      <a:r>
                        <a:rPr lang="en-US" sz="1500" dirty="0">
                          <a:solidFill>
                            <a:srgbClr val="262626"/>
                          </a:solidFill>
                          <a:latin typeface="FS PF BeauSans Pro"/>
                          <a:ea typeface="FS PF BeauSans Pro"/>
                          <a:cs typeface="FS PF BeauSans Pro"/>
                        </a:rPr>
                        <a:t>77.4%</a:t>
                      </a:r>
                    </a:p>
                  </a:txBody>
                  <a:tcPr marL="68580" marR="68580" marT="22860" marB="22860" anchor="ctr">
                    <a:lnL w="0">
                      <a:noFill/>
                    </a:lnL>
                    <a:lnR w="0">
                      <a:noFill/>
                    </a:lnR>
                    <a:lnT w="0">
                      <a:noFill/>
                    </a:lnT>
                    <a:lnB w="0">
                      <a:noFill/>
                    </a:lnB>
                    <a:noFill/>
                  </a:tcPr>
                </a:tc>
                <a:tc>
                  <a:txBody>
                    <a:bodyPr/>
                    <a:lstStyle/>
                    <a:p>
                      <a:pPr algn="ctr"/>
                      <a:r>
                        <a:rPr lang="en-US" sz="1500" dirty="0">
                          <a:solidFill>
                            <a:srgbClr val="262626"/>
                          </a:solidFill>
                          <a:latin typeface="FS PF BeauSans Pro"/>
                          <a:ea typeface="FS PF BeauSans Pro"/>
                          <a:cs typeface="FS PF BeauSans Pro"/>
                        </a:rPr>
                        <a:t>22.6%</a:t>
                      </a:r>
                    </a:p>
                  </a:txBody>
                  <a:tcPr marL="68580" marR="68580" marT="22860" marB="22860" anchor="ctr">
                    <a:lnL w="0">
                      <a:noFill/>
                    </a:lnL>
                    <a:lnR w="0">
                      <a:noFill/>
                    </a:lnR>
                    <a:lnT w="0">
                      <a:noFill/>
                    </a:lnT>
                    <a:lnB w="0">
                      <a:noFill/>
                    </a:lnB>
                    <a:noFill/>
                  </a:tcPr>
                </a:tc>
              </a:tr>
              <a:tr h="438912">
                <a:tc>
                  <a:txBody>
                    <a:bodyPr/>
                    <a:lstStyle/>
                    <a:p>
                      <a:pPr algn="l"/>
                      <a:r>
                        <a:rPr lang="en-US" sz="1500" dirty="0">
                          <a:solidFill>
                            <a:srgbClr val="262626"/>
                          </a:solidFill>
                          <a:latin typeface="FS PF BeauSans Pro"/>
                          <a:ea typeface="FS PF BeauSans Pro"/>
                          <a:cs typeface="FS PF BeauSans Pro"/>
                        </a:rPr>
                        <a:t>Dia</a:t>
                      </a:r>
                    </a:p>
                  </a:txBody>
                  <a:tcPr marL="68580" marR="68580" marT="22860" marB="22860" anchor="ctr">
                    <a:lnL w="0">
                      <a:noFill/>
                    </a:lnL>
                    <a:lnR w="0">
                      <a:noFill/>
                    </a:lnR>
                    <a:lnT w="0">
                      <a:noFill/>
                    </a:lnT>
                    <a:lnB w="0">
                      <a:noFill/>
                    </a:lnB>
                    <a:noFill/>
                  </a:tcPr>
                </a:tc>
                <a:tc>
                  <a:txBody>
                    <a:bodyPr/>
                    <a:lstStyle/>
                    <a:p>
                      <a:pPr algn="ctr"/>
                      <a:r>
                        <a:rPr lang="en-US" sz="1500" dirty="0">
                          <a:solidFill>
                            <a:srgbClr val="262626"/>
                          </a:solidFill>
                          <a:latin typeface="FS PF BeauSans Pro"/>
                          <a:ea typeface="FS PF BeauSans Pro"/>
                          <a:cs typeface="FS PF BeauSans Pro"/>
                        </a:rPr>
                        <a:t>70.5%</a:t>
                      </a:r>
                    </a:p>
                  </a:txBody>
                  <a:tcPr marL="68580" marR="68580" marT="22860" marB="22860" anchor="ctr">
                    <a:lnL w="0">
                      <a:noFill/>
                    </a:lnL>
                    <a:lnR w="0">
                      <a:noFill/>
                    </a:lnR>
                    <a:lnT w="0">
                      <a:noFill/>
                    </a:lnT>
                    <a:lnB w="0">
                      <a:noFill/>
                    </a:lnB>
                    <a:noFill/>
                  </a:tcPr>
                </a:tc>
                <a:tc>
                  <a:txBody>
                    <a:bodyPr/>
                    <a:lstStyle/>
                    <a:p>
                      <a:pPr algn="ctr"/>
                      <a:r>
                        <a:rPr lang="en-US" sz="1500" dirty="0">
                          <a:solidFill>
                            <a:srgbClr val="262626"/>
                          </a:solidFill>
                          <a:latin typeface="FS PF BeauSans Pro"/>
                          <a:ea typeface="FS PF BeauSans Pro"/>
                          <a:cs typeface="FS PF BeauSans Pro"/>
                        </a:rPr>
                        <a:t>29.5%</a:t>
                      </a:r>
                    </a:p>
                  </a:txBody>
                  <a:tcPr marL="68580" marR="68580" marT="22860" marB="22860" anchor="ctr">
                    <a:lnL w="0">
                      <a:noFill/>
                    </a:lnL>
                    <a:lnR w="0">
                      <a:noFill/>
                    </a:lnR>
                    <a:lnT w="0">
                      <a:noFill/>
                    </a:lnT>
                    <a:lnB w="0">
                      <a:noFill/>
                    </a:lnB>
                    <a:noFill/>
                  </a:tcPr>
                </a:tc>
              </a:tr>
              <a:tr h="438912">
                <a:tc>
                  <a:txBody>
                    <a:bodyPr/>
                    <a:lstStyle/>
                    <a:p>
                      <a:pPr algn="l"/>
                      <a:r>
                        <a:rPr lang="en-US" sz="1500" dirty="0">
                          <a:solidFill>
                            <a:srgbClr val="262626"/>
                          </a:solidFill>
                          <a:latin typeface="FS PF BeauSans Pro"/>
                          <a:ea typeface="FS PF BeauSans Pro"/>
                          <a:cs typeface="FS PF BeauSans Pro"/>
                        </a:rPr>
                        <a:t>Bark</a:t>
                      </a:r>
                    </a:p>
                  </a:txBody>
                  <a:tcPr marL="68580" marR="68580" marT="22860" marB="22860" anchor="ctr">
                    <a:lnL w="0">
                      <a:noFill/>
                    </a:lnL>
                    <a:lnR w="0">
                      <a:noFill/>
                    </a:lnR>
                    <a:lnT w="0">
                      <a:noFill/>
                    </a:lnT>
                    <a:lnB w="0">
                      <a:noFill/>
                    </a:lnB>
                    <a:noFill/>
                  </a:tcPr>
                </a:tc>
                <a:tc>
                  <a:txBody>
                    <a:bodyPr/>
                    <a:lstStyle/>
                    <a:p>
                      <a:pPr algn="ctr"/>
                      <a:r>
                        <a:rPr lang="en-US" sz="1500" dirty="0">
                          <a:solidFill>
                            <a:srgbClr val="262626"/>
                          </a:solidFill>
                          <a:latin typeface="FS PF BeauSans Pro"/>
                          <a:ea typeface="FS PF BeauSans Pro"/>
                          <a:cs typeface="FS PF BeauSans Pro"/>
                        </a:rPr>
                        <a:t>70.0%</a:t>
                      </a:r>
                    </a:p>
                  </a:txBody>
                  <a:tcPr marL="68580" marR="68580" marT="22860" marB="22860" anchor="ctr">
                    <a:lnL w="0">
                      <a:noFill/>
                    </a:lnL>
                    <a:lnR w="0">
                      <a:noFill/>
                    </a:lnR>
                    <a:lnT w="0">
                      <a:noFill/>
                    </a:lnT>
                    <a:lnB w="0">
                      <a:noFill/>
                    </a:lnB>
                    <a:noFill/>
                  </a:tcPr>
                </a:tc>
                <a:tc>
                  <a:txBody>
                    <a:bodyPr/>
                    <a:lstStyle/>
                    <a:p>
                      <a:pPr algn="ctr"/>
                      <a:r>
                        <a:rPr lang="en-US" sz="1500" dirty="0">
                          <a:solidFill>
                            <a:srgbClr val="262626"/>
                          </a:solidFill>
                          <a:latin typeface="FS PF BeauSans Pro"/>
                          <a:ea typeface="FS PF BeauSans Pro"/>
                          <a:cs typeface="FS PF BeauSans Pro"/>
                        </a:rPr>
                        <a:t>30.0%</a:t>
                      </a:r>
                    </a:p>
                  </a:txBody>
                  <a:tcPr marL="68580" marR="68580" marT="22860" marB="22860" anchor="ctr">
                    <a:lnL w="0">
                      <a:noFill/>
                    </a:lnL>
                    <a:lnR w="0">
                      <a:noFill/>
                    </a:lnR>
                    <a:lnT w="0">
                      <a:noFill/>
                    </a:lnT>
                    <a:lnB w="0">
                      <a:noFill/>
                    </a:lnB>
                    <a:noFill/>
                  </a:tcPr>
                </a:tc>
              </a:tr>
              <a:tr h="438912">
                <a:tc>
                  <a:txBody>
                    <a:bodyPr/>
                    <a:lstStyle/>
                    <a:p>
                      <a:pPr algn="l"/>
                      <a:r>
                        <a:rPr lang="en-US" sz="1500" dirty="0">
                          <a:solidFill>
                            <a:srgbClr val="262626"/>
                          </a:solidFill>
                          <a:latin typeface="FS PF BeauSans Pro"/>
                          <a:ea typeface="FS PF BeauSans Pro"/>
                          <a:cs typeface="FS PF BeauSans Pro"/>
                        </a:rPr>
                        <a:t>CosyVoice 2</a:t>
                      </a:r>
                    </a:p>
                  </a:txBody>
                  <a:tcPr marL="68580" marR="68580" marT="22860" marB="22860" anchor="ctr">
                    <a:lnL w="0">
                      <a:noFill/>
                    </a:lnL>
                    <a:lnR w="0">
                      <a:noFill/>
                    </a:lnR>
                    <a:lnT w="0">
                      <a:noFill/>
                    </a:lnT>
                    <a:lnB w="0">
                      <a:noFill/>
                    </a:lnB>
                    <a:noFill/>
                  </a:tcPr>
                </a:tc>
                <a:tc>
                  <a:txBody>
                    <a:bodyPr/>
                    <a:lstStyle/>
                    <a:p>
                      <a:pPr algn="ctr"/>
                      <a:r>
                        <a:rPr lang="en-US" sz="1500" dirty="0">
                          <a:solidFill>
                            <a:srgbClr val="262626"/>
                          </a:solidFill>
                          <a:latin typeface="FS PF BeauSans Pro"/>
                          <a:ea typeface="FS PF BeauSans Pro"/>
                          <a:cs typeface="FS PF BeauSans Pro"/>
                        </a:rPr>
                        <a:t>45.1%</a:t>
                      </a:r>
                    </a:p>
                  </a:txBody>
                  <a:tcPr marL="68580" marR="68580" marT="22860" marB="22860" anchor="ctr">
                    <a:lnL w="0">
                      <a:noFill/>
                    </a:lnL>
                    <a:lnR w="0">
                      <a:noFill/>
                    </a:lnR>
                    <a:lnT w="0">
                      <a:noFill/>
                    </a:lnT>
                    <a:lnB w="0">
                      <a:noFill/>
                    </a:lnB>
                    <a:noFill/>
                  </a:tcPr>
                </a:tc>
                <a:tc>
                  <a:txBody>
                    <a:bodyPr/>
                    <a:lstStyle/>
                    <a:p>
                      <a:pPr algn="ctr"/>
                      <a:r>
                        <a:rPr lang="en-US" sz="1500" dirty="0">
                          <a:solidFill>
                            <a:srgbClr val="262626"/>
                          </a:solidFill>
                          <a:latin typeface="FS PF BeauSans Pro"/>
                          <a:ea typeface="FS PF BeauSans Pro"/>
                          <a:cs typeface="FS PF BeauSans Pro"/>
                        </a:rPr>
                        <a:t>54.9%</a:t>
                      </a:r>
                    </a:p>
                  </a:txBody>
                  <a:tcPr marL="68580" marR="68580" marT="22860" marB="22860" anchor="ctr">
                    <a:lnL w="0">
                      <a:noFill/>
                    </a:lnL>
                    <a:lnR w="0">
                      <a:noFill/>
                    </a:lnR>
                    <a:lnT w="0">
                      <a:noFill/>
                    </a:lnT>
                    <a:lnB w="0">
                      <a:noFill/>
                    </a:lnB>
                    <a:noFill/>
                  </a:tcPr>
                </a:tc>
              </a:tr>
              <a:tr h="438912">
                <a:tc>
                  <a:txBody>
                    <a:bodyPr/>
                    <a:lstStyle/>
                    <a:p>
                      <a:pPr algn="l"/>
                      <a:r>
                        <a:rPr lang="en-US" sz="1500" dirty="0">
                          <a:solidFill>
                            <a:srgbClr val="262626"/>
                          </a:solidFill>
                          <a:latin typeface="FS PF BeauSans Pro"/>
                          <a:ea typeface="FS PF BeauSans Pro"/>
                          <a:cs typeface="FS PF BeauSans Pro"/>
                        </a:rPr>
                        <a:t>Fish-Speech</a:t>
                      </a:r>
                    </a:p>
                  </a:txBody>
                  <a:tcPr marL="68580" marR="68580" marT="22860" marB="22860" anchor="ctr">
                    <a:lnL w="0">
                      <a:noFill/>
                    </a:lnL>
                    <a:lnR w="0">
                      <a:noFill/>
                    </a:lnR>
                    <a:lnT w="0">
                      <a:noFill/>
                    </a:lnT>
                    <a:lnB w="19050">
                      <a:solidFill>
                        <a:srgbClr val="262626"/>
                      </a:solidFill>
                    </a:lnB>
                    <a:noFill/>
                  </a:tcPr>
                </a:tc>
                <a:tc>
                  <a:txBody>
                    <a:bodyPr/>
                    <a:lstStyle/>
                    <a:p>
                      <a:pPr algn="ctr"/>
                      <a:r>
                        <a:rPr lang="en-US" sz="1500" dirty="0">
                          <a:solidFill>
                            <a:srgbClr val="262626"/>
                          </a:solidFill>
                          <a:latin typeface="FS PF BeauSans Pro"/>
                          <a:ea typeface="FS PF BeauSans Pro"/>
                          <a:cs typeface="FS PF BeauSans Pro"/>
                        </a:rPr>
                        <a:t>41.8%</a:t>
                      </a:r>
                    </a:p>
                  </a:txBody>
                  <a:tcPr marL="68580" marR="68580" marT="22860" marB="22860" anchor="ctr">
                    <a:lnL w="0">
                      <a:noFill/>
                    </a:lnL>
                    <a:lnR w="0">
                      <a:noFill/>
                    </a:lnR>
                    <a:lnT w="0">
                      <a:noFill/>
                    </a:lnT>
                    <a:lnB w="19050">
                      <a:solidFill>
                        <a:srgbClr val="262626"/>
                      </a:solidFill>
                    </a:lnB>
                    <a:noFill/>
                  </a:tcPr>
                </a:tc>
                <a:tc>
                  <a:txBody>
                    <a:bodyPr/>
                    <a:lstStyle/>
                    <a:p>
                      <a:pPr algn="ctr"/>
                      <a:r>
                        <a:rPr lang="en-US" sz="1500" dirty="0">
                          <a:solidFill>
                            <a:srgbClr val="262626"/>
                          </a:solidFill>
                          <a:latin typeface="FS PF BeauSans Pro"/>
                          <a:ea typeface="FS PF BeauSans Pro"/>
                          <a:cs typeface="FS PF BeauSans Pro"/>
                        </a:rPr>
                        <a:t>58.2%</a:t>
                      </a:r>
                    </a:p>
                  </a:txBody>
                  <a:tcPr marL="68580" marR="68580" marT="22860" marB="22860" anchor="ctr">
                    <a:lnL w="0">
                      <a:noFill/>
                    </a:lnL>
                    <a:lnR w="0">
                      <a:noFill/>
                    </a:lnR>
                    <a:lnT w="0">
                      <a:noFill/>
                    </a:lnT>
                    <a:lnB w="19050">
                      <a:solidFill>
                        <a:srgbClr val="262626"/>
                      </a:solidFill>
                    </a:lnB>
                    <a:noFill/>
                  </a:tcPr>
                </a:tc>
              </a:tr>
            </a:tbl>
          </a:graphicData>
        </a:graphic>
      </p:graphicFrame>
    </p:spTree>
    <p:extLst>
      <p:ext uri="{BB962C8B-B14F-4D97-AF65-F5344CB8AC3E}">
        <p14:creationId xmlns:p14="http://schemas.microsoft.com/office/powerpoint/2010/main" val="2635615303"/>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Shape 145"/>
        <p:cNvGrpSpPr/>
        <p:nvPr/>
      </p:nvGrpSpPr>
      <p:grpSpPr>
        <a:xfrm>
          <a:off x="0" y="0"/>
          <a:ext cx="0" cy="0"/>
          <a:chOff x="0" y="0"/>
          <a:chExt cx="0" cy="0"/>
        </a:xfrm>
      </p:grpSpPr>
      <p:sp>
        <p:nvSpPr>
          <p:cNvPr id="146" name="Google Shape;146;p10"/>
          <p:cNvSpPr txBox="1">
            <a:spLocks noGrp="1"/>
          </p:cNvSpPr>
          <p:nvPr>
            <p:ph type="ctrTitle"/>
          </p:nvPr>
        </p:nvSpPr>
        <p:spPr>
          <a:xfrm>
            <a:off x="822960" y="466344"/>
            <a:ext cx="10543032" cy="731520"/>
          </a:xfrm>
          <a:prstGeom prst="rect">
            <a:avLst/>
          </a:prstGeom>
          <a:noFill/>
          <a:ln>
            <a:noFill/>
          </a:ln>
        </p:spPr>
        <p:txBody>
          <a:bodyPr spcFirstLastPara="1" wrap="square" lIns="91425" tIns="91425" rIns="91425" bIns="91425" anchor="t" anchorCtr="0">
            <a:noAutofit/>
          </a:bodyPr>
          <a:lstStyle/>
          <a:p>
            <a:pPr lvl="0"/>
            <a:r>
              <a:rPr lang="en-US" dirty="0"/>
              <a:t>Introduction</a:t>
            </a:r>
          </a:p>
        </p:txBody>
      </p:sp>
      <p:sp>
        <p:nvSpPr>
          <p:cNvPr id="2" name="Slide Number Placeholder 1">
            <a:extLst>
              <a:ext uri="{FF2B5EF4-FFF2-40B4-BE49-F238E27FC236}">
                <a16:creationId xmlns:a16="http://schemas.microsoft.com/office/drawing/2014/main" id="{249CE59B-DD91-4B3A-8ACA-10EA59D7C3EE}"/>
              </a:ext>
            </a:extLst>
          </p:cNvPr>
          <p:cNvSpPr>
            <a:spLocks noGrp="1"/>
          </p:cNvSpPr>
          <p:nvPr>
            <p:ph type="sldNum" idx="12"/>
          </p:nvPr>
        </p:nvSpPr>
        <p:spPr/>
        <p:txBody>
          <a:bodyPr/>
          <a:lstStyle/>
          <a:p>
            <a:pPr marL="0" lvl="0" indent="0" algn="ctr" rtl="0">
              <a:spcBef>
                <a:spcPts val="0"/>
              </a:spcBef>
              <a:spcAft>
                <a:spcPts val="0"/>
              </a:spcAft>
              <a:buNone/>
            </a:pPr>
            <a:fld id="{00000000-1234-1234-1234-123412341234}" type="slidenum">
              <a:rPr lang="en-US" smtClean="0"/>
              <a:t>5</a:t>
            </a:fld>
            <a:endParaRPr lang="en-US" dirty="0"/>
          </a:p>
        </p:txBody>
      </p:sp>
      <p:pic>
        <p:nvPicPr>
          <p:cNvPr id="1010" name="spk_0000_t06_base">
            <a:hlinkClick r:id="" action="ppaction://media"/>
            <a:extLst>
              <a:ext uri="{FF2B5EF4-FFF2-40B4-BE49-F238E27FC236}">
                <a16:creationId xmlns:a16="http://schemas.microsoft.com/office/drawing/2014/main" id="{FC7DB0C0-1EBE-C557-E911-BE74BE789850}"/>
              </a:ext>
            </a:extLst>
          </p:cNvPr>
          <p:cNvPicPr>
            <a:picLocks noChangeAspect="1"/>
          </p:cNvPicPr>
          <p:nvPr>
            <a:audioFile r:link="rId2"/>
            <p:extLst>
              <p:ext uri="{DAA4B4D4-6D71-4841-9C94-3DE7FCFB9230}">
                <p14:media xmlns:p14="http://schemas.microsoft.com/office/powerpoint/2010/main" r:embed="rId1"/>
              </p:ext>
            </p:extLst>
          </p:nvPr>
        </p:nvPicPr>
        <p:blipFill>
          <a:blip r:embed="rId6"/>
          <a:stretch>
            <a:fillRect/>
          </a:stretch>
        </p:blipFill>
        <p:spPr>
          <a:xfrm>
            <a:off x="6355080" y="3493008"/>
            <a:ext cx="384048" cy="384048"/>
          </a:xfrm>
          <a:prstGeom prst="rect">
            <a:avLst/>
          </a:prstGeom>
        </p:spPr>
      </p:pic>
      <p:pic>
        <p:nvPicPr>
          <p:cNvPr id="1011" name="spk_0000_t19_base">
            <a:hlinkClick r:id="" action="ppaction://media"/>
            <a:extLst>
              <a:ext uri="{FF2B5EF4-FFF2-40B4-BE49-F238E27FC236}">
                <a16:creationId xmlns:a16="http://schemas.microsoft.com/office/drawing/2014/main" id="{8F46AD6E-C599-B386-4030-D8DC0597AE8A}"/>
              </a:ext>
            </a:extLst>
          </p:cNvPr>
          <p:cNvPicPr>
            <a:picLocks noChangeAspect="1"/>
          </p:cNvPicPr>
          <p:nvPr>
            <a:audioFile r:link="rId4"/>
            <p:extLst>
              <p:ext uri="{DAA4B4D4-6D71-4841-9C94-3DE7FCFB9230}">
                <p14:media xmlns:p14="http://schemas.microsoft.com/office/powerpoint/2010/main" r:embed="rId3"/>
              </p:ext>
            </p:extLst>
          </p:nvPr>
        </p:nvPicPr>
        <p:blipFill>
          <a:blip r:embed="rId6"/>
          <a:stretch>
            <a:fillRect/>
          </a:stretch>
        </p:blipFill>
        <p:spPr>
          <a:xfrm>
            <a:off x="6355080" y="2715768"/>
            <a:ext cx="384048" cy="384048"/>
          </a:xfrm>
          <a:prstGeom prst="rect">
            <a:avLst/>
          </a:prstGeom>
        </p:spPr>
      </p:pic>
      <p:sp>
        <p:nvSpPr>
          <p:cNvPr id="1012" name="TextBox 11">
            <a:extLst>
              <a:ext uri="{FF2B5EF4-FFF2-40B4-BE49-F238E27FC236}">
                <a16:creationId xmlns:a16="http://schemas.microsoft.com/office/drawing/2014/main" id="{1DBC685B-9048-7FBE-7BC3-D7DFB82328AA}"/>
              </a:ext>
            </a:extLst>
          </p:cNvPr>
          <p:cNvSpPr txBox="1"/>
          <p:nvPr/>
        </p:nvSpPr>
        <p:spPr>
          <a:xfrm>
            <a:off x="6903720" y="3429000"/>
            <a:ext cx="4709160" cy="1097280"/>
          </a:xfrm>
          <a:prstGeom prst="rect">
            <a:avLst/>
          </a:prstGeom>
          <a:noFill/>
        </p:spPr>
        <p:txBody>
          <a:bodyPr wrap="square" rtlCol="0">
            <a:noAutofit/>
          </a:bodyPr>
          <a:lstStyle/>
          <a:p>
            <a:pPr algn="l">
              <a:lnSpc>
                <a:spcPct val="110000"/>
              </a:lnSpc>
              <a:buNone/>
            </a:pPr>
            <a:r>
              <a:rPr lang="en-US" sz="1400" dirty="0">
                <a:solidFill>
                  <a:srgbClr val="262626"/>
                </a:solidFill>
                <a:latin typeface="FS PF BeauSans Pro"/>
                <a:ea typeface="FS PF BeauSans Pro"/>
                <a:cs typeface="FS PF BeauSans Pro"/>
              </a:rPr>
              <a:t>Bác Trịnh Lữ trong chương trình Happiness thì có nói một câu, là người trẻ mà cứ nghĩ đến chuyện là tôi phải làm khác người khác là là không được đấy khỏi bản chất của nghệ thuật </a:t>
            </a:r>
            <a:r>
              <a:rPr lang="en-US" sz="1400" b="1" dirty="0">
                <a:solidFill>
                  <a:srgbClr val="EE0033"/>
                </a:solidFill>
                <a:latin typeface="FS PF BeauSans Pro"/>
                <a:ea typeface="FS PF BeauSans Pro"/>
                <a:cs typeface="FS PF BeauSans Pro"/>
              </a:rPr>
              <a:t>[sniff]</a:t>
            </a:r>
          </a:p>
        </p:txBody>
      </p:sp>
      <p:sp>
        <p:nvSpPr>
          <p:cNvPr id="1013" name="TextBox 12">
            <a:extLst>
              <a:ext uri="{FF2B5EF4-FFF2-40B4-BE49-F238E27FC236}">
                <a16:creationId xmlns:a16="http://schemas.microsoft.com/office/drawing/2014/main" id="{37CA96E9-6DBC-6458-5633-70D98A8E1669}"/>
              </a:ext>
            </a:extLst>
          </p:cNvPr>
          <p:cNvSpPr txBox="1"/>
          <p:nvPr/>
        </p:nvSpPr>
        <p:spPr>
          <a:xfrm>
            <a:off x="6903720" y="2651760"/>
            <a:ext cx="4709160" cy="685800"/>
          </a:xfrm>
          <a:prstGeom prst="rect">
            <a:avLst/>
          </a:prstGeom>
          <a:noFill/>
        </p:spPr>
        <p:txBody>
          <a:bodyPr wrap="square" rtlCol="0">
            <a:noAutofit/>
          </a:bodyPr>
          <a:lstStyle/>
          <a:p>
            <a:pPr algn="l">
              <a:lnSpc>
                <a:spcPct val="110000"/>
              </a:lnSpc>
              <a:buNone/>
            </a:pPr>
            <a:r>
              <a:rPr lang="en-US" sz="1400" dirty="0">
                <a:solidFill>
                  <a:srgbClr val="262626"/>
                </a:solidFill>
                <a:latin typeface="FS PF BeauSans Pro"/>
                <a:ea typeface="FS PF BeauSans Pro"/>
                <a:cs typeface="FS PF BeauSans Pro"/>
              </a:rPr>
              <a:t>Bởi vì. Chơi bóng đá mà lại chẳng có quả bóng trong chân </a:t>
            </a:r>
            <a:r>
              <a:rPr lang="en-US" sz="1400" b="1" dirty="0">
                <a:solidFill>
                  <a:srgbClr val="EE0033"/>
                </a:solidFill>
                <a:latin typeface="FS PF BeauSans Pro"/>
                <a:ea typeface="FS PF BeauSans Pro"/>
                <a:cs typeface="FS PF BeauSans Pro"/>
              </a:rPr>
              <a:t>[throatclearing]</a:t>
            </a:r>
            <a:r>
              <a:rPr lang="en-US" sz="1400" dirty="0">
                <a:solidFill>
                  <a:srgbClr val="262626"/>
                </a:solidFill>
                <a:latin typeface="FS PF BeauSans Pro"/>
                <a:ea typeface="FS PF BeauSans Pro"/>
                <a:cs typeface="FS PF BeauSans Pro"/>
              </a:rPr>
              <a:t> mà vẫn phải chơi</a:t>
            </a:r>
          </a:p>
        </p:txBody>
      </p:sp>
      <p:sp>
        <p:nvSpPr>
          <p:cNvPr id="1014" name="TextBox 13">
            <a:extLst>
              <a:ext uri="{FF2B5EF4-FFF2-40B4-BE49-F238E27FC236}">
                <a16:creationId xmlns:a16="http://schemas.microsoft.com/office/drawing/2014/main" id="{E050E9DF-29B6-75C5-DB91-7F2EC91E7B15}"/>
              </a:ext>
            </a:extLst>
          </p:cNvPr>
          <p:cNvSpPr txBox="1"/>
          <p:nvPr/>
        </p:nvSpPr>
        <p:spPr>
          <a:xfrm>
            <a:off x="6355080" y="2148840"/>
            <a:ext cx="5257800" cy="411480"/>
          </a:xfrm>
          <a:prstGeom prst="rect">
            <a:avLst/>
          </a:prstGeom>
          <a:noFill/>
        </p:spPr>
        <p:txBody>
          <a:bodyPr wrap="none" rtlCol="0">
            <a:spAutoFit/>
          </a:bodyPr>
          <a:lstStyle/>
          <a:p>
            <a:pPr algn="l">
              <a:lnSpc>
                <a:spcPct val="100000"/>
              </a:lnSpc>
              <a:buNone/>
            </a:pPr>
            <a:r>
              <a:rPr lang="en-US" sz="1600" b="1" dirty="0">
                <a:solidFill>
                  <a:srgbClr val="262626"/>
                </a:solidFill>
                <a:latin typeface="FS PF BeauSans Pro"/>
                <a:ea typeface="FS PF BeauSans Pro"/>
                <a:cs typeface="FS PF BeauSans Pro"/>
              </a:rPr>
              <a:t>OmniVoice demo</a:t>
            </a:r>
          </a:p>
        </p:txBody>
      </p:sp>
      <p:sp>
        <p:nvSpPr>
          <p:cNvPr id="1016" name="Goal"/>
          <p:cNvSpPr/>
          <p:nvPr/>
        </p:nvSpPr>
        <p:spPr>
          <a:xfrm>
            <a:off x="548640" y="1325880"/>
            <a:ext cx="11064240" cy="566928"/>
          </a:xfrm>
          <a:prstGeom prst="roundRect">
            <a:avLst>
              <a:gd name="adj" fmla="val 8000"/>
            </a:avLst>
          </a:prstGeom>
          <a:solidFill>
            <a:srgbClr val="FDECEC"/>
          </a:solidFill>
          <a:ln>
            <a:noFill/>
          </a:ln>
        </p:spPr>
        <p:txBody>
          <a:bodyPr wrap="square" lIns="137160" tIns="45720" rIns="137160" bIns="45720" anchor="ctr">
            <a:noAutofit/>
          </a:bodyPr>
          <a:lstStyle/>
          <a:p>
            <a:pPr algn="l">
              <a:lnSpc>
                <a:spcPct val="100000"/>
              </a:lnSpc>
              <a:buNone/>
            </a:pPr>
            <a:r>
              <a:rPr lang="en-US" sz="1600" b="1" dirty="0">
                <a:solidFill>
                  <a:srgbClr val="EE0033"/>
                </a:solidFill>
                <a:latin typeface="FS PF BeauSans Pro"/>
                <a:ea typeface="FS PF BeauSans Pro"/>
                <a:cs typeface="FS PF BeauSans Pro"/>
              </a:rPr>
              <a:t>Goal</a:t>
            </a:r>
            <a:r>
              <a:rPr lang="en-US" sz="1600" dirty="0">
                <a:solidFill>
                  <a:srgbClr val="262626"/>
                </a:solidFill>
                <a:latin typeface="FS PF BeauSans Pro"/>
                <a:ea typeface="FS PF BeauSans Pro"/>
                <a:cs typeface="FS PF BeauSans Pro"/>
              </a:rPr>
              <a:t>: a Vietnamese sentence with a tag like </a:t>
            </a:r>
            <a:r>
              <a:rPr lang="en-US" sz="1600" b="1" dirty="0">
                <a:solidFill>
                  <a:srgbClr val="EE0033"/>
                </a:solidFill>
                <a:latin typeface="FS PF BeauSans Pro"/>
                <a:ea typeface="FS PF BeauSans Pro"/>
                <a:cs typeface="FS PF BeauSans Pro"/>
              </a:rPr>
              <a:t>[cough]</a:t>
            </a:r>
            <a:r>
              <a:rPr lang="en-US" sz="1600" dirty="0">
                <a:solidFill>
                  <a:srgbClr val="262626"/>
                </a:solidFill>
                <a:latin typeface="FS PF BeauSans Pro"/>
                <a:ea typeface="FS PF BeauSans Pro"/>
                <a:cs typeface="FS PF BeauSans Pro"/>
              </a:rPr>
              <a:t> → that sound, at that spot, in the cloned voice</a:t>
            </a:r>
          </a:p>
        </p:txBody>
      </p:sp>
      <p:sp>
        <p:nvSpPr>
          <p:cNvPr id="1017" name="Stat no sound"/>
          <p:cNvSpPr/>
          <p:nvPr/>
        </p:nvSpPr>
        <p:spPr>
          <a:xfrm>
            <a:off x="548640" y="2651760"/>
            <a:ext cx="2606040" cy="1600200"/>
          </a:xfrm>
          <a:prstGeom prst="roundRect">
            <a:avLst>
              <a:gd name="adj" fmla="val 8000"/>
            </a:avLst>
          </a:prstGeom>
          <a:solidFill>
            <a:srgbClr val="FFFFFF"/>
          </a:solidFill>
          <a:ln w="12700">
            <a:solidFill>
              <a:srgbClr val="E0E0E0"/>
            </a:solidFill>
          </a:ln>
        </p:spPr>
        <p:txBody>
          <a:bodyPr wrap="square" lIns="137160" tIns="45720" rIns="137160" bIns="45720" anchor="ctr">
            <a:noAutofit/>
          </a:bodyPr>
          <a:lstStyle/>
          <a:p>
            <a:pPr algn="ctr"/>
            <a:r>
              <a:rPr lang="en-US" sz="3600" b="1" dirty="0">
                <a:solidFill>
                  <a:srgbClr val="EE0033"/>
                </a:solidFill>
                <a:latin typeface="FS PF BeauSans Pro"/>
                <a:ea typeface="FS PF BeauSans Pro"/>
                <a:cs typeface="FS PF BeauSans Pro"/>
              </a:rPr>
              <a:t>64%</a:t>
            </a:r>
          </a:p>
          <a:p>
            <a:pPr algn="ctr">
              <a:lnSpc>
                <a:spcPct val="100000"/>
              </a:lnSpc>
            </a:pPr>
            <a:r>
              <a:rPr lang="en-US" sz="1200" dirty="0">
                <a:solidFill>
                  <a:srgbClr val="262626"/>
                </a:solidFill>
                <a:latin typeface="FS PF BeauSans Pro"/>
                <a:ea typeface="FS PF BeauSans Pro"/>
                <a:cs typeface="FS PF BeauSans Pro"/>
              </a:rPr>
              <a:t>of tags: no sound at all</a:t>
            </a:r>
          </a:p>
        </p:txBody>
      </p:sp>
      <p:sp>
        <p:nvSpPr>
          <p:cNvPr id="1018" name="Stat correct"/>
          <p:cNvSpPr/>
          <p:nvPr/>
        </p:nvSpPr>
        <p:spPr>
          <a:xfrm>
            <a:off x="3337560" y="2651760"/>
            <a:ext cx="2606040" cy="1600200"/>
          </a:xfrm>
          <a:prstGeom prst="roundRect">
            <a:avLst>
              <a:gd name="adj" fmla="val 8000"/>
            </a:avLst>
          </a:prstGeom>
          <a:solidFill>
            <a:srgbClr val="FFFFFF"/>
          </a:solidFill>
          <a:ln w="12700">
            <a:solidFill>
              <a:srgbClr val="E0E0E0"/>
            </a:solidFill>
          </a:ln>
        </p:spPr>
        <p:txBody>
          <a:bodyPr wrap="square" lIns="137160" tIns="45720" rIns="137160" bIns="45720" anchor="ctr">
            <a:noAutofit/>
          </a:bodyPr>
          <a:lstStyle/>
          <a:p>
            <a:pPr algn="ctr"/>
            <a:r>
              <a:rPr lang="en-US" sz="3600" b="1" dirty="0">
                <a:solidFill>
                  <a:srgbClr val="EE0033"/>
                </a:solidFill>
                <a:latin typeface="FS PF BeauSans Pro"/>
                <a:ea typeface="FS PF BeauSans Pro"/>
                <a:cs typeface="FS PF BeauSans Pro"/>
              </a:rPr>
              <a:t>11.5%</a:t>
            </a:r>
          </a:p>
          <a:p>
            <a:pPr algn="ctr">
              <a:lnSpc>
                <a:spcPct val="100000"/>
              </a:lnSpc>
            </a:pPr>
            <a:r>
              <a:rPr lang="en-US" sz="1200" dirty="0">
                <a:solidFill>
                  <a:srgbClr val="262626"/>
                </a:solidFill>
                <a:latin typeface="FS PF BeauSans Pro"/>
                <a:ea typeface="FS PF BeauSans Pro"/>
                <a:cs typeface="FS PF BeauSans Pro"/>
              </a:rPr>
              <a:t>right sound, right place</a:t>
            </a:r>
          </a:p>
        </p:txBody>
      </p:sp>
      <p:sp>
        <p:nvSpPr>
          <p:cNvPr id="1019" name="Stats heading"/>
          <p:cNvSpPr txBox="1"/>
          <p:nvPr/>
        </p:nvSpPr>
        <p:spPr>
          <a:xfrm>
            <a:off x="548640" y="2148840"/>
            <a:ext cx="5394960" cy="411480"/>
          </a:xfrm>
          <a:prstGeom prst="rect">
            <a:avLst/>
          </a:prstGeom>
          <a:noFill/>
          <a:ln>
            <a:noFill/>
          </a:ln>
        </p:spPr>
        <p:txBody>
          <a:bodyPr wrap="square" lIns="45720" tIns="45720" rIns="45720" bIns="45720" anchor="t">
            <a:noAutofit/>
          </a:bodyPr>
          <a:lstStyle/>
          <a:p>
            <a:pPr algn="l">
              <a:lnSpc>
                <a:spcPct val="100000"/>
              </a:lnSpc>
              <a:buNone/>
            </a:pPr>
            <a:r>
              <a:rPr lang="en-US" sz="1600" b="1" dirty="0">
                <a:solidFill>
                  <a:srgbClr val="262626"/>
                </a:solidFill>
                <a:latin typeface="FS PF BeauSans Pro"/>
                <a:ea typeface="FS PF BeauSans Pro"/>
                <a:cs typeface="FS PF BeauSans Pro"/>
              </a:rPr>
              <a:t>Released OmniVoice on Vietnamese tags</a:t>
            </a:r>
          </a:p>
        </p:txBody>
      </p:sp>
      <p:sp>
        <p:nvSpPr>
          <p:cNvPr id="1020" name="Footnote citations"/>
          <p:cNvSpPr txBox="1"/>
          <p:nvPr/>
        </p:nvSpPr>
        <p:spPr>
          <a:xfrm>
            <a:off x="411480" y="6172200"/>
            <a:ext cx="8869680" cy="594360"/>
          </a:xfrm>
          <a:prstGeom prst="rect">
            <a:avLst/>
          </a:prstGeom>
          <a:noFill/>
          <a:ln>
            <a:noFill/>
          </a:ln>
        </p:spPr>
        <p:txBody>
          <a:bodyPr wrap="square" lIns="45720" tIns="45720" rIns="45720" bIns="45720" anchor="b">
            <a:noAutofit/>
          </a:bodyPr>
          <a:lstStyle/>
          <a:p>
            <a:pPr>
              <a:buNone/>
            </a:pPr>
            <a:r>
              <a:rPr lang="en-US" sz="900" b="1" dirty="0">
                <a:solidFill>
                  <a:srgbClr val="595959"/>
                </a:solidFill>
                <a:latin typeface="FS PF BeauSans Pro"/>
                <a:ea typeface="FS PF BeauSans Pro"/>
                <a:cs typeface="FS PF BeauSans Pro"/>
              </a:rPr>
              <a:t>OmniVoice: </a:t>
            </a:r>
            <a:r>
              <a:rPr lang="en-US" sz="900" dirty="0">
                <a:solidFill>
                  <a:srgbClr val="595959"/>
                </a:solidFill>
                <a:latin typeface="FS PF BeauSans Pro"/>
                <a:ea typeface="FS PF BeauSans Pro"/>
                <a:cs typeface="FS PF BeauSans Pro"/>
              </a:rPr>
              <a:t>Zhu et al., arXiv:2604.00688, 2026</a:t>
            </a:r>
          </a:p>
        </p:txBody>
      </p:sp>
    </p:spTree>
    <p:extLst>
      <p:ext uri="{BB962C8B-B14F-4D97-AF65-F5344CB8AC3E}">
        <p14:creationId xmlns:p14="http://schemas.microsoft.com/office/powerpoint/2010/main" val="584723571"/>
      </p:ext>
    </p:extLst>
  </p:cSld>
  <p:clrMapOvr>
    <a:masterClrMapping/>
  </p:clrMapOvr>
  <p:timing>
    <p:tnLst>
      <p:par>
        <p:cTn id="1" dur="indefinite" restart="never" nodeType="tmRoot">
          <p:childTnLst>
            <p:audio>
              <p:cMediaNode vol="80000">
                <p:cTn id="2" fill="hold" display="0">
                  <p:stCondLst>
                    <p:cond delay="indefinite"/>
                  </p:stCondLst>
                  <p:endCondLst>
                    <p:cond evt="onStopAudio" delay="0">
                      <p:tgtEl>
                        <p:sldTgt/>
                      </p:tgtEl>
                    </p:cond>
                  </p:endCondLst>
                </p:cTn>
                <p:tgtEl>
                  <p:spTgt spid="1010"/>
                </p:tgtEl>
              </p:cMediaNode>
            </p:audio>
            <p:audio>
              <p:cMediaNode vol="80000">
                <p:cTn id="3" fill="hold" display="0">
                  <p:stCondLst>
                    <p:cond delay="indefinite"/>
                  </p:stCondLst>
                  <p:endCondLst>
                    <p:cond evt="onStopAudio" delay="0">
                      <p:tgtEl>
                        <p:sldTgt/>
                      </p:tgtEl>
                    </p:cond>
                  </p:endCondLst>
                </p:cTn>
                <p:tgtEl>
                  <p:spTgt spid="1011"/>
                </p:tgtEl>
              </p:cMediaNode>
            </p:audio>
          </p:childTnLst>
        </p:cTn>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Shape 145"/>
        <p:cNvGrpSpPr/>
        <p:nvPr/>
      </p:nvGrpSpPr>
      <p:grpSpPr>
        <a:xfrm>
          <a:off x="0" y="0"/>
          <a:ext cx="0" cy="0"/>
          <a:chOff x="0" y="0"/>
          <a:chExt cx="0" cy="0"/>
        </a:xfrm>
      </p:grpSpPr>
      <p:sp>
        <p:nvSpPr>
          <p:cNvPr id="146" name="Google Shape;146;p10"/>
          <p:cNvSpPr txBox="1">
            <a:spLocks noGrp="1"/>
          </p:cNvSpPr>
          <p:nvPr>
            <p:ph type="ctrTitle"/>
          </p:nvPr>
        </p:nvSpPr>
        <p:spPr>
          <a:xfrm>
            <a:off x="822960" y="466344"/>
            <a:ext cx="10543032" cy="731520"/>
          </a:xfrm>
          <a:prstGeom prst="rect">
            <a:avLst/>
          </a:prstGeom>
          <a:noFill/>
          <a:ln>
            <a:noFill/>
          </a:ln>
        </p:spPr>
        <p:txBody>
          <a:bodyPr spcFirstLastPara="1" wrap="square" lIns="91425" tIns="91425" rIns="91425" bIns="91425" anchor="t" anchorCtr="0">
            <a:noAutofit/>
          </a:bodyPr>
          <a:lstStyle/>
          <a:p>
            <a:pPr lvl="0"/>
            <a:r>
              <a:rPr lang="en-US" dirty="0"/>
              <a:t>Introduction</a:t>
            </a:r>
          </a:p>
        </p:txBody>
      </p:sp>
      <p:sp>
        <p:nvSpPr>
          <p:cNvPr id="2" name="Slide Number Placeholder 1">
            <a:extLst>
              <a:ext uri="{FF2B5EF4-FFF2-40B4-BE49-F238E27FC236}">
                <a16:creationId xmlns:a16="http://schemas.microsoft.com/office/drawing/2014/main" id="{249CE59B-DD91-4B3A-8ACA-10EA59D7C3EE}"/>
              </a:ext>
            </a:extLst>
          </p:cNvPr>
          <p:cNvSpPr>
            <a:spLocks noGrp="1"/>
          </p:cNvSpPr>
          <p:nvPr>
            <p:ph type="sldNum" idx="12"/>
          </p:nvPr>
        </p:nvSpPr>
        <p:spPr/>
        <p:txBody>
          <a:bodyPr/>
          <a:lstStyle/>
          <a:p>
            <a:pPr marL="0" lvl="0" indent="0" algn="ctr" rtl="0">
              <a:spcBef>
                <a:spcPts val="0"/>
              </a:spcBef>
              <a:spcAft>
                <a:spcPts val="0"/>
              </a:spcAft>
              <a:buNone/>
            </a:pPr>
            <a:fld id="{00000000-1234-1234-1234-123412341234}" type="slidenum">
              <a:rPr lang="en-US" smtClean="0"/>
              <a:t>6</a:t>
            </a:fld>
            <a:endParaRPr lang="en-US" dirty="0"/>
          </a:p>
        </p:txBody>
      </p:sp>
      <p:sp>
        <p:nvSpPr>
          <p:cNvPr id="147" name="Pain 01"/>
          <p:cNvSpPr/>
          <p:nvPr/>
        </p:nvSpPr>
        <p:spPr>
          <a:xfrm>
            <a:off x="548640" y="1508760"/>
            <a:ext cx="3429000" cy="2331720"/>
          </a:xfrm>
          <a:prstGeom prst="roundRect">
            <a:avLst>
              <a:gd name="adj" fmla="val 6000"/>
            </a:avLst>
          </a:prstGeom>
          <a:solidFill>
            <a:srgbClr val="FFFFFF"/>
          </a:solidFill>
          <a:ln w="12700">
            <a:solidFill>
              <a:srgbClr val="E0E0E0"/>
            </a:solidFill>
          </a:ln>
        </p:spPr>
        <p:txBody>
          <a:bodyPr wrap="square" lIns="137160" tIns="137160" rIns="137160" bIns="137160" anchor="t">
            <a:noAutofit/>
          </a:bodyPr>
          <a:lstStyle/>
          <a:p>
            <a:pPr algn="l">
              <a:lnSpc>
                <a:spcPct val="100000"/>
              </a:lnSpc>
              <a:spcAft>
                <a:spcPts val="600"/>
              </a:spcAft>
              <a:buNone/>
            </a:pPr>
            <a:r>
              <a:rPr lang="en-US" sz="3200" b="1" dirty="0">
                <a:solidFill>
                  <a:srgbClr val="EE0033"/>
                </a:solidFill>
                <a:latin typeface="FS PF BeauSans Pro"/>
                <a:ea typeface="FS PF BeauSans Pro"/>
                <a:cs typeface="FS PF BeauSans Pro"/>
              </a:rPr>
              <a:t>01</a:t>
            </a:r>
          </a:p>
          <a:p>
            <a:pPr algn="l">
              <a:lnSpc>
                <a:spcPct val="105000"/>
              </a:lnSpc>
              <a:spcAft>
                <a:spcPts val="600"/>
              </a:spcAft>
              <a:buNone/>
            </a:pPr>
            <a:r>
              <a:rPr lang="en-US" sz="1800" b="1" dirty="0">
                <a:solidFill>
                  <a:srgbClr val="262626"/>
                </a:solidFill>
                <a:latin typeface="FS PF BeauSans Pro"/>
                <a:ea typeface="FS PF BeauSans Pro"/>
                <a:cs typeface="FS PF BeauSans Pro"/>
              </a:rPr>
              <a:t>No Vietnamese NVV control</a:t>
            </a:r>
          </a:p>
          <a:p>
            <a:pPr algn="l">
              <a:lnSpc>
                <a:spcPct val="115000"/>
              </a:lnSpc>
              <a:buNone/>
            </a:pPr>
            <a:r>
              <a:rPr lang="en-US" sz="1500" dirty="0">
                <a:solidFill>
                  <a:srgbClr val="262626"/>
                </a:solidFill>
                <a:latin typeface="FS PF BeauSans Pro"/>
                <a:ea typeface="FS PF BeauSans Pro"/>
                <a:cs typeface="FS PF BeauSans Pro"/>
              </a:rPr>
              <a:t>Commercial TTS has NVV tags in 13 languages, none of them Vietnamese</a:t>
            </a:r>
          </a:p>
        </p:txBody>
      </p:sp>
      <p:sp>
        <p:nvSpPr>
          <p:cNvPr id="148" name="Pain 02"/>
          <p:cNvSpPr/>
          <p:nvPr/>
        </p:nvSpPr>
        <p:spPr>
          <a:xfrm>
            <a:off x="4251959" y="1508760"/>
            <a:ext cx="3429000" cy="2331720"/>
          </a:xfrm>
          <a:prstGeom prst="roundRect">
            <a:avLst>
              <a:gd name="adj" fmla="val 6000"/>
            </a:avLst>
          </a:prstGeom>
          <a:solidFill>
            <a:srgbClr val="FFFFFF"/>
          </a:solidFill>
          <a:ln w="12700">
            <a:solidFill>
              <a:srgbClr val="E0E0E0"/>
            </a:solidFill>
          </a:ln>
        </p:spPr>
        <p:txBody>
          <a:bodyPr wrap="square" lIns="137160" tIns="137160" rIns="137160" bIns="137160" anchor="t">
            <a:noAutofit/>
          </a:bodyPr>
          <a:lstStyle/>
          <a:p>
            <a:pPr algn="l">
              <a:lnSpc>
                <a:spcPct val="100000"/>
              </a:lnSpc>
              <a:spcAft>
                <a:spcPts val="600"/>
              </a:spcAft>
              <a:buNone/>
            </a:pPr>
            <a:r>
              <a:rPr lang="en-US" sz="3200" b="1" dirty="0">
                <a:solidFill>
                  <a:srgbClr val="EE0033"/>
                </a:solidFill>
                <a:latin typeface="FS PF BeauSans Pro"/>
                <a:ea typeface="FS PF BeauSans Pro"/>
                <a:cs typeface="FS PF BeauSans Pro"/>
              </a:rPr>
              <a:t>02</a:t>
            </a:r>
          </a:p>
          <a:p>
            <a:pPr algn="l">
              <a:lnSpc>
                <a:spcPct val="105000"/>
              </a:lnSpc>
              <a:spcAft>
                <a:spcPts val="600"/>
              </a:spcAft>
              <a:buNone/>
            </a:pPr>
            <a:r>
              <a:rPr lang="en-US" sz="1800" b="1" dirty="0">
                <a:solidFill>
                  <a:srgbClr val="262626"/>
                </a:solidFill>
                <a:latin typeface="FS PF BeauSans Pro"/>
                <a:ea typeface="FS PF BeauSans Pro"/>
                <a:cs typeface="FS PF BeauSans Pro"/>
              </a:rPr>
              <a:t>Tags don't transfer</a:t>
            </a:r>
          </a:p>
          <a:p>
            <a:pPr algn="l">
              <a:lnSpc>
                <a:spcPct val="115000"/>
              </a:lnSpc>
              <a:buNone/>
            </a:pPr>
            <a:r>
              <a:rPr lang="en-US" sz="1500" dirty="0">
                <a:solidFill>
                  <a:srgbClr val="262626"/>
                </a:solidFill>
                <a:latin typeface="FS PF BeauSans Pro"/>
                <a:ea typeface="FS PF BeauSans Pro"/>
                <a:cs typeface="FS PF BeauSans Pro"/>
              </a:rPr>
              <a:t>OmniVoice learned its tags from Chinese and English: 64% of Vietnamese tags make no sound</a:t>
            </a:r>
          </a:p>
        </p:txBody>
      </p:sp>
      <p:sp>
        <p:nvSpPr>
          <p:cNvPr id="149" name="Pain 03"/>
          <p:cNvSpPr/>
          <p:nvPr/>
        </p:nvSpPr>
        <p:spPr>
          <a:xfrm>
            <a:off x="7955279" y="1508760"/>
            <a:ext cx="3429000" cy="2331720"/>
          </a:xfrm>
          <a:prstGeom prst="roundRect">
            <a:avLst>
              <a:gd name="adj" fmla="val 6000"/>
            </a:avLst>
          </a:prstGeom>
          <a:solidFill>
            <a:srgbClr val="FFFFFF"/>
          </a:solidFill>
          <a:ln w="12700">
            <a:solidFill>
              <a:srgbClr val="E0E0E0"/>
            </a:solidFill>
          </a:ln>
        </p:spPr>
        <p:txBody>
          <a:bodyPr wrap="square" lIns="137160" tIns="137160" rIns="137160" bIns="137160" anchor="t">
            <a:noAutofit/>
          </a:bodyPr>
          <a:lstStyle/>
          <a:p>
            <a:pPr algn="l">
              <a:lnSpc>
                <a:spcPct val="100000"/>
              </a:lnSpc>
              <a:spcAft>
                <a:spcPts val="600"/>
              </a:spcAft>
              <a:buNone/>
            </a:pPr>
            <a:r>
              <a:rPr lang="en-US" sz="3200" b="1" dirty="0">
                <a:solidFill>
                  <a:srgbClr val="EE0033"/>
                </a:solidFill>
                <a:latin typeface="FS PF BeauSans Pro"/>
                <a:ea typeface="FS PF BeauSans Pro"/>
                <a:cs typeface="FS PF BeauSans Pro"/>
              </a:rPr>
              <a:t>03</a:t>
            </a:r>
          </a:p>
          <a:p>
            <a:pPr algn="l">
              <a:lnSpc>
                <a:spcPct val="105000"/>
              </a:lnSpc>
              <a:spcAft>
                <a:spcPts val="600"/>
              </a:spcAft>
              <a:buNone/>
            </a:pPr>
            <a:r>
              <a:rPr lang="en-US" sz="1800" b="1" dirty="0">
                <a:solidFill>
                  <a:srgbClr val="262626"/>
                </a:solidFill>
                <a:latin typeface="FS PF BeauSans Pro"/>
                <a:ea typeface="FS PF BeauSans Pro"/>
                <a:cs typeface="FS PF BeauSans Pro"/>
              </a:rPr>
              <a:t>No labelled data</a:t>
            </a:r>
          </a:p>
          <a:p>
            <a:pPr algn="l">
              <a:lnSpc>
                <a:spcPct val="115000"/>
              </a:lnSpc>
              <a:buNone/>
            </a:pPr>
            <a:r>
              <a:rPr lang="en-US" sz="1500" dirty="0">
                <a:solidFill>
                  <a:srgbClr val="262626"/>
                </a:solidFill>
                <a:latin typeface="FS PF BeauSans Pro"/>
                <a:ea typeface="FS PF BeauSans Pro"/>
                <a:cs typeface="FS PF BeauSans Pro"/>
              </a:rPr>
              <a:t>No public Vietnamese speech with NVVs marked where they occur</a:t>
            </a:r>
          </a:p>
        </p:txBody>
      </p:sp>
      <p:sp>
        <p:nvSpPr>
          <p:cNvPr id="150" name="Our approach"/>
          <p:cNvSpPr/>
          <p:nvPr/>
        </p:nvSpPr>
        <p:spPr>
          <a:xfrm>
            <a:off x="548640" y="4206240"/>
            <a:ext cx="10835640" cy="777240"/>
          </a:xfrm>
          <a:prstGeom prst="roundRect">
            <a:avLst>
              <a:gd name="adj" fmla="val 6000"/>
            </a:avLst>
          </a:prstGeom>
          <a:solidFill>
            <a:srgbClr val="FDECEC"/>
          </a:solidFill>
          <a:ln>
            <a:noFill/>
          </a:ln>
        </p:spPr>
        <p:txBody>
          <a:bodyPr wrap="square" lIns="137160" tIns="137160" rIns="137160" bIns="137160" anchor="ctr">
            <a:noAutofit/>
          </a:bodyPr>
          <a:lstStyle/>
          <a:p>
            <a:pPr algn="ctr">
              <a:lnSpc>
                <a:spcPct val="100000"/>
              </a:lnSpc>
              <a:buNone/>
            </a:pPr>
            <a:r>
              <a:rPr lang="en-US" sz="1800" b="1" dirty="0">
                <a:solidFill>
                  <a:srgbClr val="EE0033"/>
                </a:solidFill>
                <a:latin typeface="FS PF BeauSans Pro"/>
                <a:ea typeface="FS PF BeauSans Pro"/>
                <a:cs typeface="FS PF BeauSans Pro"/>
              </a:rPr>
              <a:t>Our approach  →  </a:t>
            </a:r>
            <a:r>
              <a:rPr lang="en-US" sz="1800" b="1" dirty="0">
                <a:solidFill>
                  <a:srgbClr val="262626"/>
                </a:solidFill>
                <a:latin typeface="FS PF BeauSans Pro"/>
                <a:ea typeface="FS PF BeauSans Pro"/>
                <a:cs typeface="FS PF BeauSans Pro"/>
              </a:rPr>
              <a:t>synthesize</a:t>
            </a:r>
            <a:r>
              <a:rPr lang="en-US" sz="1800" dirty="0">
                <a:solidFill>
                  <a:srgbClr val="262626"/>
                </a:solidFill>
                <a:latin typeface="FS PF BeauSans Pro"/>
                <a:ea typeface="FS PF BeauSans Pro"/>
                <a:cs typeface="FS PF BeauSans Pro"/>
              </a:rPr>
              <a:t> Vietnamese NVV data (03), then </a:t>
            </a:r>
            <a:r>
              <a:rPr lang="en-US" sz="1800" b="1" dirty="0">
                <a:solidFill>
                  <a:srgbClr val="262626"/>
                </a:solidFill>
                <a:latin typeface="FS PF BeauSans Pro"/>
                <a:ea typeface="FS PF BeauSans Pro"/>
                <a:cs typeface="FS PF BeauSans Pro"/>
              </a:rPr>
              <a:t>fine-tune</a:t>
            </a:r>
            <a:r>
              <a:rPr lang="en-US" sz="1800" dirty="0">
                <a:solidFill>
                  <a:srgbClr val="262626"/>
                </a:solidFill>
                <a:latin typeface="FS PF BeauSans Pro"/>
                <a:ea typeface="FS PF BeauSans Pro"/>
                <a:cs typeface="FS PF BeauSans Pro"/>
              </a:rPr>
              <a:t> OmniVoice on it (01, 02)</a:t>
            </a:r>
          </a:p>
        </p:txBody>
      </p:sp>
      <p:sp>
        <p:nvSpPr>
          <p:cNvPr id="151" name="Footnote citations"/>
          <p:cNvSpPr txBox="1"/>
          <p:nvPr/>
        </p:nvSpPr>
        <p:spPr>
          <a:xfrm>
            <a:off x="411480" y="6172200"/>
            <a:ext cx="8869680" cy="594360"/>
          </a:xfrm>
          <a:prstGeom prst="rect">
            <a:avLst/>
          </a:prstGeom>
          <a:noFill/>
          <a:ln>
            <a:noFill/>
          </a:ln>
        </p:spPr>
        <p:txBody>
          <a:bodyPr wrap="square" lIns="45720" tIns="45720" rIns="45720" bIns="45720" anchor="b">
            <a:noAutofit/>
          </a:bodyPr>
          <a:lstStyle/>
          <a:p>
            <a:pPr>
              <a:buNone/>
            </a:pPr>
            <a:r>
              <a:rPr lang="en-US" sz="900" b="1" dirty="0">
                <a:solidFill>
                  <a:srgbClr val="595959"/>
                </a:solidFill>
                <a:latin typeface="FS PF BeauSans Pro"/>
                <a:ea typeface="FS PF BeauSans Pro"/>
                <a:cs typeface="FS PF BeauSans Pro"/>
              </a:rPr>
              <a:t>OmniVoice: </a:t>
            </a:r>
            <a:r>
              <a:rPr lang="en-US" sz="900" dirty="0">
                <a:solidFill>
                  <a:srgbClr val="595959"/>
                </a:solidFill>
                <a:latin typeface="FS PF BeauSans Pro"/>
                <a:ea typeface="FS PF BeauSans Pro"/>
                <a:cs typeface="FS PF BeauSans Pro"/>
              </a:rPr>
              <a:t>Zhu et al., arXiv:2604.00688, 2026</a:t>
            </a:r>
          </a:p>
          <a:p>
            <a:pPr>
              <a:buNone/>
            </a:pPr>
            <a:r>
              <a:rPr lang="en-US" sz="900" b="1" dirty="0">
                <a:solidFill>
                  <a:srgbClr val="595959"/>
                </a:solidFill>
                <a:latin typeface="FS PF BeauSans Pro"/>
                <a:ea typeface="FS PF BeauSans Pro"/>
                <a:cs typeface="FS PF BeauSans Pro"/>
              </a:rPr>
              <a:t>Fish Audio: </a:t>
            </a:r>
            <a:r>
              <a:rPr lang="en-US" sz="900" dirty="0">
                <a:solidFill>
                  <a:srgbClr val="595959"/>
                </a:solidFill>
                <a:latin typeface="FS PF BeauSans Pro"/>
                <a:ea typeface="FS PF BeauSans Pro"/>
                <a:cs typeface="FS PF BeauSans Pro"/>
              </a:rPr>
              <a:t>Fish Audio, OpenAudio S1, huggingface.co/fishaudio/openaudio-s1-mini, 2025</a:t>
            </a:r>
          </a:p>
        </p:txBody>
      </p:sp>
    </p:spTree>
    <p:extLst>
      <p:ext uri="{BB962C8B-B14F-4D97-AF65-F5344CB8AC3E}">
        <p14:creationId xmlns:p14="http://schemas.microsoft.com/office/powerpoint/2010/main" val="584723571"/>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Shape 145"/>
        <p:cNvGrpSpPr/>
        <p:nvPr/>
      </p:nvGrpSpPr>
      <p:grpSpPr>
        <a:xfrm>
          <a:off x="0" y="0"/>
          <a:ext cx="0" cy="0"/>
          <a:chOff x="0" y="0"/>
          <a:chExt cx="0" cy="0"/>
        </a:xfrm>
      </p:grpSpPr>
      <p:sp>
        <p:nvSpPr>
          <p:cNvPr id="146" name="Google Shape;146;p10"/>
          <p:cNvSpPr txBox="1">
            <a:spLocks noGrp="1"/>
          </p:cNvSpPr>
          <p:nvPr>
            <p:ph type="ctrTitle"/>
          </p:nvPr>
        </p:nvSpPr>
        <p:spPr>
          <a:xfrm>
            <a:off x="822960" y="466344"/>
            <a:ext cx="10543032" cy="731520"/>
          </a:xfrm>
          <a:prstGeom prst="rect">
            <a:avLst/>
          </a:prstGeom>
          <a:noFill/>
          <a:ln>
            <a:noFill/>
          </a:ln>
        </p:spPr>
        <p:txBody>
          <a:bodyPr spcFirstLastPara="1" wrap="square" lIns="91425" tIns="91425" rIns="91425" bIns="91425" anchor="t" anchorCtr="0">
            <a:noAutofit/>
          </a:bodyPr>
          <a:lstStyle/>
          <a:p>
            <a:pPr marL="0" lvl="0" indent="0" algn="ctr" rtl="0">
              <a:buNone/>
            </a:pPr>
            <a:r>
              <a:rPr lang="en-US" dirty="0"/>
              <a:t>Overview</a:t>
            </a:r>
          </a:p>
        </p:txBody>
      </p:sp>
      <p:sp>
        <p:nvSpPr>
          <p:cNvPr id="2" name="Slide Number Placeholder 1">
            <a:extLst>
              <a:ext uri="{FF2B5EF4-FFF2-40B4-BE49-F238E27FC236}">
                <a16:creationId xmlns:a16="http://schemas.microsoft.com/office/drawing/2014/main" id="{249CE59B-DD91-4B3A-8ACA-10EA59D7C3EE}"/>
              </a:ext>
            </a:extLst>
          </p:cNvPr>
          <p:cNvSpPr>
            <a:spLocks noGrp="1"/>
          </p:cNvSpPr>
          <p:nvPr>
            <p:ph type="sldNum" idx="12"/>
          </p:nvPr>
        </p:nvSpPr>
        <p:spPr/>
        <p:txBody>
          <a:bodyPr/>
          <a:lstStyle/>
          <a:p>
            <a:pPr marL="0" lvl="0" indent="0" algn="ctr" rtl="0">
              <a:spcBef>
                <a:spcPts val="0"/>
              </a:spcBef>
              <a:spcAft>
                <a:spcPts val="0"/>
              </a:spcAft>
              <a:buNone/>
            </a:pPr>
            <a:fld id="{00000000-1234-1234-1234-123412341234}" type="slidenum">
              <a:rPr lang="en-US" smtClean="0"/>
              <a:t>7</a:t>
            </a:fld>
            <a:endParaRPr lang="en-US" dirty="0"/>
          </a:p>
        </p:txBody>
      </p:sp>
      <p:sp>
        <p:nvSpPr>
          <p:cNvPr id="149" name="Footnote citations"/>
          <p:cNvSpPr txBox="1"/>
          <p:nvPr/>
        </p:nvSpPr>
        <p:spPr>
          <a:xfrm>
            <a:off x="228600" y="6282466"/>
            <a:ext cx="5268558" cy="484093"/>
          </a:xfrm>
          <a:prstGeom prst="rect">
            <a:avLst/>
          </a:prstGeom>
          <a:noFill/>
          <a:ln>
            <a:noFill/>
          </a:ln>
        </p:spPr>
        <p:txBody>
          <a:bodyPr wrap="square" lIns="45720" tIns="45720" rIns="45720" bIns="45720" anchor="b">
            <a:noAutofit/>
          </a:bodyPr>
          <a:lstStyle/>
          <a:p>
            <a:pPr>
              <a:buNone/>
            </a:pPr>
            <a:r>
              <a:rPr lang="en-US" sz="800" b="1" dirty="0">
                <a:solidFill>
                  <a:srgbClr val="595959"/>
                </a:solidFill>
                <a:latin typeface="FS PF BeauSans Pro"/>
                <a:ea typeface="FS PF BeauSans Pro"/>
                <a:cs typeface="FS PF BeauSans Pro"/>
              </a:rPr>
              <a:t>OmniVoice: </a:t>
            </a:r>
            <a:r>
              <a:rPr lang="en-US" sz="800" dirty="0">
                <a:solidFill>
                  <a:srgbClr val="595959"/>
                </a:solidFill>
                <a:latin typeface="FS PF BeauSans Pro"/>
                <a:ea typeface="FS PF BeauSans Pro"/>
                <a:cs typeface="FS PF BeauSans Pro"/>
              </a:rPr>
              <a:t>Zhu et al., arXiv:2604.00688, 2026</a:t>
            </a:r>
          </a:p>
          <a:p>
            <a:pPr>
              <a:buNone/>
            </a:pPr>
            <a:r>
              <a:rPr lang="en-US" sz="800" b="1" dirty="0">
                <a:solidFill>
                  <a:srgbClr val="595959"/>
                </a:solidFill>
                <a:latin typeface="FS PF BeauSans Pro"/>
                <a:ea typeface="FS PF BeauSans Pro"/>
                <a:cs typeface="FS PF BeauSans Pro"/>
              </a:rPr>
              <a:t>Qwen3-Omni: </a:t>
            </a:r>
            <a:r>
              <a:rPr lang="en-US" sz="800" dirty="0">
                <a:solidFill>
                  <a:srgbClr val="595959"/>
                </a:solidFill>
                <a:latin typeface="FS PF BeauSans Pro"/>
                <a:ea typeface="FS PF BeauSans Pro"/>
                <a:cs typeface="FS PF BeauSans Pro"/>
              </a:rPr>
              <a:t>Qwen Team, arXiv:2509.17765, 2025</a:t>
            </a:r>
          </a:p>
          <a:p>
            <a:pPr>
              <a:buNone/>
            </a:pPr>
            <a:r>
              <a:rPr lang="en-US" sz="800" b="1" dirty="0">
                <a:solidFill>
                  <a:srgbClr val="595959"/>
                </a:solidFill>
                <a:latin typeface="FS PF BeauSans Pro"/>
                <a:ea typeface="FS PF BeauSans Pro"/>
                <a:cs typeface="FS PF BeauSans Pro"/>
              </a:rPr>
              <a:t>Seed-VC: </a:t>
            </a:r>
            <a:r>
              <a:rPr lang="en-US" sz="800" dirty="0">
                <a:solidFill>
                  <a:srgbClr val="595959"/>
                </a:solidFill>
                <a:latin typeface="FS PF BeauSans Pro"/>
                <a:ea typeface="FS PF BeauSans Pro"/>
                <a:cs typeface="FS PF BeauSans Pro"/>
              </a:rPr>
              <a:t>Liu, arXiv:2411.09943, 2024</a:t>
            </a:r>
          </a:p>
          <a:p>
            <a:pPr>
              <a:buNone/>
            </a:pPr>
            <a:r>
              <a:rPr lang="en-US" sz="800" b="1" dirty="0">
                <a:solidFill>
                  <a:srgbClr val="595959"/>
                </a:solidFill>
                <a:latin typeface="FS PF BeauSans Pro"/>
                <a:ea typeface="FS PF BeauSans Pro"/>
                <a:cs typeface="FS PF BeauSans Pro"/>
              </a:rPr>
              <a:t>NISQA: </a:t>
            </a:r>
            <a:r>
              <a:rPr lang="en-US" sz="800" dirty="0">
                <a:solidFill>
                  <a:srgbClr val="595959"/>
                </a:solidFill>
                <a:latin typeface="FS PF BeauSans Pro"/>
                <a:ea typeface="FS PF BeauSans Pro"/>
                <a:cs typeface="FS PF BeauSans Pro"/>
              </a:rPr>
              <a:t>Mittag et al., Interspeech 2021</a:t>
            </a:r>
          </a:p>
        </p:txBody>
      </p:sp>
      <p:pic>
        <p:nvPicPr>
          <p:cNvPr id="150" name="Figure overview (Canva)" descr="Overview: (a) training-data synthesis: pause detection, tag selection, clip selection, voice conversion, splicing, filter; (b) fine-tuning OmniVoice"/>
          <p:cNvPicPr>
            <a:picLocks noChangeAspect="1"/>
          </p:cNvPicPr>
          <p:nvPr/>
        </p:nvPicPr>
        <p:blipFill>
          <a:blip r:embed="rId2"/>
          <a:stretch>
            <a:fillRect/>
          </a:stretch>
        </p:blipFill>
        <p:spPr>
          <a:xfrm>
            <a:off x="2577922" y="176756"/>
            <a:ext cx="6798943" cy="5808307"/>
          </a:xfrm>
          <a:prstGeom prst="rect">
            <a:avLst/>
          </a:prstGeom>
        </p:spPr>
      </p:pic>
    </p:spTree>
    <p:extLst>
      <p:ext uri="{BB962C8B-B14F-4D97-AF65-F5344CB8AC3E}">
        <p14:creationId xmlns:p14="http://schemas.microsoft.com/office/powerpoint/2010/main" val="30717388"/>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Shape 145"/>
        <p:cNvGrpSpPr/>
        <p:nvPr/>
      </p:nvGrpSpPr>
      <p:grpSpPr>
        <a:xfrm>
          <a:off x="0" y="0"/>
          <a:ext cx="0" cy="0"/>
          <a:chOff x="0" y="0"/>
          <a:chExt cx="0" cy="0"/>
        </a:xfrm>
      </p:grpSpPr>
      <p:sp>
        <p:nvSpPr>
          <p:cNvPr id="146" name="Google Shape;146;p10"/>
          <p:cNvSpPr txBox="1">
            <a:spLocks noGrp="1"/>
          </p:cNvSpPr>
          <p:nvPr>
            <p:ph type="ctrTitle"/>
          </p:nvPr>
        </p:nvSpPr>
        <p:spPr>
          <a:xfrm>
            <a:off x="822960" y="466344"/>
            <a:ext cx="10543032" cy="731520"/>
          </a:xfrm>
          <a:prstGeom prst="rect">
            <a:avLst/>
          </a:prstGeom>
          <a:noFill/>
          <a:ln>
            <a:noFill/>
          </a:ln>
        </p:spPr>
        <p:txBody>
          <a:bodyPr spcFirstLastPara="1" wrap="square" lIns="91425" tIns="91425" rIns="91425" bIns="91425" anchor="t" anchorCtr="0">
            <a:noAutofit/>
          </a:bodyPr>
          <a:lstStyle/>
          <a:p>
            <a:pPr marL="0" lvl="0" indent="0" algn="ctr" rtl="0">
              <a:buNone/>
            </a:pPr>
            <a:r>
              <a:rPr lang="en-US" dirty="0"/>
              <a:t>NVV clip pool</a:t>
            </a:r>
          </a:p>
        </p:txBody>
      </p:sp>
      <p:sp>
        <p:nvSpPr>
          <p:cNvPr id="148" name="Google Shape;148;p10"/>
          <p:cNvSpPr txBox="1">
            <a:spLocks noGrp="1"/>
          </p:cNvSpPr>
          <p:nvPr>
            <p:ph type="body" idx="1"/>
          </p:nvPr>
        </p:nvSpPr>
        <p:spPr>
          <a:xfrm>
            <a:off x="850392" y="1371600"/>
            <a:ext cx="10570464" cy="883920"/>
          </a:xfrm>
          <a:prstGeom prst="rect">
            <a:avLst/>
          </a:prstGeom>
          <a:noFill/>
          <a:ln>
            <a:noFill/>
          </a:ln>
        </p:spPr>
        <p:txBody>
          <a:bodyPr spcFirstLastPara="1" wrap="square" lIns="91425" tIns="91425" rIns="91425" bIns="91425" anchor="t" anchorCtr="0">
            <a:noAutofit/>
          </a:bodyPr>
          <a:lstStyle/>
          <a:p>
            <a:pPr marL="152400" lvl="0" indent="0" algn="l" rtl="0">
              <a:lnSpc>
                <a:spcPct val="115000"/>
              </a:lnSpc>
              <a:spcBef>
                <a:spcPts val="0"/>
              </a:spcBef>
              <a:spcAft>
                <a:spcPts val="0"/>
              </a:spcAft>
              <a:buNone/>
            </a:pPr>
            <a:r>
              <a:rPr lang="en-US" sz="1800" dirty="0">
                <a:latin typeface="FS PF BeauSans Pro"/>
                <a:ea typeface="FS PF BeauSans Pro"/>
                <a:cs typeface="FS PF BeauSans Pro"/>
              </a:rPr>
              <a:t>Built once before synthesis: clean, isolated NVV clips pooled from several corpora into 17 classes.</a:t>
            </a:r>
          </a:p>
        </p:txBody>
      </p:sp>
      <p:sp>
        <p:nvSpPr>
          <p:cNvPr id="2" name="Slide Number Placeholder 1">
            <a:extLst>
              <a:ext uri="{FF2B5EF4-FFF2-40B4-BE49-F238E27FC236}">
                <a16:creationId xmlns:a16="http://schemas.microsoft.com/office/drawing/2014/main" id="{249CE59B-DD91-4B3A-8ACA-10EA59D7C3EE}"/>
              </a:ext>
            </a:extLst>
          </p:cNvPr>
          <p:cNvSpPr>
            <a:spLocks noGrp="1"/>
          </p:cNvSpPr>
          <p:nvPr>
            <p:ph type="sldNum" idx="12"/>
          </p:nvPr>
        </p:nvSpPr>
        <p:spPr/>
        <p:txBody>
          <a:bodyPr/>
          <a:lstStyle/>
          <a:p>
            <a:pPr marL="0" lvl="0" indent="0" algn="ctr" rtl="0">
              <a:spcBef>
                <a:spcPts val="0"/>
              </a:spcBef>
              <a:spcAft>
                <a:spcPts val="0"/>
              </a:spcAft>
              <a:buNone/>
            </a:pPr>
            <a:fld id="{00000000-1234-1234-1234-123412341234}" type="slidenum">
              <a:rPr lang="en-US" smtClean="0"/>
              <a:t>8</a:t>
            </a:fld>
            <a:endParaRPr lang="en-US" dirty="0"/>
          </a:p>
        </p:txBody>
      </p:sp>
      <p:sp>
        <p:nvSpPr>
          <p:cNvPr id="1009" name="Step 0"/>
          <p:cNvSpPr txBox="1"/>
          <p:nvPr/>
        </p:nvSpPr>
        <p:spPr>
          <a:xfrm>
            <a:off x="1021080" y="5486400"/>
            <a:ext cx="1371600" cy="304800"/>
          </a:xfrm>
          <a:prstGeom prst="roundRect">
            <a:avLst>
              <a:gd name="adj" fmla="val 50000"/>
            </a:avLst>
          </a:prstGeom>
          <a:solidFill>
            <a:srgbClr val="E80500"/>
          </a:solidFill>
          <a:ln>
            <a:noFill/>
          </a:ln>
        </p:spPr>
        <p:txBody>
          <a:bodyPr wrap="square" lIns="30480" tIns="0" rIns="30480" bIns="0" rtlCol="0" anchor="ctr">
            <a:noAutofit/>
          </a:bodyPr>
          <a:lstStyle/>
          <a:p>
            <a:pPr algn="ctr"/>
            <a:r>
              <a:rPr lang="en-US" sz="1067" b="1" dirty="0">
                <a:solidFill>
                  <a:srgbClr val="FFFFFF"/>
                </a:solidFill>
                <a:latin typeface="FS PF BeauSans Pro"/>
                <a:ea typeface="FS PF BeauSans Pro"/>
                <a:cs typeface="FS PF BeauSans Pro"/>
                <a:sym typeface="FS PF BeauSans Pro"/>
              </a:rPr>
              <a:t>Clip pool</a:t>
            </a:r>
          </a:p>
        </p:txBody>
      </p:sp>
      <p:sp>
        <p:nvSpPr>
          <p:cNvPr id="1010" name="Step 1"/>
          <p:cNvSpPr txBox="1"/>
          <p:nvPr/>
        </p:nvSpPr>
        <p:spPr>
          <a:xfrm>
            <a:off x="2484120" y="5486400"/>
            <a:ext cx="1371600" cy="304800"/>
          </a:xfrm>
          <a:prstGeom prst="roundRect">
            <a:avLst>
              <a:gd name="adj" fmla="val 50000"/>
            </a:avLst>
          </a:prstGeom>
          <a:solidFill>
            <a:srgbClr val="F2F2F2"/>
          </a:solidFill>
          <a:ln>
            <a:noFill/>
          </a:ln>
        </p:spPr>
        <p:txBody>
          <a:bodyPr wrap="square" lIns="30480" tIns="0" rIns="30480" bIns="0" rtlCol="0" anchor="ctr">
            <a:noAutofit/>
          </a:bodyPr>
          <a:lstStyle/>
          <a:p>
            <a:pPr algn="ctr"/>
            <a:r>
              <a:rPr lang="en-US" sz="1067" dirty="0">
                <a:solidFill>
                  <a:srgbClr val="7F7F7F"/>
                </a:solidFill>
                <a:latin typeface="FS PF BeauSans Pro"/>
                <a:ea typeface="FS PF BeauSans Pro"/>
                <a:cs typeface="FS PF BeauSans Pro"/>
                <a:sym typeface="FS PF BeauSans Pro"/>
              </a:rPr>
              <a:t>1  Pause detection</a:t>
            </a:r>
          </a:p>
        </p:txBody>
      </p:sp>
      <p:sp>
        <p:nvSpPr>
          <p:cNvPr id="1011" name="Step 2"/>
          <p:cNvSpPr txBox="1"/>
          <p:nvPr/>
        </p:nvSpPr>
        <p:spPr>
          <a:xfrm>
            <a:off x="3947160" y="5486400"/>
            <a:ext cx="1371600" cy="304800"/>
          </a:xfrm>
          <a:prstGeom prst="roundRect">
            <a:avLst>
              <a:gd name="adj" fmla="val 50000"/>
            </a:avLst>
          </a:prstGeom>
          <a:solidFill>
            <a:srgbClr val="F2F2F2"/>
          </a:solidFill>
          <a:ln>
            <a:noFill/>
          </a:ln>
        </p:spPr>
        <p:txBody>
          <a:bodyPr wrap="square" lIns="30480" tIns="0" rIns="30480" bIns="0" rtlCol="0" anchor="ctr">
            <a:noAutofit/>
          </a:bodyPr>
          <a:lstStyle/>
          <a:p>
            <a:pPr algn="ctr"/>
            <a:r>
              <a:rPr lang="en-US" sz="1067" dirty="0">
                <a:solidFill>
                  <a:srgbClr val="7F7F7F"/>
                </a:solidFill>
                <a:latin typeface="FS PF BeauSans Pro"/>
                <a:ea typeface="FS PF BeauSans Pro"/>
                <a:cs typeface="FS PF BeauSans Pro"/>
                <a:sym typeface="FS PF BeauSans Pro"/>
              </a:rPr>
              <a:t>2  Tag selection</a:t>
            </a:r>
          </a:p>
        </p:txBody>
      </p:sp>
      <p:sp>
        <p:nvSpPr>
          <p:cNvPr id="1012" name="Step 3"/>
          <p:cNvSpPr txBox="1"/>
          <p:nvPr/>
        </p:nvSpPr>
        <p:spPr>
          <a:xfrm>
            <a:off x="5410200" y="5486400"/>
            <a:ext cx="1371600" cy="304800"/>
          </a:xfrm>
          <a:prstGeom prst="roundRect">
            <a:avLst>
              <a:gd name="adj" fmla="val 50000"/>
            </a:avLst>
          </a:prstGeom>
          <a:solidFill>
            <a:srgbClr val="F2F2F2"/>
          </a:solidFill>
          <a:ln>
            <a:noFill/>
          </a:ln>
        </p:spPr>
        <p:txBody>
          <a:bodyPr wrap="square" lIns="30480" tIns="0" rIns="30480" bIns="0" rtlCol="0" anchor="ctr">
            <a:noAutofit/>
          </a:bodyPr>
          <a:lstStyle/>
          <a:p>
            <a:pPr algn="ctr"/>
            <a:r>
              <a:rPr lang="en-US" sz="1067" dirty="0">
                <a:solidFill>
                  <a:srgbClr val="7F7F7F"/>
                </a:solidFill>
                <a:latin typeface="FS PF BeauSans Pro"/>
                <a:ea typeface="FS PF BeauSans Pro"/>
                <a:cs typeface="FS PF BeauSans Pro"/>
                <a:sym typeface="FS PF BeauSans Pro"/>
              </a:rPr>
              <a:t>3  Clip selection</a:t>
            </a:r>
          </a:p>
        </p:txBody>
      </p:sp>
      <p:sp>
        <p:nvSpPr>
          <p:cNvPr id="1013" name="Step 4"/>
          <p:cNvSpPr txBox="1"/>
          <p:nvPr/>
        </p:nvSpPr>
        <p:spPr>
          <a:xfrm>
            <a:off x="6873240" y="5486400"/>
            <a:ext cx="1371600" cy="304800"/>
          </a:xfrm>
          <a:prstGeom prst="roundRect">
            <a:avLst>
              <a:gd name="adj" fmla="val 50000"/>
            </a:avLst>
          </a:prstGeom>
          <a:solidFill>
            <a:srgbClr val="F2F2F2"/>
          </a:solidFill>
          <a:ln>
            <a:noFill/>
          </a:ln>
        </p:spPr>
        <p:txBody>
          <a:bodyPr wrap="square" lIns="30480" tIns="0" rIns="30480" bIns="0" rtlCol="0" anchor="ctr">
            <a:noAutofit/>
          </a:bodyPr>
          <a:lstStyle/>
          <a:p>
            <a:pPr algn="ctr"/>
            <a:r>
              <a:rPr lang="en-US" sz="1067" dirty="0">
                <a:solidFill>
                  <a:srgbClr val="7F7F7F"/>
                </a:solidFill>
                <a:latin typeface="FS PF BeauSans Pro"/>
                <a:ea typeface="FS PF BeauSans Pro"/>
                <a:cs typeface="FS PF BeauSans Pro"/>
                <a:sym typeface="FS PF BeauSans Pro"/>
              </a:rPr>
              <a:t>4  Voice conversion</a:t>
            </a:r>
          </a:p>
        </p:txBody>
      </p:sp>
      <p:sp>
        <p:nvSpPr>
          <p:cNvPr id="1014" name="Step 5"/>
          <p:cNvSpPr txBox="1"/>
          <p:nvPr/>
        </p:nvSpPr>
        <p:spPr>
          <a:xfrm>
            <a:off x="8336280" y="5486400"/>
            <a:ext cx="1371600" cy="304800"/>
          </a:xfrm>
          <a:prstGeom prst="roundRect">
            <a:avLst>
              <a:gd name="adj" fmla="val 50000"/>
            </a:avLst>
          </a:prstGeom>
          <a:solidFill>
            <a:srgbClr val="F2F2F2"/>
          </a:solidFill>
          <a:ln>
            <a:noFill/>
          </a:ln>
        </p:spPr>
        <p:txBody>
          <a:bodyPr wrap="square" lIns="30480" tIns="0" rIns="30480" bIns="0" rtlCol="0" anchor="ctr">
            <a:noAutofit/>
          </a:bodyPr>
          <a:lstStyle/>
          <a:p>
            <a:pPr algn="ctr"/>
            <a:r>
              <a:rPr lang="en-US" sz="1067" dirty="0">
                <a:solidFill>
                  <a:srgbClr val="7F7F7F"/>
                </a:solidFill>
                <a:latin typeface="FS PF BeauSans Pro"/>
                <a:ea typeface="FS PF BeauSans Pro"/>
                <a:cs typeface="FS PF BeauSans Pro"/>
                <a:sym typeface="FS PF BeauSans Pro"/>
              </a:rPr>
              <a:t>5  Splicing</a:t>
            </a:r>
          </a:p>
        </p:txBody>
      </p:sp>
      <p:sp>
        <p:nvSpPr>
          <p:cNvPr id="1015" name="Step 6"/>
          <p:cNvSpPr txBox="1"/>
          <p:nvPr/>
        </p:nvSpPr>
        <p:spPr>
          <a:xfrm>
            <a:off x="9799320" y="5486400"/>
            <a:ext cx="1371600" cy="304800"/>
          </a:xfrm>
          <a:prstGeom prst="roundRect">
            <a:avLst>
              <a:gd name="adj" fmla="val 50000"/>
            </a:avLst>
          </a:prstGeom>
          <a:solidFill>
            <a:srgbClr val="F2F2F2"/>
          </a:solidFill>
          <a:ln>
            <a:noFill/>
          </a:ln>
        </p:spPr>
        <p:txBody>
          <a:bodyPr wrap="square" lIns="30480" tIns="0" rIns="30480" bIns="0" rtlCol="0" anchor="ctr">
            <a:noAutofit/>
          </a:bodyPr>
          <a:lstStyle/>
          <a:p>
            <a:pPr algn="ctr"/>
            <a:r>
              <a:rPr lang="en-US" sz="1067" dirty="0">
                <a:solidFill>
                  <a:srgbClr val="7F7F7F"/>
                </a:solidFill>
                <a:latin typeface="FS PF BeauSans Pro"/>
                <a:ea typeface="FS PF BeauSans Pro"/>
                <a:cs typeface="FS PF BeauSans Pro"/>
                <a:sym typeface="FS PF BeauSans Pro"/>
              </a:rPr>
              <a:t>6  Filter</a:t>
            </a:r>
          </a:p>
        </p:txBody>
      </p:sp>
      <p:sp>
        <p:nvSpPr>
          <p:cNvPr id="1032" name="Input card"/>
          <p:cNvSpPr/>
          <p:nvPr/>
        </p:nvSpPr>
        <p:spPr>
          <a:xfrm>
            <a:off x="426720" y="2712720"/>
            <a:ext cx="2621280" cy="2590800"/>
          </a:xfrm>
          <a:prstGeom prst="roundRect">
            <a:avLst>
              <a:gd name="adj" fmla="val 6000"/>
            </a:avLst>
          </a:prstGeom>
          <a:solidFill>
            <a:srgbClr val="F4F4F4"/>
          </a:solidFill>
          <a:ln>
            <a:noFill/>
          </a:ln>
        </p:spPr>
        <p:txBody>
          <a:bodyPr wrap="square" lIns="0" tIns="0" rIns="0" bIns="0" rtlCol="0" anchor="t">
            <a:noAutofit/>
          </a:bodyPr>
          <a:lstStyle/>
          <a:p>
            <a:endParaRPr lang="en-US" dirty="0"/>
          </a:p>
        </p:txBody>
      </p:sp>
      <p:sp>
        <p:nvSpPr>
          <p:cNvPr id="1033" name="Input label"/>
          <p:cNvSpPr txBox="1"/>
          <p:nvPr/>
        </p:nvSpPr>
        <p:spPr>
          <a:xfrm>
            <a:off x="609600" y="2846832"/>
            <a:ext cx="2255520" cy="274320"/>
          </a:xfrm>
          <a:prstGeom prst="rect">
            <a:avLst/>
          </a:prstGeom>
          <a:noFill/>
          <a:ln>
            <a:noFill/>
          </a:ln>
        </p:spPr>
        <p:txBody>
          <a:bodyPr wrap="square" lIns="0" tIns="0" rIns="0" bIns="0" rtlCol="0" anchor="t">
            <a:noAutofit/>
          </a:bodyPr>
          <a:lstStyle/>
          <a:p>
            <a:pPr algn="l"/>
            <a:r>
              <a:rPr lang="en-US" sz="1067" b="1" dirty="0">
                <a:solidFill>
                  <a:srgbClr val="7F7F7F"/>
                </a:solidFill>
                <a:latin typeface="FS PF BeauSans Pro"/>
                <a:ea typeface="FS PF BeauSans Pro"/>
                <a:cs typeface="FS PF BeauSans Pro"/>
                <a:sym typeface="FS PF BeauSans Pro"/>
              </a:rPr>
              <a:t>INPUT</a:t>
            </a:r>
          </a:p>
        </p:txBody>
      </p:sp>
      <p:sp>
        <p:nvSpPr>
          <p:cNvPr id="1034" name="Chip VocalSound"/>
          <p:cNvSpPr txBox="1"/>
          <p:nvPr/>
        </p:nvSpPr>
        <p:spPr>
          <a:xfrm>
            <a:off x="609600" y="3221736"/>
            <a:ext cx="2255520" cy="256032"/>
          </a:xfrm>
          <a:prstGeom prst="roundRect">
            <a:avLst>
              <a:gd name="adj" fmla="val 30000"/>
            </a:avLst>
          </a:prstGeom>
          <a:solidFill>
            <a:srgbClr val="FFFFFF"/>
          </a:solidFill>
          <a:ln>
            <a:noFill/>
          </a:ln>
        </p:spPr>
        <p:txBody>
          <a:bodyPr wrap="square" lIns="0" tIns="0" rIns="0" bIns="0" rtlCol="0" anchor="ctr">
            <a:noAutofit/>
          </a:bodyPr>
          <a:lstStyle/>
          <a:p>
            <a:pPr algn="ctr"/>
            <a:r>
              <a:rPr lang="en-US" sz="1000" dirty="0">
                <a:solidFill>
                  <a:srgbClr val="B30400"/>
                </a:solidFill>
                <a:latin typeface="FS PF BeauSans Pro"/>
                <a:ea typeface="FS PF BeauSans Pro"/>
                <a:cs typeface="FS PF BeauSans Pro"/>
                <a:sym typeface="FS PF BeauSans Pro"/>
              </a:rPr>
              <a:t>VocalSound</a:t>
            </a:r>
          </a:p>
        </p:txBody>
      </p:sp>
      <p:sp>
        <p:nvSpPr>
          <p:cNvPr id="1035" name="Chip Nonspeech7k"/>
          <p:cNvSpPr txBox="1"/>
          <p:nvPr/>
        </p:nvSpPr>
        <p:spPr>
          <a:xfrm>
            <a:off x="609600" y="3538728"/>
            <a:ext cx="2255520" cy="256032"/>
          </a:xfrm>
          <a:prstGeom prst="roundRect">
            <a:avLst>
              <a:gd name="adj" fmla="val 30000"/>
            </a:avLst>
          </a:prstGeom>
          <a:solidFill>
            <a:srgbClr val="FFFFFF"/>
          </a:solidFill>
          <a:ln>
            <a:noFill/>
          </a:ln>
        </p:spPr>
        <p:txBody>
          <a:bodyPr wrap="square" lIns="0" tIns="0" rIns="0" bIns="0" rtlCol="0" anchor="ctr">
            <a:noAutofit/>
          </a:bodyPr>
          <a:lstStyle/>
          <a:p>
            <a:pPr algn="ctr"/>
            <a:r>
              <a:rPr lang="en-US" sz="1000" dirty="0">
                <a:solidFill>
                  <a:srgbClr val="B30400"/>
                </a:solidFill>
                <a:latin typeface="FS PF BeauSans Pro"/>
                <a:ea typeface="FS PF BeauSans Pro"/>
                <a:cs typeface="FS PF BeauSans Pro"/>
                <a:sym typeface="FS PF BeauSans Pro"/>
              </a:rPr>
              <a:t>Nonspeech7k</a:t>
            </a:r>
          </a:p>
        </p:txBody>
      </p:sp>
      <p:sp>
        <p:nvSpPr>
          <p:cNvPr id="1036" name="Chip FSD50K"/>
          <p:cNvSpPr txBox="1"/>
          <p:nvPr/>
        </p:nvSpPr>
        <p:spPr>
          <a:xfrm>
            <a:off x="609600" y="3855720"/>
            <a:ext cx="2255520" cy="256032"/>
          </a:xfrm>
          <a:prstGeom prst="roundRect">
            <a:avLst>
              <a:gd name="adj" fmla="val 30000"/>
            </a:avLst>
          </a:prstGeom>
          <a:solidFill>
            <a:srgbClr val="FFFFFF"/>
          </a:solidFill>
          <a:ln>
            <a:noFill/>
          </a:ln>
        </p:spPr>
        <p:txBody>
          <a:bodyPr wrap="square" lIns="0" tIns="0" rIns="0" bIns="0" rtlCol="0" anchor="ctr">
            <a:noAutofit/>
          </a:bodyPr>
          <a:lstStyle/>
          <a:p>
            <a:pPr algn="ctr"/>
            <a:r>
              <a:rPr lang="en-US" sz="1000" dirty="0">
                <a:solidFill>
                  <a:srgbClr val="B30400"/>
                </a:solidFill>
                <a:latin typeface="FS PF BeauSans Pro"/>
                <a:ea typeface="FS PF BeauSans Pro"/>
                <a:cs typeface="FS PF BeauSans Pro"/>
                <a:sym typeface="FS PF BeauSans Pro"/>
              </a:rPr>
              <a:t>FSD50K</a:t>
            </a:r>
          </a:p>
        </p:txBody>
      </p:sp>
      <p:sp>
        <p:nvSpPr>
          <p:cNvPr id="1037" name="Chip NVS-38K"/>
          <p:cNvSpPr txBox="1"/>
          <p:nvPr/>
        </p:nvSpPr>
        <p:spPr>
          <a:xfrm>
            <a:off x="609600" y="4172712"/>
            <a:ext cx="2255520" cy="256032"/>
          </a:xfrm>
          <a:prstGeom prst="roundRect">
            <a:avLst>
              <a:gd name="adj" fmla="val 30000"/>
            </a:avLst>
          </a:prstGeom>
          <a:solidFill>
            <a:srgbClr val="FFFFFF"/>
          </a:solidFill>
          <a:ln>
            <a:noFill/>
          </a:ln>
        </p:spPr>
        <p:txBody>
          <a:bodyPr wrap="square" lIns="0" tIns="0" rIns="0" bIns="0" rtlCol="0" anchor="ctr">
            <a:noAutofit/>
          </a:bodyPr>
          <a:lstStyle/>
          <a:p>
            <a:pPr algn="ctr"/>
            <a:r>
              <a:rPr lang="en-US" sz="1000" dirty="0">
                <a:solidFill>
                  <a:srgbClr val="B30400"/>
                </a:solidFill>
                <a:latin typeface="FS PF BeauSans Pro"/>
                <a:ea typeface="FS PF BeauSans Pro"/>
                <a:cs typeface="FS PF BeauSans Pro"/>
                <a:sym typeface="FS PF BeauSans Pro"/>
              </a:rPr>
              <a:t>NVS-38K</a:t>
            </a:r>
          </a:p>
        </p:txBody>
      </p:sp>
      <p:sp>
        <p:nvSpPr>
          <p:cNvPr id="1038" name="Input caption"/>
          <p:cNvSpPr txBox="1"/>
          <p:nvPr/>
        </p:nvSpPr>
        <p:spPr>
          <a:xfrm>
            <a:off x="609600" y="4529328"/>
            <a:ext cx="2255520" cy="701040"/>
          </a:xfrm>
          <a:prstGeom prst="rect">
            <a:avLst/>
          </a:prstGeom>
          <a:noFill/>
          <a:ln>
            <a:noFill/>
          </a:ln>
        </p:spPr>
        <p:txBody>
          <a:bodyPr wrap="square" lIns="0" tIns="0" rIns="0" bIns="0" rtlCol="0" anchor="t">
            <a:noAutofit/>
          </a:bodyPr>
          <a:lstStyle/>
          <a:p>
            <a:pPr algn="ctr"/>
            <a:r>
              <a:rPr lang="en-US" sz="1333" b="1" dirty="0">
                <a:solidFill>
                  <a:srgbClr val="404155"/>
                </a:solidFill>
                <a:latin typeface="FS PF BeauSans Pro"/>
                <a:ea typeface="FS PF BeauSans Pro"/>
                <a:cs typeface="FS PF BeauSans Pro"/>
                <a:sym typeface="FS PF BeauSans Pro"/>
              </a:rPr>
              <a:t>Existing NVV corpora</a:t>
            </a:r>
            <a:r>
              <a:rPr lang="en-US" sz="1333" dirty="0">
                <a:solidFill>
                  <a:srgbClr val="000000"/>
                </a:solidFill>
                <a:latin typeface="FS PF BeauSans Pro"/>
                <a:ea typeface="FS PF BeauSans Pro"/>
                <a:cs typeface="FS PF BeauSans Pro"/>
                <a:sym typeface="FS PF BeauSans Pro"/>
              </a:rPr>
              <a:t> and a tagged speech corpus</a:t>
            </a:r>
          </a:p>
        </p:txBody>
      </p:sp>
      <p:sp>
        <p:nvSpPr>
          <p:cNvPr id="1039" name="Process card"/>
          <p:cNvSpPr/>
          <p:nvPr/>
        </p:nvSpPr>
        <p:spPr>
          <a:xfrm>
            <a:off x="3596640" y="2712720"/>
            <a:ext cx="3048000" cy="2590800"/>
          </a:xfrm>
          <a:prstGeom prst="roundRect">
            <a:avLst>
              <a:gd name="adj" fmla="val 6000"/>
            </a:avLst>
          </a:prstGeom>
          <a:solidFill>
            <a:srgbClr val="FDECEC"/>
          </a:solidFill>
          <a:ln>
            <a:noFill/>
          </a:ln>
        </p:spPr>
        <p:txBody>
          <a:bodyPr wrap="square" lIns="0" tIns="0" rIns="0" bIns="0" rtlCol="0" anchor="t">
            <a:noAutofit/>
          </a:bodyPr>
          <a:lstStyle/>
          <a:p>
            <a:endParaRPr lang="en-US" dirty="0"/>
          </a:p>
        </p:txBody>
      </p:sp>
      <p:sp>
        <p:nvSpPr>
          <p:cNvPr id="1040" name="Process label"/>
          <p:cNvSpPr txBox="1"/>
          <p:nvPr/>
        </p:nvSpPr>
        <p:spPr>
          <a:xfrm>
            <a:off x="3779520" y="2846832"/>
            <a:ext cx="2682240" cy="274320"/>
          </a:xfrm>
          <a:prstGeom prst="rect">
            <a:avLst/>
          </a:prstGeom>
          <a:noFill/>
          <a:ln>
            <a:noFill/>
          </a:ln>
        </p:spPr>
        <p:txBody>
          <a:bodyPr wrap="square" lIns="0" tIns="0" rIns="0" bIns="0" rtlCol="0" anchor="t">
            <a:noAutofit/>
          </a:bodyPr>
          <a:lstStyle/>
          <a:p>
            <a:pPr algn="l"/>
            <a:r>
              <a:rPr lang="en-US" sz="1067" b="1" dirty="0">
                <a:solidFill>
                  <a:srgbClr val="B30400"/>
                </a:solidFill>
                <a:latin typeface="FS PF BeauSans Pro"/>
                <a:ea typeface="FS PF BeauSans Pro"/>
                <a:cs typeface="FS PF BeauSans Pro"/>
                <a:sym typeface="FS PF BeauSans Pro"/>
              </a:rPr>
              <a:t>PROCESS</a:t>
            </a:r>
          </a:p>
        </p:txBody>
      </p:sp>
      <p:sp>
        <p:nvSpPr>
          <p:cNvPr id="1041" name="Process visual text"/>
          <p:cNvSpPr txBox="1"/>
          <p:nvPr/>
        </p:nvSpPr>
        <p:spPr>
          <a:xfrm>
            <a:off x="3779520" y="3200400"/>
            <a:ext cx="2682240" cy="1249680"/>
          </a:xfrm>
          <a:prstGeom prst="rect">
            <a:avLst/>
          </a:prstGeom>
          <a:noFill/>
          <a:ln>
            <a:noFill/>
          </a:ln>
        </p:spPr>
        <p:txBody>
          <a:bodyPr wrap="square" lIns="0" tIns="0" rIns="0" bIns="0" rtlCol="0" anchor="ctr">
            <a:noAutofit/>
          </a:bodyPr>
          <a:lstStyle/>
          <a:p>
            <a:pPr algn="ctr">
              <a:spcAft>
                <a:spcPts val="333"/>
              </a:spcAft>
            </a:pPr>
            <a:r>
              <a:rPr lang="en-US" sz="1200" b="1" dirty="0">
                <a:solidFill>
                  <a:srgbClr val="404155"/>
                </a:solidFill>
                <a:latin typeface="FS PF BeauSans Pro"/>
                <a:ea typeface="FS PF BeauSans Pro"/>
                <a:cs typeface="FS PF BeauSans Pro"/>
                <a:sym typeface="FS PF BeauSans Pro"/>
              </a:rPr>
              <a:t>Right class (FlexSED)</a:t>
            </a:r>
          </a:p>
          <a:p>
            <a:pPr algn="ctr">
              <a:spcAft>
                <a:spcPts val="333"/>
              </a:spcAft>
            </a:pPr>
            <a:r>
              <a:rPr lang="en-US" sz="1200" b="1" dirty="0">
                <a:solidFill>
                  <a:srgbClr val="404155"/>
                </a:solidFill>
                <a:latin typeface="FS PF BeauSans Pro"/>
                <a:ea typeface="FS PF BeauSans Pro"/>
                <a:cs typeface="FS PF BeauSans Pro"/>
                <a:sym typeface="FS PF BeauSans Pro"/>
              </a:rPr>
              <a:t>No speech (Qwen3-ASR)</a:t>
            </a:r>
          </a:p>
          <a:p>
            <a:pPr algn="ctr">
              <a:spcAft>
                <a:spcPts val="333"/>
              </a:spcAft>
            </a:pPr>
            <a:r>
              <a:rPr lang="en-US" sz="1200" b="1" dirty="0">
                <a:solidFill>
                  <a:srgbClr val="404155"/>
                </a:solidFill>
                <a:latin typeface="FS PF BeauSans Pro"/>
                <a:ea typeface="FS PF BeauSans Pro"/>
                <a:cs typeface="FS PF BeauSans Pro"/>
                <a:sym typeface="FS PF BeauSans Pro"/>
              </a:rPr>
              <a:t>Plausible length</a:t>
            </a:r>
          </a:p>
          <a:p>
            <a:pPr algn="ctr">
              <a:spcAft>
                <a:spcPts val="333"/>
              </a:spcAft>
            </a:pPr>
            <a:r>
              <a:rPr lang="en-US" sz="1200" b="1" dirty="0">
                <a:solidFill>
                  <a:srgbClr val="404155"/>
                </a:solidFill>
                <a:latin typeface="FS PF BeauSans Pro"/>
                <a:ea typeface="FS PF BeauSans Pro"/>
                <a:cs typeface="FS PF BeauSans Pro"/>
                <a:sym typeface="FS PF BeauSans Pro"/>
              </a:rPr>
              <a:t>SNR ≥ 6 dB, no clipping</a:t>
            </a:r>
          </a:p>
        </p:txBody>
      </p:sp>
      <p:sp>
        <p:nvSpPr>
          <p:cNvPr id="1042" name="Process caption"/>
          <p:cNvSpPr txBox="1"/>
          <p:nvPr/>
        </p:nvSpPr>
        <p:spPr>
          <a:xfrm>
            <a:off x="3779520" y="4529328"/>
            <a:ext cx="2682240" cy="701040"/>
          </a:xfrm>
          <a:prstGeom prst="rect">
            <a:avLst/>
          </a:prstGeom>
          <a:noFill/>
          <a:ln>
            <a:noFill/>
          </a:ln>
        </p:spPr>
        <p:txBody>
          <a:bodyPr wrap="square" lIns="0" tIns="0" rIns="0" bIns="0" rtlCol="0" anchor="t">
            <a:noAutofit/>
          </a:bodyPr>
          <a:lstStyle/>
          <a:p>
            <a:pPr algn="ctr"/>
            <a:r>
              <a:rPr lang="en-US" sz="1333" b="1" dirty="0">
                <a:solidFill>
                  <a:srgbClr val="404155"/>
                </a:solidFill>
                <a:latin typeface="FS PF BeauSans Pro"/>
                <a:ea typeface="FS PF BeauSans Pro"/>
                <a:cs typeface="FS PF BeauSans Pro"/>
                <a:sym typeface="FS PF BeauSans Pro"/>
              </a:rPr>
              <a:t>Locate, trim and check</a:t>
            </a:r>
            <a:r>
              <a:rPr lang="en-US" sz="1333" dirty="0">
                <a:solidFill>
                  <a:srgbClr val="000000"/>
                </a:solidFill>
                <a:latin typeface="FS PF BeauSans Pro"/>
                <a:ea typeface="FS PF BeauSans Pro"/>
                <a:cs typeface="FS PF BeauSans Pro"/>
                <a:sym typeface="FS PF BeauSans Pro"/>
              </a:rPr>
              <a:t> each event; keep only clean, isolated ones</a:t>
            </a:r>
          </a:p>
        </p:txBody>
      </p:sp>
      <p:sp>
        <p:nvSpPr>
          <p:cNvPr id="1043" name="Output card"/>
          <p:cNvSpPr/>
          <p:nvPr/>
        </p:nvSpPr>
        <p:spPr>
          <a:xfrm>
            <a:off x="7193280" y="2712720"/>
            <a:ext cx="4572000" cy="2590800"/>
          </a:xfrm>
          <a:prstGeom prst="roundRect">
            <a:avLst>
              <a:gd name="adj" fmla="val 6000"/>
            </a:avLst>
          </a:prstGeom>
          <a:solidFill>
            <a:srgbClr val="F4F4F4"/>
          </a:solidFill>
          <a:ln>
            <a:noFill/>
          </a:ln>
        </p:spPr>
        <p:txBody>
          <a:bodyPr wrap="square" lIns="0" tIns="0" rIns="0" bIns="0" rtlCol="0" anchor="t">
            <a:noAutofit/>
          </a:bodyPr>
          <a:lstStyle/>
          <a:p>
            <a:endParaRPr lang="en-US" dirty="0"/>
          </a:p>
        </p:txBody>
      </p:sp>
      <p:sp>
        <p:nvSpPr>
          <p:cNvPr id="1044" name="Output label"/>
          <p:cNvSpPr txBox="1"/>
          <p:nvPr/>
        </p:nvSpPr>
        <p:spPr>
          <a:xfrm>
            <a:off x="7376160" y="2846832"/>
            <a:ext cx="4206240" cy="274320"/>
          </a:xfrm>
          <a:prstGeom prst="rect">
            <a:avLst/>
          </a:prstGeom>
          <a:noFill/>
          <a:ln>
            <a:noFill/>
          </a:ln>
        </p:spPr>
        <p:txBody>
          <a:bodyPr wrap="square" lIns="0" tIns="0" rIns="0" bIns="0" rtlCol="0" anchor="t">
            <a:noAutofit/>
          </a:bodyPr>
          <a:lstStyle/>
          <a:p>
            <a:pPr algn="l"/>
            <a:r>
              <a:rPr lang="en-US" sz="1067" b="1" dirty="0">
                <a:solidFill>
                  <a:srgbClr val="7F7F7F"/>
                </a:solidFill>
                <a:latin typeface="FS PF BeauSans Pro"/>
                <a:ea typeface="FS PF BeauSans Pro"/>
                <a:cs typeface="FS PF BeauSans Pro"/>
                <a:sym typeface="FS PF BeauSans Pro"/>
              </a:rPr>
              <a:t>OUTPUT</a:t>
            </a:r>
          </a:p>
        </p:txBody>
      </p:sp>
      <p:sp>
        <p:nvSpPr>
          <p:cNvPr id="1059" name="Output caption"/>
          <p:cNvSpPr txBox="1"/>
          <p:nvPr/>
        </p:nvSpPr>
        <p:spPr>
          <a:xfrm>
            <a:off x="7376160" y="4529328"/>
            <a:ext cx="4206240" cy="701040"/>
          </a:xfrm>
          <a:prstGeom prst="rect">
            <a:avLst/>
          </a:prstGeom>
          <a:noFill/>
          <a:ln>
            <a:noFill/>
          </a:ln>
        </p:spPr>
        <p:txBody>
          <a:bodyPr wrap="square" lIns="0" tIns="0" rIns="0" bIns="0" rtlCol="0" anchor="t">
            <a:noAutofit/>
          </a:bodyPr>
          <a:lstStyle/>
          <a:p>
            <a:pPr algn="ctr"/>
            <a:r>
              <a:rPr lang="en-US" sz="1333" b="1" dirty="0">
                <a:solidFill>
                  <a:srgbClr val="404155"/>
                </a:solidFill>
                <a:latin typeface="FS PF BeauSans Pro"/>
                <a:ea typeface="FS PF BeauSans Pro"/>
                <a:cs typeface="FS PF BeauSans Pro"/>
                <a:sym typeface="FS PF BeauSans Pro"/>
              </a:rPr>
              <a:t>Clip pool</a:t>
            </a:r>
            <a:r>
              <a:rPr lang="en-US" sz="1333" dirty="0">
                <a:solidFill>
                  <a:srgbClr val="000000"/>
                </a:solidFill>
                <a:latin typeface="FS PF BeauSans Pro"/>
                <a:ea typeface="FS PF BeauSans Pro"/>
                <a:cs typeface="FS PF BeauSans Pro"/>
                <a:sym typeface="FS PF BeauSans Pro"/>
              </a:rPr>
              <a:t>: 17 NVV classes</a:t>
            </a:r>
          </a:p>
        </p:txBody>
      </p:sp>
      <p:sp>
        <p:nvSpPr>
          <p:cNvPr id="1060" name="Flow arrow 1"/>
          <p:cNvSpPr/>
          <p:nvPr/>
        </p:nvSpPr>
        <p:spPr>
          <a:xfrm>
            <a:off x="3154680" y="3825240"/>
            <a:ext cx="335280" cy="365760"/>
          </a:xfrm>
          <a:prstGeom prst="rightArrow">
            <a:avLst/>
          </a:prstGeom>
          <a:solidFill>
            <a:srgbClr val="B4B4B4"/>
          </a:solidFill>
          <a:ln>
            <a:noFill/>
          </a:ln>
        </p:spPr>
        <p:txBody>
          <a:bodyPr wrap="square" lIns="0" tIns="0" rIns="0" bIns="0" rtlCol="0" anchor="t">
            <a:noAutofit/>
          </a:bodyPr>
          <a:lstStyle/>
          <a:p>
            <a:endParaRPr lang="en-US" dirty="0"/>
          </a:p>
        </p:txBody>
      </p:sp>
      <p:sp>
        <p:nvSpPr>
          <p:cNvPr id="1061" name="Flow arrow 2"/>
          <p:cNvSpPr/>
          <p:nvPr/>
        </p:nvSpPr>
        <p:spPr>
          <a:xfrm>
            <a:off x="6751320" y="3825240"/>
            <a:ext cx="335280" cy="365760"/>
          </a:xfrm>
          <a:prstGeom prst="rightArrow">
            <a:avLst/>
          </a:prstGeom>
          <a:solidFill>
            <a:srgbClr val="B4B4B4"/>
          </a:solidFill>
          <a:ln>
            <a:noFill/>
          </a:ln>
        </p:spPr>
        <p:txBody>
          <a:bodyPr wrap="square" lIns="0" tIns="0" rIns="0" bIns="0" rtlCol="0" anchor="t">
            <a:noAutofit/>
          </a:bodyPr>
          <a:lstStyle/>
          <a:p>
            <a:endParaRPr lang="en-US" dirty="0"/>
          </a:p>
        </p:txBody>
      </p:sp>
      <p:sp>
        <p:nvSpPr>
          <p:cNvPr id="1062" name="Footnote citations"/>
          <p:cNvSpPr txBox="1"/>
          <p:nvPr/>
        </p:nvSpPr>
        <p:spPr>
          <a:xfrm>
            <a:off x="411480" y="5852160"/>
            <a:ext cx="8869680" cy="914400"/>
          </a:xfrm>
          <a:prstGeom prst="rect">
            <a:avLst/>
          </a:prstGeom>
          <a:noFill/>
          <a:ln>
            <a:noFill/>
          </a:ln>
        </p:spPr>
        <p:txBody>
          <a:bodyPr wrap="square" lIns="45720" tIns="45720" rIns="45720" bIns="45720" anchor="b">
            <a:noAutofit/>
          </a:bodyPr>
          <a:lstStyle/>
          <a:p>
            <a:pPr>
              <a:buNone/>
            </a:pPr>
            <a:r>
              <a:rPr lang="en-US" sz="900" b="1" dirty="0">
                <a:solidFill>
                  <a:srgbClr val="595959"/>
                </a:solidFill>
                <a:latin typeface="FS PF BeauSans Pro"/>
                <a:ea typeface="FS PF BeauSans Pro"/>
                <a:cs typeface="FS PF BeauSans Pro"/>
              </a:rPr>
              <a:t>FlexSED: </a:t>
            </a:r>
            <a:r>
              <a:rPr lang="en-US" sz="900" dirty="0">
                <a:solidFill>
                  <a:srgbClr val="595959"/>
                </a:solidFill>
                <a:latin typeface="FS PF BeauSans Pro"/>
                <a:ea typeface="FS PF BeauSans Pro"/>
                <a:cs typeface="FS PF BeauSans Pro"/>
              </a:rPr>
              <a:t>Hai et al., arXiv:2509.18606, 2025</a:t>
            </a:r>
          </a:p>
          <a:p>
            <a:pPr>
              <a:buNone/>
            </a:pPr>
            <a:r>
              <a:rPr lang="en-US" sz="900" b="1" dirty="0">
                <a:solidFill>
                  <a:srgbClr val="595959"/>
                </a:solidFill>
                <a:latin typeface="FS PF BeauSans Pro"/>
                <a:ea typeface="FS PF BeauSans Pro"/>
                <a:cs typeface="FS PF BeauSans Pro"/>
              </a:rPr>
              <a:t>Qwen3-ASR / Qwen3-ForcedAligner: </a:t>
            </a:r>
            <a:r>
              <a:rPr lang="en-US" sz="900" dirty="0">
                <a:solidFill>
                  <a:srgbClr val="595959"/>
                </a:solidFill>
                <a:latin typeface="FS PF BeauSans Pro"/>
                <a:ea typeface="FS PF BeauSans Pro"/>
                <a:cs typeface="FS PF BeauSans Pro"/>
              </a:rPr>
              <a:t>Qwen Team, arXiv:2601.21337, 2026</a:t>
            </a:r>
          </a:p>
        </p:txBody>
      </p:sp>
      <p:sp>
        <p:nvSpPr>
          <p:cNvPr id="1063" name="Chip laughter"/>
          <p:cNvSpPr txBox="1"/>
          <p:nvPr/>
        </p:nvSpPr>
        <p:spPr>
          <a:xfrm>
            <a:off x="7376160" y="3169920"/>
            <a:ext cx="1017269" cy="214884"/>
          </a:xfrm>
          <a:prstGeom prst="roundRect">
            <a:avLst>
              <a:gd name="adj" fmla="val 30000"/>
            </a:avLst>
          </a:prstGeom>
          <a:solidFill>
            <a:srgbClr val="FFFFFF"/>
          </a:solidFill>
          <a:ln>
            <a:noFill/>
          </a:ln>
        </p:spPr>
        <p:txBody>
          <a:bodyPr wrap="square" lIns="0" tIns="0" rIns="0" bIns="0" rtlCol="0" anchor="ctr">
            <a:noAutofit/>
          </a:bodyPr>
          <a:lstStyle/>
          <a:p>
            <a:pPr algn="ctr"/>
            <a:r>
              <a:rPr lang="en-US" sz="1000" dirty="0">
                <a:solidFill>
                  <a:srgbClr val="B30400"/>
                </a:solidFill>
                <a:latin typeface="FS PF BeauSans Pro"/>
                <a:ea typeface="FS PF BeauSans Pro"/>
                <a:cs typeface="FS PF BeauSans Pro"/>
                <a:sym typeface="FS PF BeauSans Pro"/>
              </a:rPr>
              <a:t>laughter</a:t>
            </a:r>
          </a:p>
        </p:txBody>
      </p:sp>
      <p:sp>
        <p:nvSpPr>
          <p:cNvPr id="1064" name="Chip sigh"/>
          <p:cNvSpPr txBox="1"/>
          <p:nvPr/>
        </p:nvSpPr>
        <p:spPr>
          <a:xfrm>
            <a:off x="8439150" y="3169920"/>
            <a:ext cx="1017269" cy="214884"/>
          </a:xfrm>
          <a:prstGeom prst="roundRect">
            <a:avLst>
              <a:gd name="adj" fmla="val 30000"/>
            </a:avLst>
          </a:prstGeom>
          <a:solidFill>
            <a:srgbClr val="FFFFFF"/>
          </a:solidFill>
          <a:ln>
            <a:noFill/>
          </a:ln>
        </p:spPr>
        <p:txBody>
          <a:bodyPr wrap="square" lIns="0" tIns="0" rIns="0" bIns="0" rtlCol="0" anchor="ctr">
            <a:noAutofit/>
          </a:bodyPr>
          <a:lstStyle/>
          <a:p>
            <a:pPr algn="ctr"/>
            <a:r>
              <a:rPr lang="en-US" sz="1000" dirty="0">
                <a:solidFill>
                  <a:srgbClr val="B30400"/>
                </a:solidFill>
                <a:latin typeface="FS PF BeauSans Pro"/>
                <a:ea typeface="FS PF BeauSans Pro"/>
                <a:cs typeface="FS PF BeauSans Pro"/>
                <a:sym typeface="FS PF BeauSans Pro"/>
              </a:rPr>
              <a:t>sigh</a:t>
            </a:r>
          </a:p>
        </p:txBody>
      </p:sp>
      <p:sp>
        <p:nvSpPr>
          <p:cNvPr id="1065" name="Chip cough"/>
          <p:cNvSpPr txBox="1"/>
          <p:nvPr/>
        </p:nvSpPr>
        <p:spPr>
          <a:xfrm>
            <a:off x="9502140" y="3169920"/>
            <a:ext cx="1017269" cy="214884"/>
          </a:xfrm>
          <a:prstGeom prst="roundRect">
            <a:avLst>
              <a:gd name="adj" fmla="val 30000"/>
            </a:avLst>
          </a:prstGeom>
          <a:solidFill>
            <a:srgbClr val="FFFFFF"/>
          </a:solidFill>
          <a:ln>
            <a:noFill/>
          </a:ln>
        </p:spPr>
        <p:txBody>
          <a:bodyPr wrap="square" lIns="0" tIns="0" rIns="0" bIns="0" rtlCol="0" anchor="ctr">
            <a:noAutofit/>
          </a:bodyPr>
          <a:lstStyle/>
          <a:p>
            <a:pPr algn="ctr"/>
            <a:r>
              <a:rPr lang="en-US" sz="1000" dirty="0">
                <a:solidFill>
                  <a:srgbClr val="B30400"/>
                </a:solidFill>
                <a:latin typeface="FS PF BeauSans Pro"/>
                <a:ea typeface="FS PF BeauSans Pro"/>
                <a:cs typeface="FS PF BeauSans Pro"/>
                <a:sym typeface="FS PF BeauSans Pro"/>
              </a:rPr>
              <a:t>cough</a:t>
            </a:r>
          </a:p>
        </p:txBody>
      </p:sp>
      <p:sp>
        <p:nvSpPr>
          <p:cNvPr id="1066" name="Chip throatclearing"/>
          <p:cNvSpPr txBox="1"/>
          <p:nvPr/>
        </p:nvSpPr>
        <p:spPr>
          <a:xfrm>
            <a:off x="10565130" y="3169920"/>
            <a:ext cx="1017269" cy="214884"/>
          </a:xfrm>
          <a:prstGeom prst="roundRect">
            <a:avLst>
              <a:gd name="adj" fmla="val 30000"/>
            </a:avLst>
          </a:prstGeom>
          <a:solidFill>
            <a:srgbClr val="FFFFFF"/>
          </a:solidFill>
          <a:ln>
            <a:noFill/>
          </a:ln>
        </p:spPr>
        <p:txBody>
          <a:bodyPr wrap="square" lIns="0" tIns="0" rIns="0" bIns="0" rtlCol="0" anchor="ctr">
            <a:noAutofit/>
          </a:bodyPr>
          <a:lstStyle/>
          <a:p>
            <a:pPr algn="ctr"/>
            <a:r>
              <a:rPr lang="en-US" sz="1000" dirty="0">
                <a:solidFill>
                  <a:srgbClr val="B30400"/>
                </a:solidFill>
                <a:latin typeface="FS PF BeauSans Pro"/>
                <a:ea typeface="FS PF BeauSans Pro"/>
                <a:cs typeface="FS PF BeauSans Pro"/>
                <a:sym typeface="FS PF BeauSans Pro"/>
              </a:rPr>
              <a:t>throatclearing</a:t>
            </a:r>
          </a:p>
        </p:txBody>
      </p:sp>
      <p:sp>
        <p:nvSpPr>
          <p:cNvPr id="1067" name="Chip sneeze"/>
          <p:cNvSpPr txBox="1"/>
          <p:nvPr/>
        </p:nvSpPr>
        <p:spPr>
          <a:xfrm>
            <a:off x="7376160" y="3430524"/>
            <a:ext cx="1017269" cy="214884"/>
          </a:xfrm>
          <a:prstGeom prst="roundRect">
            <a:avLst>
              <a:gd name="adj" fmla="val 30000"/>
            </a:avLst>
          </a:prstGeom>
          <a:solidFill>
            <a:srgbClr val="FFFFFF"/>
          </a:solidFill>
          <a:ln>
            <a:noFill/>
          </a:ln>
        </p:spPr>
        <p:txBody>
          <a:bodyPr wrap="square" lIns="0" tIns="0" rIns="0" bIns="0" rtlCol="0" anchor="ctr">
            <a:noAutofit/>
          </a:bodyPr>
          <a:lstStyle/>
          <a:p>
            <a:pPr algn="ctr"/>
            <a:r>
              <a:rPr lang="en-US" sz="1000" dirty="0">
                <a:solidFill>
                  <a:srgbClr val="B30400"/>
                </a:solidFill>
                <a:latin typeface="FS PF BeauSans Pro"/>
                <a:ea typeface="FS PF BeauSans Pro"/>
                <a:cs typeface="FS PF BeauSans Pro"/>
                <a:sym typeface="FS PF BeauSans Pro"/>
              </a:rPr>
              <a:t>sneeze</a:t>
            </a:r>
          </a:p>
        </p:txBody>
      </p:sp>
      <p:sp>
        <p:nvSpPr>
          <p:cNvPr id="1068" name="Chip sniff"/>
          <p:cNvSpPr txBox="1"/>
          <p:nvPr/>
        </p:nvSpPr>
        <p:spPr>
          <a:xfrm>
            <a:off x="8439150" y="3430524"/>
            <a:ext cx="1017269" cy="214884"/>
          </a:xfrm>
          <a:prstGeom prst="roundRect">
            <a:avLst>
              <a:gd name="adj" fmla="val 30000"/>
            </a:avLst>
          </a:prstGeom>
          <a:solidFill>
            <a:srgbClr val="FFFFFF"/>
          </a:solidFill>
          <a:ln>
            <a:noFill/>
          </a:ln>
        </p:spPr>
        <p:txBody>
          <a:bodyPr wrap="square" lIns="0" tIns="0" rIns="0" bIns="0" rtlCol="0" anchor="ctr">
            <a:noAutofit/>
          </a:bodyPr>
          <a:lstStyle/>
          <a:p>
            <a:pPr algn="ctr"/>
            <a:r>
              <a:rPr lang="en-US" sz="1000" dirty="0">
                <a:solidFill>
                  <a:srgbClr val="B30400"/>
                </a:solidFill>
                <a:latin typeface="FS PF BeauSans Pro"/>
                <a:ea typeface="FS PF BeauSans Pro"/>
                <a:cs typeface="FS PF BeauSans Pro"/>
                <a:sym typeface="FS PF BeauSans Pro"/>
              </a:rPr>
              <a:t>sniff</a:t>
            </a:r>
          </a:p>
        </p:txBody>
      </p:sp>
      <p:sp>
        <p:nvSpPr>
          <p:cNvPr id="1069" name="Chip breathing"/>
          <p:cNvSpPr txBox="1"/>
          <p:nvPr/>
        </p:nvSpPr>
        <p:spPr>
          <a:xfrm>
            <a:off x="9502140" y="3430524"/>
            <a:ext cx="1017269" cy="214884"/>
          </a:xfrm>
          <a:prstGeom prst="roundRect">
            <a:avLst>
              <a:gd name="adj" fmla="val 30000"/>
            </a:avLst>
          </a:prstGeom>
          <a:solidFill>
            <a:srgbClr val="FFFFFF"/>
          </a:solidFill>
          <a:ln>
            <a:noFill/>
          </a:ln>
        </p:spPr>
        <p:txBody>
          <a:bodyPr wrap="square" lIns="0" tIns="0" rIns="0" bIns="0" rtlCol="0" anchor="ctr">
            <a:noAutofit/>
          </a:bodyPr>
          <a:lstStyle/>
          <a:p>
            <a:pPr algn="ctr"/>
            <a:r>
              <a:rPr lang="en-US" sz="1000" dirty="0">
                <a:solidFill>
                  <a:srgbClr val="B30400"/>
                </a:solidFill>
                <a:latin typeface="FS PF BeauSans Pro"/>
                <a:ea typeface="FS PF BeauSans Pro"/>
                <a:cs typeface="FS PF BeauSans Pro"/>
                <a:sym typeface="FS PF BeauSans Pro"/>
              </a:rPr>
              <a:t>breathing</a:t>
            </a:r>
          </a:p>
        </p:txBody>
      </p:sp>
      <p:sp>
        <p:nvSpPr>
          <p:cNvPr id="1070" name="Chip crying"/>
          <p:cNvSpPr txBox="1"/>
          <p:nvPr/>
        </p:nvSpPr>
        <p:spPr>
          <a:xfrm>
            <a:off x="10565130" y="3430524"/>
            <a:ext cx="1017269" cy="214884"/>
          </a:xfrm>
          <a:prstGeom prst="roundRect">
            <a:avLst>
              <a:gd name="adj" fmla="val 30000"/>
            </a:avLst>
          </a:prstGeom>
          <a:solidFill>
            <a:srgbClr val="FFFFFF"/>
          </a:solidFill>
          <a:ln>
            <a:noFill/>
          </a:ln>
        </p:spPr>
        <p:txBody>
          <a:bodyPr wrap="square" lIns="0" tIns="0" rIns="0" bIns="0" rtlCol="0" anchor="ctr">
            <a:noAutofit/>
          </a:bodyPr>
          <a:lstStyle/>
          <a:p>
            <a:pPr algn="ctr"/>
            <a:r>
              <a:rPr lang="en-US" sz="1000" dirty="0">
                <a:solidFill>
                  <a:srgbClr val="B30400"/>
                </a:solidFill>
                <a:latin typeface="FS PF BeauSans Pro"/>
                <a:ea typeface="FS PF BeauSans Pro"/>
                <a:cs typeface="FS PF BeauSans Pro"/>
                <a:sym typeface="FS PF BeauSans Pro"/>
              </a:rPr>
              <a:t>crying</a:t>
            </a:r>
          </a:p>
        </p:txBody>
      </p:sp>
      <p:sp>
        <p:nvSpPr>
          <p:cNvPr id="1071" name="Chip screaming"/>
          <p:cNvSpPr txBox="1"/>
          <p:nvPr/>
        </p:nvSpPr>
        <p:spPr>
          <a:xfrm>
            <a:off x="7376160" y="3691128"/>
            <a:ext cx="1017269" cy="214884"/>
          </a:xfrm>
          <a:prstGeom prst="roundRect">
            <a:avLst>
              <a:gd name="adj" fmla="val 30000"/>
            </a:avLst>
          </a:prstGeom>
          <a:solidFill>
            <a:srgbClr val="FFFFFF"/>
          </a:solidFill>
          <a:ln>
            <a:noFill/>
          </a:ln>
        </p:spPr>
        <p:txBody>
          <a:bodyPr wrap="square" lIns="0" tIns="0" rIns="0" bIns="0" rtlCol="0" anchor="ctr">
            <a:noAutofit/>
          </a:bodyPr>
          <a:lstStyle/>
          <a:p>
            <a:pPr algn="ctr"/>
            <a:r>
              <a:rPr lang="en-US" sz="1000" dirty="0">
                <a:solidFill>
                  <a:srgbClr val="B30400"/>
                </a:solidFill>
                <a:latin typeface="FS PF BeauSans Pro"/>
                <a:ea typeface="FS PF BeauSans Pro"/>
                <a:cs typeface="FS PF BeauSans Pro"/>
                <a:sym typeface="FS PF BeauSans Pro"/>
              </a:rPr>
              <a:t>screaming</a:t>
            </a:r>
          </a:p>
        </p:txBody>
      </p:sp>
      <p:sp>
        <p:nvSpPr>
          <p:cNvPr id="1072" name="Chip gasp"/>
          <p:cNvSpPr txBox="1"/>
          <p:nvPr/>
        </p:nvSpPr>
        <p:spPr>
          <a:xfrm>
            <a:off x="8439150" y="3691128"/>
            <a:ext cx="1017269" cy="214884"/>
          </a:xfrm>
          <a:prstGeom prst="roundRect">
            <a:avLst>
              <a:gd name="adj" fmla="val 30000"/>
            </a:avLst>
          </a:prstGeom>
          <a:solidFill>
            <a:srgbClr val="FFFFFF"/>
          </a:solidFill>
          <a:ln>
            <a:noFill/>
          </a:ln>
        </p:spPr>
        <p:txBody>
          <a:bodyPr wrap="square" lIns="0" tIns="0" rIns="0" bIns="0" rtlCol="0" anchor="ctr">
            <a:noAutofit/>
          </a:bodyPr>
          <a:lstStyle/>
          <a:p>
            <a:pPr algn="ctr"/>
            <a:r>
              <a:rPr lang="en-US" sz="1000" dirty="0">
                <a:solidFill>
                  <a:srgbClr val="B30400"/>
                </a:solidFill>
                <a:latin typeface="FS PF BeauSans Pro"/>
                <a:ea typeface="FS PF BeauSans Pro"/>
                <a:cs typeface="FS PF BeauSans Pro"/>
                <a:sym typeface="FS PF BeauSans Pro"/>
              </a:rPr>
              <a:t>gasp</a:t>
            </a:r>
          </a:p>
        </p:txBody>
      </p:sp>
      <p:sp>
        <p:nvSpPr>
          <p:cNvPr id="1073" name="Chip burp"/>
          <p:cNvSpPr txBox="1"/>
          <p:nvPr/>
        </p:nvSpPr>
        <p:spPr>
          <a:xfrm>
            <a:off x="9502140" y="3691128"/>
            <a:ext cx="1017269" cy="214884"/>
          </a:xfrm>
          <a:prstGeom prst="roundRect">
            <a:avLst>
              <a:gd name="adj" fmla="val 30000"/>
            </a:avLst>
          </a:prstGeom>
          <a:solidFill>
            <a:srgbClr val="FFFFFF"/>
          </a:solidFill>
          <a:ln>
            <a:noFill/>
          </a:ln>
        </p:spPr>
        <p:txBody>
          <a:bodyPr wrap="square" lIns="0" tIns="0" rIns="0" bIns="0" rtlCol="0" anchor="ctr">
            <a:noAutofit/>
          </a:bodyPr>
          <a:lstStyle/>
          <a:p>
            <a:pPr algn="ctr"/>
            <a:r>
              <a:rPr lang="en-US" sz="1000" dirty="0">
                <a:solidFill>
                  <a:srgbClr val="B30400"/>
                </a:solidFill>
                <a:latin typeface="FS PF BeauSans Pro"/>
                <a:ea typeface="FS PF BeauSans Pro"/>
                <a:cs typeface="FS PF BeauSans Pro"/>
                <a:sym typeface="FS PF BeauSans Pro"/>
              </a:rPr>
              <a:t>burp</a:t>
            </a:r>
          </a:p>
        </p:txBody>
      </p:sp>
      <p:sp>
        <p:nvSpPr>
          <p:cNvPr id="1074" name="Chip yawn"/>
          <p:cNvSpPr txBox="1"/>
          <p:nvPr/>
        </p:nvSpPr>
        <p:spPr>
          <a:xfrm>
            <a:off x="10565130" y="3691128"/>
            <a:ext cx="1017269" cy="214884"/>
          </a:xfrm>
          <a:prstGeom prst="roundRect">
            <a:avLst>
              <a:gd name="adj" fmla="val 30000"/>
            </a:avLst>
          </a:prstGeom>
          <a:solidFill>
            <a:srgbClr val="FFFFFF"/>
          </a:solidFill>
          <a:ln>
            <a:noFill/>
          </a:ln>
        </p:spPr>
        <p:txBody>
          <a:bodyPr wrap="square" lIns="0" tIns="0" rIns="0" bIns="0" rtlCol="0" anchor="ctr">
            <a:noAutofit/>
          </a:bodyPr>
          <a:lstStyle/>
          <a:p>
            <a:pPr algn="ctr"/>
            <a:r>
              <a:rPr lang="en-US" sz="1000" dirty="0">
                <a:solidFill>
                  <a:srgbClr val="B30400"/>
                </a:solidFill>
                <a:latin typeface="FS PF BeauSans Pro"/>
                <a:ea typeface="FS PF BeauSans Pro"/>
                <a:cs typeface="FS PF BeauSans Pro"/>
                <a:sym typeface="FS PF BeauSans Pro"/>
              </a:rPr>
              <a:t>yawn</a:t>
            </a:r>
          </a:p>
        </p:txBody>
      </p:sp>
      <p:sp>
        <p:nvSpPr>
          <p:cNvPr id="1075" name="Chip snoring"/>
          <p:cNvSpPr txBox="1"/>
          <p:nvPr/>
        </p:nvSpPr>
        <p:spPr>
          <a:xfrm>
            <a:off x="7376160" y="3951732"/>
            <a:ext cx="1017269" cy="214884"/>
          </a:xfrm>
          <a:prstGeom prst="roundRect">
            <a:avLst>
              <a:gd name="adj" fmla="val 30000"/>
            </a:avLst>
          </a:prstGeom>
          <a:solidFill>
            <a:srgbClr val="FFFFFF"/>
          </a:solidFill>
          <a:ln>
            <a:noFill/>
          </a:ln>
        </p:spPr>
        <p:txBody>
          <a:bodyPr wrap="square" lIns="0" tIns="0" rIns="0" bIns="0" rtlCol="0" anchor="ctr">
            <a:noAutofit/>
          </a:bodyPr>
          <a:lstStyle/>
          <a:p>
            <a:pPr algn="ctr"/>
            <a:r>
              <a:rPr lang="en-US" sz="1000" dirty="0">
                <a:solidFill>
                  <a:srgbClr val="B30400"/>
                </a:solidFill>
                <a:latin typeface="FS PF BeauSans Pro"/>
                <a:ea typeface="FS PF BeauSans Pro"/>
                <a:cs typeface="FS PF BeauSans Pro"/>
                <a:sym typeface="FS PF BeauSans Pro"/>
              </a:rPr>
              <a:t>snoring</a:t>
            </a:r>
          </a:p>
        </p:txBody>
      </p:sp>
      <p:sp>
        <p:nvSpPr>
          <p:cNvPr id="1076" name="Chip grunt"/>
          <p:cNvSpPr txBox="1"/>
          <p:nvPr/>
        </p:nvSpPr>
        <p:spPr>
          <a:xfrm>
            <a:off x="8439150" y="3951732"/>
            <a:ext cx="1017269" cy="214884"/>
          </a:xfrm>
          <a:prstGeom prst="roundRect">
            <a:avLst>
              <a:gd name="adj" fmla="val 30000"/>
            </a:avLst>
          </a:prstGeom>
          <a:solidFill>
            <a:srgbClr val="FFFFFF"/>
          </a:solidFill>
          <a:ln>
            <a:noFill/>
          </a:ln>
        </p:spPr>
        <p:txBody>
          <a:bodyPr wrap="square" lIns="0" tIns="0" rIns="0" bIns="0" rtlCol="0" anchor="ctr">
            <a:noAutofit/>
          </a:bodyPr>
          <a:lstStyle/>
          <a:p>
            <a:pPr algn="ctr"/>
            <a:r>
              <a:rPr lang="en-US" sz="1000" dirty="0">
                <a:solidFill>
                  <a:srgbClr val="B30400"/>
                </a:solidFill>
                <a:latin typeface="FS PF BeauSans Pro"/>
                <a:ea typeface="FS PF BeauSans Pro"/>
                <a:cs typeface="FS PF BeauSans Pro"/>
                <a:sym typeface="FS PF BeauSans Pro"/>
              </a:rPr>
              <a:t>grunt</a:t>
            </a:r>
          </a:p>
        </p:txBody>
      </p:sp>
      <p:sp>
        <p:nvSpPr>
          <p:cNvPr id="1077" name="Chip yell"/>
          <p:cNvSpPr txBox="1"/>
          <p:nvPr/>
        </p:nvSpPr>
        <p:spPr>
          <a:xfrm>
            <a:off x="9502140" y="3951732"/>
            <a:ext cx="1017269" cy="214884"/>
          </a:xfrm>
          <a:prstGeom prst="roundRect">
            <a:avLst>
              <a:gd name="adj" fmla="val 30000"/>
            </a:avLst>
          </a:prstGeom>
          <a:solidFill>
            <a:srgbClr val="FFFFFF"/>
          </a:solidFill>
          <a:ln>
            <a:noFill/>
          </a:ln>
        </p:spPr>
        <p:txBody>
          <a:bodyPr wrap="square" lIns="0" tIns="0" rIns="0" bIns="0" rtlCol="0" anchor="ctr">
            <a:noAutofit/>
          </a:bodyPr>
          <a:lstStyle/>
          <a:p>
            <a:pPr algn="ctr"/>
            <a:r>
              <a:rPr lang="en-US" sz="1000" dirty="0">
                <a:solidFill>
                  <a:srgbClr val="B30400"/>
                </a:solidFill>
                <a:latin typeface="FS PF BeauSans Pro"/>
                <a:ea typeface="FS PF BeauSans Pro"/>
                <a:cs typeface="FS PF BeauSans Pro"/>
                <a:sym typeface="FS PF BeauSans Pro"/>
              </a:rPr>
              <a:t>yell</a:t>
            </a:r>
          </a:p>
        </p:txBody>
      </p:sp>
      <p:sp>
        <p:nvSpPr>
          <p:cNvPr id="1078" name="Chip moan"/>
          <p:cNvSpPr txBox="1"/>
          <p:nvPr/>
        </p:nvSpPr>
        <p:spPr>
          <a:xfrm>
            <a:off x="10565130" y="3951732"/>
            <a:ext cx="1017269" cy="214884"/>
          </a:xfrm>
          <a:prstGeom prst="roundRect">
            <a:avLst>
              <a:gd name="adj" fmla="val 30000"/>
            </a:avLst>
          </a:prstGeom>
          <a:solidFill>
            <a:srgbClr val="FFFFFF"/>
          </a:solidFill>
          <a:ln>
            <a:noFill/>
          </a:ln>
        </p:spPr>
        <p:txBody>
          <a:bodyPr wrap="square" lIns="0" tIns="0" rIns="0" bIns="0" rtlCol="0" anchor="ctr">
            <a:noAutofit/>
          </a:bodyPr>
          <a:lstStyle/>
          <a:p>
            <a:pPr algn="ctr"/>
            <a:r>
              <a:rPr lang="en-US" sz="1000" dirty="0">
                <a:solidFill>
                  <a:srgbClr val="B30400"/>
                </a:solidFill>
                <a:latin typeface="FS PF BeauSans Pro"/>
                <a:ea typeface="FS PF BeauSans Pro"/>
                <a:cs typeface="FS PF BeauSans Pro"/>
                <a:sym typeface="FS PF BeauSans Pro"/>
              </a:rPr>
              <a:t>moan</a:t>
            </a:r>
          </a:p>
        </p:txBody>
      </p:sp>
      <p:sp>
        <p:nvSpPr>
          <p:cNvPr id="1079" name="Chip pant"/>
          <p:cNvSpPr txBox="1"/>
          <p:nvPr/>
        </p:nvSpPr>
        <p:spPr>
          <a:xfrm>
            <a:off x="7376160" y="4212336"/>
            <a:ext cx="1017269" cy="214884"/>
          </a:xfrm>
          <a:prstGeom prst="roundRect">
            <a:avLst>
              <a:gd name="adj" fmla="val 30000"/>
            </a:avLst>
          </a:prstGeom>
          <a:solidFill>
            <a:srgbClr val="FFFFFF"/>
          </a:solidFill>
          <a:ln>
            <a:noFill/>
          </a:ln>
        </p:spPr>
        <p:txBody>
          <a:bodyPr wrap="square" lIns="0" tIns="0" rIns="0" bIns="0" rtlCol="0" anchor="ctr">
            <a:noAutofit/>
          </a:bodyPr>
          <a:lstStyle/>
          <a:p>
            <a:pPr algn="ctr"/>
            <a:r>
              <a:rPr lang="en-US" sz="1000" dirty="0">
                <a:solidFill>
                  <a:srgbClr val="B30400"/>
                </a:solidFill>
                <a:latin typeface="FS PF BeauSans Pro"/>
                <a:ea typeface="FS PF BeauSans Pro"/>
                <a:cs typeface="FS PF BeauSans Pro"/>
                <a:sym typeface="FS PF BeauSans Pro"/>
              </a:rPr>
              <a:t>pant</a:t>
            </a:r>
          </a:p>
        </p:txBody>
      </p:sp>
    </p:spTree>
    <p:extLst>
      <p:ext uri="{BB962C8B-B14F-4D97-AF65-F5344CB8AC3E}">
        <p14:creationId xmlns:p14="http://schemas.microsoft.com/office/powerpoint/2010/main" val="584723571"/>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Shape 145"/>
        <p:cNvGrpSpPr/>
        <p:nvPr/>
      </p:nvGrpSpPr>
      <p:grpSpPr>
        <a:xfrm>
          <a:off x="0" y="0"/>
          <a:ext cx="0" cy="0"/>
          <a:chOff x="0" y="0"/>
          <a:chExt cx="0" cy="0"/>
        </a:xfrm>
      </p:grpSpPr>
      <p:sp>
        <p:nvSpPr>
          <p:cNvPr id="146" name="Google Shape;146;p10"/>
          <p:cNvSpPr txBox="1">
            <a:spLocks noGrp="1"/>
          </p:cNvSpPr>
          <p:nvPr>
            <p:ph type="ctrTitle"/>
          </p:nvPr>
        </p:nvSpPr>
        <p:spPr>
          <a:xfrm>
            <a:off x="822960" y="466344"/>
            <a:ext cx="10543032" cy="731520"/>
          </a:xfrm>
          <a:prstGeom prst="rect">
            <a:avLst/>
          </a:prstGeom>
          <a:noFill/>
          <a:ln>
            <a:noFill/>
          </a:ln>
        </p:spPr>
        <p:txBody>
          <a:bodyPr spcFirstLastPara="1" wrap="square" lIns="91425" tIns="91425" rIns="91425" bIns="91425" anchor="t" anchorCtr="0">
            <a:noAutofit/>
          </a:bodyPr>
          <a:lstStyle/>
          <a:p>
            <a:pPr marL="0" lvl="0" indent="0" algn="ctr" rtl="0">
              <a:buNone/>
            </a:pPr>
            <a:r>
              <a:rPr lang="en-US" dirty="0"/>
              <a:t>Pause detection</a:t>
            </a:r>
          </a:p>
        </p:txBody>
      </p:sp>
      <p:sp>
        <p:nvSpPr>
          <p:cNvPr id="148" name="Google Shape;148;p10"/>
          <p:cNvSpPr txBox="1">
            <a:spLocks noGrp="1"/>
          </p:cNvSpPr>
          <p:nvPr>
            <p:ph type="body" idx="1"/>
          </p:nvPr>
        </p:nvSpPr>
        <p:spPr>
          <a:xfrm>
            <a:off x="850392" y="1371600"/>
            <a:ext cx="10570464" cy="883920"/>
          </a:xfrm>
          <a:prstGeom prst="rect">
            <a:avLst/>
          </a:prstGeom>
          <a:noFill/>
          <a:ln>
            <a:noFill/>
          </a:ln>
        </p:spPr>
        <p:txBody>
          <a:bodyPr spcFirstLastPara="1" wrap="square" lIns="91425" tIns="91425" rIns="91425" bIns="91425" anchor="t" anchorCtr="0">
            <a:noAutofit/>
          </a:bodyPr>
          <a:lstStyle/>
          <a:p>
            <a:pPr marL="152400" lvl="0" indent="0" algn="l" rtl="0">
              <a:lnSpc>
                <a:spcPct val="115000"/>
              </a:lnSpc>
              <a:spcBef>
                <a:spcPts val="0"/>
              </a:spcBef>
              <a:spcAft>
                <a:spcPts val="0"/>
              </a:spcAft>
              <a:buNone/>
            </a:pPr>
            <a:r>
              <a:rPr lang="en-US" sz="1800" dirty="0">
                <a:latin typeface="FS PF BeauSans Pro"/>
                <a:ea typeface="FS PF BeauSans Pro"/>
                <a:cs typeface="FS PF BeauSans Pro"/>
              </a:rPr>
              <a:t>A voice activity detector and a forced aligner find the pauses between words, and each becomes a numbered slot in the transcript.</a:t>
            </a:r>
          </a:p>
        </p:txBody>
      </p:sp>
      <p:sp>
        <p:nvSpPr>
          <p:cNvPr id="2" name="Slide Number Placeholder 1">
            <a:extLst>
              <a:ext uri="{FF2B5EF4-FFF2-40B4-BE49-F238E27FC236}">
                <a16:creationId xmlns:a16="http://schemas.microsoft.com/office/drawing/2014/main" id="{249CE59B-DD91-4B3A-8ACA-10EA59D7C3EE}"/>
              </a:ext>
            </a:extLst>
          </p:cNvPr>
          <p:cNvSpPr>
            <a:spLocks noGrp="1"/>
          </p:cNvSpPr>
          <p:nvPr>
            <p:ph type="sldNum" idx="12"/>
          </p:nvPr>
        </p:nvSpPr>
        <p:spPr/>
        <p:txBody>
          <a:bodyPr/>
          <a:lstStyle/>
          <a:p>
            <a:pPr marL="0" lvl="0" indent="0" algn="ctr" rtl="0">
              <a:spcBef>
                <a:spcPts val="0"/>
              </a:spcBef>
              <a:spcAft>
                <a:spcPts val="0"/>
              </a:spcAft>
              <a:buNone/>
            </a:pPr>
            <a:fld id="{00000000-1234-1234-1234-123412341234}" type="slidenum">
              <a:rPr lang="en-US" smtClean="0"/>
              <a:t>9</a:t>
            </a:fld>
            <a:endParaRPr lang="en-US" dirty="0"/>
          </a:p>
        </p:txBody>
      </p:sp>
      <p:sp>
        <p:nvSpPr>
          <p:cNvPr id="1010" name="Step 0"/>
          <p:cNvSpPr txBox="1"/>
          <p:nvPr/>
        </p:nvSpPr>
        <p:spPr>
          <a:xfrm>
            <a:off x="1021080" y="5486400"/>
            <a:ext cx="1371600" cy="304800"/>
          </a:xfrm>
          <a:prstGeom prst="roundRect">
            <a:avLst>
              <a:gd name="adj" fmla="val 50000"/>
            </a:avLst>
          </a:prstGeom>
          <a:solidFill>
            <a:srgbClr val="FBE3E3"/>
          </a:solidFill>
          <a:ln>
            <a:noFill/>
          </a:ln>
        </p:spPr>
        <p:txBody>
          <a:bodyPr wrap="square" lIns="30480" tIns="0" rIns="30480" bIns="0" rtlCol="0" anchor="ctr">
            <a:noAutofit/>
          </a:bodyPr>
          <a:lstStyle/>
          <a:p>
            <a:pPr algn="ctr"/>
            <a:r>
              <a:rPr lang="en-US" sz="1067" dirty="0">
                <a:solidFill>
                  <a:srgbClr val="B30400"/>
                </a:solidFill>
                <a:latin typeface="FS PF BeauSans Pro"/>
                <a:ea typeface="FS PF BeauSans Pro"/>
                <a:cs typeface="FS PF BeauSans Pro"/>
                <a:sym typeface="FS PF BeauSans Pro"/>
              </a:rPr>
              <a:t>Clip pool</a:t>
            </a:r>
          </a:p>
        </p:txBody>
      </p:sp>
      <p:sp>
        <p:nvSpPr>
          <p:cNvPr id="1011" name="Step 1"/>
          <p:cNvSpPr txBox="1"/>
          <p:nvPr/>
        </p:nvSpPr>
        <p:spPr>
          <a:xfrm>
            <a:off x="2484120" y="5486400"/>
            <a:ext cx="1371600" cy="304800"/>
          </a:xfrm>
          <a:prstGeom prst="roundRect">
            <a:avLst>
              <a:gd name="adj" fmla="val 50000"/>
            </a:avLst>
          </a:prstGeom>
          <a:solidFill>
            <a:srgbClr val="E80500"/>
          </a:solidFill>
          <a:ln>
            <a:noFill/>
          </a:ln>
        </p:spPr>
        <p:txBody>
          <a:bodyPr wrap="square" lIns="30480" tIns="0" rIns="30480" bIns="0" rtlCol="0" anchor="ctr">
            <a:noAutofit/>
          </a:bodyPr>
          <a:lstStyle/>
          <a:p>
            <a:pPr algn="ctr"/>
            <a:r>
              <a:rPr lang="en-US" sz="1067" b="1" dirty="0">
                <a:solidFill>
                  <a:srgbClr val="FFFFFF"/>
                </a:solidFill>
                <a:latin typeface="FS PF BeauSans Pro"/>
                <a:ea typeface="FS PF BeauSans Pro"/>
                <a:cs typeface="FS PF BeauSans Pro"/>
                <a:sym typeface="FS PF BeauSans Pro"/>
              </a:rPr>
              <a:t>1  Pause detection</a:t>
            </a:r>
          </a:p>
        </p:txBody>
      </p:sp>
      <p:sp>
        <p:nvSpPr>
          <p:cNvPr id="1012" name="Step 2"/>
          <p:cNvSpPr txBox="1"/>
          <p:nvPr/>
        </p:nvSpPr>
        <p:spPr>
          <a:xfrm>
            <a:off x="3947160" y="5486400"/>
            <a:ext cx="1371600" cy="304800"/>
          </a:xfrm>
          <a:prstGeom prst="roundRect">
            <a:avLst>
              <a:gd name="adj" fmla="val 50000"/>
            </a:avLst>
          </a:prstGeom>
          <a:solidFill>
            <a:srgbClr val="F2F2F2"/>
          </a:solidFill>
          <a:ln>
            <a:noFill/>
          </a:ln>
        </p:spPr>
        <p:txBody>
          <a:bodyPr wrap="square" lIns="30480" tIns="0" rIns="30480" bIns="0" rtlCol="0" anchor="ctr">
            <a:noAutofit/>
          </a:bodyPr>
          <a:lstStyle/>
          <a:p>
            <a:pPr algn="ctr"/>
            <a:r>
              <a:rPr lang="en-US" sz="1067" dirty="0">
                <a:solidFill>
                  <a:srgbClr val="7F7F7F"/>
                </a:solidFill>
                <a:latin typeface="FS PF BeauSans Pro"/>
                <a:ea typeface="FS PF BeauSans Pro"/>
                <a:cs typeface="FS PF BeauSans Pro"/>
                <a:sym typeface="FS PF BeauSans Pro"/>
              </a:rPr>
              <a:t>2  Tag selection</a:t>
            </a:r>
          </a:p>
        </p:txBody>
      </p:sp>
      <p:sp>
        <p:nvSpPr>
          <p:cNvPr id="1013" name="Step 3"/>
          <p:cNvSpPr txBox="1"/>
          <p:nvPr/>
        </p:nvSpPr>
        <p:spPr>
          <a:xfrm>
            <a:off x="5410200" y="5486400"/>
            <a:ext cx="1371600" cy="304800"/>
          </a:xfrm>
          <a:prstGeom prst="roundRect">
            <a:avLst>
              <a:gd name="adj" fmla="val 50000"/>
            </a:avLst>
          </a:prstGeom>
          <a:solidFill>
            <a:srgbClr val="F2F2F2"/>
          </a:solidFill>
          <a:ln>
            <a:noFill/>
          </a:ln>
        </p:spPr>
        <p:txBody>
          <a:bodyPr wrap="square" lIns="30480" tIns="0" rIns="30480" bIns="0" rtlCol="0" anchor="ctr">
            <a:noAutofit/>
          </a:bodyPr>
          <a:lstStyle/>
          <a:p>
            <a:pPr algn="ctr"/>
            <a:r>
              <a:rPr lang="en-US" sz="1067" dirty="0">
                <a:solidFill>
                  <a:srgbClr val="7F7F7F"/>
                </a:solidFill>
                <a:latin typeface="FS PF BeauSans Pro"/>
                <a:ea typeface="FS PF BeauSans Pro"/>
                <a:cs typeface="FS PF BeauSans Pro"/>
                <a:sym typeface="FS PF BeauSans Pro"/>
              </a:rPr>
              <a:t>3  Clip selection</a:t>
            </a:r>
          </a:p>
        </p:txBody>
      </p:sp>
      <p:sp>
        <p:nvSpPr>
          <p:cNvPr id="1014" name="Step 4"/>
          <p:cNvSpPr txBox="1"/>
          <p:nvPr/>
        </p:nvSpPr>
        <p:spPr>
          <a:xfrm>
            <a:off x="6873240" y="5486400"/>
            <a:ext cx="1371600" cy="304800"/>
          </a:xfrm>
          <a:prstGeom prst="roundRect">
            <a:avLst>
              <a:gd name="adj" fmla="val 50000"/>
            </a:avLst>
          </a:prstGeom>
          <a:solidFill>
            <a:srgbClr val="F2F2F2"/>
          </a:solidFill>
          <a:ln>
            <a:noFill/>
          </a:ln>
        </p:spPr>
        <p:txBody>
          <a:bodyPr wrap="square" lIns="30480" tIns="0" rIns="30480" bIns="0" rtlCol="0" anchor="ctr">
            <a:noAutofit/>
          </a:bodyPr>
          <a:lstStyle/>
          <a:p>
            <a:pPr algn="ctr"/>
            <a:r>
              <a:rPr lang="en-US" sz="1067" dirty="0">
                <a:solidFill>
                  <a:srgbClr val="7F7F7F"/>
                </a:solidFill>
                <a:latin typeface="FS PF BeauSans Pro"/>
                <a:ea typeface="FS PF BeauSans Pro"/>
                <a:cs typeface="FS PF BeauSans Pro"/>
                <a:sym typeface="FS PF BeauSans Pro"/>
              </a:rPr>
              <a:t>4  Voice conversion</a:t>
            </a:r>
          </a:p>
        </p:txBody>
      </p:sp>
      <p:sp>
        <p:nvSpPr>
          <p:cNvPr id="1015" name="Step 5"/>
          <p:cNvSpPr txBox="1"/>
          <p:nvPr/>
        </p:nvSpPr>
        <p:spPr>
          <a:xfrm>
            <a:off x="8336280" y="5486400"/>
            <a:ext cx="1371600" cy="304800"/>
          </a:xfrm>
          <a:prstGeom prst="roundRect">
            <a:avLst>
              <a:gd name="adj" fmla="val 50000"/>
            </a:avLst>
          </a:prstGeom>
          <a:solidFill>
            <a:srgbClr val="F2F2F2"/>
          </a:solidFill>
          <a:ln>
            <a:noFill/>
          </a:ln>
        </p:spPr>
        <p:txBody>
          <a:bodyPr wrap="square" lIns="30480" tIns="0" rIns="30480" bIns="0" rtlCol="0" anchor="ctr">
            <a:noAutofit/>
          </a:bodyPr>
          <a:lstStyle/>
          <a:p>
            <a:pPr algn="ctr"/>
            <a:r>
              <a:rPr lang="en-US" sz="1067" dirty="0">
                <a:solidFill>
                  <a:srgbClr val="7F7F7F"/>
                </a:solidFill>
                <a:latin typeface="FS PF BeauSans Pro"/>
                <a:ea typeface="FS PF BeauSans Pro"/>
                <a:cs typeface="FS PF BeauSans Pro"/>
                <a:sym typeface="FS PF BeauSans Pro"/>
              </a:rPr>
              <a:t>5  Splicing</a:t>
            </a:r>
          </a:p>
        </p:txBody>
      </p:sp>
      <p:sp>
        <p:nvSpPr>
          <p:cNvPr id="1016" name="Step 6"/>
          <p:cNvSpPr txBox="1"/>
          <p:nvPr/>
        </p:nvSpPr>
        <p:spPr>
          <a:xfrm>
            <a:off x="9799320" y="5486400"/>
            <a:ext cx="1371600" cy="304800"/>
          </a:xfrm>
          <a:prstGeom prst="roundRect">
            <a:avLst>
              <a:gd name="adj" fmla="val 50000"/>
            </a:avLst>
          </a:prstGeom>
          <a:solidFill>
            <a:srgbClr val="F2F2F2"/>
          </a:solidFill>
          <a:ln>
            <a:noFill/>
          </a:ln>
        </p:spPr>
        <p:txBody>
          <a:bodyPr wrap="square" lIns="30480" tIns="0" rIns="30480" bIns="0" rtlCol="0" anchor="ctr">
            <a:noAutofit/>
          </a:bodyPr>
          <a:lstStyle/>
          <a:p>
            <a:pPr algn="ctr"/>
            <a:r>
              <a:rPr lang="en-US" sz="1067" dirty="0">
                <a:solidFill>
                  <a:srgbClr val="7F7F7F"/>
                </a:solidFill>
                <a:latin typeface="FS PF BeauSans Pro"/>
                <a:ea typeface="FS PF BeauSans Pro"/>
                <a:cs typeface="FS PF BeauSans Pro"/>
                <a:sym typeface="FS PF BeauSans Pro"/>
              </a:rPr>
              <a:t>6  Filter</a:t>
            </a:r>
          </a:p>
        </p:txBody>
      </p:sp>
      <p:sp>
        <p:nvSpPr>
          <p:cNvPr id="1017" name="Input card"/>
          <p:cNvSpPr/>
          <p:nvPr/>
        </p:nvSpPr>
        <p:spPr>
          <a:xfrm>
            <a:off x="609600" y="2712720"/>
            <a:ext cx="3291840" cy="2590800"/>
          </a:xfrm>
          <a:prstGeom prst="roundRect">
            <a:avLst>
              <a:gd name="adj" fmla="val 6000"/>
            </a:avLst>
          </a:prstGeom>
          <a:solidFill>
            <a:srgbClr val="F4F4F4"/>
          </a:solidFill>
          <a:ln>
            <a:noFill/>
          </a:ln>
        </p:spPr>
        <p:txBody>
          <a:bodyPr wrap="square" lIns="0" tIns="0" rIns="0" bIns="0" rtlCol="0" anchor="t">
            <a:noAutofit/>
          </a:bodyPr>
          <a:lstStyle/>
          <a:p>
            <a:endParaRPr lang="en-US" dirty="0"/>
          </a:p>
        </p:txBody>
      </p:sp>
      <p:sp>
        <p:nvSpPr>
          <p:cNvPr id="1018" name="Input label"/>
          <p:cNvSpPr txBox="1"/>
          <p:nvPr/>
        </p:nvSpPr>
        <p:spPr>
          <a:xfrm>
            <a:off x="792480" y="2846832"/>
            <a:ext cx="2926080" cy="274320"/>
          </a:xfrm>
          <a:prstGeom prst="rect">
            <a:avLst/>
          </a:prstGeom>
          <a:noFill/>
          <a:ln>
            <a:noFill/>
          </a:ln>
        </p:spPr>
        <p:txBody>
          <a:bodyPr wrap="square" lIns="0" tIns="0" rIns="0" bIns="0" rtlCol="0" anchor="t">
            <a:noAutofit/>
          </a:bodyPr>
          <a:lstStyle/>
          <a:p>
            <a:pPr algn="l"/>
            <a:r>
              <a:rPr lang="en-US" sz="1067" b="1" dirty="0">
                <a:solidFill>
                  <a:srgbClr val="7F7F7F"/>
                </a:solidFill>
                <a:latin typeface="FS PF BeauSans Pro"/>
                <a:ea typeface="FS PF BeauSans Pro"/>
                <a:cs typeface="FS PF BeauSans Pro"/>
                <a:sym typeface="FS PF BeauSans Pro"/>
              </a:rPr>
              <a:t>INPUT</a:t>
            </a:r>
          </a:p>
        </p:txBody>
      </p:sp>
      <p:sp>
        <p:nvSpPr>
          <p:cNvPr id="1020" name="Input caption"/>
          <p:cNvSpPr txBox="1"/>
          <p:nvPr/>
        </p:nvSpPr>
        <p:spPr>
          <a:xfrm>
            <a:off x="792480" y="4529328"/>
            <a:ext cx="2926080" cy="701040"/>
          </a:xfrm>
          <a:prstGeom prst="rect">
            <a:avLst/>
          </a:prstGeom>
          <a:noFill/>
          <a:ln>
            <a:noFill/>
          </a:ln>
        </p:spPr>
        <p:txBody>
          <a:bodyPr wrap="square" lIns="0" tIns="0" rIns="0" bIns="0" rtlCol="0" anchor="t">
            <a:noAutofit/>
          </a:bodyPr>
          <a:lstStyle/>
          <a:p>
            <a:pPr algn="ctr"/>
            <a:r>
              <a:rPr lang="en-US" sz="1333" b="1" dirty="0">
                <a:solidFill>
                  <a:srgbClr val="404155"/>
                </a:solidFill>
                <a:latin typeface="FS PF BeauSans Pro"/>
                <a:ea typeface="FS PF BeauSans Pro"/>
                <a:cs typeface="FS PF BeauSans Pro"/>
                <a:sym typeface="FS PF BeauSans Pro"/>
              </a:rPr>
              <a:t>Vietnamese utterance</a:t>
            </a:r>
            <a:r>
              <a:rPr lang="en-US" sz="1333" dirty="0">
                <a:solidFill>
                  <a:srgbClr val="000000"/>
                </a:solidFill>
                <a:latin typeface="FS PF BeauSans Pro"/>
                <a:ea typeface="FS PF BeauSans Pro"/>
                <a:cs typeface="FS PF BeauSans Pro"/>
                <a:sym typeface="FS PF BeauSans Pro"/>
              </a:rPr>
              <a:t>: </a:t>
            </a:r>
          </a:p>
          <a:p>
            <a:pPr algn="ctr"/>
            <a:r>
              <a:rPr lang="en-US" sz="1333" dirty="0">
                <a:solidFill>
                  <a:srgbClr val="000000"/>
                </a:solidFill>
                <a:latin typeface="FS PF BeauSans Pro"/>
                <a:ea typeface="FS PF BeauSans Pro"/>
                <a:cs typeface="FS PF BeauSans Pro"/>
                <a:sym typeface="FS PF BeauSans Pro"/>
              </a:rPr>
              <a:t>audio + transcript</a:t>
            </a:r>
          </a:p>
        </p:txBody>
      </p:sp>
      <p:sp>
        <p:nvSpPr>
          <p:cNvPr id="1021" name="Process card"/>
          <p:cNvSpPr/>
          <p:nvPr/>
        </p:nvSpPr>
        <p:spPr>
          <a:xfrm>
            <a:off x="4450080" y="2712720"/>
            <a:ext cx="3291840" cy="2590800"/>
          </a:xfrm>
          <a:prstGeom prst="roundRect">
            <a:avLst>
              <a:gd name="adj" fmla="val 6000"/>
            </a:avLst>
          </a:prstGeom>
          <a:solidFill>
            <a:srgbClr val="FDECEC"/>
          </a:solidFill>
          <a:ln>
            <a:noFill/>
          </a:ln>
        </p:spPr>
        <p:txBody>
          <a:bodyPr wrap="square" lIns="0" tIns="0" rIns="0" bIns="0" rtlCol="0" anchor="t">
            <a:noAutofit/>
          </a:bodyPr>
          <a:lstStyle/>
          <a:p>
            <a:endParaRPr lang="en-US" dirty="0"/>
          </a:p>
        </p:txBody>
      </p:sp>
      <p:sp>
        <p:nvSpPr>
          <p:cNvPr id="1022" name="Process label"/>
          <p:cNvSpPr txBox="1"/>
          <p:nvPr/>
        </p:nvSpPr>
        <p:spPr>
          <a:xfrm>
            <a:off x="4632960" y="2846832"/>
            <a:ext cx="2926080" cy="274320"/>
          </a:xfrm>
          <a:prstGeom prst="rect">
            <a:avLst/>
          </a:prstGeom>
          <a:noFill/>
          <a:ln>
            <a:noFill/>
          </a:ln>
        </p:spPr>
        <p:txBody>
          <a:bodyPr wrap="square" lIns="0" tIns="0" rIns="0" bIns="0" rtlCol="0" anchor="t">
            <a:noAutofit/>
          </a:bodyPr>
          <a:lstStyle/>
          <a:p>
            <a:pPr algn="l"/>
            <a:r>
              <a:rPr lang="en-US" sz="1067" b="1" dirty="0">
                <a:solidFill>
                  <a:srgbClr val="B30400"/>
                </a:solidFill>
                <a:latin typeface="FS PF BeauSans Pro"/>
                <a:ea typeface="FS PF BeauSans Pro"/>
                <a:cs typeface="FS PF BeauSans Pro"/>
                <a:sym typeface="FS PF BeauSans Pro"/>
              </a:rPr>
              <a:t>PROCESS</a:t>
            </a:r>
          </a:p>
        </p:txBody>
      </p:sp>
      <p:sp>
        <p:nvSpPr>
          <p:cNvPr id="1024" name="Process caption"/>
          <p:cNvSpPr txBox="1"/>
          <p:nvPr/>
        </p:nvSpPr>
        <p:spPr>
          <a:xfrm>
            <a:off x="4632960" y="4529328"/>
            <a:ext cx="2926080" cy="701040"/>
          </a:xfrm>
          <a:prstGeom prst="rect">
            <a:avLst/>
          </a:prstGeom>
          <a:noFill/>
          <a:ln>
            <a:noFill/>
          </a:ln>
        </p:spPr>
        <p:txBody>
          <a:bodyPr wrap="square" lIns="0" tIns="0" rIns="0" bIns="0" rtlCol="0" anchor="t">
            <a:noAutofit/>
          </a:bodyPr>
          <a:lstStyle/>
          <a:p>
            <a:pPr algn="ctr">
              <a:buNone/>
            </a:pPr>
            <a:r>
              <a:rPr lang="en-US" sz="1333" b="1" dirty="0">
                <a:solidFill>
                  <a:srgbClr val="404155"/>
                </a:solidFill>
                <a:latin typeface="FS PF BeauSans Pro"/>
                <a:ea typeface="FS PF BeauSans Pro"/>
                <a:cs typeface="FS PF BeauSans Pro"/>
              </a:rPr>
              <a:t>Silero VAD</a:t>
            </a:r>
            <a:r>
              <a:rPr lang="en-US" sz="1333" dirty="0">
                <a:solidFill>
                  <a:srgbClr val="000000"/>
                </a:solidFill>
                <a:latin typeface="FS PF BeauSans Pro"/>
                <a:ea typeface="FS PF BeauSans Pro"/>
                <a:cs typeface="FS PF BeauSans Pro"/>
              </a:rPr>
              <a:t> + </a:t>
            </a:r>
            <a:r>
              <a:rPr lang="en-US" sz="1333" b="1" dirty="0">
                <a:solidFill>
                  <a:srgbClr val="404155"/>
                </a:solidFill>
                <a:latin typeface="FS PF BeauSans Pro"/>
                <a:ea typeface="FS PF BeauSans Pro"/>
                <a:cs typeface="FS PF BeauSans Pro"/>
              </a:rPr>
              <a:t>Qwen3-ForcedAligner</a:t>
            </a:r>
            <a:r>
              <a:rPr lang="en-US" sz="1333" dirty="0">
                <a:solidFill>
                  <a:srgbClr val="000000"/>
                </a:solidFill>
                <a:latin typeface="FS PF BeauSans Pro"/>
                <a:ea typeface="FS PF BeauSans Pro"/>
                <a:cs typeface="FS PF BeauSans Pro"/>
              </a:rPr>
              <a:t>: a pause between two words becomes a slot</a:t>
            </a:r>
          </a:p>
        </p:txBody>
      </p:sp>
      <p:sp>
        <p:nvSpPr>
          <p:cNvPr id="1025" name="Output card"/>
          <p:cNvSpPr/>
          <p:nvPr/>
        </p:nvSpPr>
        <p:spPr>
          <a:xfrm>
            <a:off x="8290560" y="2712720"/>
            <a:ext cx="3291840" cy="2590800"/>
          </a:xfrm>
          <a:prstGeom prst="roundRect">
            <a:avLst>
              <a:gd name="adj" fmla="val 6000"/>
            </a:avLst>
          </a:prstGeom>
          <a:solidFill>
            <a:srgbClr val="F4F4F4"/>
          </a:solidFill>
          <a:ln>
            <a:noFill/>
          </a:ln>
        </p:spPr>
        <p:txBody>
          <a:bodyPr wrap="square" lIns="0" tIns="0" rIns="0" bIns="0" rtlCol="0" anchor="t">
            <a:noAutofit/>
          </a:bodyPr>
          <a:lstStyle/>
          <a:p>
            <a:endParaRPr lang="en-US" dirty="0"/>
          </a:p>
        </p:txBody>
      </p:sp>
      <p:sp>
        <p:nvSpPr>
          <p:cNvPr id="1026" name="Output label"/>
          <p:cNvSpPr txBox="1"/>
          <p:nvPr/>
        </p:nvSpPr>
        <p:spPr>
          <a:xfrm>
            <a:off x="8473440" y="2846832"/>
            <a:ext cx="2926080" cy="274320"/>
          </a:xfrm>
          <a:prstGeom prst="rect">
            <a:avLst/>
          </a:prstGeom>
          <a:noFill/>
          <a:ln>
            <a:noFill/>
          </a:ln>
        </p:spPr>
        <p:txBody>
          <a:bodyPr wrap="square" lIns="0" tIns="0" rIns="0" bIns="0" rtlCol="0" anchor="t">
            <a:noAutofit/>
          </a:bodyPr>
          <a:lstStyle/>
          <a:p>
            <a:pPr algn="l"/>
            <a:r>
              <a:rPr lang="en-US" sz="1067" b="1" dirty="0">
                <a:solidFill>
                  <a:srgbClr val="7F7F7F"/>
                </a:solidFill>
                <a:latin typeface="FS PF BeauSans Pro"/>
                <a:ea typeface="FS PF BeauSans Pro"/>
                <a:cs typeface="FS PF BeauSans Pro"/>
                <a:sym typeface="FS PF BeauSans Pro"/>
              </a:rPr>
              <a:t>OUTPUT</a:t>
            </a:r>
          </a:p>
        </p:txBody>
      </p:sp>
      <p:sp>
        <p:nvSpPr>
          <p:cNvPr id="1033" name="Output caption"/>
          <p:cNvSpPr txBox="1"/>
          <p:nvPr/>
        </p:nvSpPr>
        <p:spPr>
          <a:xfrm>
            <a:off x="8473440" y="4529328"/>
            <a:ext cx="2926080" cy="701040"/>
          </a:xfrm>
          <a:prstGeom prst="rect">
            <a:avLst/>
          </a:prstGeom>
          <a:noFill/>
          <a:ln>
            <a:noFill/>
          </a:ln>
        </p:spPr>
        <p:txBody>
          <a:bodyPr wrap="square" lIns="0" tIns="0" rIns="0" bIns="0" rtlCol="0" anchor="t">
            <a:noAutofit/>
          </a:bodyPr>
          <a:lstStyle/>
          <a:p>
            <a:pPr>
              <a:buNone/>
            </a:pPr>
            <a:r>
              <a:rPr lang="en-US" sz="1333" b="1" dirty="0">
                <a:solidFill>
                  <a:srgbClr val="404155"/>
                </a:solidFill>
                <a:latin typeface="FS PF BeauSans Pro"/>
                <a:ea typeface="FS PF BeauSans Pro"/>
                <a:cs typeface="FS PF BeauSans Pro"/>
              </a:rPr>
              <a:t>Transcript with numbered slots</a:t>
            </a:r>
            <a:r>
              <a:rPr lang="en-US" sz="1333" dirty="0">
                <a:solidFill>
                  <a:srgbClr val="000000"/>
                </a:solidFill>
                <a:latin typeface="FS PF BeauSans Pro"/>
                <a:ea typeface="FS PF BeauSans Pro"/>
                <a:cs typeface="FS PF BeauSans Pro"/>
              </a:rPr>
              <a:t> such as &lt;1&gt;</a:t>
            </a:r>
          </a:p>
        </p:txBody>
      </p:sp>
      <p:sp>
        <p:nvSpPr>
          <p:cNvPr id="1034" name="Flow arrow 1"/>
          <p:cNvSpPr/>
          <p:nvPr/>
        </p:nvSpPr>
        <p:spPr>
          <a:xfrm>
            <a:off x="4008120" y="3825240"/>
            <a:ext cx="335280" cy="365760"/>
          </a:xfrm>
          <a:prstGeom prst="rightArrow">
            <a:avLst/>
          </a:prstGeom>
          <a:solidFill>
            <a:srgbClr val="B4B4B4"/>
          </a:solidFill>
          <a:ln>
            <a:noFill/>
          </a:ln>
        </p:spPr>
        <p:txBody>
          <a:bodyPr wrap="square" lIns="0" tIns="0" rIns="0" bIns="0" rtlCol="0" anchor="t">
            <a:noAutofit/>
          </a:bodyPr>
          <a:lstStyle/>
          <a:p>
            <a:endParaRPr lang="en-US" dirty="0"/>
          </a:p>
        </p:txBody>
      </p:sp>
      <p:sp>
        <p:nvSpPr>
          <p:cNvPr id="1035" name="Flow arrow 2"/>
          <p:cNvSpPr/>
          <p:nvPr/>
        </p:nvSpPr>
        <p:spPr>
          <a:xfrm>
            <a:off x="7848600" y="3825240"/>
            <a:ext cx="335280" cy="365760"/>
          </a:xfrm>
          <a:prstGeom prst="rightArrow">
            <a:avLst/>
          </a:prstGeom>
          <a:solidFill>
            <a:srgbClr val="B4B4B4"/>
          </a:solidFill>
          <a:ln>
            <a:noFill/>
          </a:ln>
        </p:spPr>
        <p:txBody>
          <a:bodyPr wrap="square" lIns="0" tIns="0" rIns="0" bIns="0" rtlCol="0" anchor="t">
            <a:noAutofit/>
          </a:bodyPr>
          <a:lstStyle/>
          <a:p>
            <a:endParaRPr lang="en-US" dirty="0"/>
          </a:p>
        </p:txBody>
      </p:sp>
      <p:sp>
        <p:nvSpPr>
          <p:cNvPr id="1036" name="Footnote citations"/>
          <p:cNvSpPr txBox="1"/>
          <p:nvPr/>
        </p:nvSpPr>
        <p:spPr>
          <a:xfrm>
            <a:off x="411480" y="5852160"/>
            <a:ext cx="8869680" cy="914400"/>
          </a:xfrm>
          <a:prstGeom prst="rect">
            <a:avLst/>
          </a:prstGeom>
          <a:noFill/>
          <a:ln>
            <a:noFill/>
          </a:ln>
        </p:spPr>
        <p:txBody>
          <a:bodyPr wrap="square" lIns="45720" tIns="45720" rIns="45720" bIns="45720" anchor="b">
            <a:noAutofit/>
          </a:bodyPr>
          <a:lstStyle/>
          <a:p>
            <a:pPr>
              <a:buNone/>
            </a:pPr>
            <a:r>
              <a:rPr lang="en-US" sz="900" b="1" dirty="0">
                <a:solidFill>
                  <a:srgbClr val="595959"/>
                </a:solidFill>
                <a:latin typeface="FS PF BeauSans Pro"/>
                <a:ea typeface="FS PF BeauSans Pro"/>
                <a:cs typeface="FS PF BeauSans Pro"/>
              </a:rPr>
              <a:t>Silero VAD: </a:t>
            </a:r>
            <a:r>
              <a:rPr lang="en-US" sz="900" dirty="0">
                <a:solidFill>
                  <a:srgbClr val="595959"/>
                </a:solidFill>
                <a:latin typeface="FS PF BeauSans Pro"/>
                <a:ea typeface="FS PF BeauSans Pro"/>
                <a:cs typeface="FS PF BeauSans Pro"/>
              </a:rPr>
              <a:t>Silero Team, github.com/snakers4/silero-vad, 2024</a:t>
            </a:r>
          </a:p>
          <a:p>
            <a:pPr>
              <a:buNone/>
            </a:pPr>
            <a:r>
              <a:rPr lang="en-US" sz="900" b="1" dirty="0">
                <a:solidFill>
                  <a:srgbClr val="595959"/>
                </a:solidFill>
                <a:latin typeface="FS PF BeauSans Pro"/>
                <a:ea typeface="FS PF BeauSans Pro"/>
                <a:cs typeface="FS PF BeauSans Pro"/>
              </a:rPr>
              <a:t>Qwen3-ASR / Qwen3-ForcedAligner: </a:t>
            </a:r>
            <a:r>
              <a:rPr lang="en-US" sz="900" dirty="0">
                <a:solidFill>
                  <a:srgbClr val="595959"/>
                </a:solidFill>
                <a:latin typeface="FS PF BeauSans Pro"/>
                <a:ea typeface="FS PF BeauSans Pro"/>
                <a:cs typeface="FS PF BeauSans Pro"/>
              </a:rPr>
              <a:t>Qwen Team, arXiv:2601.21337, 2026</a:t>
            </a:r>
          </a:p>
        </p:txBody>
      </p:sp>
      <p:pic>
        <p:nvPicPr>
          <p:cNvPr id="1037" name="Process visual Pause detection (Canva)" descr="Pause detection step"/>
          <p:cNvPicPr>
            <a:picLocks noChangeAspect="1"/>
          </p:cNvPicPr>
          <p:nvPr/>
        </p:nvPicPr>
        <p:blipFill>
          <a:blip r:embed="rId2"/>
          <a:stretch>
            <a:fillRect/>
          </a:stretch>
        </p:blipFill>
        <p:spPr>
          <a:xfrm>
            <a:off x="5158740" y="3169920"/>
            <a:ext cx="1874519" cy="1280160"/>
          </a:xfrm>
          <a:prstGeom prst="rect">
            <a:avLst/>
          </a:prstGeom>
        </p:spPr>
      </p:pic>
      <p:pic>
        <p:nvPicPr>
          <p:cNvPr id="1038" name="Input visual (Canva)" descr="Recording: chứ thôi , để nó lành thôi"/>
          <p:cNvPicPr>
            <a:picLocks noChangeAspect="1"/>
          </p:cNvPicPr>
          <p:nvPr/>
        </p:nvPicPr>
        <p:blipFill>
          <a:blip r:embed="rId3"/>
          <a:stretch>
            <a:fillRect/>
          </a:stretch>
        </p:blipFill>
        <p:spPr>
          <a:xfrm>
            <a:off x="1139642" y="3124200"/>
            <a:ext cx="2231755" cy="1371600"/>
          </a:xfrm>
          <a:prstGeom prst="rect">
            <a:avLst/>
          </a:prstGeom>
        </p:spPr>
      </p:pic>
      <p:pic>
        <p:nvPicPr>
          <p:cNvPr id="1039" name="Output visual (Canva)" descr="Recording with slot &lt;1&gt; marked: chứ thôi , &lt;1&gt; để nó lành thôi"/>
          <p:cNvPicPr>
            <a:picLocks noChangeAspect="1"/>
          </p:cNvPicPr>
          <p:nvPr/>
        </p:nvPicPr>
        <p:blipFill>
          <a:blip r:embed="rId4"/>
          <a:stretch>
            <a:fillRect/>
          </a:stretch>
        </p:blipFill>
        <p:spPr>
          <a:xfrm>
            <a:off x="8784602" y="3124200"/>
            <a:ext cx="2303755" cy="1371600"/>
          </a:xfrm>
          <a:prstGeom prst="rect">
            <a:avLst/>
          </a:prstGeom>
        </p:spPr>
      </p:pic>
    </p:spTree>
    <p:extLst>
      <p:ext uri="{BB962C8B-B14F-4D97-AF65-F5344CB8AC3E}">
        <p14:creationId xmlns:p14="http://schemas.microsoft.com/office/powerpoint/2010/main" val="584723571"/>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Shape 145"/>
        <p:cNvGrpSpPr/>
        <p:nvPr/>
      </p:nvGrpSpPr>
      <p:grpSpPr>
        <a:xfrm>
          <a:off x="0" y="0"/>
          <a:ext cx="0" cy="0"/>
          <a:chOff x="0" y="0"/>
          <a:chExt cx="0" cy="0"/>
        </a:xfrm>
      </p:grpSpPr>
      <p:sp>
        <p:nvSpPr>
          <p:cNvPr id="146" name="Google Shape;146;p10"/>
          <p:cNvSpPr txBox="1">
            <a:spLocks noGrp="1"/>
          </p:cNvSpPr>
          <p:nvPr>
            <p:ph type="ctrTitle"/>
          </p:nvPr>
        </p:nvSpPr>
        <p:spPr>
          <a:xfrm>
            <a:off x="822960" y="466344"/>
            <a:ext cx="10543032" cy="731520"/>
          </a:xfrm>
          <a:prstGeom prst="rect">
            <a:avLst/>
          </a:prstGeom>
          <a:noFill/>
          <a:ln>
            <a:noFill/>
          </a:ln>
        </p:spPr>
        <p:txBody>
          <a:bodyPr spcFirstLastPara="1" wrap="square" lIns="91425" tIns="91425" rIns="91425" bIns="91425" anchor="t" anchorCtr="0">
            <a:noAutofit/>
          </a:bodyPr>
          <a:lstStyle/>
          <a:p>
            <a:pPr marL="0" lvl="0" indent="0" algn="ctr" rtl="0">
              <a:buNone/>
            </a:pPr>
            <a:r>
              <a:rPr lang="en-US" dirty="0"/>
              <a:t>Tag selection</a:t>
            </a:r>
          </a:p>
        </p:txBody>
      </p:sp>
      <p:sp>
        <p:nvSpPr>
          <p:cNvPr id="148" name="Google Shape;148;p10"/>
          <p:cNvSpPr txBox="1">
            <a:spLocks noGrp="1"/>
          </p:cNvSpPr>
          <p:nvPr>
            <p:ph type="body" idx="1"/>
          </p:nvPr>
        </p:nvSpPr>
        <p:spPr>
          <a:xfrm>
            <a:off x="850392" y="1371600"/>
            <a:ext cx="10570464" cy="1137239"/>
          </a:xfrm>
          <a:prstGeom prst="rect">
            <a:avLst/>
          </a:prstGeom>
          <a:noFill/>
          <a:ln>
            <a:noFill/>
          </a:ln>
        </p:spPr>
        <p:txBody>
          <a:bodyPr spcFirstLastPara="1" wrap="square" lIns="91425" tIns="91425" rIns="91425" bIns="91425" anchor="t" anchorCtr="0">
            <a:noAutofit/>
          </a:bodyPr>
          <a:lstStyle/>
          <a:p>
            <a:pPr marL="152400" lvl="0" indent="0" algn="l" rtl="0">
              <a:lnSpc>
                <a:spcPct val="115000"/>
              </a:lnSpc>
              <a:spcBef>
                <a:spcPts val="0"/>
              </a:spcBef>
              <a:spcAft>
                <a:spcPts val="0"/>
              </a:spcAft>
              <a:buNone/>
            </a:pPr>
            <a:r>
              <a:rPr lang="en-US" sz="1800" dirty="0">
                <a:latin typeface="FS PF BeauSans Pro"/>
                <a:ea typeface="FS PF BeauSans Pro"/>
                <a:cs typeface="FS PF BeauSans Pro"/>
              </a:rPr>
              <a:t>Qwen3-Omni listens to the recording and picks one slot and the NVV tag that best fits what the speaker is doing there.</a:t>
            </a:r>
          </a:p>
          <a:p>
            <a:pPr marL="152400" lvl="0" indent="0" algn="l" rtl="0">
              <a:lnSpc>
                <a:spcPct val="115000"/>
              </a:lnSpc>
              <a:spcBef>
                <a:spcPts val="0"/>
              </a:spcBef>
              <a:spcAft>
                <a:spcPts val="0"/>
              </a:spcAft>
              <a:buNone/>
            </a:pPr>
            <a:r>
              <a:rPr lang="en-US" sz="1800" dirty="0">
                <a:latin typeface="FS PF BeauSans Pro"/>
                <a:ea typeface="FS PF BeauSans Pro"/>
                <a:cs typeface="FS PF BeauSans Pro"/>
              </a:rPr>
              <a:t>* Qwen3-Omni: LLM model with capacity to tokenize and understand audio</a:t>
            </a:r>
          </a:p>
        </p:txBody>
      </p:sp>
      <p:sp>
        <p:nvSpPr>
          <p:cNvPr id="2" name="Slide Number Placeholder 1">
            <a:extLst>
              <a:ext uri="{FF2B5EF4-FFF2-40B4-BE49-F238E27FC236}">
                <a16:creationId xmlns:a16="http://schemas.microsoft.com/office/drawing/2014/main" id="{249CE59B-DD91-4B3A-8ACA-10EA59D7C3EE}"/>
              </a:ext>
            </a:extLst>
          </p:cNvPr>
          <p:cNvSpPr>
            <a:spLocks noGrp="1"/>
          </p:cNvSpPr>
          <p:nvPr>
            <p:ph type="sldNum" idx="12"/>
          </p:nvPr>
        </p:nvSpPr>
        <p:spPr/>
        <p:txBody>
          <a:bodyPr/>
          <a:lstStyle/>
          <a:p>
            <a:pPr marL="0" lvl="0" indent="0" algn="ctr" rtl="0">
              <a:spcBef>
                <a:spcPts val="0"/>
              </a:spcBef>
              <a:spcAft>
                <a:spcPts val="0"/>
              </a:spcAft>
              <a:buNone/>
            </a:pPr>
            <a:fld id="{00000000-1234-1234-1234-123412341234}" type="slidenum">
              <a:rPr lang="en-US" smtClean="0"/>
              <a:t>10</a:t>
            </a:fld>
            <a:endParaRPr lang="en-US" dirty="0"/>
          </a:p>
        </p:txBody>
      </p:sp>
      <p:sp>
        <p:nvSpPr>
          <p:cNvPr id="1010" name="Step 0"/>
          <p:cNvSpPr txBox="1"/>
          <p:nvPr/>
        </p:nvSpPr>
        <p:spPr>
          <a:xfrm>
            <a:off x="1021080" y="5486400"/>
            <a:ext cx="1371600" cy="304800"/>
          </a:xfrm>
          <a:prstGeom prst="roundRect">
            <a:avLst>
              <a:gd name="adj" fmla="val 50000"/>
            </a:avLst>
          </a:prstGeom>
          <a:solidFill>
            <a:srgbClr val="FBE3E3"/>
          </a:solidFill>
          <a:ln>
            <a:noFill/>
          </a:ln>
        </p:spPr>
        <p:txBody>
          <a:bodyPr wrap="square" lIns="30480" tIns="0" rIns="30480" bIns="0" rtlCol="0" anchor="ctr">
            <a:noAutofit/>
          </a:bodyPr>
          <a:lstStyle/>
          <a:p>
            <a:pPr algn="ctr"/>
            <a:r>
              <a:rPr lang="en-US" sz="1067" dirty="0">
                <a:solidFill>
                  <a:srgbClr val="B30400"/>
                </a:solidFill>
                <a:latin typeface="FS PF BeauSans Pro"/>
                <a:ea typeface="FS PF BeauSans Pro"/>
                <a:cs typeface="FS PF BeauSans Pro"/>
                <a:sym typeface="FS PF BeauSans Pro"/>
              </a:rPr>
              <a:t>Clip pool</a:t>
            </a:r>
          </a:p>
        </p:txBody>
      </p:sp>
      <p:sp>
        <p:nvSpPr>
          <p:cNvPr id="1011" name="Step 1"/>
          <p:cNvSpPr txBox="1"/>
          <p:nvPr/>
        </p:nvSpPr>
        <p:spPr>
          <a:xfrm>
            <a:off x="2484120" y="5486400"/>
            <a:ext cx="1371600" cy="304800"/>
          </a:xfrm>
          <a:prstGeom prst="roundRect">
            <a:avLst>
              <a:gd name="adj" fmla="val 50000"/>
            </a:avLst>
          </a:prstGeom>
          <a:solidFill>
            <a:srgbClr val="FBE3E3"/>
          </a:solidFill>
          <a:ln>
            <a:noFill/>
          </a:ln>
        </p:spPr>
        <p:txBody>
          <a:bodyPr wrap="square" lIns="30480" tIns="0" rIns="30480" bIns="0" rtlCol="0" anchor="ctr">
            <a:noAutofit/>
          </a:bodyPr>
          <a:lstStyle/>
          <a:p>
            <a:pPr algn="ctr"/>
            <a:r>
              <a:rPr lang="en-US" sz="1067" dirty="0">
                <a:solidFill>
                  <a:srgbClr val="B30400"/>
                </a:solidFill>
                <a:latin typeface="FS PF BeauSans Pro"/>
                <a:ea typeface="FS PF BeauSans Pro"/>
                <a:cs typeface="FS PF BeauSans Pro"/>
                <a:sym typeface="FS PF BeauSans Pro"/>
              </a:rPr>
              <a:t>1  Pause detection</a:t>
            </a:r>
          </a:p>
        </p:txBody>
      </p:sp>
      <p:sp>
        <p:nvSpPr>
          <p:cNvPr id="1012" name="Step 2"/>
          <p:cNvSpPr txBox="1"/>
          <p:nvPr/>
        </p:nvSpPr>
        <p:spPr>
          <a:xfrm>
            <a:off x="3947160" y="5486400"/>
            <a:ext cx="1371600" cy="304800"/>
          </a:xfrm>
          <a:prstGeom prst="roundRect">
            <a:avLst>
              <a:gd name="adj" fmla="val 50000"/>
            </a:avLst>
          </a:prstGeom>
          <a:solidFill>
            <a:srgbClr val="E80500"/>
          </a:solidFill>
          <a:ln>
            <a:noFill/>
          </a:ln>
        </p:spPr>
        <p:txBody>
          <a:bodyPr wrap="square" lIns="30480" tIns="0" rIns="30480" bIns="0" rtlCol="0" anchor="ctr">
            <a:noAutofit/>
          </a:bodyPr>
          <a:lstStyle/>
          <a:p>
            <a:pPr algn="ctr"/>
            <a:r>
              <a:rPr lang="en-US" sz="1067" b="1" dirty="0">
                <a:solidFill>
                  <a:srgbClr val="FFFFFF"/>
                </a:solidFill>
                <a:latin typeface="FS PF BeauSans Pro"/>
                <a:ea typeface="FS PF BeauSans Pro"/>
                <a:cs typeface="FS PF BeauSans Pro"/>
                <a:sym typeface="FS PF BeauSans Pro"/>
              </a:rPr>
              <a:t>2  Tag selection</a:t>
            </a:r>
          </a:p>
        </p:txBody>
      </p:sp>
      <p:sp>
        <p:nvSpPr>
          <p:cNvPr id="1013" name="Step 3"/>
          <p:cNvSpPr txBox="1"/>
          <p:nvPr/>
        </p:nvSpPr>
        <p:spPr>
          <a:xfrm>
            <a:off x="5410200" y="5486400"/>
            <a:ext cx="1371600" cy="304800"/>
          </a:xfrm>
          <a:prstGeom prst="roundRect">
            <a:avLst>
              <a:gd name="adj" fmla="val 50000"/>
            </a:avLst>
          </a:prstGeom>
          <a:solidFill>
            <a:srgbClr val="F2F2F2"/>
          </a:solidFill>
          <a:ln>
            <a:noFill/>
          </a:ln>
        </p:spPr>
        <p:txBody>
          <a:bodyPr wrap="square" lIns="30480" tIns="0" rIns="30480" bIns="0" rtlCol="0" anchor="ctr">
            <a:noAutofit/>
          </a:bodyPr>
          <a:lstStyle/>
          <a:p>
            <a:pPr algn="ctr"/>
            <a:r>
              <a:rPr lang="en-US" sz="1067" dirty="0">
                <a:solidFill>
                  <a:srgbClr val="7F7F7F"/>
                </a:solidFill>
                <a:latin typeface="FS PF BeauSans Pro"/>
                <a:ea typeface="FS PF BeauSans Pro"/>
                <a:cs typeface="FS PF BeauSans Pro"/>
                <a:sym typeface="FS PF BeauSans Pro"/>
              </a:rPr>
              <a:t>3  Clip selection</a:t>
            </a:r>
          </a:p>
        </p:txBody>
      </p:sp>
      <p:sp>
        <p:nvSpPr>
          <p:cNvPr id="1014" name="Step 4"/>
          <p:cNvSpPr txBox="1"/>
          <p:nvPr/>
        </p:nvSpPr>
        <p:spPr>
          <a:xfrm>
            <a:off x="6873240" y="5486400"/>
            <a:ext cx="1371600" cy="304800"/>
          </a:xfrm>
          <a:prstGeom prst="roundRect">
            <a:avLst>
              <a:gd name="adj" fmla="val 50000"/>
            </a:avLst>
          </a:prstGeom>
          <a:solidFill>
            <a:srgbClr val="F2F2F2"/>
          </a:solidFill>
          <a:ln>
            <a:noFill/>
          </a:ln>
        </p:spPr>
        <p:txBody>
          <a:bodyPr wrap="square" lIns="30480" tIns="0" rIns="30480" bIns="0" rtlCol="0" anchor="ctr">
            <a:noAutofit/>
          </a:bodyPr>
          <a:lstStyle/>
          <a:p>
            <a:pPr algn="ctr"/>
            <a:r>
              <a:rPr lang="en-US" sz="1067" dirty="0">
                <a:solidFill>
                  <a:srgbClr val="7F7F7F"/>
                </a:solidFill>
                <a:latin typeface="FS PF BeauSans Pro"/>
                <a:ea typeface="FS PF BeauSans Pro"/>
                <a:cs typeface="FS PF BeauSans Pro"/>
                <a:sym typeface="FS PF BeauSans Pro"/>
              </a:rPr>
              <a:t>4  Voice conversion</a:t>
            </a:r>
          </a:p>
        </p:txBody>
      </p:sp>
      <p:sp>
        <p:nvSpPr>
          <p:cNvPr id="1015" name="Step 5"/>
          <p:cNvSpPr txBox="1"/>
          <p:nvPr/>
        </p:nvSpPr>
        <p:spPr>
          <a:xfrm>
            <a:off x="8336280" y="5486400"/>
            <a:ext cx="1371600" cy="304800"/>
          </a:xfrm>
          <a:prstGeom prst="roundRect">
            <a:avLst>
              <a:gd name="adj" fmla="val 50000"/>
            </a:avLst>
          </a:prstGeom>
          <a:solidFill>
            <a:srgbClr val="F2F2F2"/>
          </a:solidFill>
          <a:ln>
            <a:noFill/>
          </a:ln>
        </p:spPr>
        <p:txBody>
          <a:bodyPr wrap="square" lIns="30480" tIns="0" rIns="30480" bIns="0" rtlCol="0" anchor="ctr">
            <a:noAutofit/>
          </a:bodyPr>
          <a:lstStyle/>
          <a:p>
            <a:pPr algn="ctr"/>
            <a:r>
              <a:rPr lang="en-US" sz="1067" dirty="0">
                <a:solidFill>
                  <a:srgbClr val="7F7F7F"/>
                </a:solidFill>
                <a:latin typeface="FS PF BeauSans Pro"/>
                <a:ea typeface="FS PF BeauSans Pro"/>
                <a:cs typeface="FS PF BeauSans Pro"/>
                <a:sym typeface="FS PF BeauSans Pro"/>
              </a:rPr>
              <a:t>5  Splicing</a:t>
            </a:r>
          </a:p>
        </p:txBody>
      </p:sp>
      <p:sp>
        <p:nvSpPr>
          <p:cNvPr id="1016" name="Step 6"/>
          <p:cNvSpPr txBox="1"/>
          <p:nvPr/>
        </p:nvSpPr>
        <p:spPr>
          <a:xfrm>
            <a:off x="9799320" y="5486400"/>
            <a:ext cx="1371600" cy="304800"/>
          </a:xfrm>
          <a:prstGeom prst="roundRect">
            <a:avLst>
              <a:gd name="adj" fmla="val 50000"/>
            </a:avLst>
          </a:prstGeom>
          <a:solidFill>
            <a:srgbClr val="F2F2F2"/>
          </a:solidFill>
          <a:ln>
            <a:noFill/>
          </a:ln>
        </p:spPr>
        <p:txBody>
          <a:bodyPr wrap="square" lIns="30480" tIns="0" rIns="30480" bIns="0" rtlCol="0" anchor="ctr">
            <a:noAutofit/>
          </a:bodyPr>
          <a:lstStyle/>
          <a:p>
            <a:pPr algn="ctr"/>
            <a:r>
              <a:rPr lang="en-US" sz="1067" dirty="0">
                <a:solidFill>
                  <a:srgbClr val="7F7F7F"/>
                </a:solidFill>
                <a:latin typeface="FS PF BeauSans Pro"/>
                <a:ea typeface="FS PF BeauSans Pro"/>
                <a:cs typeface="FS PF BeauSans Pro"/>
                <a:sym typeface="FS PF BeauSans Pro"/>
              </a:rPr>
              <a:t>6  Filter</a:t>
            </a:r>
          </a:p>
        </p:txBody>
      </p:sp>
      <p:sp>
        <p:nvSpPr>
          <p:cNvPr id="1017" name="Input card"/>
          <p:cNvSpPr/>
          <p:nvPr/>
        </p:nvSpPr>
        <p:spPr>
          <a:xfrm>
            <a:off x="609600" y="2712720"/>
            <a:ext cx="3291840" cy="2590800"/>
          </a:xfrm>
          <a:prstGeom prst="roundRect">
            <a:avLst>
              <a:gd name="adj" fmla="val 6000"/>
            </a:avLst>
          </a:prstGeom>
          <a:solidFill>
            <a:srgbClr val="F4F4F4"/>
          </a:solidFill>
          <a:ln>
            <a:noFill/>
          </a:ln>
        </p:spPr>
        <p:txBody>
          <a:bodyPr wrap="square" lIns="0" tIns="0" rIns="0" bIns="0" rtlCol="0" anchor="t">
            <a:noAutofit/>
          </a:bodyPr>
          <a:lstStyle/>
          <a:p>
            <a:endParaRPr lang="en-US" dirty="0"/>
          </a:p>
        </p:txBody>
      </p:sp>
      <p:sp>
        <p:nvSpPr>
          <p:cNvPr id="1018" name="Input label"/>
          <p:cNvSpPr txBox="1"/>
          <p:nvPr/>
        </p:nvSpPr>
        <p:spPr>
          <a:xfrm>
            <a:off x="792480" y="2846832"/>
            <a:ext cx="2926080" cy="274320"/>
          </a:xfrm>
          <a:prstGeom prst="rect">
            <a:avLst/>
          </a:prstGeom>
          <a:noFill/>
          <a:ln>
            <a:noFill/>
          </a:ln>
        </p:spPr>
        <p:txBody>
          <a:bodyPr wrap="square" lIns="0" tIns="0" rIns="0" bIns="0" rtlCol="0" anchor="t">
            <a:noAutofit/>
          </a:bodyPr>
          <a:lstStyle/>
          <a:p>
            <a:pPr algn="l"/>
            <a:r>
              <a:rPr lang="en-US" sz="1067" b="1" dirty="0">
                <a:solidFill>
                  <a:srgbClr val="7F7F7F"/>
                </a:solidFill>
                <a:latin typeface="FS PF BeauSans Pro"/>
                <a:ea typeface="FS PF BeauSans Pro"/>
                <a:cs typeface="FS PF BeauSans Pro"/>
                <a:sym typeface="FS PF BeauSans Pro"/>
              </a:rPr>
              <a:t>INPUT</a:t>
            </a:r>
          </a:p>
        </p:txBody>
      </p:sp>
      <p:sp>
        <p:nvSpPr>
          <p:cNvPr id="1025" name="Input caption"/>
          <p:cNvSpPr txBox="1"/>
          <p:nvPr/>
        </p:nvSpPr>
        <p:spPr>
          <a:xfrm>
            <a:off x="792480" y="4529328"/>
            <a:ext cx="2926080" cy="701040"/>
          </a:xfrm>
          <a:prstGeom prst="rect">
            <a:avLst/>
          </a:prstGeom>
          <a:noFill/>
          <a:ln>
            <a:noFill/>
          </a:ln>
        </p:spPr>
        <p:txBody>
          <a:bodyPr wrap="square" lIns="0" tIns="0" rIns="0" bIns="0" rtlCol="0" anchor="t">
            <a:noAutofit/>
          </a:bodyPr>
          <a:lstStyle/>
          <a:p>
            <a:pPr algn="ctr"/>
            <a:r>
              <a:rPr lang="en-US" sz="1333" b="1" dirty="0">
                <a:solidFill>
                  <a:srgbClr val="404155"/>
                </a:solidFill>
                <a:latin typeface="FS PF BeauSans Pro"/>
                <a:ea typeface="FS PF BeauSans Pro"/>
                <a:cs typeface="FS PF BeauSans Pro"/>
                <a:sym typeface="FS PF BeauSans Pro"/>
              </a:rPr>
              <a:t>Audio + slotted transcript</a:t>
            </a:r>
          </a:p>
        </p:txBody>
      </p:sp>
      <p:sp>
        <p:nvSpPr>
          <p:cNvPr id="1026" name="Process card"/>
          <p:cNvSpPr/>
          <p:nvPr/>
        </p:nvSpPr>
        <p:spPr>
          <a:xfrm>
            <a:off x="4450080" y="2712720"/>
            <a:ext cx="3291840" cy="2590800"/>
          </a:xfrm>
          <a:prstGeom prst="roundRect">
            <a:avLst>
              <a:gd name="adj" fmla="val 6000"/>
            </a:avLst>
          </a:prstGeom>
          <a:solidFill>
            <a:srgbClr val="FDECEC"/>
          </a:solidFill>
          <a:ln>
            <a:noFill/>
          </a:ln>
        </p:spPr>
        <p:txBody>
          <a:bodyPr wrap="square" lIns="0" tIns="0" rIns="0" bIns="0" rtlCol="0" anchor="t">
            <a:noAutofit/>
          </a:bodyPr>
          <a:lstStyle/>
          <a:p>
            <a:endParaRPr lang="en-US" dirty="0"/>
          </a:p>
        </p:txBody>
      </p:sp>
      <p:sp>
        <p:nvSpPr>
          <p:cNvPr id="1027" name="Process label"/>
          <p:cNvSpPr txBox="1"/>
          <p:nvPr/>
        </p:nvSpPr>
        <p:spPr>
          <a:xfrm>
            <a:off x="4632960" y="2846832"/>
            <a:ext cx="2926080" cy="274320"/>
          </a:xfrm>
          <a:prstGeom prst="rect">
            <a:avLst/>
          </a:prstGeom>
          <a:noFill/>
          <a:ln>
            <a:noFill/>
          </a:ln>
        </p:spPr>
        <p:txBody>
          <a:bodyPr wrap="square" lIns="0" tIns="0" rIns="0" bIns="0" rtlCol="0" anchor="t">
            <a:noAutofit/>
          </a:bodyPr>
          <a:lstStyle/>
          <a:p>
            <a:pPr algn="l"/>
            <a:r>
              <a:rPr lang="en-US" sz="1067" b="1" dirty="0">
                <a:solidFill>
                  <a:srgbClr val="B30400"/>
                </a:solidFill>
                <a:latin typeface="FS PF BeauSans Pro"/>
                <a:ea typeface="FS PF BeauSans Pro"/>
                <a:cs typeface="FS PF BeauSans Pro"/>
                <a:sym typeface="FS PF BeauSans Pro"/>
              </a:rPr>
              <a:t>PROCESS</a:t>
            </a:r>
          </a:p>
        </p:txBody>
      </p:sp>
      <p:sp>
        <p:nvSpPr>
          <p:cNvPr id="1029" name="Process caption"/>
          <p:cNvSpPr txBox="1"/>
          <p:nvPr/>
        </p:nvSpPr>
        <p:spPr>
          <a:xfrm>
            <a:off x="4632960" y="4529328"/>
            <a:ext cx="2926080" cy="701040"/>
          </a:xfrm>
          <a:prstGeom prst="rect">
            <a:avLst/>
          </a:prstGeom>
          <a:noFill/>
          <a:ln>
            <a:noFill/>
          </a:ln>
        </p:spPr>
        <p:txBody>
          <a:bodyPr wrap="square" lIns="0" tIns="0" rIns="0" bIns="0" rtlCol="0" anchor="t">
            <a:noAutofit/>
          </a:bodyPr>
          <a:lstStyle/>
          <a:p>
            <a:pPr algn="ctr"/>
            <a:r>
              <a:rPr lang="en-US" sz="1333" b="1" dirty="0">
                <a:solidFill>
                  <a:srgbClr val="404155"/>
                </a:solidFill>
                <a:latin typeface="FS PF BeauSans Pro"/>
                <a:ea typeface="FS PF BeauSans Pro"/>
                <a:cs typeface="FS PF BeauSans Pro"/>
                <a:sym typeface="FS PF BeauSans Pro"/>
              </a:rPr>
              <a:t>Qwen3-Omni</a:t>
            </a:r>
            <a:r>
              <a:rPr lang="en-US" sz="1333" dirty="0">
                <a:solidFill>
                  <a:srgbClr val="000000"/>
                </a:solidFill>
                <a:latin typeface="FS PF BeauSans Pro"/>
                <a:ea typeface="FS PF BeauSans Pro"/>
                <a:cs typeface="FS PF BeauSans Pro"/>
                <a:sym typeface="FS PF BeauSans Pro"/>
              </a:rPr>
              <a:t> picks the most plausible slot and tag, or none</a:t>
            </a:r>
          </a:p>
        </p:txBody>
      </p:sp>
      <p:sp>
        <p:nvSpPr>
          <p:cNvPr id="1030" name="Output card"/>
          <p:cNvSpPr/>
          <p:nvPr/>
        </p:nvSpPr>
        <p:spPr>
          <a:xfrm>
            <a:off x="8290560" y="2712720"/>
            <a:ext cx="3291840" cy="2590800"/>
          </a:xfrm>
          <a:prstGeom prst="roundRect">
            <a:avLst>
              <a:gd name="adj" fmla="val 6000"/>
            </a:avLst>
          </a:prstGeom>
          <a:solidFill>
            <a:srgbClr val="F4F4F4"/>
          </a:solidFill>
          <a:ln>
            <a:noFill/>
          </a:ln>
        </p:spPr>
        <p:txBody>
          <a:bodyPr wrap="square" lIns="0" tIns="0" rIns="0" bIns="0" rtlCol="0" anchor="t">
            <a:noAutofit/>
          </a:bodyPr>
          <a:lstStyle/>
          <a:p>
            <a:endParaRPr lang="en-US" dirty="0"/>
          </a:p>
        </p:txBody>
      </p:sp>
      <p:sp>
        <p:nvSpPr>
          <p:cNvPr id="1031" name="Output label"/>
          <p:cNvSpPr txBox="1"/>
          <p:nvPr/>
        </p:nvSpPr>
        <p:spPr>
          <a:xfrm>
            <a:off x="8473440" y="2846832"/>
            <a:ext cx="2926080" cy="274320"/>
          </a:xfrm>
          <a:prstGeom prst="rect">
            <a:avLst/>
          </a:prstGeom>
          <a:noFill/>
          <a:ln>
            <a:noFill/>
          </a:ln>
        </p:spPr>
        <p:txBody>
          <a:bodyPr wrap="square" lIns="0" tIns="0" rIns="0" bIns="0" rtlCol="0" anchor="t">
            <a:noAutofit/>
          </a:bodyPr>
          <a:lstStyle/>
          <a:p>
            <a:pPr algn="l"/>
            <a:r>
              <a:rPr lang="en-US" sz="1067" b="1" dirty="0">
                <a:solidFill>
                  <a:srgbClr val="7F7F7F"/>
                </a:solidFill>
                <a:latin typeface="FS PF BeauSans Pro"/>
                <a:ea typeface="FS PF BeauSans Pro"/>
                <a:cs typeface="FS PF BeauSans Pro"/>
                <a:sym typeface="FS PF BeauSans Pro"/>
              </a:rPr>
              <a:t>OUTPUT</a:t>
            </a:r>
          </a:p>
        </p:txBody>
      </p:sp>
      <p:sp>
        <p:nvSpPr>
          <p:cNvPr id="1033" name="Output caption"/>
          <p:cNvSpPr txBox="1"/>
          <p:nvPr/>
        </p:nvSpPr>
        <p:spPr>
          <a:xfrm>
            <a:off x="8473440" y="4529328"/>
            <a:ext cx="2926080" cy="701040"/>
          </a:xfrm>
          <a:prstGeom prst="rect">
            <a:avLst/>
          </a:prstGeom>
          <a:noFill/>
          <a:ln>
            <a:noFill/>
          </a:ln>
        </p:spPr>
        <p:txBody>
          <a:bodyPr wrap="square" lIns="0" tIns="0" rIns="0" bIns="0" rtlCol="0" anchor="t">
            <a:noAutofit/>
          </a:bodyPr>
          <a:lstStyle/>
          <a:p>
            <a:pPr algn="ctr"/>
            <a:r>
              <a:rPr lang="en-US" sz="1333" b="1" dirty="0">
                <a:solidFill>
                  <a:srgbClr val="404155"/>
                </a:solidFill>
                <a:latin typeface="FS PF BeauSans Pro"/>
                <a:ea typeface="FS PF BeauSans Pro"/>
                <a:cs typeface="FS PF BeauSans Pro"/>
                <a:sym typeface="FS PF BeauSans Pro"/>
              </a:rPr>
              <a:t>One slot + one NVV tag</a:t>
            </a:r>
          </a:p>
        </p:txBody>
      </p:sp>
      <p:sp>
        <p:nvSpPr>
          <p:cNvPr id="1034" name="Flow arrow 1"/>
          <p:cNvSpPr/>
          <p:nvPr/>
        </p:nvSpPr>
        <p:spPr>
          <a:xfrm>
            <a:off x="4008120" y="3825240"/>
            <a:ext cx="335280" cy="365760"/>
          </a:xfrm>
          <a:prstGeom prst="rightArrow">
            <a:avLst/>
          </a:prstGeom>
          <a:solidFill>
            <a:srgbClr val="B4B4B4"/>
          </a:solidFill>
          <a:ln>
            <a:noFill/>
          </a:ln>
        </p:spPr>
        <p:txBody>
          <a:bodyPr wrap="square" lIns="0" tIns="0" rIns="0" bIns="0" rtlCol="0" anchor="t">
            <a:noAutofit/>
          </a:bodyPr>
          <a:lstStyle/>
          <a:p>
            <a:endParaRPr lang="en-US" dirty="0"/>
          </a:p>
        </p:txBody>
      </p:sp>
      <p:sp>
        <p:nvSpPr>
          <p:cNvPr id="1035" name="Flow arrow 2"/>
          <p:cNvSpPr/>
          <p:nvPr/>
        </p:nvSpPr>
        <p:spPr>
          <a:xfrm>
            <a:off x="7848600" y="3825240"/>
            <a:ext cx="335280" cy="365760"/>
          </a:xfrm>
          <a:prstGeom prst="rightArrow">
            <a:avLst/>
          </a:prstGeom>
          <a:solidFill>
            <a:srgbClr val="B4B4B4"/>
          </a:solidFill>
          <a:ln>
            <a:noFill/>
          </a:ln>
        </p:spPr>
        <p:txBody>
          <a:bodyPr wrap="square" lIns="0" tIns="0" rIns="0" bIns="0" rtlCol="0" anchor="t">
            <a:noAutofit/>
          </a:bodyPr>
          <a:lstStyle/>
          <a:p>
            <a:endParaRPr lang="en-US" dirty="0"/>
          </a:p>
        </p:txBody>
      </p:sp>
      <p:sp>
        <p:nvSpPr>
          <p:cNvPr id="1036" name="Footnote citations"/>
          <p:cNvSpPr txBox="1"/>
          <p:nvPr/>
        </p:nvSpPr>
        <p:spPr>
          <a:xfrm>
            <a:off x="411480" y="5852160"/>
            <a:ext cx="8869680" cy="914400"/>
          </a:xfrm>
          <a:prstGeom prst="rect">
            <a:avLst/>
          </a:prstGeom>
          <a:noFill/>
          <a:ln>
            <a:noFill/>
          </a:ln>
        </p:spPr>
        <p:txBody>
          <a:bodyPr wrap="square" lIns="45720" tIns="45720" rIns="45720" bIns="45720" anchor="b">
            <a:noAutofit/>
          </a:bodyPr>
          <a:lstStyle/>
          <a:p>
            <a:pPr>
              <a:buNone/>
            </a:pPr>
            <a:r>
              <a:rPr lang="en-US" sz="900" b="1" dirty="0">
                <a:solidFill>
                  <a:srgbClr val="595959"/>
                </a:solidFill>
                <a:latin typeface="FS PF BeauSans Pro"/>
                <a:ea typeface="FS PF BeauSans Pro"/>
                <a:cs typeface="FS PF BeauSans Pro"/>
              </a:rPr>
              <a:t>Qwen3-Omni: </a:t>
            </a:r>
            <a:r>
              <a:rPr lang="en-US" sz="900" dirty="0">
                <a:solidFill>
                  <a:srgbClr val="595959"/>
                </a:solidFill>
                <a:latin typeface="FS PF BeauSans Pro"/>
                <a:ea typeface="FS PF BeauSans Pro"/>
                <a:cs typeface="FS PF BeauSans Pro"/>
              </a:rPr>
              <a:t>Qwen Team, arXiv:2509.17765, 2025</a:t>
            </a:r>
          </a:p>
        </p:txBody>
      </p:sp>
      <p:pic>
        <p:nvPicPr>
          <p:cNvPr id="1037" name="Process visual Tag selection (Canva)" descr="Tag selection step"/>
          <p:cNvPicPr>
            <a:picLocks noChangeAspect="1"/>
          </p:cNvPicPr>
          <p:nvPr/>
        </p:nvPicPr>
        <p:blipFill>
          <a:blip r:embed="rId2"/>
          <a:stretch>
            <a:fillRect/>
          </a:stretch>
        </p:blipFill>
        <p:spPr>
          <a:xfrm>
            <a:off x="5167450" y="3169920"/>
            <a:ext cx="1857098" cy="1280160"/>
          </a:xfrm>
          <a:prstGeom prst="rect">
            <a:avLst/>
          </a:prstGeom>
        </p:spPr>
      </p:pic>
      <p:pic>
        <p:nvPicPr>
          <p:cNvPr id="1038" name="Input visual (Canva)" descr="Recording with slot &lt;1&gt; marked: chứ thôi , &lt;1&gt; để nó lành thôi"/>
          <p:cNvPicPr>
            <a:picLocks noChangeAspect="1"/>
          </p:cNvPicPr>
          <p:nvPr/>
        </p:nvPicPr>
        <p:blipFill>
          <a:blip r:embed="rId3"/>
          <a:stretch>
            <a:fillRect/>
          </a:stretch>
        </p:blipFill>
        <p:spPr>
          <a:xfrm>
            <a:off x="1103642" y="3124200"/>
            <a:ext cx="2303755" cy="1371600"/>
          </a:xfrm>
          <a:prstGeom prst="rect">
            <a:avLst/>
          </a:prstGeom>
        </p:spPr>
      </p:pic>
      <p:pic>
        <p:nvPicPr>
          <p:cNvPr id="1039" name="Output visual (Canva)" descr="Recording with the tag at the slot: chứ thôi , [laughter] để nó lành thôi"/>
          <p:cNvPicPr>
            <a:picLocks noChangeAspect="1"/>
          </p:cNvPicPr>
          <p:nvPr/>
        </p:nvPicPr>
        <p:blipFill>
          <a:blip r:embed="rId4"/>
          <a:stretch>
            <a:fillRect/>
          </a:stretch>
        </p:blipFill>
        <p:spPr>
          <a:xfrm>
            <a:off x="8574630" y="3124200"/>
            <a:ext cx="2723698" cy="1371600"/>
          </a:xfrm>
          <a:prstGeom prst="rect">
            <a:avLst/>
          </a:prstGeom>
        </p:spPr>
      </p:pic>
    </p:spTree>
    <p:extLst>
      <p:ext uri="{BB962C8B-B14F-4D97-AF65-F5344CB8AC3E}">
        <p14:creationId xmlns:p14="http://schemas.microsoft.com/office/powerpoint/2010/main" val="584723571"/>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Shape 145"/>
        <p:cNvGrpSpPr/>
        <p:nvPr/>
      </p:nvGrpSpPr>
      <p:grpSpPr>
        <a:xfrm>
          <a:off x="0" y="0"/>
          <a:ext cx="0" cy="0"/>
          <a:chOff x="0" y="0"/>
          <a:chExt cx="0" cy="0"/>
        </a:xfrm>
      </p:grpSpPr>
      <p:sp>
        <p:nvSpPr>
          <p:cNvPr id="146" name="Google Shape;146;p10"/>
          <p:cNvSpPr txBox="1">
            <a:spLocks noGrp="1"/>
          </p:cNvSpPr>
          <p:nvPr>
            <p:ph type="ctrTitle"/>
          </p:nvPr>
        </p:nvSpPr>
        <p:spPr>
          <a:xfrm>
            <a:off x="822960" y="466344"/>
            <a:ext cx="10543032" cy="731520"/>
          </a:xfrm>
          <a:prstGeom prst="rect">
            <a:avLst/>
          </a:prstGeom>
          <a:noFill/>
          <a:ln>
            <a:noFill/>
          </a:ln>
        </p:spPr>
        <p:txBody>
          <a:bodyPr spcFirstLastPara="1" wrap="square" lIns="91425" tIns="91425" rIns="91425" bIns="91425" anchor="t" anchorCtr="0">
            <a:noAutofit/>
          </a:bodyPr>
          <a:lstStyle/>
          <a:p>
            <a:pPr marL="0" lvl="0" indent="0" algn="ctr" rtl="0">
              <a:buNone/>
            </a:pPr>
            <a:r>
              <a:rPr lang="en-US" dirty="0"/>
              <a:t>Clip selection</a:t>
            </a:r>
          </a:p>
        </p:txBody>
      </p:sp>
      <p:sp>
        <p:nvSpPr>
          <p:cNvPr id="148" name="Google Shape;148;p10"/>
          <p:cNvSpPr txBox="1">
            <a:spLocks noGrp="1"/>
          </p:cNvSpPr>
          <p:nvPr>
            <p:ph type="body" idx="1"/>
          </p:nvPr>
        </p:nvSpPr>
        <p:spPr>
          <a:xfrm>
            <a:off x="850392" y="1371600"/>
            <a:ext cx="10570464" cy="883920"/>
          </a:xfrm>
          <a:prstGeom prst="rect">
            <a:avLst/>
          </a:prstGeom>
          <a:noFill/>
          <a:ln>
            <a:noFill/>
          </a:ln>
        </p:spPr>
        <p:txBody>
          <a:bodyPr spcFirstLastPara="1" wrap="square" lIns="91425" tIns="91425" rIns="91425" bIns="91425" anchor="t" anchorCtr="0">
            <a:noAutofit/>
          </a:bodyPr>
          <a:lstStyle/>
          <a:p>
            <a:pPr marL="152400" lvl="0" indent="0" algn="l" rtl="0">
              <a:lnSpc>
                <a:spcPct val="115000"/>
              </a:lnSpc>
              <a:spcBef>
                <a:spcPts val="0"/>
              </a:spcBef>
              <a:spcAft>
                <a:spcPts val="0"/>
              </a:spcAft>
              <a:buNone/>
            </a:pPr>
            <a:r>
              <a:rPr lang="en-US" sz="1800" dirty="0">
                <a:latin typeface="FS PF BeauSans Pro"/>
                <a:ea typeface="FS PF BeauSans Pro"/>
                <a:cs typeface="FS PF BeauSans Pro"/>
              </a:rPr>
              <a:t>A clip of that class is sampled, weighted towards clips that match the speaker's intensity, clarity, tempo and tilt.</a:t>
            </a:r>
          </a:p>
        </p:txBody>
      </p:sp>
      <p:sp>
        <p:nvSpPr>
          <p:cNvPr id="2" name="Slide Number Placeholder 1">
            <a:extLst>
              <a:ext uri="{FF2B5EF4-FFF2-40B4-BE49-F238E27FC236}">
                <a16:creationId xmlns:a16="http://schemas.microsoft.com/office/drawing/2014/main" id="{249CE59B-DD91-4B3A-8ACA-10EA59D7C3EE}"/>
              </a:ext>
            </a:extLst>
          </p:cNvPr>
          <p:cNvSpPr>
            <a:spLocks noGrp="1"/>
          </p:cNvSpPr>
          <p:nvPr>
            <p:ph type="sldNum" idx="12"/>
          </p:nvPr>
        </p:nvSpPr>
        <p:spPr/>
        <p:txBody>
          <a:bodyPr/>
          <a:lstStyle/>
          <a:p>
            <a:pPr marL="0" lvl="0" indent="0" algn="ctr" rtl="0">
              <a:spcBef>
                <a:spcPts val="0"/>
              </a:spcBef>
              <a:spcAft>
                <a:spcPts val="0"/>
              </a:spcAft>
              <a:buNone/>
            </a:pPr>
            <a:fld id="{00000000-1234-1234-1234-123412341234}" type="slidenum">
              <a:rPr lang="en-US" smtClean="0"/>
              <a:t>11</a:t>
            </a:fld>
            <a:endParaRPr lang="en-US" dirty="0"/>
          </a:p>
        </p:txBody>
      </p:sp>
      <p:sp>
        <p:nvSpPr>
          <p:cNvPr id="1010" name="Step 0"/>
          <p:cNvSpPr txBox="1"/>
          <p:nvPr/>
        </p:nvSpPr>
        <p:spPr>
          <a:xfrm>
            <a:off x="1021080" y="5486400"/>
            <a:ext cx="1371600" cy="304800"/>
          </a:xfrm>
          <a:prstGeom prst="roundRect">
            <a:avLst>
              <a:gd name="adj" fmla="val 50000"/>
            </a:avLst>
          </a:prstGeom>
          <a:solidFill>
            <a:srgbClr val="FBE3E3"/>
          </a:solidFill>
          <a:ln>
            <a:noFill/>
          </a:ln>
        </p:spPr>
        <p:txBody>
          <a:bodyPr wrap="square" lIns="30480" tIns="0" rIns="30480" bIns="0" rtlCol="0" anchor="ctr">
            <a:noAutofit/>
          </a:bodyPr>
          <a:lstStyle/>
          <a:p>
            <a:pPr algn="ctr"/>
            <a:r>
              <a:rPr lang="en-US" sz="1067" dirty="0">
                <a:solidFill>
                  <a:srgbClr val="B30400"/>
                </a:solidFill>
                <a:latin typeface="FS PF BeauSans Pro"/>
                <a:ea typeface="FS PF BeauSans Pro"/>
                <a:cs typeface="FS PF BeauSans Pro"/>
                <a:sym typeface="FS PF BeauSans Pro"/>
              </a:rPr>
              <a:t>Clip pool</a:t>
            </a:r>
          </a:p>
        </p:txBody>
      </p:sp>
      <p:sp>
        <p:nvSpPr>
          <p:cNvPr id="1011" name="Step 1"/>
          <p:cNvSpPr txBox="1"/>
          <p:nvPr/>
        </p:nvSpPr>
        <p:spPr>
          <a:xfrm>
            <a:off x="2484120" y="5486400"/>
            <a:ext cx="1371600" cy="304800"/>
          </a:xfrm>
          <a:prstGeom prst="roundRect">
            <a:avLst>
              <a:gd name="adj" fmla="val 50000"/>
            </a:avLst>
          </a:prstGeom>
          <a:solidFill>
            <a:srgbClr val="FBE3E3"/>
          </a:solidFill>
          <a:ln>
            <a:noFill/>
          </a:ln>
        </p:spPr>
        <p:txBody>
          <a:bodyPr wrap="square" lIns="30480" tIns="0" rIns="30480" bIns="0" rtlCol="0" anchor="ctr">
            <a:noAutofit/>
          </a:bodyPr>
          <a:lstStyle/>
          <a:p>
            <a:pPr algn="ctr"/>
            <a:r>
              <a:rPr lang="en-US" sz="1067" dirty="0">
                <a:solidFill>
                  <a:srgbClr val="B30400"/>
                </a:solidFill>
                <a:latin typeface="FS PF BeauSans Pro"/>
                <a:ea typeface="FS PF BeauSans Pro"/>
                <a:cs typeface="FS PF BeauSans Pro"/>
                <a:sym typeface="FS PF BeauSans Pro"/>
              </a:rPr>
              <a:t>1  Pause detection</a:t>
            </a:r>
          </a:p>
        </p:txBody>
      </p:sp>
      <p:sp>
        <p:nvSpPr>
          <p:cNvPr id="1012" name="Step 2"/>
          <p:cNvSpPr txBox="1"/>
          <p:nvPr/>
        </p:nvSpPr>
        <p:spPr>
          <a:xfrm>
            <a:off x="3947160" y="5486400"/>
            <a:ext cx="1371600" cy="304800"/>
          </a:xfrm>
          <a:prstGeom prst="roundRect">
            <a:avLst>
              <a:gd name="adj" fmla="val 50000"/>
            </a:avLst>
          </a:prstGeom>
          <a:solidFill>
            <a:srgbClr val="FBE3E3"/>
          </a:solidFill>
          <a:ln>
            <a:noFill/>
          </a:ln>
        </p:spPr>
        <p:txBody>
          <a:bodyPr wrap="square" lIns="30480" tIns="0" rIns="30480" bIns="0" rtlCol="0" anchor="ctr">
            <a:noAutofit/>
          </a:bodyPr>
          <a:lstStyle/>
          <a:p>
            <a:pPr algn="ctr"/>
            <a:r>
              <a:rPr lang="en-US" sz="1067" dirty="0">
                <a:solidFill>
                  <a:srgbClr val="B30400"/>
                </a:solidFill>
                <a:latin typeface="FS PF BeauSans Pro"/>
                <a:ea typeface="FS PF BeauSans Pro"/>
                <a:cs typeface="FS PF BeauSans Pro"/>
                <a:sym typeface="FS PF BeauSans Pro"/>
              </a:rPr>
              <a:t>2  Tag selection</a:t>
            </a:r>
          </a:p>
        </p:txBody>
      </p:sp>
      <p:sp>
        <p:nvSpPr>
          <p:cNvPr id="1013" name="Step 3"/>
          <p:cNvSpPr txBox="1"/>
          <p:nvPr/>
        </p:nvSpPr>
        <p:spPr>
          <a:xfrm>
            <a:off x="5410200" y="5486400"/>
            <a:ext cx="1371600" cy="304800"/>
          </a:xfrm>
          <a:prstGeom prst="roundRect">
            <a:avLst>
              <a:gd name="adj" fmla="val 50000"/>
            </a:avLst>
          </a:prstGeom>
          <a:solidFill>
            <a:srgbClr val="E80500"/>
          </a:solidFill>
          <a:ln>
            <a:noFill/>
          </a:ln>
        </p:spPr>
        <p:txBody>
          <a:bodyPr wrap="square" lIns="30480" tIns="0" rIns="30480" bIns="0" rtlCol="0" anchor="ctr">
            <a:noAutofit/>
          </a:bodyPr>
          <a:lstStyle/>
          <a:p>
            <a:pPr algn="ctr"/>
            <a:r>
              <a:rPr lang="en-US" sz="1067" b="1" dirty="0">
                <a:solidFill>
                  <a:srgbClr val="FFFFFF"/>
                </a:solidFill>
                <a:latin typeface="FS PF BeauSans Pro"/>
                <a:ea typeface="FS PF BeauSans Pro"/>
                <a:cs typeface="FS PF BeauSans Pro"/>
                <a:sym typeface="FS PF BeauSans Pro"/>
              </a:rPr>
              <a:t>3  Clip selection</a:t>
            </a:r>
          </a:p>
        </p:txBody>
      </p:sp>
      <p:sp>
        <p:nvSpPr>
          <p:cNvPr id="1014" name="Step 4"/>
          <p:cNvSpPr txBox="1"/>
          <p:nvPr/>
        </p:nvSpPr>
        <p:spPr>
          <a:xfrm>
            <a:off x="6873240" y="5486400"/>
            <a:ext cx="1371600" cy="304800"/>
          </a:xfrm>
          <a:prstGeom prst="roundRect">
            <a:avLst>
              <a:gd name="adj" fmla="val 50000"/>
            </a:avLst>
          </a:prstGeom>
          <a:solidFill>
            <a:srgbClr val="F2F2F2"/>
          </a:solidFill>
          <a:ln>
            <a:noFill/>
          </a:ln>
        </p:spPr>
        <p:txBody>
          <a:bodyPr wrap="square" lIns="30480" tIns="0" rIns="30480" bIns="0" rtlCol="0" anchor="ctr">
            <a:noAutofit/>
          </a:bodyPr>
          <a:lstStyle/>
          <a:p>
            <a:pPr algn="ctr"/>
            <a:r>
              <a:rPr lang="en-US" sz="1067" dirty="0">
                <a:solidFill>
                  <a:srgbClr val="7F7F7F"/>
                </a:solidFill>
                <a:latin typeface="FS PF BeauSans Pro"/>
                <a:ea typeface="FS PF BeauSans Pro"/>
                <a:cs typeface="FS PF BeauSans Pro"/>
                <a:sym typeface="FS PF BeauSans Pro"/>
              </a:rPr>
              <a:t>4  Voice conversion</a:t>
            </a:r>
          </a:p>
        </p:txBody>
      </p:sp>
      <p:sp>
        <p:nvSpPr>
          <p:cNvPr id="1015" name="Step 5"/>
          <p:cNvSpPr txBox="1"/>
          <p:nvPr/>
        </p:nvSpPr>
        <p:spPr>
          <a:xfrm>
            <a:off x="8336280" y="5486400"/>
            <a:ext cx="1371600" cy="304800"/>
          </a:xfrm>
          <a:prstGeom prst="roundRect">
            <a:avLst>
              <a:gd name="adj" fmla="val 50000"/>
            </a:avLst>
          </a:prstGeom>
          <a:solidFill>
            <a:srgbClr val="F2F2F2"/>
          </a:solidFill>
          <a:ln>
            <a:noFill/>
          </a:ln>
        </p:spPr>
        <p:txBody>
          <a:bodyPr wrap="square" lIns="30480" tIns="0" rIns="30480" bIns="0" rtlCol="0" anchor="ctr">
            <a:noAutofit/>
          </a:bodyPr>
          <a:lstStyle/>
          <a:p>
            <a:pPr algn="ctr"/>
            <a:r>
              <a:rPr lang="en-US" sz="1067" dirty="0">
                <a:solidFill>
                  <a:srgbClr val="7F7F7F"/>
                </a:solidFill>
                <a:latin typeface="FS PF BeauSans Pro"/>
                <a:ea typeface="FS PF BeauSans Pro"/>
                <a:cs typeface="FS PF BeauSans Pro"/>
                <a:sym typeface="FS PF BeauSans Pro"/>
              </a:rPr>
              <a:t>5  Splicing</a:t>
            </a:r>
          </a:p>
        </p:txBody>
      </p:sp>
      <p:sp>
        <p:nvSpPr>
          <p:cNvPr id="1016" name="Step 6"/>
          <p:cNvSpPr txBox="1"/>
          <p:nvPr/>
        </p:nvSpPr>
        <p:spPr>
          <a:xfrm>
            <a:off x="9799320" y="5486400"/>
            <a:ext cx="1371600" cy="304800"/>
          </a:xfrm>
          <a:prstGeom prst="roundRect">
            <a:avLst>
              <a:gd name="adj" fmla="val 50000"/>
            </a:avLst>
          </a:prstGeom>
          <a:solidFill>
            <a:srgbClr val="F2F2F2"/>
          </a:solidFill>
          <a:ln>
            <a:noFill/>
          </a:ln>
        </p:spPr>
        <p:txBody>
          <a:bodyPr wrap="square" lIns="30480" tIns="0" rIns="30480" bIns="0" rtlCol="0" anchor="ctr">
            <a:noAutofit/>
          </a:bodyPr>
          <a:lstStyle/>
          <a:p>
            <a:pPr algn="ctr"/>
            <a:r>
              <a:rPr lang="en-US" sz="1067" dirty="0">
                <a:solidFill>
                  <a:srgbClr val="7F7F7F"/>
                </a:solidFill>
                <a:latin typeface="FS PF BeauSans Pro"/>
                <a:ea typeface="FS PF BeauSans Pro"/>
                <a:cs typeface="FS PF BeauSans Pro"/>
                <a:sym typeface="FS PF BeauSans Pro"/>
              </a:rPr>
              <a:t>6  Filter</a:t>
            </a:r>
          </a:p>
        </p:txBody>
      </p:sp>
      <p:sp>
        <p:nvSpPr>
          <p:cNvPr id="1017" name="Input card"/>
          <p:cNvSpPr/>
          <p:nvPr/>
        </p:nvSpPr>
        <p:spPr>
          <a:xfrm>
            <a:off x="609600" y="2712720"/>
            <a:ext cx="3291840" cy="2590800"/>
          </a:xfrm>
          <a:prstGeom prst="roundRect">
            <a:avLst>
              <a:gd name="adj" fmla="val 6000"/>
            </a:avLst>
          </a:prstGeom>
          <a:solidFill>
            <a:srgbClr val="F4F4F4"/>
          </a:solidFill>
          <a:ln>
            <a:noFill/>
          </a:ln>
        </p:spPr>
        <p:txBody>
          <a:bodyPr wrap="square" lIns="0" tIns="0" rIns="0" bIns="0" rtlCol="0" anchor="t">
            <a:noAutofit/>
          </a:bodyPr>
          <a:lstStyle/>
          <a:p>
            <a:endParaRPr lang="en-US" dirty="0"/>
          </a:p>
        </p:txBody>
      </p:sp>
      <p:sp>
        <p:nvSpPr>
          <p:cNvPr id="1018" name="Input label"/>
          <p:cNvSpPr txBox="1"/>
          <p:nvPr/>
        </p:nvSpPr>
        <p:spPr>
          <a:xfrm>
            <a:off x="792480" y="2846832"/>
            <a:ext cx="2926080" cy="274320"/>
          </a:xfrm>
          <a:prstGeom prst="rect">
            <a:avLst/>
          </a:prstGeom>
          <a:noFill/>
          <a:ln>
            <a:noFill/>
          </a:ln>
        </p:spPr>
        <p:txBody>
          <a:bodyPr wrap="square" lIns="0" tIns="0" rIns="0" bIns="0" rtlCol="0" anchor="t">
            <a:noAutofit/>
          </a:bodyPr>
          <a:lstStyle/>
          <a:p>
            <a:pPr algn="l"/>
            <a:r>
              <a:rPr lang="en-US" sz="1067" b="1" dirty="0">
                <a:solidFill>
                  <a:srgbClr val="7F7F7F"/>
                </a:solidFill>
                <a:latin typeface="FS PF BeauSans Pro"/>
                <a:ea typeface="FS PF BeauSans Pro"/>
                <a:cs typeface="FS PF BeauSans Pro"/>
                <a:sym typeface="FS PF BeauSans Pro"/>
              </a:rPr>
              <a:t>INPUT</a:t>
            </a:r>
          </a:p>
        </p:txBody>
      </p:sp>
      <p:sp>
        <p:nvSpPr>
          <p:cNvPr id="1021" name="Input caption"/>
          <p:cNvSpPr txBox="1"/>
          <p:nvPr/>
        </p:nvSpPr>
        <p:spPr>
          <a:xfrm>
            <a:off x="792480" y="4529328"/>
            <a:ext cx="2926080" cy="701040"/>
          </a:xfrm>
          <a:prstGeom prst="rect">
            <a:avLst/>
          </a:prstGeom>
          <a:noFill/>
          <a:ln>
            <a:noFill/>
          </a:ln>
        </p:spPr>
        <p:txBody>
          <a:bodyPr wrap="square" lIns="0" tIns="0" rIns="0" bIns="0" rtlCol="0" anchor="t">
            <a:noAutofit/>
          </a:bodyPr>
          <a:lstStyle/>
          <a:p>
            <a:pPr algn="ctr"/>
            <a:r>
              <a:rPr lang="en-US" sz="1333" b="1" dirty="0">
                <a:solidFill>
                  <a:srgbClr val="404155"/>
                </a:solidFill>
                <a:latin typeface="FS PF BeauSans Pro"/>
                <a:ea typeface="FS PF BeauSans Pro"/>
                <a:cs typeface="FS PF BeauSans Pro"/>
                <a:sym typeface="FS PF BeauSans Pro"/>
              </a:rPr>
              <a:t>Chosen tag</a:t>
            </a:r>
            <a:r>
              <a:rPr lang="en-US" sz="1333" dirty="0">
                <a:solidFill>
                  <a:srgbClr val="000000"/>
                </a:solidFill>
                <a:latin typeface="FS PF BeauSans Pro"/>
                <a:ea typeface="FS PF BeauSans Pro"/>
                <a:cs typeface="FS PF BeauSans Pro"/>
                <a:sym typeface="FS PF BeauSans Pro"/>
              </a:rPr>
              <a:t> + the speech just before the cut</a:t>
            </a:r>
          </a:p>
        </p:txBody>
      </p:sp>
      <p:sp>
        <p:nvSpPr>
          <p:cNvPr id="1022" name="Process card"/>
          <p:cNvSpPr/>
          <p:nvPr/>
        </p:nvSpPr>
        <p:spPr>
          <a:xfrm>
            <a:off x="4450080" y="2712720"/>
            <a:ext cx="3291840" cy="2590800"/>
          </a:xfrm>
          <a:prstGeom prst="roundRect">
            <a:avLst>
              <a:gd name="adj" fmla="val 6000"/>
            </a:avLst>
          </a:prstGeom>
          <a:solidFill>
            <a:srgbClr val="FDECEC"/>
          </a:solidFill>
          <a:ln>
            <a:noFill/>
          </a:ln>
        </p:spPr>
        <p:txBody>
          <a:bodyPr wrap="square" lIns="0" tIns="0" rIns="0" bIns="0" rtlCol="0" anchor="t">
            <a:noAutofit/>
          </a:bodyPr>
          <a:lstStyle/>
          <a:p>
            <a:endParaRPr lang="en-US" dirty="0"/>
          </a:p>
        </p:txBody>
      </p:sp>
      <p:sp>
        <p:nvSpPr>
          <p:cNvPr id="1023" name="Process label"/>
          <p:cNvSpPr txBox="1"/>
          <p:nvPr/>
        </p:nvSpPr>
        <p:spPr>
          <a:xfrm>
            <a:off x="4632960" y="2846832"/>
            <a:ext cx="2926080" cy="274320"/>
          </a:xfrm>
          <a:prstGeom prst="rect">
            <a:avLst/>
          </a:prstGeom>
          <a:noFill/>
          <a:ln>
            <a:noFill/>
          </a:ln>
        </p:spPr>
        <p:txBody>
          <a:bodyPr wrap="square" lIns="0" tIns="0" rIns="0" bIns="0" rtlCol="0" anchor="t">
            <a:noAutofit/>
          </a:bodyPr>
          <a:lstStyle/>
          <a:p>
            <a:pPr algn="l"/>
            <a:r>
              <a:rPr lang="en-US" sz="1067" b="1" dirty="0">
                <a:solidFill>
                  <a:srgbClr val="B30400"/>
                </a:solidFill>
                <a:latin typeface="FS PF BeauSans Pro"/>
                <a:ea typeface="FS PF BeauSans Pro"/>
                <a:cs typeface="FS PF BeauSans Pro"/>
                <a:sym typeface="FS PF BeauSans Pro"/>
              </a:rPr>
              <a:t>PROCESS</a:t>
            </a:r>
          </a:p>
        </p:txBody>
      </p:sp>
      <p:sp>
        <p:nvSpPr>
          <p:cNvPr id="1025" name="Process caption"/>
          <p:cNvSpPr txBox="1"/>
          <p:nvPr/>
        </p:nvSpPr>
        <p:spPr>
          <a:xfrm>
            <a:off x="4632960" y="4529328"/>
            <a:ext cx="2926080" cy="701040"/>
          </a:xfrm>
          <a:prstGeom prst="rect">
            <a:avLst/>
          </a:prstGeom>
          <a:noFill/>
          <a:ln>
            <a:noFill/>
          </a:ln>
        </p:spPr>
        <p:txBody>
          <a:bodyPr wrap="square" lIns="0" tIns="0" rIns="0" bIns="0" rtlCol="0" anchor="t">
            <a:noAutofit/>
          </a:bodyPr>
          <a:lstStyle/>
          <a:p>
            <a:pPr algn="ctr"/>
            <a:r>
              <a:rPr lang="en-US" sz="1333" b="1" dirty="0">
                <a:solidFill>
                  <a:srgbClr val="404155"/>
                </a:solidFill>
                <a:latin typeface="FS PF BeauSans Pro"/>
                <a:ea typeface="FS PF BeauSans Pro"/>
                <a:cs typeface="FS PF BeauSans Pro"/>
                <a:sym typeface="FS PF BeauSans Pro"/>
              </a:rPr>
              <a:t>Weighted sampling</a:t>
            </a:r>
            <a:r>
              <a:rPr lang="en-US" sz="1333" dirty="0">
                <a:solidFill>
                  <a:srgbClr val="000000"/>
                </a:solidFill>
                <a:latin typeface="FS PF BeauSans Pro"/>
                <a:ea typeface="FS PF BeauSans Pro"/>
                <a:cs typeface="FS PF BeauSans Pro"/>
                <a:sym typeface="FS PF BeauSans Pro"/>
              </a:rPr>
              <a:t> by intensity, clarity, tempo and tilt</a:t>
            </a:r>
          </a:p>
        </p:txBody>
      </p:sp>
      <p:sp>
        <p:nvSpPr>
          <p:cNvPr id="1026" name="Output card"/>
          <p:cNvSpPr/>
          <p:nvPr/>
        </p:nvSpPr>
        <p:spPr>
          <a:xfrm>
            <a:off x="8290560" y="2712720"/>
            <a:ext cx="3291840" cy="2590800"/>
          </a:xfrm>
          <a:prstGeom prst="roundRect">
            <a:avLst>
              <a:gd name="adj" fmla="val 6000"/>
            </a:avLst>
          </a:prstGeom>
          <a:solidFill>
            <a:srgbClr val="F4F4F4"/>
          </a:solidFill>
          <a:ln>
            <a:noFill/>
          </a:ln>
        </p:spPr>
        <p:txBody>
          <a:bodyPr wrap="square" lIns="0" tIns="0" rIns="0" bIns="0" rtlCol="0" anchor="t">
            <a:noAutofit/>
          </a:bodyPr>
          <a:lstStyle/>
          <a:p>
            <a:endParaRPr lang="en-US" dirty="0"/>
          </a:p>
        </p:txBody>
      </p:sp>
      <p:sp>
        <p:nvSpPr>
          <p:cNvPr id="1027" name="Output label"/>
          <p:cNvSpPr txBox="1"/>
          <p:nvPr/>
        </p:nvSpPr>
        <p:spPr>
          <a:xfrm>
            <a:off x="8473440" y="2846832"/>
            <a:ext cx="2926080" cy="274320"/>
          </a:xfrm>
          <a:prstGeom prst="rect">
            <a:avLst/>
          </a:prstGeom>
          <a:noFill/>
          <a:ln>
            <a:noFill/>
          </a:ln>
        </p:spPr>
        <p:txBody>
          <a:bodyPr wrap="square" lIns="0" tIns="0" rIns="0" bIns="0" rtlCol="0" anchor="t">
            <a:noAutofit/>
          </a:bodyPr>
          <a:lstStyle/>
          <a:p>
            <a:pPr algn="l"/>
            <a:r>
              <a:rPr lang="en-US" sz="1067" b="1" dirty="0">
                <a:solidFill>
                  <a:srgbClr val="7F7F7F"/>
                </a:solidFill>
                <a:latin typeface="FS PF BeauSans Pro"/>
                <a:ea typeface="FS PF BeauSans Pro"/>
                <a:cs typeface="FS PF BeauSans Pro"/>
                <a:sym typeface="FS PF BeauSans Pro"/>
              </a:rPr>
              <a:t>OUTPUT</a:t>
            </a:r>
          </a:p>
        </p:txBody>
      </p:sp>
      <p:sp>
        <p:nvSpPr>
          <p:cNvPr id="1029" name="Output caption"/>
          <p:cNvSpPr txBox="1"/>
          <p:nvPr/>
        </p:nvSpPr>
        <p:spPr>
          <a:xfrm>
            <a:off x="8473440" y="4529328"/>
            <a:ext cx="2926080" cy="701040"/>
          </a:xfrm>
          <a:prstGeom prst="rect">
            <a:avLst/>
          </a:prstGeom>
          <a:noFill/>
          <a:ln>
            <a:noFill/>
          </a:ln>
        </p:spPr>
        <p:txBody>
          <a:bodyPr wrap="square" lIns="0" tIns="0" rIns="0" bIns="0" rtlCol="0" anchor="t">
            <a:noAutofit/>
          </a:bodyPr>
          <a:lstStyle/>
          <a:p>
            <a:pPr algn="ctr"/>
            <a:r>
              <a:rPr lang="en-US" sz="1333" b="1" dirty="0">
                <a:solidFill>
                  <a:srgbClr val="404155"/>
                </a:solidFill>
                <a:latin typeface="FS PF BeauSans Pro"/>
                <a:ea typeface="FS PF BeauSans Pro"/>
                <a:cs typeface="FS PF BeauSans Pro"/>
                <a:sym typeface="FS PF BeauSans Pro"/>
              </a:rPr>
              <a:t>One NVV clip</a:t>
            </a:r>
            <a:r>
              <a:rPr lang="en-US" sz="1333" dirty="0">
                <a:solidFill>
                  <a:srgbClr val="000000"/>
                </a:solidFill>
                <a:latin typeface="FS PF BeauSans Pro"/>
                <a:ea typeface="FS PF BeauSans Pro"/>
                <a:cs typeface="FS PF BeauSans Pro"/>
                <a:sym typeface="FS PF BeauSans Pro"/>
              </a:rPr>
              <a:t> of that class</a:t>
            </a:r>
          </a:p>
        </p:txBody>
      </p:sp>
      <p:sp>
        <p:nvSpPr>
          <p:cNvPr id="1030" name="Flow arrow 1"/>
          <p:cNvSpPr/>
          <p:nvPr/>
        </p:nvSpPr>
        <p:spPr>
          <a:xfrm>
            <a:off x="4008120" y="3825240"/>
            <a:ext cx="335280" cy="365760"/>
          </a:xfrm>
          <a:prstGeom prst="rightArrow">
            <a:avLst/>
          </a:prstGeom>
          <a:solidFill>
            <a:srgbClr val="B4B4B4"/>
          </a:solidFill>
          <a:ln>
            <a:noFill/>
          </a:ln>
        </p:spPr>
        <p:txBody>
          <a:bodyPr wrap="square" lIns="0" tIns="0" rIns="0" bIns="0" rtlCol="0" anchor="t">
            <a:noAutofit/>
          </a:bodyPr>
          <a:lstStyle/>
          <a:p>
            <a:endParaRPr lang="en-US" dirty="0"/>
          </a:p>
        </p:txBody>
      </p:sp>
      <p:sp>
        <p:nvSpPr>
          <p:cNvPr id="1031" name="Flow arrow 2"/>
          <p:cNvSpPr/>
          <p:nvPr/>
        </p:nvSpPr>
        <p:spPr>
          <a:xfrm>
            <a:off x="7848600" y="3825240"/>
            <a:ext cx="335280" cy="365760"/>
          </a:xfrm>
          <a:prstGeom prst="rightArrow">
            <a:avLst/>
          </a:prstGeom>
          <a:solidFill>
            <a:srgbClr val="B4B4B4"/>
          </a:solidFill>
          <a:ln>
            <a:noFill/>
          </a:ln>
        </p:spPr>
        <p:txBody>
          <a:bodyPr wrap="square" lIns="0" tIns="0" rIns="0" bIns="0" rtlCol="0" anchor="t">
            <a:noAutofit/>
          </a:bodyPr>
          <a:lstStyle/>
          <a:p>
            <a:endParaRPr lang="en-US" dirty="0"/>
          </a:p>
        </p:txBody>
      </p:sp>
      <p:pic>
        <p:nvPicPr>
          <p:cNvPr id="1032" name="Process visual Clip selection (Canva)" descr="Clip selection step"/>
          <p:cNvPicPr>
            <a:picLocks noChangeAspect="1"/>
          </p:cNvPicPr>
          <p:nvPr/>
        </p:nvPicPr>
        <p:blipFill>
          <a:blip r:embed="rId2"/>
          <a:stretch>
            <a:fillRect/>
          </a:stretch>
        </p:blipFill>
        <p:spPr>
          <a:xfrm>
            <a:off x="5167450" y="3169920"/>
            <a:ext cx="1857098" cy="1280160"/>
          </a:xfrm>
          <a:prstGeom prst="rect">
            <a:avLst/>
          </a:prstGeom>
        </p:spPr>
      </p:pic>
      <p:pic>
        <p:nvPicPr>
          <p:cNvPr id="1033" name="Input visual (Canva)" descr="Recording with the tag at the slot: chứ thôi , [laughter] để nó lành thôi"/>
          <p:cNvPicPr>
            <a:picLocks noChangeAspect="1"/>
          </p:cNvPicPr>
          <p:nvPr/>
        </p:nvPicPr>
        <p:blipFill>
          <a:blip r:embed="rId3"/>
          <a:stretch>
            <a:fillRect/>
          </a:stretch>
        </p:blipFill>
        <p:spPr>
          <a:xfrm>
            <a:off x="893670" y="3124200"/>
            <a:ext cx="2723698" cy="1371600"/>
          </a:xfrm>
          <a:prstGeom prst="rect">
            <a:avLst/>
          </a:prstGeom>
        </p:spPr>
      </p:pic>
      <p:pic>
        <p:nvPicPr>
          <p:cNvPr id="1034" name="Output visual (Canva)" descr="Chosen laughter clip above the tagged recording"/>
          <p:cNvPicPr>
            <a:picLocks noChangeAspect="1"/>
          </p:cNvPicPr>
          <p:nvPr/>
        </p:nvPicPr>
        <p:blipFill>
          <a:blip r:embed="rId4"/>
          <a:stretch>
            <a:fillRect/>
          </a:stretch>
        </p:blipFill>
        <p:spPr>
          <a:xfrm>
            <a:off x="9272828" y="3124200"/>
            <a:ext cx="1327303" cy="1371600"/>
          </a:xfrm>
          <a:prstGeom prst="rect">
            <a:avLst/>
          </a:prstGeom>
        </p:spPr>
      </p:pic>
    </p:spTree>
    <p:extLst>
      <p:ext uri="{BB962C8B-B14F-4D97-AF65-F5344CB8AC3E}">
        <p14:creationId xmlns:p14="http://schemas.microsoft.com/office/powerpoint/2010/main" val="584723571"/>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Shape 145"/>
        <p:cNvGrpSpPr/>
        <p:nvPr/>
      </p:nvGrpSpPr>
      <p:grpSpPr>
        <a:xfrm>
          <a:off x="0" y="0"/>
          <a:ext cx="0" cy="0"/>
          <a:chOff x="0" y="0"/>
          <a:chExt cx="0" cy="0"/>
        </a:xfrm>
      </p:grpSpPr>
      <p:sp>
        <p:nvSpPr>
          <p:cNvPr id="146" name="Google Shape;146;p10"/>
          <p:cNvSpPr txBox="1">
            <a:spLocks noGrp="1"/>
          </p:cNvSpPr>
          <p:nvPr>
            <p:ph type="ctrTitle"/>
          </p:nvPr>
        </p:nvSpPr>
        <p:spPr>
          <a:xfrm>
            <a:off x="822960" y="466344"/>
            <a:ext cx="10543032" cy="731520"/>
          </a:xfrm>
          <a:prstGeom prst="rect">
            <a:avLst/>
          </a:prstGeom>
          <a:noFill/>
          <a:ln>
            <a:noFill/>
          </a:ln>
        </p:spPr>
        <p:txBody>
          <a:bodyPr spcFirstLastPara="1" wrap="square" lIns="91425" tIns="91425" rIns="91425" bIns="91425" anchor="t" anchorCtr="0">
            <a:noAutofit/>
          </a:bodyPr>
          <a:lstStyle/>
          <a:p>
            <a:pPr marL="0" lvl="0" indent="0" algn="ctr" rtl="0">
              <a:buNone/>
            </a:pPr>
            <a:r>
              <a:rPr lang="en-US" dirty="0"/>
              <a:t>Voice conversion</a:t>
            </a:r>
          </a:p>
        </p:txBody>
      </p:sp>
      <p:sp>
        <p:nvSpPr>
          <p:cNvPr id="148" name="Google Shape;148;p10"/>
          <p:cNvSpPr txBox="1">
            <a:spLocks noGrp="1"/>
          </p:cNvSpPr>
          <p:nvPr>
            <p:ph type="body" idx="1"/>
          </p:nvPr>
        </p:nvSpPr>
        <p:spPr>
          <a:xfrm>
            <a:off x="850392" y="1371600"/>
            <a:ext cx="10570464" cy="1137239"/>
          </a:xfrm>
          <a:prstGeom prst="rect">
            <a:avLst/>
          </a:prstGeom>
          <a:noFill/>
          <a:ln>
            <a:noFill/>
          </a:ln>
        </p:spPr>
        <p:txBody>
          <a:bodyPr spcFirstLastPara="1" wrap="square" lIns="91425" tIns="91425" rIns="91425" bIns="91425" anchor="t" anchorCtr="0">
            <a:noAutofit/>
          </a:bodyPr>
          <a:lstStyle/>
          <a:p>
            <a:pPr marL="152400" lvl="0" indent="0" algn="l" rtl="0">
              <a:lnSpc>
                <a:spcPct val="115000"/>
              </a:lnSpc>
              <a:spcBef>
                <a:spcPts val="0"/>
              </a:spcBef>
              <a:spcAft>
                <a:spcPts val="0"/>
              </a:spcAft>
              <a:buNone/>
            </a:pPr>
            <a:r>
              <a:rPr lang="en-US" sz="1800" dirty="0">
                <a:latin typeface="FS PF BeauSans Pro"/>
                <a:ea typeface="FS PF BeauSans Pro"/>
                <a:cs typeface="FS PF BeauSans Pro"/>
              </a:rPr>
              <a:t>Seed-VC converts the selected clip into the host speaker's voice, using the host utterance as the reference.</a:t>
            </a:r>
          </a:p>
          <a:p>
            <a:pPr marL="152400" lvl="0" indent="0" algn="l" rtl="0">
              <a:lnSpc>
                <a:spcPct val="115000"/>
              </a:lnSpc>
              <a:spcBef>
                <a:spcPts val="0"/>
              </a:spcBef>
              <a:spcAft>
                <a:spcPts val="0"/>
              </a:spcAft>
              <a:buNone/>
            </a:pPr>
            <a:r>
              <a:rPr lang="en-US" sz="1800" dirty="0">
                <a:latin typeface="FS PF BeauSans Pro"/>
                <a:ea typeface="FS PF BeauSans Pro"/>
                <a:cs typeface="FS PF BeauSans Pro"/>
              </a:rPr>
              <a:t>* Voice conversion system copy original </a:t>
            </a:r>
            <a:r>
              <a:rPr lang="en-US" sz="1800" b="1" dirty="0">
                <a:latin typeface="FS PF BeauSans Pro"/>
                <a:ea typeface="FS PF BeauSans Pro"/>
                <a:cs typeface="FS PF BeauSans Pro"/>
              </a:rPr>
              <a:t>prosody</a:t>
            </a:r>
            <a:r>
              <a:rPr lang="en-US" sz="1800" dirty="0">
                <a:latin typeface="FS PF BeauSans Pro"/>
                <a:ea typeface="FS PF BeauSans Pro"/>
                <a:cs typeface="FS PF BeauSans Pro"/>
              </a:rPr>
              <a:t> while changing </a:t>
            </a:r>
            <a:r>
              <a:rPr lang="en-US" sz="1800" b="1" dirty="0">
                <a:latin typeface="FS PF BeauSans Pro"/>
                <a:ea typeface="FS PF BeauSans Pro"/>
                <a:cs typeface="FS PF BeauSans Pro"/>
              </a:rPr>
              <a:t>timbre</a:t>
            </a:r>
            <a:r>
              <a:rPr lang="en-US" sz="1800" dirty="0">
                <a:latin typeface="FS PF BeauSans Pro"/>
                <a:ea typeface="FS PF BeauSans Pro"/>
                <a:cs typeface="FS PF BeauSans Pro"/>
              </a:rPr>
              <a:t> to prompted speaker</a:t>
            </a:r>
          </a:p>
        </p:txBody>
      </p:sp>
      <p:sp>
        <p:nvSpPr>
          <p:cNvPr id="2" name="Slide Number Placeholder 1">
            <a:extLst>
              <a:ext uri="{FF2B5EF4-FFF2-40B4-BE49-F238E27FC236}">
                <a16:creationId xmlns:a16="http://schemas.microsoft.com/office/drawing/2014/main" id="{249CE59B-DD91-4B3A-8ACA-10EA59D7C3EE}"/>
              </a:ext>
            </a:extLst>
          </p:cNvPr>
          <p:cNvSpPr>
            <a:spLocks noGrp="1"/>
          </p:cNvSpPr>
          <p:nvPr>
            <p:ph type="sldNum" idx="12"/>
          </p:nvPr>
        </p:nvSpPr>
        <p:spPr/>
        <p:txBody>
          <a:bodyPr/>
          <a:lstStyle/>
          <a:p>
            <a:pPr marL="0" lvl="0" indent="0" algn="ctr" rtl="0">
              <a:spcBef>
                <a:spcPts val="0"/>
              </a:spcBef>
              <a:spcAft>
                <a:spcPts val="0"/>
              </a:spcAft>
              <a:buNone/>
            </a:pPr>
            <a:fld id="{00000000-1234-1234-1234-123412341234}" type="slidenum">
              <a:rPr lang="en-US" smtClean="0"/>
              <a:t>12</a:t>
            </a:fld>
            <a:endParaRPr lang="en-US" dirty="0"/>
          </a:p>
        </p:txBody>
      </p:sp>
      <p:sp>
        <p:nvSpPr>
          <p:cNvPr id="1010" name="Step 0"/>
          <p:cNvSpPr txBox="1"/>
          <p:nvPr/>
        </p:nvSpPr>
        <p:spPr>
          <a:xfrm>
            <a:off x="1021080" y="5486400"/>
            <a:ext cx="1371600" cy="304800"/>
          </a:xfrm>
          <a:prstGeom prst="roundRect">
            <a:avLst>
              <a:gd name="adj" fmla="val 50000"/>
            </a:avLst>
          </a:prstGeom>
          <a:solidFill>
            <a:srgbClr val="FBE3E3"/>
          </a:solidFill>
          <a:ln>
            <a:noFill/>
          </a:ln>
        </p:spPr>
        <p:txBody>
          <a:bodyPr wrap="square" lIns="30480" tIns="0" rIns="30480" bIns="0" rtlCol="0" anchor="ctr">
            <a:noAutofit/>
          </a:bodyPr>
          <a:lstStyle/>
          <a:p>
            <a:pPr algn="ctr"/>
            <a:r>
              <a:rPr lang="en-US" sz="1067" dirty="0">
                <a:solidFill>
                  <a:srgbClr val="B30400"/>
                </a:solidFill>
                <a:latin typeface="FS PF BeauSans Pro"/>
                <a:ea typeface="FS PF BeauSans Pro"/>
                <a:cs typeface="FS PF BeauSans Pro"/>
                <a:sym typeface="FS PF BeauSans Pro"/>
              </a:rPr>
              <a:t>Clip pool</a:t>
            </a:r>
          </a:p>
        </p:txBody>
      </p:sp>
      <p:sp>
        <p:nvSpPr>
          <p:cNvPr id="1011" name="Step 1"/>
          <p:cNvSpPr txBox="1"/>
          <p:nvPr/>
        </p:nvSpPr>
        <p:spPr>
          <a:xfrm>
            <a:off x="2484120" y="5486400"/>
            <a:ext cx="1371600" cy="304800"/>
          </a:xfrm>
          <a:prstGeom prst="roundRect">
            <a:avLst>
              <a:gd name="adj" fmla="val 50000"/>
            </a:avLst>
          </a:prstGeom>
          <a:solidFill>
            <a:srgbClr val="FBE3E3"/>
          </a:solidFill>
          <a:ln>
            <a:noFill/>
          </a:ln>
        </p:spPr>
        <p:txBody>
          <a:bodyPr wrap="square" lIns="30480" tIns="0" rIns="30480" bIns="0" rtlCol="0" anchor="ctr">
            <a:noAutofit/>
          </a:bodyPr>
          <a:lstStyle/>
          <a:p>
            <a:pPr algn="ctr"/>
            <a:r>
              <a:rPr lang="en-US" sz="1067" dirty="0">
                <a:solidFill>
                  <a:srgbClr val="B30400"/>
                </a:solidFill>
                <a:latin typeface="FS PF BeauSans Pro"/>
                <a:ea typeface="FS PF BeauSans Pro"/>
                <a:cs typeface="FS PF BeauSans Pro"/>
                <a:sym typeface="FS PF BeauSans Pro"/>
              </a:rPr>
              <a:t>1  Pause detection</a:t>
            </a:r>
          </a:p>
        </p:txBody>
      </p:sp>
      <p:sp>
        <p:nvSpPr>
          <p:cNvPr id="1012" name="Step 2"/>
          <p:cNvSpPr txBox="1"/>
          <p:nvPr/>
        </p:nvSpPr>
        <p:spPr>
          <a:xfrm>
            <a:off x="3947160" y="5486400"/>
            <a:ext cx="1371600" cy="304800"/>
          </a:xfrm>
          <a:prstGeom prst="roundRect">
            <a:avLst>
              <a:gd name="adj" fmla="val 50000"/>
            </a:avLst>
          </a:prstGeom>
          <a:solidFill>
            <a:srgbClr val="FBE3E3"/>
          </a:solidFill>
          <a:ln>
            <a:noFill/>
          </a:ln>
        </p:spPr>
        <p:txBody>
          <a:bodyPr wrap="square" lIns="30480" tIns="0" rIns="30480" bIns="0" rtlCol="0" anchor="ctr">
            <a:noAutofit/>
          </a:bodyPr>
          <a:lstStyle/>
          <a:p>
            <a:pPr algn="ctr"/>
            <a:r>
              <a:rPr lang="en-US" sz="1067" dirty="0">
                <a:solidFill>
                  <a:srgbClr val="B30400"/>
                </a:solidFill>
                <a:latin typeface="FS PF BeauSans Pro"/>
                <a:ea typeface="FS PF BeauSans Pro"/>
                <a:cs typeface="FS PF BeauSans Pro"/>
                <a:sym typeface="FS PF BeauSans Pro"/>
              </a:rPr>
              <a:t>2  Tag selection</a:t>
            </a:r>
          </a:p>
        </p:txBody>
      </p:sp>
      <p:sp>
        <p:nvSpPr>
          <p:cNvPr id="1013" name="Step 3"/>
          <p:cNvSpPr txBox="1"/>
          <p:nvPr/>
        </p:nvSpPr>
        <p:spPr>
          <a:xfrm>
            <a:off x="5410200" y="5486400"/>
            <a:ext cx="1371600" cy="304800"/>
          </a:xfrm>
          <a:prstGeom prst="roundRect">
            <a:avLst>
              <a:gd name="adj" fmla="val 50000"/>
            </a:avLst>
          </a:prstGeom>
          <a:solidFill>
            <a:srgbClr val="FBE3E3"/>
          </a:solidFill>
          <a:ln>
            <a:noFill/>
          </a:ln>
        </p:spPr>
        <p:txBody>
          <a:bodyPr wrap="square" lIns="30480" tIns="0" rIns="30480" bIns="0" rtlCol="0" anchor="ctr">
            <a:noAutofit/>
          </a:bodyPr>
          <a:lstStyle/>
          <a:p>
            <a:pPr algn="ctr"/>
            <a:r>
              <a:rPr lang="en-US" sz="1067" dirty="0">
                <a:solidFill>
                  <a:srgbClr val="B30400"/>
                </a:solidFill>
                <a:latin typeface="FS PF BeauSans Pro"/>
                <a:ea typeface="FS PF BeauSans Pro"/>
                <a:cs typeface="FS PF BeauSans Pro"/>
                <a:sym typeface="FS PF BeauSans Pro"/>
              </a:rPr>
              <a:t>3  Clip selection</a:t>
            </a:r>
          </a:p>
        </p:txBody>
      </p:sp>
      <p:sp>
        <p:nvSpPr>
          <p:cNvPr id="1014" name="Step 4"/>
          <p:cNvSpPr txBox="1"/>
          <p:nvPr/>
        </p:nvSpPr>
        <p:spPr>
          <a:xfrm>
            <a:off x="6873240" y="5486400"/>
            <a:ext cx="1371600" cy="304800"/>
          </a:xfrm>
          <a:prstGeom prst="roundRect">
            <a:avLst>
              <a:gd name="adj" fmla="val 50000"/>
            </a:avLst>
          </a:prstGeom>
          <a:solidFill>
            <a:srgbClr val="E80500"/>
          </a:solidFill>
          <a:ln>
            <a:noFill/>
          </a:ln>
        </p:spPr>
        <p:txBody>
          <a:bodyPr wrap="square" lIns="30480" tIns="0" rIns="30480" bIns="0" rtlCol="0" anchor="ctr">
            <a:noAutofit/>
          </a:bodyPr>
          <a:lstStyle/>
          <a:p>
            <a:pPr algn="ctr"/>
            <a:r>
              <a:rPr lang="en-US" sz="1067" b="1" dirty="0">
                <a:solidFill>
                  <a:srgbClr val="FFFFFF"/>
                </a:solidFill>
                <a:latin typeface="FS PF BeauSans Pro"/>
                <a:ea typeface="FS PF BeauSans Pro"/>
                <a:cs typeface="FS PF BeauSans Pro"/>
                <a:sym typeface="FS PF BeauSans Pro"/>
              </a:rPr>
              <a:t>4  Voice conversion</a:t>
            </a:r>
          </a:p>
        </p:txBody>
      </p:sp>
      <p:sp>
        <p:nvSpPr>
          <p:cNvPr id="1015" name="Step 5"/>
          <p:cNvSpPr txBox="1"/>
          <p:nvPr/>
        </p:nvSpPr>
        <p:spPr>
          <a:xfrm>
            <a:off x="8336280" y="5486400"/>
            <a:ext cx="1371600" cy="304800"/>
          </a:xfrm>
          <a:prstGeom prst="roundRect">
            <a:avLst>
              <a:gd name="adj" fmla="val 50000"/>
            </a:avLst>
          </a:prstGeom>
          <a:solidFill>
            <a:srgbClr val="F2F2F2"/>
          </a:solidFill>
          <a:ln>
            <a:noFill/>
          </a:ln>
        </p:spPr>
        <p:txBody>
          <a:bodyPr wrap="square" lIns="30480" tIns="0" rIns="30480" bIns="0" rtlCol="0" anchor="ctr">
            <a:noAutofit/>
          </a:bodyPr>
          <a:lstStyle/>
          <a:p>
            <a:pPr algn="ctr"/>
            <a:r>
              <a:rPr lang="en-US" sz="1067" dirty="0">
                <a:solidFill>
                  <a:srgbClr val="7F7F7F"/>
                </a:solidFill>
                <a:latin typeface="FS PF BeauSans Pro"/>
                <a:ea typeface="FS PF BeauSans Pro"/>
                <a:cs typeface="FS PF BeauSans Pro"/>
                <a:sym typeface="FS PF BeauSans Pro"/>
              </a:rPr>
              <a:t>5  Splicing</a:t>
            </a:r>
          </a:p>
        </p:txBody>
      </p:sp>
      <p:sp>
        <p:nvSpPr>
          <p:cNvPr id="1016" name="Step 6"/>
          <p:cNvSpPr txBox="1"/>
          <p:nvPr/>
        </p:nvSpPr>
        <p:spPr>
          <a:xfrm>
            <a:off x="9799320" y="5486400"/>
            <a:ext cx="1371600" cy="304800"/>
          </a:xfrm>
          <a:prstGeom prst="roundRect">
            <a:avLst>
              <a:gd name="adj" fmla="val 50000"/>
            </a:avLst>
          </a:prstGeom>
          <a:solidFill>
            <a:srgbClr val="F2F2F2"/>
          </a:solidFill>
          <a:ln>
            <a:noFill/>
          </a:ln>
        </p:spPr>
        <p:txBody>
          <a:bodyPr wrap="square" lIns="30480" tIns="0" rIns="30480" bIns="0" rtlCol="0" anchor="ctr">
            <a:noAutofit/>
          </a:bodyPr>
          <a:lstStyle/>
          <a:p>
            <a:pPr algn="ctr"/>
            <a:r>
              <a:rPr lang="en-US" sz="1067" dirty="0">
                <a:solidFill>
                  <a:srgbClr val="7F7F7F"/>
                </a:solidFill>
                <a:latin typeface="FS PF BeauSans Pro"/>
                <a:ea typeface="FS PF BeauSans Pro"/>
                <a:cs typeface="FS PF BeauSans Pro"/>
                <a:sym typeface="FS PF BeauSans Pro"/>
              </a:rPr>
              <a:t>6  Filter</a:t>
            </a:r>
          </a:p>
        </p:txBody>
      </p:sp>
      <p:sp>
        <p:nvSpPr>
          <p:cNvPr id="1017" name="Input card"/>
          <p:cNvSpPr/>
          <p:nvPr/>
        </p:nvSpPr>
        <p:spPr>
          <a:xfrm>
            <a:off x="609600" y="2712720"/>
            <a:ext cx="3291840" cy="2590800"/>
          </a:xfrm>
          <a:prstGeom prst="roundRect">
            <a:avLst>
              <a:gd name="adj" fmla="val 6000"/>
            </a:avLst>
          </a:prstGeom>
          <a:solidFill>
            <a:srgbClr val="F4F4F4"/>
          </a:solidFill>
          <a:ln>
            <a:noFill/>
          </a:ln>
        </p:spPr>
        <p:txBody>
          <a:bodyPr wrap="square" lIns="0" tIns="0" rIns="0" bIns="0" rtlCol="0" anchor="t">
            <a:noAutofit/>
          </a:bodyPr>
          <a:lstStyle/>
          <a:p>
            <a:endParaRPr lang="en-US" dirty="0"/>
          </a:p>
        </p:txBody>
      </p:sp>
      <p:sp>
        <p:nvSpPr>
          <p:cNvPr id="1018" name="Input label"/>
          <p:cNvSpPr txBox="1"/>
          <p:nvPr/>
        </p:nvSpPr>
        <p:spPr>
          <a:xfrm>
            <a:off x="792480" y="2846832"/>
            <a:ext cx="2926080" cy="274320"/>
          </a:xfrm>
          <a:prstGeom prst="rect">
            <a:avLst/>
          </a:prstGeom>
          <a:noFill/>
          <a:ln>
            <a:noFill/>
          </a:ln>
        </p:spPr>
        <p:txBody>
          <a:bodyPr wrap="square" lIns="0" tIns="0" rIns="0" bIns="0" rtlCol="0" anchor="t">
            <a:noAutofit/>
          </a:bodyPr>
          <a:lstStyle/>
          <a:p>
            <a:pPr algn="l"/>
            <a:r>
              <a:rPr lang="en-US" sz="1067" b="1" dirty="0">
                <a:solidFill>
                  <a:srgbClr val="7F7F7F"/>
                </a:solidFill>
                <a:latin typeface="FS PF BeauSans Pro"/>
                <a:ea typeface="FS PF BeauSans Pro"/>
                <a:cs typeface="FS PF BeauSans Pro"/>
                <a:sym typeface="FS PF BeauSans Pro"/>
              </a:rPr>
              <a:t>INPUT</a:t>
            </a:r>
          </a:p>
        </p:txBody>
      </p:sp>
      <p:sp>
        <p:nvSpPr>
          <p:cNvPr id="1021" name="Input caption"/>
          <p:cNvSpPr txBox="1"/>
          <p:nvPr/>
        </p:nvSpPr>
        <p:spPr>
          <a:xfrm>
            <a:off x="792480" y="4529328"/>
            <a:ext cx="2926080" cy="701040"/>
          </a:xfrm>
          <a:prstGeom prst="rect">
            <a:avLst/>
          </a:prstGeom>
          <a:noFill/>
          <a:ln>
            <a:noFill/>
          </a:ln>
        </p:spPr>
        <p:txBody>
          <a:bodyPr wrap="square" lIns="0" tIns="0" rIns="0" bIns="0" rtlCol="0" anchor="t">
            <a:noAutofit/>
          </a:bodyPr>
          <a:lstStyle/>
          <a:p>
            <a:pPr algn="ctr"/>
            <a:r>
              <a:rPr lang="en-US" sz="1333" b="1" dirty="0">
                <a:solidFill>
                  <a:srgbClr val="404155"/>
                </a:solidFill>
                <a:latin typeface="FS PF BeauSans Pro"/>
                <a:ea typeface="FS PF BeauSans Pro"/>
                <a:cs typeface="FS PF BeauSans Pro"/>
                <a:sym typeface="FS PF BeauSans Pro"/>
              </a:rPr>
              <a:t>Selected clip</a:t>
            </a:r>
            <a:r>
              <a:rPr lang="en-US" sz="1333" dirty="0">
                <a:solidFill>
                  <a:srgbClr val="000000"/>
                </a:solidFill>
                <a:latin typeface="FS PF BeauSans Pro"/>
                <a:ea typeface="FS PF BeauSans Pro"/>
                <a:cs typeface="FS PF BeauSans Pro"/>
                <a:sym typeface="FS PF BeauSans Pro"/>
              </a:rPr>
              <a:t> + host utterance as voice reference</a:t>
            </a:r>
          </a:p>
        </p:txBody>
      </p:sp>
      <p:sp>
        <p:nvSpPr>
          <p:cNvPr id="1022" name="Process card"/>
          <p:cNvSpPr/>
          <p:nvPr/>
        </p:nvSpPr>
        <p:spPr>
          <a:xfrm>
            <a:off x="4450080" y="2712720"/>
            <a:ext cx="3291840" cy="2590800"/>
          </a:xfrm>
          <a:prstGeom prst="roundRect">
            <a:avLst>
              <a:gd name="adj" fmla="val 6000"/>
            </a:avLst>
          </a:prstGeom>
          <a:solidFill>
            <a:srgbClr val="FDECEC"/>
          </a:solidFill>
          <a:ln>
            <a:noFill/>
          </a:ln>
        </p:spPr>
        <p:txBody>
          <a:bodyPr wrap="square" lIns="0" tIns="0" rIns="0" bIns="0" rtlCol="0" anchor="t">
            <a:noAutofit/>
          </a:bodyPr>
          <a:lstStyle/>
          <a:p>
            <a:endParaRPr lang="en-US" dirty="0"/>
          </a:p>
        </p:txBody>
      </p:sp>
      <p:sp>
        <p:nvSpPr>
          <p:cNvPr id="1023" name="Process label"/>
          <p:cNvSpPr txBox="1"/>
          <p:nvPr/>
        </p:nvSpPr>
        <p:spPr>
          <a:xfrm>
            <a:off x="4632960" y="2846832"/>
            <a:ext cx="2926080" cy="274320"/>
          </a:xfrm>
          <a:prstGeom prst="rect">
            <a:avLst/>
          </a:prstGeom>
          <a:noFill/>
          <a:ln>
            <a:noFill/>
          </a:ln>
        </p:spPr>
        <p:txBody>
          <a:bodyPr wrap="square" lIns="0" tIns="0" rIns="0" bIns="0" rtlCol="0" anchor="t">
            <a:noAutofit/>
          </a:bodyPr>
          <a:lstStyle/>
          <a:p>
            <a:pPr algn="l"/>
            <a:r>
              <a:rPr lang="en-US" sz="1067" b="1" dirty="0">
                <a:solidFill>
                  <a:srgbClr val="B30400"/>
                </a:solidFill>
                <a:latin typeface="FS PF BeauSans Pro"/>
                <a:ea typeface="FS PF BeauSans Pro"/>
                <a:cs typeface="FS PF BeauSans Pro"/>
                <a:sym typeface="FS PF BeauSans Pro"/>
              </a:rPr>
              <a:t>PROCESS</a:t>
            </a:r>
          </a:p>
        </p:txBody>
      </p:sp>
      <p:sp>
        <p:nvSpPr>
          <p:cNvPr id="1025" name="Process caption"/>
          <p:cNvSpPr txBox="1"/>
          <p:nvPr/>
        </p:nvSpPr>
        <p:spPr>
          <a:xfrm>
            <a:off x="4632960" y="4529328"/>
            <a:ext cx="2926080" cy="701040"/>
          </a:xfrm>
          <a:prstGeom prst="rect">
            <a:avLst/>
          </a:prstGeom>
          <a:noFill/>
          <a:ln>
            <a:noFill/>
          </a:ln>
        </p:spPr>
        <p:txBody>
          <a:bodyPr wrap="square" lIns="0" tIns="0" rIns="0" bIns="0" rtlCol="0" anchor="t">
            <a:noAutofit/>
          </a:bodyPr>
          <a:lstStyle/>
          <a:p>
            <a:pPr algn="ctr"/>
            <a:r>
              <a:rPr lang="en-US" sz="1333" b="1" dirty="0">
                <a:solidFill>
                  <a:srgbClr val="404155"/>
                </a:solidFill>
                <a:latin typeface="FS PF BeauSans Pro"/>
                <a:ea typeface="FS PF BeauSans Pro"/>
                <a:cs typeface="FS PF BeauSans Pro"/>
                <a:sym typeface="FS PF BeauSans Pro"/>
              </a:rPr>
              <a:t>Seed-VC</a:t>
            </a:r>
            <a:r>
              <a:rPr lang="en-US" sz="1333" dirty="0">
                <a:solidFill>
                  <a:srgbClr val="000000"/>
                </a:solidFill>
                <a:latin typeface="FS PF BeauSans Pro"/>
                <a:ea typeface="FS PF BeauSans Pro"/>
                <a:cs typeface="FS PF BeauSans Pro"/>
                <a:sym typeface="FS PF BeauSans Pro"/>
              </a:rPr>
              <a:t>, pitch conditioning off</a:t>
            </a:r>
          </a:p>
        </p:txBody>
      </p:sp>
      <p:sp>
        <p:nvSpPr>
          <p:cNvPr id="1026" name="Output card"/>
          <p:cNvSpPr/>
          <p:nvPr/>
        </p:nvSpPr>
        <p:spPr>
          <a:xfrm>
            <a:off x="8290560" y="2712720"/>
            <a:ext cx="3291840" cy="2590800"/>
          </a:xfrm>
          <a:prstGeom prst="roundRect">
            <a:avLst>
              <a:gd name="adj" fmla="val 6000"/>
            </a:avLst>
          </a:prstGeom>
          <a:solidFill>
            <a:srgbClr val="F4F4F4"/>
          </a:solidFill>
          <a:ln>
            <a:noFill/>
          </a:ln>
        </p:spPr>
        <p:txBody>
          <a:bodyPr wrap="square" lIns="0" tIns="0" rIns="0" bIns="0" rtlCol="0" anchor="t">
            <a:noAutofit/>
          </a:bodyPr>
          <a:lstStyle/>
          <a:p>
            <a:endParaRPr lang="en-US" dirty="0"/>
          </a:p>
        </p:txBody>
      </p:sp>
      <p:sp>
        <p:nvSpPr>
          <p:cNvPr id="1027" name="Output label"/>
          <p:cNvSpPr txBox="1"/>
          <p:nvPr/>
        </p:nvSpPr>
        <p:spPr>
          <a:xfrm>
            <a:off x="8473440" y="2846832"/>
            <a:ext cx="2926080" cy="274320"/>
          </a:xfrm>
          <a:prstGeom prst="rect">
            <a:avLst/>
          </a:prstGeom>
          <a:noFill/>
          <a:ln>
            <a:noFill/>
          </a:ln>
        </p:spPr>
        <p:txBody>
          <a:bodyPr wrap="square" lIns="0" tIns="0" rIns="0" bIns="0" rtlCol="0" anchor="t">
            <a:noAutofit/>
          </a:bodyPr>
          <a:lstStyle/>
          <a:p>
            <a:pPr algn="l"/>
            <a:r>
              <a:rPr lang="en-US" sz="1067" b="1" dirty="0">
                <a:solidFill>
                  <a:srgbClr val="7F7F7F"/>
                </a:solidFill>
                <a:latin typeface="FS PF BeauSans Pro"/>
                <a:ea typeface="FS PF BeauSans Pro"/>
                <a:cs typeface="FS PF BeauSans Pro"/>
                <a:sym typeface="FS PF BeauSans Pro"/>
              </a:rPr>
              <a:t>OUTPUT</a:t>
            </a:r>
          </a:p>
        </p:txBody>
      </p:sp>
      <p:sp>
        <p:nvSpPr>
          <p:cNvPr id="1029" name="Output caption"/>
          <p:cNvSpPr txBox="1"/>
          <p:nvPr/>
        </p:nvSpPr>
        <p:spPr>
          <a:xfrm>
            <a:off x="8473440" y="4529328"/>
            <a:ext cx="2926080" cy="701040"/>
          </a:xfrm>
          <a:prstGeom prst="rect">
            <a:avLst/>
          </a:prstGeom>
          <a:noFill/>
          <a:ln>
            <a:noFill/>
          </a:ln>
        </p:spPr>
        <p:txBody>
          <a:bodyPr wrap="square" lIns="0" tIns="0" rIns="0" bIns="0" rtlCol="0" anchor="t">
            <a:noAutofit/>
          </a:bodyPr>
          <a:lstStyle/>
          <a:p>
            <a:pPr algn="ctr"/>
            <a:r>
              <a:rPr lang="en-US" sz="1333" b="1" dirty="0">
                <a:solidFill>
                  <a:srgbClr val="404155"/>
                </a:solidFill>
                <a:latin typeface="FS PF BeauSans Pro"/>
                <a:ea typeface="FS PF BeauSans Pro"/>
                <a:cs typeface="FS PF BeauSans Pro"/>
                <a:sym typeface="FS PF BeauSans Pro"/>
              </a:rPr>
              <a:t>Clip in the host speaker's voice</a:t>
            </a:r>
          </a:p>
        </p:txBody>
      </p:sp>
      <p:sp>
        <p:nvSpPr>
          <p:cNvPr id="1030" name="Flow arrow 1"/>
          <p:cNvSpPr/>
          <p:nvPr/>
        </p:nvSpPr>
        <p:spPr>
          <a:xfrm>
            <a:off x="4008120" y="3825240"/>
            <a:ext cx="335280" cy="365760"/>
          </a:xfrm>
          <a:prstGeom prst="rightArrow">
            <a:avLst/>
          </a:prstGeom>
          <a:solidFill>
            <a:srgbClr val="B4B4B4"/>
          </a:solidFill>
          <a:ln>
            <a:noFill/>
          </a:ln>
        </p:spPr>
        <p:txBody>
          <a:bodyPr wrap="square" lIns="0" tIns="0" rIns="0" bIns="0" rtlCol="0" anchor="t">
            <a:noAutofit/>
          </a:bodyPr>
          <a:lstStyle/>
          <a:p>
            <a:endParaRPr lang="en-US" dirty="0"/>
          </a:p>
        </p:txBody>
      </p:sp>
      <p:sp>
        <p:nvSpPr>
          <p:cNvPr id="1031" name="Flow arrow 2"/>
          <p:cNvSpPr/>
          <p:nvPr/>
        </p:nvSpPr>
        <p:spPr>
          <a:xfrm>
            <a:off x="7848600" y="3825240"/>
            <a:ext cx="335280" cy="365760"/>
          </a:xfrm>
          <a:prstGeom prst="rightArrow">
            <a:avLst/>
          </a:prstGeom>
          <a:solidFill>
            <a:srgbClr val="B4B4B4"/>
          </a:solidFill>
          <a:ln>
            <a:noFill/>
          </a:ln>
        </p:spPr>
        <p:txBody>
          <a:bodyPr wrap="square" lIns="0" tIns="0" rIns="0" bIns="0" rtlCol="0" anchor="t">
            <a:noAutofit/>
          </a:bodyPr>
          <a:lstStyle/>
          <a:p>
            <a:endParaRPr lang="en-US" dirty="0"/>
          </a:p>
        </p:txBody>
      </p:sp>
      <p:sp>
        <p:nvSpPr>
          <p:cNvPr id="1032" name="Footnote citations"/>
          <p:cNvSpPr txBox="1"/>
          <p:nvPr/>
        </p:nvSpPr>
        <p:spPr>
          <a:xfrm>
            <a:off x="411480" y="5852160"/>
            <a:ext cx="8869680" cy="914400"/>
          </a:xfrm>
          <a:prstGeom prst="rect">
            <a:avLst/>
          </a:prstGeom>
          <a:noFill/>
          <a:ln>
            <a:noFill/>
          </a:ln>
        </p:spPr>
        <p:txBody>
          <a:bodyPr wrap="square" lIns="45720" tIns="45720" rIns="45720" bIns="45720" anchor="b">
            <a:noAutofit/>
          </a:bodyPr>
          <a:lstStyle/>
          <a:p>
            <a:pPr>
              <a:buNone/>
            </a:pPr>
            <a:r>
              <a:rPr lang="en-US" sz="900" b="1" dirty="0">
                <a:solidFill>
                  <a:srgbClr val="595959"/>
                </a:solidFill>
                <a:latin typeface="FS PF BeauSans Pro"/>
                <a:ea typeface="FS PF BeauSans Pro"/>
                <a:cs typeface="FS PF BeauSans Pro"/>
              </a:rPr>
              <a:t>Seed-VC: </a:t>
            </a:r>
            <a:r>
              <a:rPr lang="en-US" sz="900" dirty="0">
                <a:solidFill>
                  <a:srgbClr val="595959"/>
                </a:solidFill>
                <a:latin typeface="FS PF BeauSans Pro"/>
                <a:ea typeface="FS PF BeauSans Pro"/>
                <a:cs typeface="FS PF BeauSans Pro"/>
              </a:rPr>
              <a:t>Liu, arXiv:2411.09943, 2024</a:t>
            </a:r>
          </a:p>
        </p:txBody>
      </p:sp>
      <p:pic>
        <p:nvPicPr>
          <p:cNvPr id="1033" name="Process visual Voice conversion (Canva)" descr="Voice conversion step"/>
          <p:cNvPicPr>
            <a:picLocks noChangeAspect="1"/>
          </p:cNvPicPr>
          <p:nvPr/>
        </p:nvPicPr>
        <p:blipFill>
          <a:blip r:embed="rId2"/>
          <a:stretch>
            <a:fillRect/>
          </a:stretch>
        </p:blipFill>
        <p:spPr>
          <a:xfrm>
            <a:off x="5164410" y="3169920"/>
            <a:ext cx="1863178" cy="1280160"/>
          </a:xfrm>
          <a:prstGeom prst="rect">
            <a:avLst/>
          </a:prstGeom>
        </p:spPr>
      </p:pic>
      <p:pic>
        <p:nvPicPr>
          <p:cNvPr id="1034" name="Input visual (Canva)" descr="Chosen laughter clip above the tagged recording"/>
          <p:cNvPicPr>
            <a:picLocks noChangeAspect="1"/>
          </p:cNvPicPr>
          <p:nvPr/>
        </p:nvPicPr>
        <p:blipFill>
          <a:blip r:embed="rId3"/>
          <a:stretch>
            <a:fillRect/>
          </a:stretch>
        </p:blipFill>
        <p:spPr>
          <a:xfrm>
            <a:off x="1591868" y="3124200"/>
            <a:ext cx="1327303" cy="1371600"/>
          </a:xfrm>
          <a:prstGeom prst="rect">
            <a:avLst/>
          </a:prstGeom>
        </p:spPr>
      </p:pic>
      <p:pic>
        <p:nvPicPr>
          <p:cNvPr id="1035" name="Output visual (Canva)" descr="Laughter clip after voice conversion, above the tagged recording"/>
          <p:cNvPicPr>
            <a:picLocks noChangeAspect="1"/>
          </p:cNvPicPr>
          <p:nvPr/>
        </p:nvPicPr>
        <p:blipFill>
          <a:blip r:embed="rId4"/>
          <a:stretch>
            <a:fillRect/>
          </a:stretch>
        </p:blipFill>
        <p:spPr>
          <a:xfrm>
            <a:off x="9204377" y="3124200"/>
            <a:ext cx="1464204" cy="1371600"/>
          </a:xfrm>
          <a:prstGeom prst="rect">
            <a:avLst/>
          </a:prstGeom>
        </p:spPr>
      </p:pic>
    </p:spTree>
    <p:extLst>
      <p:ext uri="{BB962C8B-B14F-4D97-AF65-F5344CB8AC3E}">
        <p14:creationId xmlns:p14="http://schemas.microsoft.com/office/powerpoint/2010/main" val="584723571"/>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Shape 145"/>
        <p:cNvGrpSpPr/>
        <p:nvPr/>
      </p:nvGrpSpPr>
      <p:grpSpPr>
        <a:xfrm>
          <a:off x="0" y="0"/>
          <a:ext cx="0" cy="0"/>
          <a:chOff x="0" y="0"/>
          <a:chExt cx="0" cy="0"/>
        </a:xfrm>
      </p:grpSpPr>
      <p:sp>
        <p:nvSpPr>
          <p:cNvPr id="146" name="Google Shape;146;p10"/>
          <p:cNvSpPr txBox="1">
            <a:spLocks noGrp="1"/>
          </p:cNvSpPr>
          <p:nvPr>
            <p:ph type="ctrTitle"/>
          </p:nvPr>
        </p:nvSpPr>
        <p:spPr>
          <a:xfrm>
            <a:off x="822960" y="466344"/>
            <a:ext cx="10543032" cy="731520"/>
          </a:xfrm>
          <a:prstGeom prst="rect">
            <a:avLst/>
          </a:prstGeom>
          <a:noFill/>
          <a:ln>
            <a:noFill/>
          </a:ln>
        </p:spPr>
        <p:txBody>
          <a:bodyPr spcFirstLastPara="1" wrap="square" lIns="91425" tIns="91425" rIns="91425" bIns="91425" anchor="t" anchorCtr="0">
            <a:noAutofit/>
          </a:bodyPr>
          <a:lstStyle/>
          <a:p>
            <a:pPr marL="0" lvl="0" indent="0" algn="ctr" rtl="0">
              <a:buNone/>
            </a:pPr>
            <a:r>
              <a:rPr lang="en-US" dirty="0"/>
              <a:t>Splicing</a:t>
            </a:r>
          </a:p>
        </p:txBody>
      </p:sp>
      <p:sp>
        <p:nvSpPr>
          <p:cNvPr id="148" name="Google Shape;148;p10"/>
          <p:cNvSpPr txBox="1">
            <a:spLocks noGrp="1"/>
          </p:cNvSpPr>
          <p:nvPr>
            <p:ph type="body" idx="1"/>
          </p:nvPr>
        </p:nvSpPr>
        <p:spPr>
          <a:xfrm>
            <a:off x="850392" y="1371600"/>
            <a:ext cx="10570464" cy="883920"/>
          </a:xfrm>
          <a:prstGeom prst="rect">
            <a:avLst/>
          </a:prstGeom>
          <a:noFill/>
          <a:ln>
            <a:noFill/>
          </a:ln>
        </p:spPr>
        <p:txBody>
          <a:bodyPr spcFirstLastPara="1" wrap="square" lIns="91425" tIns="91425" rIns="91425" bIns="91425" anchor="t" anchorCtr="0">
            <a:noAutofit/>
          </a:bodyPr>
          <a:lstStyle/>
          <a:p>
            <a:pPr marL="152400" lvl="0" indent="0" algn="l" rtl="0">
              <a:lnSpc>
                <a:spcPct val="115000"/>
              </a:lnSpc>
              <a:spcBef>
                <a:spcPts val="0"/>
              </a:spcBef>
              <a:spcAft>
                <a:spcPts val="0"/>
              </a:spcAft>
              <a:buNone/>
            </a:pPr>
            <a:r>
              <a:rPr lang="en-US" sz="1800" dirty="0">
                <a:latin typeface="FS PF BeauSans Pro"/>
                <a:ea typeface="FS PF BeauSans Pro"/>
                <a:cs typeface="FS PF BeauSans Pro"/>
              </a:rPr>
              <a:t>The converted event is loudness-matched and spliced into the pause, with natural silence on each side.</a:t>
            </a:r>
          </a:p>
        </p:txBody>
      </p:sp>
      <p:sp>
        <p:nvSpPr>
          <p:cNvPr id="2" name="Slide Number Placeholder 1">
            <a:extLst>
              <a:ext uri="{FF2B5EF4-FFF2-40B4-BE49-F238E27FC236}">
                <a16:creationId xmlns:a16="http://schemas.microsoft.com/office/drawing/2014/main" id="{249CE59B-DD91-4B3A-8ACA-10EA59D7C3EE}"/>
              </a:ext>
            </a:extLst>
          </p:cNvPr>
          <p:cNvSpPr>
            <a:spLocks noGrp="1"/>
          </p:cNvSpPr>
          <p:nvPr>
            <p:ph type="sldNum" idx="12"/>
          </p:nvPr>
        </p:nvSpPr>
        <p:spPr/>
        <p:txBody>
          <a:bodyPr/>
          <a:lstStyle/>
          <a:p>
            <a:pPr marL="0" lvl="0" indent="0" algn="ctr" rtl="0">
              <a:spcBef>
                <a:spcPts val="0"/>
              </a:spcBef>
              <a:spcAft>
                <a:spcPts val="0"/>
              </a:spcAft>
              <a:buNone/>
            </a:pPr>
            <a:fld id="{00000000-1234-1234-1234-123412341234}" type="slidenum">
              <a:rPr lang="en-US" smtClean="0"/>
              <a:t>13</a:t>
            </a:fld>
            <a:endParaRPr lang="en-US" dirty="0"/>
          </a:p>
        </p:txBody>
      </p:sp>
      <p:sp>
        <p:nvSpPr>
          <p:cNvPr id="1010" name="Step 0"/>
          <p:cNvSpPr txBox="1"/>
          <p:nvPr/>
        </p:nvSpPr>
        <p:spPr>
          <a:xfrm>
            <a:off x="1021080" y="5486400"/>
            <a:ext cx="1371600" cy="304800"/>
          </a:xfrm>
          <a:prstGeom prst="roundRect">
            <a:avLst>
              <a:gd name="adj" fmla="val 50000"/>
            </a:avLst>
          </a:prstGeom>
          <a:solidFill>
            <a:srgbClr val="FBE3E3"/>
          </a:solidFill>
          <a:ln>
            <a:noFill/>
          </a:ln>
        </p:spPr>
        <p:txBody>
          <a:bodyPr wrap="square" lIns="30480" tIns="0" rIns="30480" bIns="0" rtlCol="0" anchor="ctr">
            <a:noAutofit/>
          </a:bodyPr>
          <a:lstStyle/>
          <a:p>
            <a:pPr algn="ctr"/>
            <a:r>
              <a:rPr lang="en-US" sz="1067" dirty="0">
                <a:solidFill>
                  <a:srgbClr val="B30400"/>
                </a:solidFill>
                <a:latin typeface="FS PF BeauSans Pro"/>
                <a:ea typeface="FS PF BeauSans Pro"/>
                <a:cs typeface="FS PF BeauSans Pro"/>
                <a:sym typeface="FS PF BeauSans Pro"/>
              </a:rPr>
              <a:t>Clip pool</a:t>
            </a:r>
          </a:p>
        </p:txBody>
      </p:sp>
      <p:sp>
        <p:nvSpPr>
          <p:cNvPr id="1011" name="Step 1"/>
          <p:cNvSpPr txBox="1"/>
          <p:nvPr/>
        </p:nvSpPr>
        <p:spPr>
          <a:xfrm>
            <a:off x="2484120" y="5486400"/>
            <a:ext cx="1371600" cy="304800"/>
          </a:xfrm>
          <a:prstGeom prst="roundRect">
            <a:avLst>
              <a:gd name="adj" fmla="val 50000"/>
            </a:avLst>
          </a:prstGeom>
          <a:solidFill>
            <a:srgbClr val="FBE3E3"/>
          </a:solidFill>
          <a:ln>
            <a:noFill/>
          </a:ln>
        </p:spPr>
        <p:txBody>
          <a:bodyPr wrap="square" lIns="30480" tIns="0" rIns="30480" bIns="0" rtlCol="0" anchor="ctr">
            <a:noAutofit/>
          </a:bodyPr>
          <a:lstStyle/>
          <a:p>
            <a:pPr algn="ctr"/>
            <a:r>
              <a:rPr lang="en-US" sz="1067" dirty="0">
                <a:solidFill>
                  <a:srgbClr val="B30400"/>
                </a:solidFill>
                <a:latin typeface="FS PF BeauSans Pro"/>
                <a:ea typeface="FS PF BeauSans Pro"/>
                <a:cs typeface="FS PF BeauSans Pro"/>
                <a:sym typeface="FS PF BeauSans Pro"/>
              </a:rPr>
              <a:t>1  Pause detection</a:t>
            </a:r>
          </a:p>
        </p:txBody>
      </p:sp>
      <p:sp>
        <p:nvSpPr>
          <p:cNvPr id="1012" name="Step 2"/>
          <p:cNvSpPr txBox="1"/>
          <p:nvPr/>
        </p:nvSpPr>
        <p:spPr>
          <a:xfrm>
            <a:off x="3947160" y="5486400"/>
            <a:ext cx="1371600" cy="304800"/>
          </a:xfrm>
          <a:prstGeom prst="roundRect">
            <a:avLst>
              <a:gd name="adj" fmla="val 50000"/>
            </a:avLst>
          </a:prstGeom>
          <a:solidFill>
            <a:srgbClr val="FBE3E3"/>
          </a:solidFill>
          <a:ln>
            <a:noFill/>
          </a:ln>
        </p:spPr>
        <p:txBody>
          <a:bodyPr wrap="square" lIns="30480" tIns="0" rIns="30480" bIns="0" rtlCol="0" anchor="ctr">
            <a:noAutofit/>
          </a:bodyPr>
          <a:lstStyle/>
          <a:p>
            <a:pPr algn="ctr"/>
            <a:r>
              <a:rPr lang="en-US" sz="1067" dirty="0">
                <a:solidFill>
                  <a:srgbClr val="B30400"/>
                </a:solidFill>
                <a:latin typeface="FS PF BeauSans Pro"/>
                <a:ea typeface="FS PF BeauSans Pro"/>
                <a:cs typeface="FS PF BeauSans Pro"/>
                <a:sym typeface="FS PF BeauSans Pro"/>
              </a:rPr>
              <a:t>2  Tag selection</a:t>
            </a:r>
          </a:p>
        </p:txBody>
      </p:sp>
      <p:sp>
        <p:nvSpPr>
          <p:cNvPr id="1013" name="Step 3"/>
          <p:cNvSpPr txBox="1"/>
          <p:nvPr/>
        </p:nvSpPr>
        <p:spPr>
          <a:xfrm>
            <a:off x="5410200" y="5486400"/>
            <a:ext cx="1371600" cy="304800"/>
          </a:xfrm>
          <a:prstGeom prst="roundRect">
            <a:avLst>
              <a:gd name="adj" fmla="val 50000"/>
            </a:avLst>
          </a:prstGeom>
          <a:solidFill>
            <a:srgbClr val="FBE3E3"/>
          </a:solidFill>
          <a:ln>
            <a:noFill/>
          </a:ln>
        </p:spPr>
        <p:txBody>
          <a:bodyPr wrap="square" lIns="30480" tIns="0" rIns="30480" bIns="0" rtlCol="0" anchor="ctr">
            <a:noAutofit/>
          </a:bodyPr>
          <a:lstStyle/>
          <a:p>
            <a:pPr algn="ctr"/>
            <a:r>
              <a:rPr lang="en-US" sz="1067" dirty="0">
                <a:solidFill>
                  <a:srgbClr val="B30400"/>
                </a:solidFill>
                <a:latin typeface="FS PF BeauSans Pro"/>
                <a:ea typeface="FS PF BeauSans Pro"/>
                <a:cs typeface="FS PF BeauSans Pro"/>
                <a:sym typeface="FS PF BeauSans Pro"/>
              </a:rPr>
              <a:t>3  Clip selection</a:t>
            </a:r>
          </a:p>
        </p:txBody>
      </p:sp>
      <p:sp>
        <p:nvSpPr>
          <p:cNvPr id="1014" name="Step 4"/>
          <p:cNvSpPr txBox="1"/>
          <p:nvPr/>
        </p:nvSpPr>
        <p:spPr>
          <a:xfrm>
            <a:off x="6873240" y="5486400"/>
            <a:ext cx="1371600" cy="304800"/>
          </a:xfrm>
          <a:prstGeom prst="roundRect">
            <a:avLst>
              <a:gd name="adj" fmla="val 50000"/>
            </a:avLst>
          </a:prstGeom>
          <a:solidFill>
            <a:srgbClr val="FBE3E3"/>
          </a:solidFill>
          <a:ln>
            <a:noFill/>
          </a:ln>
        </p:spPr>
        <p:txBody>
          <a:bodyPr wrap="square" lIns="30480" tIns="0" rIns="30480" bIns="0" rtlCol="0" anchor="ctr">
            <a:noAutofit/>
          </a:bodyPr>
          <a:lstStyle/>
          <a:p>
            <a:pPr algn="ctr"/>
            <a:r>
              <a:rPr lang="en-US" sz="1067" dirty="0">
                <a:solidFill>
                  <a:srgbClr val="B30400"/>
                </a:solidFill>
                <a:latin typeface="FS PF BeauSans Pro"/>
                <a:ea typeface="FS PF BeauSans Pro"/>
                <a:cs typeface="FS PF BeauSans Pro"/>
                <a:sym typeface="FS PF BeauSans Pro"/>
              </a:rPr>
              <a:t>4  Voice conversion</a:t>
            </a:r>
          </a:p>
        </p:txBody>
      </p:sp>
      <p:sp>
        <p:nvSpPr>
          <p:cNvPr id="1015" name="Step 5"/>
          <p:cNvSpPr txBox="1"/>
          <p:nvPr/>
        </p:nvSpPr>
        <p:spPr>
          <a:xfrm>
            <a:off x="8336280" y="5486400"/>
            <a:ext cx="1371600" cy="304800"/>
          </a:xfrm>
          <a:prstGeom prst="roundRect">
            <a:avLst>
              <a:gd name="adj" fmla="val 50000"/>
            </a:avLst>
          </a:prstGeom>
          <a:solidFill>
            <a:srgbClr val="E80500"/>
          </a:solidFill>
          <a:ln>
            <a:noFill/>
          </a:ln>
        </p:spPr>
        <p:txBody>
          <a:bodyPr wrap="square" lIns="30480" tIns="0" rIns="30480" bIns="0" rtlCol="0" anchor="ctr">
            <a:noAutofit/>
          </a:bodyPr>
          <a:lstStyle/>
          <a:p>
            <a:pPr algn="ctr"/>
            <a:r>
              <a:rPr lang="en-US" sz="1067" b="1" dirty="0">
                <a:solidFill>
                  <a:srgbClr val="FFFFFF"/>
                </a:solidFill>
                <a:latin typeface="FS PF BeauSans Pro"/>
                <a:ea typeface="FS PF BeauSans Pro"/>
                <a:cs typeface="FS PF BeauSans Pro"/>
                <a:sym typeface="FS PF BeauSans Pro"/>
              </a:rPr>
              <a:t>5  Splicing</a:t>
            </a:r>
          </a:p>
        </p:txBody>
      </p:sp>
      <p:sp>
        <p:nvSpPr>
          <p:cNvPr id="1016" name="Step 6"/>
          <p:cNvSpPr txBox="1"/>
          <p:nvPr/>
        </p:nvSpPr>
        <p:spPr>
          <a:xfrm>
            <a:off x="9799320" y="5486400"/>
            <a:ext cx="1371600" cy="304800"/>
          </a:xfrm>
          <a:prstGeom prst="roundRect">
            <a:avLst>
              <a:gd name="adj" fmla="val 50000"/>
            </a:avLst>
          </a:prstGeom>
          <a:solidFill>
            <a:srgbClr val="F2F2F2"/>
          </a:solidFill>
          <a:ln>
            <a:noFill/>
          </a:ln>
        </p:spPr>
        <p:txBody>
          <a:bodyPr wrap="square" lIns="30480" tIns="0" rIns="30480" bIns="0" rtlCol="0" anchor="ctr">
            <a:noAutofit/>
          </a:bodyPr>
          <a:lstStyle/>
          <a:p>
            <a:pPr algn="ctr"/>
            <a:r>
              <a:rPr lang="en-US" sz="1067" dirty="0">
                <a:solidFill>
                  <a:srgbClr val="7F7F7F"/>
                </a:solidFill>
                <a:latin typeface="FS PF BeauSans Pro"/>
                <a:ea typeface="FS PF BeauSans Pro"/>
                <a:cs typeface="FS PF BeauSans Pro"/>
                <a:sym typeface="FS PF BeauSans Pro"/>
              </a:rPr>
              <a:t>6  Filter</a:t>
            </a:r>
          </a:p>
        </p:txBody>
      </p:sp>
      <p:sp>
        <p:nvSpPr>
          <p:cNvPr id="1017" name="Input card"/>
          <p:cNvSpPr/>
          <p:nvPr/>
        </p:nvSpPr>
        <p:spPr>
          <a:xfrm>
            <a:off x="609600" y="2712720"/>
            <a:ext cx="3291840" cy="2590800"/>
          </a:xfrm>
          <a:prstGeom prst="roundRect">
            <a:avLst>
              <a:gd name="adj" fmla="val 6000"/>
            </a:avLst>
          </a:prstGeom>
          <a:solidFill>
            <a:srgbClr val="F4F4F4"/>
          </a:solidFill>
          <a:ln>
            <a:noFill/>
          </a:ln>
        </p:spPr>
        <p:txBody>
          <a:bodyPr wrap="square" lIns="0" tIns="0" rIns="0" bIns="0" rtlCol="0" anchor="t">
            <a:noAutofit/>
          </a:bodyPr>
          <a:lstStyle/>
          <a:p>
            <a:endParaRPr lang="en-US" dirty="0"/>
          </a:p>
        </p:txBody>
      </p:sp>
      <p:sp>
        <p:nvSpPr>
          <p:cNvPr id="1018" name="Input label"/>
          <p:cNvSpPr txBox="1"/>
          <p:nvPr/>
        </p:nvSpPr>
        <p:spPr>
          <a:xfrm>
            <a:off x="792480" y="2846832"/>
            <a:ext cx="2926080" cy="274320"/>
          </a:xfrm>
          <a:prstGeom prst="rect">
            <a:avLst/>
          </a:prstGeom>
          <a:noFill/>
          <a:ln>
            <a:noFill/>
          </a:ln>
        </p:spPr>
        <p:txBody>
          <a:bodyPr wrap="square" lIns="0" tIns="0" rIns="0" bIns="0" rtlCol="0" anchor="t">
            <a:noAutofit/>
          </a:bodyPr>
          <a:lstStyle/>
          <a:p>
            <a:pPr algn="l"/>
            <a:r>
              <a:rPr lang="en-US" sz="1067" b="1" dirty="0">
                <a:solidFill>
                  <a:srgbClr val="7F7F7F"/>
                </a:solidFill>
                <a:latin typeface="FS PF BeauSans Pro"/>
                <a:ea typeface="FS PF BeauSans Pro"/>
                <a:cs typeface="FS PF BeauSans Pro"/>
                <a:sym typeface="FS PF BeauSans Pro"/>
              </a:rPr>
              <a:t>INPUT</a:t>
            </a:r>
          </a:p>
        </p:txBody>
      </p:sp>
      <p:sp>
        <p:nvSpPr>
          <p:cNvPr id="1021" name="Input caption"/>
          <p:cNvSpPr txBox="1"/>
          <p:nvPr/>
        </p:nvSpPr>
        <p:spPr>
          <a:xfrm>
            <a:off x="792480" y="4529328"/>
            <a:ext cx="2926080" cy="701040"/>
          </a:xfrm>
          <a:prstGeom prst="rect">
            <a:avLst/>
          </a:prstGeom>
          <a:noFill/>
          <a:ln>
            <a:noFill/>
          </a:ln>
        </p:spPr>
        <p:txBody>
          <a:bodyPr wrap="square" lIns="0" tIns="0" rIns="0" bIns="0" rtlCol="0" anchor="t">
            <a:noAutofit/>
          </a:bodyPr>
          <a:lstStyle/>
          <a:p>
            <a:pPr algn="ctr"/>
            <a:r>
              <a:rPr lang="en-US" sz="1333" b="1" dirty="0">
                <a:solidFill>
                  <a:srgbClr val="404155"/>
                </a:solidFill>
                <a:latin typeface="FS PF BeauSans Pro"/>
                <a:ea typeface="FS PF BeauSans Pro"/>
                <a:cs typeface="FS PF BeauSans Pro"/>
                <a:sym typeface="FS PF BeauSans Pro"/>
              </a:rPr>
              <a:t>Converted clip</a:t>
            </a:r>
            <a:r>
              <a:rPr lang="en-US" sz="1333" dirty="0">
                <a:solidFill>
                  <a:srgbClr val="000000"/>
                </a:solidFill>
                <a:latin typeface="FS PF BeauSans Pro"/>
                <a:ea typeface="FS PF BeauSans Pro"/>
                <a:cs typeface="FS PF BeauSans Pro"/>
                <a:sym typeface="FS PF BeauSans Pro"/>
              </a:rPr>
              <a:t> + host utterance + chosen slot</a:t>
            </a:r>
          </a:p>
        </p:txBody>
      </p:sp>
      <p:sp>
        <p:nvSpPr>
          <p:cNvPr id="1022" name="Process card"/>
          <p:cNvSpPr/>
          <p:nvPr/>
        </p:nvSpPr>
        <p:spPr>
          <a:xfrm>
            <a:off x="4450080" y="2712720"/>
            <a:ext cx="3291840" cy="2590800"/>
          </a:xfrm>
          <a:prstGeom prst="roundRect">
            <a:avLst>
              <a:gd name="adj" fmla="val 6000"/>
            </a:avLst>
          </a:prstGeom>
          <a:solidFill>
            <a:srgbClr val="FDECEC"/>
          </a:solidFill>
          <a:ln>
            <a:noFill/>
          </a:ln>
        </p:spPr>
        <p:txBody>
          <a:bodyPr wrap="square" lIns="0" tIns="0" rIns="0" bIns="0" rtlCol="0" anchor="t">
            <a:noAutofit/>
          </a:bodyPr>
          <a:lstStyle/>
          <a:p>
            <a:endParaRPr lang="en-US" dirty="0"/>
          </a:p>
        </p:txBody>
      </p:sp>
      <p:sp>
        <p:nvSpPr>
          <p:cNvPr id="1023" name="Process label"/>
          <p:cNvSpPr txBox="1"/>
          <p:nvPr/>
        </p:nvSpPr>
        <p:spPr>
          <a:xfrm>
            <a:off x="4632960" y="2846832"/>
            <a:ext cx="2926080" cy="274320"/>
          </a:xfrm>
          <a:prstGeom prst="rect">
            <a:avLst/>
          </a:prstGeom>
          <a:noFill/>
          <a:ln>
            <a:noFill/>
          </a:ln>
        </p:spPr>
        <p:txBody>
          <a:bodyPr wrap="square" lIns="0" tIns="0" rIns="0" bIns="0" rtlCol="0" anchor="t">
            <a:noAutofit/>
          </a:bodyPr>
          <a:lstStyle/>
          <a:p>
            <a:pPr algn="l"/>
            <a:r>
              <a:rPr lang="en-US" sz="1067" b="1" dirty="0">
                <a:solidFill>
                  <a:srgbClr val="B30400"/>
                </a:solidFill>
                <a:latin typeface="FS PF BeauSans Pro"/>
                <a:ea typeface="FS PF BeauSans Pro"/>
                <a:cs typeface="FS PF BeauSans Pro"/>
                <a:sym typeface="FS PF BeauSans Pro"/>
              </a:rPr>
              <a:t>PROCESS</a:t>
            </a:r>
          </a:p>
        </p:txBody>
      </p:sp>
      <p:sp>
        <p:nvSpPr>
          <p:cNvPr id="1025" name="Process caption"/>
          <p:cNvSpPr txBox="1"/>
          <p:nvPr/>
        </p:nvSpPr>
        <p:spPr>
          <a:xfrm>
            <a:off x="4632960" y="4529328"/>
            <a:ext cx="2926080" cy="701040"/>
          </a:xfrm>
          <a:prstGeom prst="rect">
            <a:avLst/>
          </a:prstGeom>
          <a:noFill/>
          <a:ln>
            <a:noFill/>
          </a:ln>
        </p:spPr>
        <p:txBody>
          <a:bodyPr wrap="square" lIns="0" tIns="0" rIns="0" bIns="0" rtlCol="0" anchor="t">
            <a:noAutofit/>
          </a:bodyPr>
          <a:lstStyle/>
          <a:p>
            <a:pPr algn="ctr">
              <a:buNone/>
            </a:pPr>
            <a:r>
              <a:rPr lang="en-US" sz="1333" b="1" dirty="0">
                <a:solidFill>
                  <a:srgbClr val="404155"/>
                </a:solidFill>
                <a:latin typeface="FS PF BeauSans Pro"/>
                <a:ea typeface="FS PF BeauSans Pro"/>
                <a:cs typeface="FS PF BeauSans Pro"/>
              </a:rPr>
              <a:t>Match loudness</a:t>
            </a:r>
            <a:r>
              <a:rPr lang="en-US" sz="1333" dirty="0">
                <a:solidFill>
                  <a:srgbClr val="000000"/>
                </a:solidFill>
                <a:latin typeface="FS PF BeauSans Pro"/>
                <a:ea typeface="FS PF BeauSans Pro"/>
                <a:cs typeface="FS PF BeauSans Pro"/>
              </a:rPr>
              <a:t>, add a natural pause, short exponential fades; insert at the slot's midpoint</a:t>
            </a:r>
          </a:p>
        </p:txBody>
      </p:sp>
      <p:sp>
        <p:nvSpPr>
          <p:cNvPr id="1026" name="Output card"/>
          <p:cNvSpPr/>
          <p:nvPr/>
        </p:nvSpPr>
        <p:spPr>
          <a:xfrm>
            <a:off x="8290560" y="2712720"/>
            <a:ext cx="3291840" cy="2590800"/>
          </a:xfrm>
          <a:prstGeom prst="roundRect">
            <a:avLst>
              <a:gd name="adj" fmla="val 6000"/>
            </a:avLst>
          </a:prstGeom>
          <a:solidFill>
            <a:srgbClr val="F4F4F4"/>
          </a:solidFill>
          <a:ln>
            <a:noFill/>
          </a:ln>
        </p:spPr>
        <p:txBody>
          <a:bodyPr wrap="square" lIns="0" tIns="0" rIns="0" bIns="0" rtlCol="0" anchor="t">
            <a:noAutofit/>
          </a:bodyPr>
          <a:lstStyle/>
          <a:p>
            <a:endParaRPr lang="en-US" dirty="0"/>
          </a:p>
        </p:txBody>
      </p:sp>
      <p:sp>
        <p:nvSpPr>
          <p:cNvPr id="1027" name="Output label"/>
          <p:cNvSpPr txBox="1"/>
          <p:nvPr/>
        </p:nvSpPr>
        <p:spPr>
          <a:xfrm>
            <a:off x="8473440" y="2846832"/>
            <a:ext cx="2926080" cy="274320"/>
          </a:xfrm>
          <a:prstGeom prst="rect">
            <a:avLst/>
          </a:prstGeom>
          <a:noFill/>
          <a:ln>
            <a:noFill/>
          </a:ln>
        </p:spPr>
        <p:txBody>
          <a:bodyPr wrap="square" lIns="0" tIns="0" rIns="0" bIns="0" rtlCol="0" anchor="t">
            <a:noAutofit/>
          </a:bodyPr>
          <a:lstStyle/>
          <a:p>
            <a:pPr algn="l"/>
            <a:r>
              <a:rPr lang="en-US" sz="1067" b="1" dirty="0">
                <a:solidFill>
                  <a:srgbClr val="7F7F7F"/>
                </a:solidFill>
                <a:latin typeface="FS PF BeauSans Pro"/>
                <a:ea typeface="FS PF BeauSans Pro"/>
                <a:cs typeface="FS PF BeauSans Pro"/>
                <a:sym typeface="FS PF BeauSans Pro"/>
              </a:rPr>
              <a:t>OUTPUT</a:t>
            </a:r>
          </a:p>
        </p:txBody>
      </p:sp>
      <p:sp>
        <p:nvSpPr>
          <p:cNvPr id="1030" name="Output caption"/>
          <p:cNvSpPr txBox="1"/>
          <p:nvPr/>
        </p:nvSpPr>
        <p:spPr>
          <a:xfrm>
            <a:off x="8473440" y="4529328"/>
            <a:ext cx="2926080" cy="701040"/>
          </a:xfrm>
          <a:prstGeom prst="rect">
            <a:avLst/>
          </a:prstGeom>
          <a:noFill/>
          <a:ln>
            <a:noFill/>
          </a:ln>
        </p:spPr>
        <p:txBody>
          <a:bodyPr wrap="square" lIns="0" tIns="0" rIns="0" bIns="0" rtlCol="0" anchor="t">
            <a:noAutofit/>
          </a:bodyPr>
          <a:lstStyle/>
          <a:p>
            <a:pPr algn="ctr"/>
            <a:r>
              <a:rPr lang="en-US" sz="1333" b="1" dirty="0">
                <a:solidFill>
                  <a:srgbClr val="404155"/>
                </a:solidFill>
                <a:latin typeface="FS PF BeauSans Pro"/>
                <a:ea typeface="FS PF BeauSans Pro"/>
                <a:cs typeface="FS PF BeauSans Pro"/>
                <a:sym typeface="FS PF BeauSans Pro"/>
              </a:rPr>
              <a:t>Spliced audio + tagged transcript</a:t>
            </a:r>
          </a:p>
        </p:txBody>
      </p:sp>
      <p:sp>
        <p:nvSpPr>
          <p:cNvPr id="1031" name="Flow arrow 1"/>
          <p:cNvSpPr/>
          <p:nvPr/>
        </p:nvSpPr>
        <p:spPr>
          <a:xfrm>
            <a:off x="4008120" y="3825240"/>
            <a:ext cx="335280" cy="365760"/>
          </a:xfrm>
          <a:prstGeom prst="rightArrow">
            <a:avLst/>
          </a:prstGeom>
          <a:solidFill>
            <a:srgbClr val="B4B4B4"/>
          </a:solidFill>
          <a:ln>
            <a:noFill/>
          </a:ln>
        </p:spPr>
        <p:txBody>
          <a:bodyPr wrap="square" lIns="0" tIns="0" rIns="0" bIns="0" rtlCol="0" anchor="t">
            <a:noAutofit/>
          </a:bodyPr>
          <a:lstStyle/>
          <a:p>
            <a:endParaRPr lang="en-US" dirty="0"/>
          </a:p>
        </p:txBody>
      </p:sp>
      <p:sp>
        <p:nvSpPr>
          <p:cNvPr id="1032" name="Flow arrow 2"/>
          <p:cNvSpPr/>
          <p:nvPr/>
        </p:nvSpPr>
        <p:spPr>
          <a:xfrm>
            <a:off x="7848600" y="3825240"/>
            <a:ext cx="335280" cy="365760"/>
          </a:xfrm>
          <a:prstGeom prst="rightArrow">
            <a:avLst/>
          </a:prstGeom>
          <a:solidFill>
            <a:srgbClr val="B4B4B4"/>
          </a:solidFill>
          <a:ln>
            <a:noFill/>
          </a:ln>
        </p:spPr>
        <p:txBody>
          <a:bodyPr wrap="square" lIns="0" tIns="0" rIns="0" bIns="0" rtlCol="0" anchor="t">
            <a:noAutofit/>
          </a:bodyPr>
          <a:lstStyle/>
          <a:p>
            <a:endParaRPr lang="en-US" dirty="0"/>
          </a:p>
        </p:txBody>
      </p:sp>
      <p:pic>
        <p:nvPicPr>
          <p:cNvPr id="1033" name="Process visual Splicing (Canva)" descr="Splicing step"/>
          <p:cNvPicPr>
            <a:picLocks noChangeAspect="1"/>
          </p:cNvPicPr>
          <p:nvPr/>
        </p:nvPicPr>
        <p:blipFill>
          <a:blip r:embed="rId2"/>
          <a:stretch>
            <a:fillRect/>
          </a:stretch>
        </p:blipFill>
        <p:spPr>
          <a:xfrm>
            <a:off x="5168007" y="3169920"/>
            <a:ext cx="1855984" cy="1280160"/>
          </a:xfrm>
          <a:prstGeom prst="rect">
            <a:avLst/>
          </a:prstGeom>
        </p:spPr>
      </p:pic>
      <p:pic>
        <p:nvPicPr>
          <p:cNvPr id="1034" name="Input visual (Canva)" descr="Laughter clip after voice conversion, above the tagged recording"/>
          <p:cNvPicPr>
            <a:picLocks noChangeAspect="1"/>
          </p:cNvPicPr>
          <p:nvPr/>
        </p:nvPicPr>
        <p:blipFill>
          <a:blip r:embed="rId3"/>
          <a:stretch>
            <a:fillRect/>
          </a:stretch>
        </p:blipFill>
        <p:spPr>
          <a:xfrm>
            <a:off x="1523417" y="3124200"/>
            <a:ext cx="1464204" cy="1371600"/>
          </a:xfrm>
          <a:prstGeom prst="rect">
            <a:avLst/>
          </a:prstGeom>
        </p:spPr>
      </p:pic>
      <p:pic>
        <p:nvPicPr>
          <p:cNvPr id="1035" name="Output visual (Canva)" descr="Spliced recording with the laugh inserted: chứ thôi , [laughter] để nó lành thôi"/>
          <p:cNvPicPr>
            <a:picLocks noChangeAspect="1"/>
          </p:cNvPicPr>
          <p:nvPr/>
        </p:nvPicPr>
        <p:blipFill>
          <a:blip r:embed="rId4"/>
          <a:stretch>
            <a:fillRect/>
          </a:stretch>
        </p:blipFill>
        <p:spPr>
          <a:xfrm>
            <a:off x="8496128" y="3124200"/>
            <a:ext cx="2880703" cy="1371600"/>
          </a:xfrm>
          <a:prstGeom prst="rect">
            <a:avLst/>
          </a:prstGeom>
        </p:spPr>
      </p:pic>
    </p:spTree>
    <p:extLst>
      <p:ext uri="{BB962C8B-B14F-4D97-AF65-F5344CB8AC3E}">
        <p14:creationId xmlns:p14="http://schemas.microsoft.com/office/powerpoint/2010/main" val="584723571"/>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Shape 145"/>
        <p:cNvGrpSpPr/>
        <p:nvPr/>
      </p:nvGrpSpPr>
      <p:grpSpPr>
        <a:xfrm>
          <a:off x="0" y="0"/>
          <a:ext cx="0" cy="0"/>
          <a:chOff x="0" y="0"/>
          <a:chExt cx="0" cy="0"/>
        </a:xfrm>
      </p:grpSpPr>
      <p:sp>
        <p:nvSpPr>
          <p:cNvPr id="146" name="Google Shape;146;p10"/>
          <p:cNvSpPr txBox="1">
            <a:spLocks noGrp="1"/>
          </p:cNvSpPr>
          <p:nvPr>
            <p:ph type="ctrTitle"/>
          </p:nvPr>
        </p:nvSpPr>
        <p:spPr>
          <a:xfrm>
            <a:off x="822960" y="466344"/>
            <a:ext cx="10543032" cy="731520"/>
          </a:xfrm>
          <a:prstGeom prst="rect">
            <a:avLst/>
          </a:prstGeom>
          <a:noFill/>
          <a:ln>
            <a:noFill/>
          </a:ln>
        </p:spPr>
        <p:txBody>
          <a:bodyPr spcFirstLastPara="1" wrap="square" lIns="91425" tIns="91425" rIns="91425" bIns="91425" anchor="t" anchorCtr="0">
            <a:noAutofit/>
          </a:bodyPr>
          <a:lstStyle/>
          <a:p>
            <a:pPr marL="0" lvl="0" indent="0" algn="ctr" rtl="0">
              <a:buNone/>
            </a:pPr>
            <a:r>
              <a:rPr lang="en-US" dirty="0"/>
              <a:t>Filter</a:t>
            </a:r>
          </a:p>
        </p:txBody>
      </p:sp>
      <p:sp>
        <p:nvSpPr>
          <p:cNvPr id="148" name="Google Shape;148;p10"/>
          <p:cNvSpPr txBox="1">
            <a:spLocks noGrp="1"/>
          </p:cNvSpPr>
          <p:nvPr>
            <p:ph type="body" idx="1"/>
          </p:nvPr>
        </p:nvSpPr>
        <p:spPr>
          <a:xfrm>
            <a:off x="850392" y="1371600"/>
            <a:ext cx="10570464" cy="1137239"/>
          </a:xfrm>
          <a:prstGeom prst="rect">
            <a:avLst/>
          </a:prstGeom>
          <a:noFill/>
          <a:ln>
            <a:noFill/>
          </a:ln>
        </p:spPr>
        <p:txBody>
          <a:bodyPr spcFirstLastPara="1" wrap="square" lIns="91425" tIns="91425" rIns="91425" bIns="91425" anchor="t" anchorCtr="0">
            <a:noAutofit/>
          </a:bodyPr>
          <a:lstStyle/>
          <a:p>
            <a:pPr marL="152400" lvl="0" indent="0" algn="l" rtl="0">
              <a:lnSpc>
                <a:spcPct val="115000"/>
              </a:lnSpc>
              <a:spcBef>
                <a:spcPts val="0"/>
              </a:spcBef>
              <a:spcAft>
                <a:spcPts val="0"/>
              </a:spcAft>
              <a:buNone/>
            </a:pPr>
            <a:r>
              <a:rPr lang="en-US" sz="1800" dirty="0">
                <a:latin typeface="FS PF BeauSans Pro"/>
                <a:ea typeface="FS PF BeauSans Pro"/>
                <a:cs typeface="FS PF BeauSans Pro"/>
              </a:rPr>
              <a:t>NISQA scores each result, and examples whose quality or continuity drops too much are discarded.</a:t>
            </a:r>
          </a:p>
          <a:p>
            <a:pPr marL="152400" lvl="0" indent="0" algn="l" rtl="0">
              <a:lnSpc>
                <a:spcPct val="115000"/>
              </a:lnSpc>
              <a:spcBef>
                <a:spcPts val="0"/>
              </a:spcBef>
              <a:spcAft>
                <a:spcPts val="0"/>
              </a:spcAft>
              <a:buNone/>
            </a:pPr>
            <a:r>
              <a:rPr lang="en-US" sz="1800" dirty="0">
                <a:latin typeface="FS PF BeauSans Pro"/>
                <a:ea typeface="FS PF BeauSans Pro"/>
                <a:cs typeface="FS PF BeauSans Pro"/>
              </a:rPr>
              <a:t>* NISQA is an automated metric to score how natural an utterance is on several conditions</a:t>
            </a:r>
          </a:p>
        </p:txBody>
      </p:sp>
      <p:sp>
        <p:nvSpPr>
          <p:cNvPr id="2" name="Slide Number Placeholder 1">
            <a:extLst>
              <a:ext uri="{FF2B5EF4-FFF2-40B4-BE49-F238E27FC236}">
                <a16:creationId xmlns:a16="http://schemas.microsoft.com/office/drawing/2014/main" id="{249CE59B-DD91-4B3A-8ACA-10EA59D7C3EE}"/>
              </a:ext>
            </a:extLst>
          </p:cNvPr>
          <p:cNvSpPr>
            <a:spLocks noGrp="1"/>
          </p:cNvSpPr>
          <p:nvPr>
            <p:ph type="sldNum" idx="12"/>
          </p:nvPr>
        </p:nvSpPr>
        <p:spPr/>
        <p:txBody>
          <a:bodyPr/>
          <a:lstStyle/>
          <a:p>
            <a:pPr marL="0" lvl="0" indent="0" algn="ctr" rtl="0">
              <a:spcBef>
                <a:spcPts val="0"/>
              </a:spcBef>
              <a:spcAft>
                <a:spcPts val="0"/>
              </a:spcAft>
              <a:buNone/>
            </a:pPr>
            <a:fld id="{00000000-1234-1234-1234-123412341234}" type="slidenum">
              <a:rPr lang="en-US" smtClean="0"/>
              <a:t>14</a:t>
            </a:fld>
            <a:endParaRPr lang="en-US" dirty="0"/>
          </a:p>
        </p:txBody>
      </p:sp>
      <p:sp>
        <p:nvSpPr>
          <p:cNvPr id="1010" name="Step 0"/>
          <p:cNvSpPr txBox="1"/>
          <p:nvPr/>
        </p:nvSpPr>
        <p:spPr>
          <a:xfrm>
            <a:off x="1021080" y="5486400"/>
            <a:ext cx="1371600" cy="304800"/>
          </a:xfrm>
          <a:prstGeom prst="roundRect">
            <a:avLst>
              <a:gd name="adj" fmla="val 50000"/>
            </a:avLst>
          </a:prstGeom>
          <a:solidFill>
            <a:srgbClr val="FBE3E3"/>
          </a:solidFill>
          <a:ln>
            <a:noFill/>
          </a:ln>
        </p:spPr>
        <p:txBody>
          <a:bodyPr wrap="square" lIns="30480" tIns="0" rIns="30480" bIns="0" rtlCol="0" anchor="ctr">
            <a:noAutofit/>
          </a:bodyPr>
          <a:lstStyle/>
          <a:p>
            <a:pPr algn="ctr"/>
            <a:r>
              <a:rPr lang="en-US" sz="1067" dirty="0">
                <a:solidFill>
                  <a:srgbClr val="B30400"/>
                </a:solidFill>
                <a:latin typeface="FS PF BeauSans Pro"/>
                <a:ea typeface="FS PF BeauSans Pro"/>
                <a:cs typeface="FS PF BeauSans Pro"/>
                <a:sym typeface="FS PF BeauSans Pro"/>
              </a:rPr>
              <a:t>Clip pool</a:t>
            </a:r>
          </a:p>
        </p:txBody>
      </p:sp>
      <p:sp>
        <p:nvSpPr>
          <p:cNvPr id="1011" name="Step 1"/>
          <p:cNvSpPr txBox="1"/>
          <p:nvPr/>
        </p:nvSpPr>
        <p:spPr>
          <a:xfrm>
            <a:off x="2484120" y="5486400"/>
            <a:ext cx="1371600" cy="304800"/>
          </a:xfrm>
          <a:prstGeom prst="roundRect">
            <a:avLst>
              <a:gd name="adj" fmla="val 50000"/>
            </a:avLst>
          </a:prstGeom>
          <a:solidFill>
            <a:srgbClr val="FBE3E3"/>
          </a:solidFill>
          <a:ln>
            <a:noFill/>
          </a:ln>
        </p:spPr>
        <p:txBody>
          <a:bodyPr wrap="square" lIns="30480" tIns="0" rIns="30480" bIns="0" rtlCol="0" anchor="ctr">
            <a:noAutofit/>
          </a:bodyPr>
          <a:lstStyle/>
          <a:p>
            <a:pPr algn="ctr"/>
            <a:r>
              <a:rPr lang="en-US" sz="1067" dirty="0">
                <a:solidFill>
                  <a:srgbClr val="B30400"/>
                </a:solidFill>
                <a:latin typeface="FS PF BeauSans Pro"/>
                <a:ea typeface="FS PF BeauSans Pro"/>
                <a:cs typeface="FS PF BeauSans Pro"/>
                <a:sym typeface="FS PF BeauSans Pro"/>
              </a:rPr>
              <a:t>1  Pause detection</a:t>
            </a:r>
          </a:p>
        </p:txBody>
      </p:sp>
      <p:sp>
        <p:nvSpPr>
          <p:cNvPr id="1012" name="Step 2"/>
          <p:cNvSpPr txBox="1"/>
          <p:nvPr/>
        </p:nvSpPr>
        <p:spPr>
          <a:xfrm>
            <a:off x="3947160" y="5486400"/>
            <a:ext cx="1371600" cy="304800"/>
          </a:xfrm>
          <a:prstGeom prst="roundRect">
            <a:avLst>
              <a:gd name="adj" fmla="val 50000"/>
            </a:avLst>
          </a:prstGeom>
          <a:solidFill>
            <a:srgbClr val="FBE3E3"/>
          </a:solidFill>
          <a:ln>
            <a:noFill/>
          </a:ln>
        </p:spPr>
        <p:txBody>
          <a:bodyPr wrap="square" lIns="30480" tIns="0" rIns="30480" bIns="0" rtlCol="0" anchor="ctr">
            <a:noAutofit/>
          </a:bodyPr>
          <a:lstStyle/>
          <a:p>
            <a:pPr algn="ctr"/>
            <a:r>
              <a:rPr lang="en-US" sz="1067" dirty="0">
                <a:solidFill>
                  <a:srgbClr val="B30400"/>
                </a:solidFill>
                <a:latin typeface="FS PF BeauSans Pro"/>
                <a:ea typeface="FS PF BeauSans Pro"/>
                <a:cs typeface="FS PF BeauSans Pro"/>
                <a:sym typeface="FS PF BeauSans Pro"/>
              </a:rPr>
              <a:t>2  Tag selection</a:t>
            </a:r>
          </a:p>
        </p:txBody>
      </p:sp>
      <p:sp>
        <p:nvSpPr>
          <p:cNvPr id="1013" name="Step 3"/>
          <p:cNvSpPr txBox="1"/>
          <p:nvPr/>
        </p:nvSpPr>
        <p:spPr>
          <a:xfrm>
            <a:off x="5410200" y="5486400"/>
            <a:ext cx="1371600" cy="304800"/>
          </a:xfrm>
          <a:prstGeom prst="roundRect">
            <a:avLst>
              <a:gd name="adj" fmla="val 50000"/>
            </a:avLst>
          </a:prstGeom>
          <a:solidFill>
            <a:srgbClr val="FBE3E3"/>
          </a:solidFill>
          <a:ln>
            <a:noFill/>
          </a:ln>
        </p:spPr>
        <p:txBody>
          <a:bodyPr wrap="square" lIns="30480" tIns="0" rIns="30480" bIns="0" rtlCol="0" anchor="ctr">
            <a:noAutofit/>
          </a:bodyPr>
          <a:lstStyle/>
          <a:p>
            <a:pPr algn="ctr"/>
            <a:r>
              <a:rPr lang="en-US" sz="1067" dirty="0">
                <a:solidFill>
                  <a:srgbClr val="B30400"/>
                </a:solidFill>
                <a:latin typeface="FS PF BeauSans Pro"/>
                <a:ea typeface="FS PF BeauSans Pro"/>
                <a:cs typeface="FS PF BeauSans Pro"/>
                <a:sym typeface="FS PF BeauSans Pro"/>
              </a:rPr>
              <a:t>3  Clip selection</a:t>
            </a:r>
          </a:p>
        </p:txBody>
      </p:sp>
      <p:sp>
        <p:nvSpPr>
          <p:cNvPr id="1014" name="Step 4"/>
          <p:cNvSpPr txBox="1"/>
          <p:nvPr/>
        </p:nvSpPr>
        <p:spPr>
          <a:xfrm>
            <a:off x="6873240" y="5486400"/>
            <a:ext cx="1371600" cy="304800"/>
          </a:xfrm>
          <a:prstGeom prst="roundRect">
            <a:avLst>
              <a:gd name="adj" fmla="val 50000"/>
            </a:avLst>
          </a:prstGeom>
          <a:solidFill>
            <a:srgbClr val="FBE3E3"/>
          </a:solidFill>
          <a:ln>
            <a:noFill/>
          </a:ln>
        </p:spPr>
        <p:txBody>
          <a:bodyPr wrap="square" lIns="30480" tIns="0" rIns="30480" bIns="0" rtlCol="0" anchor="ctr">
            <a:noAutofit/>
          </a:bodyPr>
          <a:lstStyle/>
          <a:p>
            <a:pPr algn="ctr"/>
            <a:r>
              <a:rPr lang="en-US" sz="1067" dirty="0">
                <a:solidFill>
                  <a:srgbClr val="B30400"/>
                </a:solidFill>
                <a:latin typeface="FS PF BeauSans Pro"/>
                <a:ea typeface="FS PF BeauSans Pro"/>
                <a:cs typeface="FS PF BeauSans Pro"/>
                <a:sym typeface="FS PF BeauSans Pro"/>
              </a:rPr>
              <a:t>4  Voice conversion</a:t>
            </a:r>
          </a:p>
        </p:txBody>
      </p:sp>
      <p:sp>
        <p:nvSpPr>
          <p:cNvPr id="1015" name="Step 5"/>
          <p:cNvSpPr txBox="1"/>
          <p:nvPr/>
        </p:nvSpPr>
        <p:spPr>
          <a:xfrm>
            <a:off x="8336280" y="5486400"/>
            <a:ext cx="1371600" cy="304800"/>
          </a:xfrm>
          <a:prstGeom prst="roundRect">
            <a:avLst>
              <a:gd name="adj" fmla="val 50000"/>
            </a:avLst>
          </a:prstGeom>
          <a:solidFill>
            <a:srgbClr val="FBE3E3"/>
          </a:solidFill>
          <a:ln>
            <a:noFill/>
          </a:ln>
        </p:spPr>
        <p:txBody>
          <a:bodyPr wrap="square" lIns="30480" tIns="0" rIns="30480" bIns="0" rtlCol="0" anchor="ctr">
            <a:noAutofit/>
          </a:bodyPr>
          <a:lstStyle/>
          <a:p>
            <a:pPr algn="ctr"/>
            <a:r>
              <a:rPr lang="en-US" sz="1067" dirty="0">
                <a:solidFill>
                  <a:srgbClr val="B30400"/>
                </a:solidFill>
                <a:latin typeface="FS PF BeauSans Pro"/>
                <a:ea typeface="FS PF BeauSans Pro"/>
                <a:cs typeface="FS PF BeauSans Pro"/>
                <a:sym typeface="FS PF BeauSans Pro"/>
              </a:rPr>
              <a:t>5  Splicing</a:t>
            </a:r>
          </a:p>
        </p:txBody>
      </p:sp>
      <p:sp>
        <p:nvSpPr>
          <p:cNvPr id="1016" name="Step 6"/>
          <p:cNvSpPr txBox="1"/>
          <p:nvPr/>
        </p:nvSpPr>
        <p:spPr>
          <a:xfrm>
            <a:off x="9799320" y="5486400"/>
            <a:ext cx="1371600" cy="304800"/>
          </a:xfrm>
          <a:prstGeom prst="roundRect">
            <a:avLst>
              <a:gd name="adj" fmla="val 50000"/>
            </a:avLst>
          </a:prstGeom>
          <a:solidFill>
            <a:srgbClr val="E80500"/>
          </a:solidFill>
          <a:ln>
            <a:noFill/>
          </a:ln>
        </p:spPr>
        <p:txBody>
          <a:bodyPr wrap="square" lIns="30480" tIns="0" rIns="30480" bIns="0" rtlCol="0" anchor="ctr">
            <a:noAutofit/>
          </a:bodyPr>
          <a:lstStyle/>
          <a:p>
            <a:pPr algn="ctr"/>
            <a:r>
              <a:rPr lang="en-US" sz="1067" b="1" dirty="0">
                <a:solidFill>
                  <a:srgbClr val="FFFFFF"/>
                </a:solidFill>
                <a:latin typeface="FS PF BeauSans Pro"/>
                <a:ea typeface="FS PF BeauSans Pro"/>
                <a:cs typeface="FS PF BeauSans Pro"/>
                <a:sym typeface="FS PF BeauSans Pro"/>
              </a:rPr>
              <a:t>6  Filter</a:t>
            </a:r>
          </a:p>
        </p:txBody>
      </p:sp>
      <p:sp>
        <p:nvSpPr>
          <p:cNvPr id="1017" name="Input card"/>
          <p:cNvSpPr/>
          <p:nvPr/>
        </p:nvSpPr>
        <p:spPr>
          <a:xfrm>
            <a:off x="609600" y="2712720"/>
            <a:ext cx="3291840" cy="2590800"/>
          </a:xfrm>
          <a:prstGeom prst="roundRect">
            <a:avLst>
              <a:gd name="adj" fmla="val 6000"/>
            </a:avLst>
          </a:prstGeom>
          <a:solidFill>
            <a:srgbClr val="F4F4F4"/>
          </a:solidFill>
          <a:ln>
            <a:noFill/>
          </a:ln>
        </p:spPr>
        <p:txBody>
          <a:bodyPr wrap="square" lIns="0" tIns="0" rIns="0" bIns="0" rtlCol="0" anchor="t">
            <a:noAutofit/>
          </a:bodyPr>
          <a:lstStyle/>
          <a:p>
            <a:endParaRPr lang="en-US" dirty="0"/>
          </a:p>
        </p:txBody>
      </p:sp>
      <p:sp>
        <p:nvSpPr>
          <p:cNvPr id="1018" name="Input label"/>
          <p:cNvSpPr txBox="1"/>
          <p:nvPr/>
        </p:nvSpPr>
        <p:spPr>
          <a:xfrm>
            <a:off x="792480" y="2846832"/>
            <a:ext cx="2926080" cy="274320"/>
          </a:xfrm>
          <a:prstGeom prst="rect">
            <a:avLst/>
          </a:prstGeom>
          <a:noFill/>
          <a:ln>
            <a:noFill/>
          </a:ln>
        </p:spPr>
        <p:txBody>
          <a:bodyPr wrap="square" lIns="0" tIns="0" rIns="0" bIns="0" rtlCol="0" anchor="t">
            <a:noAutofit/>
          </a:bodyPr>
          <a:lstStyle/>
          <a:p>
            <a:pPr algn="l"/>
            <a:r>
              <a:rPr lang="en-US" sz="1067" b="1" dirty="0">
                <a:solidFill>
                  <a:srgbClr val="7F7F7F"/>
                </a:solidFill>
                <a:latin typeface="FS PF BeauSans Pro"/>
                <a:ea typeface="FS PF BeauSans Pro"/>
                <a:cs typeface="FS PF BeauSans Pro"/>
                <a:sym typeface="FS PF BeauSans Pro"/>
              </a:rPr>
              <a:t>INPUT</a:t>
            </a:r>
          </a:p>
        </p:txBody>
      </p:sp>
      <p:sp>
        <p:nvSpPr>
          <p:cNvPr id="1021" name="Input caption"/>
          <p:cNvSpPr txBox="1"/>
          <p:nvPr/>
        </p:nvSpPr>
        <p:spPr>
          <a:xfrm>
            <a:off x="792480" y="4529328"/>
            <a:ext cx="2926080" cy="701040"/>
          </a:xfrm>
          <a:prstGeom prst="rect">
            <a:avLst/>
          </a:prstGeom>
          <a:noFill/>
          <a:ln>
            <a:noFill/>
          </a:ln>
        </p:spPr>
        <p:txBody>
          <a:bodyPr wrap="square" lIns="0" tIns="0" rIns="0" bIns="0" rtlCol="0" anchor="t">
            <a:noAutofit/>
          </a:bodyPr>
          <a:lstStyle/>
          <a:p>
            <a:pPr algn="ctr">
              <a:buNone/>
            </a:pPr>
            <a:r>
              <a:rPr lang="en-US" sz="1333" b="1" dirty="0">
                <a:solidFill>
                  <a:srgbClr val="404155"/>
                </a:solidFill>
                <a:latin typeface="FS PF BeauSans Pro"/>
                <a:ea typeface="FS PF BeauSans Pro"/>
                <a:cs typeface="FS PF BeauSans Pro"/>
              </a:rPr>
              <a:t>Spliced example</a:t>
            </a:r>
            <a:r>
              <a:rPr lang="en-US" sz="1333" dirty="0">
                <a:solidFill>
                  <a:srgbClr val="000000"/>
                </a:solidFill>
                <a:latin typeface="FS PF BeauSans Pro"/>
                <a:ea typeface="FS PF BeauSans Pro"/>
                <a:cs typeface="FS PF BeauSans Pro"/>
              </a:rPr>
              <a:t>, scored against its source</a:t>
            </a:r>
          </a:p>
        </p:txBody>
      </p:sp>
      <p:sp>
        <p:nvSpPr>
          <p:cNvPr id="1022" name="Process card"/>
          <p:cNvSpPr/>
          <p:nvPr/>
        </p:nvSpPr>
        <p:spPr>
          <a:xfrm>
            <a:off x="4450080" y="2712720"/>
            <a:ext cx="3291840" cy="2590800"/>
          </a:xfrm>
          <a:prstGeom prst="roundRect">
            <a:avLst>
              <a:gd name="adj" fmla="val 6000"/>
            </a:avLst>
          </a:prstGeom>
          <a:solidFill>
            <a:srgbClr val="FDECEC"/>
          </a:solidFill>
          <a:ln>
            <a:noFill/>
          </a:ln>
        </p:spPr>
        <p:txBody>
          <a:bodyPr wrap="square" lIns="0" tIns="0" rIns="0" bIns="0" rtlCol="0" anchor="t">
            <a:noAutofit/>
          </a:bodyPr>
          <a:lstStyle/>
          <a:p>
            <a:endParaRPr lang="en-US" dirty="0"/>
          </a:p>
        </p:txBody>
      </p:sp>
      <p:sp>
        <p:nvSpPr>
          <p:cNvPr id="1023" name="Process label"/>
          <p:cNvSpPr txBox="1"/>
          <p:nvPr/>
        </p:nvSpPr>
        <p:spPr>
          <a:xfrm>
            <a:off x="4632960" y="2846832"/>
            <a:ext cx="2926080" cy="274320"/>
          </a:xfrm>
          <a:prstGeom prst="rect">
            <a:avLst/>
          </a:prstGeom>
          <a:noFill/>
          <a:ln>
            <a:noFill/>
          </a:ln>
        </p:spPr>
        <p:txBody>
          <a:bodyPr wrap="square" lIns="0" tIns="0" rIns="0" bIns="0" rtlCol="0" anchor="t">
            <a:noAutofit/>
          </a:bodyPr>
          <a:lstStyle/>
          <a:p>
            <a:pPr algn="l"/>
            <a:r>
              <a:rPr lang="en-US" sz="1067" b="1" dirty="0">
                <a:solidFill>
                  <a:srgbClr val="B30400"/>
                </a:solidFill>
                <a:latin typeface="FS PF BeauSans Pro"/>
                <a:ea typeface="FS PF BeauSans Pro"/>
                <a:cs typeface="FS PF BeauSans Pro"/>
                <a:sym typeface="FS PF BeauSans Pro"/>
              </a:rPr>
              <a:t>PROCESS</a:t>
            </a:r>
          </a:p>
        </p:txBody>
      </p:sp>
      <p:sp>
        <p:nvSpPr>
          <p:cNvPr id="1025" name="Process caption"/>
          <p:cNvSpPr txBox="1"/>
          <p:nvPr/>
        </p:nvSpPr>
        <p:spPr>
          <a:xfrm>
            <a:off x="4632960" y="4529328"/>
            <a:ext cx="2926080" cy="701040"/>
          </a:xfrm>
          <a:prstGeom prst="rect">
            <a:avLst/>
          </a:prstGeom>
          <a:noFill/>
          <a:ln>
            <a:noFill/>
          </a:ln>
        </p:spPr>
        <p:txBody>
          <a:bodyPr wrap="square" lIns="0" tIns="0" rIns="0" bIns="0" rtlCol="0" anchor="t">
            <a:noAutofit/>
          </a:bodyPr>
          <a:lstStyle/>
          <a:p>
            <a:pPr algn="ctr"/>
            <a:r>
              <a:rPr lang="en-US" sz="1333" b="1" dirty="0">
                <a:solidFill>
                  <a:srgbClr val="404155"/>
                </a:solidFill>
                <a:latin typeface="FS PF BeauSans Pro"/>
                <a:ea typeface="FS PF BeauSans Pro"/>
                <a:cs typeface="FS PF BeauSans Pro"/>
                <a:sym typeface="FS PF BeauSans Pro"/>
              </a:rPr>
              <a:t>NISQA</a:t>
            </a:r>
            <a:r>
              <a:rPr lang="en-US" sz="1333" dirty="0">
                <a:solidFill>
                  <a:srgbClr val="000000"/>
                </a:solidFill>
                <a:latin typeface="FS PF BeauSans Pro"/>
                <a:ea typeface="FS PF BeauSans Pro"/>
                <a:cs typeface="FS PF BeauSans Pro"/>
                <a:sym typeface="FS PF BeauSans Pro"/>
              </a:rPr>
              <a:t>: reject if quality or continuity drops too much</a:t>
            </a:r>
          </a:p>
        </p:txBody>
      </p:sp>
      <p:sp>
        <p:nvSpPr>
          <p:cNvPr id="1026" name="Output card"/>
          <p:cNvSpPr/>
          <p:nvPr/>
        </p:nvSpPr>
        <p:spPr>
          <a:xfrm>
            <a:off x="8290560" y="2712720"/>
            <a:ext cx="3291840" cy="2590800"/>
          </a:xfrm>
          <a:prstGeom prst="roundRect">
            <a:avLst>
              <a:gd name="adj" fmla="val 6000"/>
            </a:avLst>
          </a:prstGeom>
          <a:solidFill>
            <a:srgbClr val="F4F4F4"/>
          </a:solidFill>
          <a:ln>
            <a:noFill/>
          </a:ln>
        </p:spPr>
        <p:txBody>
          <a:bodyPr wrap="square" lIns="0" tIns="0" rIns="0" bIns="0" rtlCol="0" anchor="t">
            <a:noAutofit/>
          </a:bodyPr>
          <a:lstStyle/>
          <a:p>
            <a:endParaRPr lang="en-US" dirty="0"/>
          </a:p>
        </p:txBody>
      </p:sp>
      <p:sp>
        <p:nvSpPr>
          <p:cNvPr id="1027" name="Output label"/>
          <p:cNvSpPr txBox="1"/>
          <p:nvPr/>
        </p:nvSpPr>
        <p:spPr>
          <a:xfrm>
            <a:off x="8473440" y="2846832"/>
            <a:ext cx="2926080" cy="274320"/>
          </a:xfrm>
          <a:prstGeom prst="rect">
            <a:avLst/>
          </a:prstGeom>
          <a:noFill/>
          <a:ln>
            <a:noFill/>
          </a:ln>
        </p:spPr>
        <p:txBody>
          <a:bodyPr wrap="square" lIns="0" tIns="0" rIns="0" bIns="0" rtlCol="0" anchor="t">
            <a:noAutofit/>
          </a:bodyPr>
          <a:lstStyle/>
          <a:p>
            <a:pPr algn="l"/>
            <a:r>
              <a:rPr lang="en-US" sz="1067" b="1" dirty="0">
                <a:solidFill>
                  <a:srgbClr val="7F7F7F"/>
                </a:solidFill>
                <a:latin typeface="FS PF BeauSans Pro"/>
                <a:ea typeface="FS PF BeauSans Pro"/>
                <a:cs typeface="FS PF BeauSans Pro"/>
                <a:sym typeface="FS PF BeauSans Pro"/>
              </a:rPr>
              <a:t>OUTPUT</a:t>
            </a:r>
          </a:p>
        </p:txBody>
      </p:sp>
      <p:sp>
        <p:nvSpPr>
          <p:cNvPr id="1029" name="Output caption"/>
          <p:cNvSpPr txBox="1"/>
          <p:nvPr/>
        </p:nvSpPr>
        <p:spPr>
          <a:xfrm>
            <a:off x="8473440" y="4529328"/>
            <a:ext cx="2926080" cy="701040"/>
          </a:xfrm>
          <a:prstGeom prst="rect">
            <a:avLst/>
          </a:prstGeom>
          <a:noFill/>
          <a:ln>
            <a:noFill/>
          </a:ln>
        </p:spPr>
        <p:txBody>
          <a:bodyPr wrap="square" lIns="0" tIns="0" rIns="0" bIns="0" rtlCol="0" anchor="t">
            <a:noAutofit/>
          </a:bodyPr>
          <a:lstStyle/>
          <a:p>
            <a:pPr algn="ctr">
              <a:buNone/>
            </a:pPr>
            <a:r>
              <a:rPr lang="en-US" sz="1333" b="1" dirty="0">
                <a:solidFill>
                  <a:srgbClr val="404155"/>
                </a:solidFill>
                <a:latin typeface="FS PF BeauSans Pro"/>
                <a:ea typeface="FS PF BeauSans Pro"/>
                <a:cs typeface="FS PF BeauSans Pro"/>
              </a:rPr>
              <a:t>Kept</a:t>
            </a:r>
            <a:r>
              <a:rPr lang="en-US" sz="1333" dirty="0">
                <a:solidFill>
                  <a:srgbClr val="000000"/>
                </a:solidFill>
                <a:latin typeface="FS PF BeauSans Pro"/>
                <a:ea typeface="FS PF BeauSans Pro"/>
                <a:cs typeface="FS PF BeauSans Pro"/>
              </a:rPr>
              <a:t> → NVV speech corpus</a:t>
            </a:r>
          </a:p>
        </p:txBody>
      </p:sp>
      <p:sp>
        <p:nvSpPr>
          <p:cNvPr id="1030" name="Flow arrow 1"/>
          <p:cNvSpPr/>
          <p:nvPr/>
        </p:nvSpPr>
        <p:spPr>
          <a:xfrm>
            <a:off x="4008120" y="3825240"/>
            <a:ext cx="335280" cy="365760"/>
          </a:xfrm>
          <a:prstGeom prst="rightArrow">
            <a:avLst/>
          </a:prstGeom>
          <a:solidFill>
            <a:srgbClr val="B4B4B4"/>
          </a:solidFill>
          <a:ln>
            <a:noFill/>
          </a:ln>
        </p:spPr>
        <p:txBody>
          <a:bodyPr wrap="square" lIns="0" tIns="0" rIns="0" bIns="0" rtlCol="0" anchor="t">
            <a:noAutofit/>
          </a:bodyPr>
          <a:lstStyle/>
          <a:p>
            <a:endParaRPr lang="en-US" dirty="0"/>
          </a:p>
        </p:txBody>
      </p:sp>
      <p:sp>
        <p:nvSpPr>
          <p:cNvPr id="1031" name="Flow arrow 2"/>
          <p:cNvSpPr/>
          <p:nvPr/>
        </p:nvSpPr>
        <p:spPr>
          <a:xfrm>
            <a:off x="7848600" y="3825240"/>
            <a:ext cx="335280" cy="365760"/>
          </a:xfrm>
          <a:prstGeom prst="rightArrow">
            <a:avLst/>
          </a:prstGeom>
          <a:solidFill>
            <a:srgbClr val="B4B4B4"/>
          </a:solidFill>
          <a:ln>
            <a:noFill/>
          </a:ln>
        </p:spPr>
        <p:txBody>
          <a:bodyPr wrap="square" lIns="0" tIns="0" rIns="0" bIns="0" rtlCol="0" anchor="t">
            <a:noAutofit/>
          </a:bodyPr>
          <a:lstStyle/>
          <a:p>
            <a:endParaRPr lang="en-US" dirty="0"/>
          </a:p>
        </p:txBody>
      </p:sp>
      <p:sp>
        <p:nvSpPr>
          <p:cNvPr id="1032" name="Footnote citations"/>
          <p:cNvSpPr txBox="1"/>
          <p:nvPr/>
        </p:nvSpPr>
        <p:spPr>
          <a:xfrm>
            <a:off x="411480" y="5852160"/>
            <a:ext cx="8869680" cy="914400"/>
          </a:xfrm>
          <a:prstGeom prst="rect">
            <a:avLst/>
          </a:prstGeom>
          <a:noFill/>
          <a:ln>
            <a:noFill/>
          </a:ln>
        </p:spPr>
        <p:txBody>
          <a:bodyPr wrap="square" lIns="45720" tIns="45720" rIns="45720" bIns="45720" anchor="b">
            <a:noAutofit/>
          </a:bodyPr>
          <a:lstStyle/>
          <a:p>
            <a:pPr>
              <a:buNone/>
            </a:pPr>
            <a:r>
              <a:rPr lang="en-US" sz="900" b="1" dirty="0">
                <a:solidFill>
                  <a:srgbClr val="595959"/>
                </a:solidFill>
                <a:latin typeface="FS PF BeauSans Pro"/>
                <a:ea typeface="FS PF BeauSans Pro"/>
                <a:cs typeface="FS PF BeauSans Pro"/>
              </a:rPr>
              <a:t>NISQA: </a:t>
            </a:r>
            <a:r>
              <a:rPr lang="en-US" sz="900" dirty="0">
                <a:solidFill>
                  <a:srgbClr val="595959"/>
                </a:solidFill>
                <a:latin typeface="FS PF BeauSans Pro"/>
                <a:ea typeface="FS PF BeauSans Pro"/>
                <a:cs typeface="FS PF BeauSans Pro"/>
              </a:rPr>
              <a:t>Mittag et al., Interspeech 2021</a:t>
            </a:r>
          </a:p>
        </p:txBody>
      </p:sp>
      <p:pic>
        <p:nvPicPr>
          <p:cNvPr id="1033" name="Process visual Filter (Canva)" descr="Filter step"/>
          <p:cNvPicPr>
            <a:picLocks noChangeAspect="1"/>
          </p:cNvPicPr>
          <p:nvPr/>
        </p:nvPicPr>
        <p:blipFill>
          <a:blip r:embed="rId2"/>
          <a:srcRect t="1" b="5026"/>
          <a:stretch>
            <a:fillRect/>
          </a:stretch>
        </p:blipFill>
        <p:spPr>
          <a:xfrm>
            <a:off x="5189018" y="3169920"/>
            <a:ext cx="1813962" cy="1215813"/>
          </a:xfrm>
          <a:prstGeom prst="rect">
            <a:avLst/>
          </a:prstGeom>
        </p:spPr>
      </p:pic>
      <p:pic>
        <p:nvPicPr>
          <p:cNvPr id="1034" name="Input visual (Canva)" descr="Spliced recording with the laugh inserted: chứ thôi , [laughter] để nó lành thôi"/>
          <p:cNvPicPr>
            <a:picLocks noChangeAspect="1"/>
          </p:cNvPicPr>
          <p:nvPr/>
        </p:nvPicPr>
        <p:blipFill>
          <a:blip r:embed="rId3"/>
          <a:stretch>
            <a:fillRect/>
          </a:stretch>
        </p:blipFill>
        <p:spPr>
          <a:xfrm>
            <a:off x="815168" y="3124200"/>
            <a:ext cx="2880703" cy="1371600"/>
          </a:xfrm>
          <a:prstGeom prst="rect">
            <a:avLst/>
          </a:prstGeom>
        </p:spPr>
      </p:pic>
      <p:pic>
        <p:nvPicPr>
          <p:cNvPr id="1035" name="Output visual (Canva)" descr="NVV speech corpus"/>
          <p:cNvPicPr>
            <a:picLocks noChangeAspect="1"/>
          </p:cNvPicPr>
          <p:nvPr/>
        </p:nvPicPr>
        <p:blipFill>
          <a:blip r:embed="rId4"/>
          <a:stretch>
            <a:fillRect/>
          </a:stretch>
        </p:blipFill>
        <p:spPr>
          <a:xfrm>
            <a:off x="9037988" y="3124200"/>
            <a:ext cx="1796982" cy="1371600"/>
          </a:xfrm>
          <a:prstGeom prst="rect">
            <a:avLst/>
          </a:prstGeom>
        </p:spPr>
      </p:pic>
    </p:spTree>
    <p:extLst>
      <p:ext uri="{BB962C8B-B14F-4D97-AF65-F5344CB8AC3E}">
        <p14:creationId xmlns:p14="http://schemas.microsoft.com/office/powerpoint/2010/main" val="584723571"/>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Shape 145"/>
        <p:cNvGrpSpPr/>
        <p:nvPr/>
      </p:nvGrpSpPr>
      <p:grpSpPr>
        <a:xfrm>
          <a:off x="0" y="0"/>
          <a:ext cx="0" cy="0"/>
          <a:chOff x="0" y="0"/>
          <a:chExt cx="0" cy="0"/>
        </a:xfrm>
      </p:grpSpPr>
      <p:sp>
        <p:nvSpPr>
          <p:cNvPr id="146" name="Google Shape;146;p10"/>
          <p:cNvSpPr txBox="1">
            <a:spLocks noGrp="1"/>
          </p:cNvSpPr>
          <p:nvPr>
            <p:ph type="ctrTitle"/>
          </p:nvPr>
        </p:nvSpPr>
        <p:spPr>
          <a:xfrm>
            <a:off x="822960" y="466344"/>
            <a:ext cx="10543032" cy="731520"/>
          </a:xfrm>
          <a:prstGeom prst="rect">
            <a:avLst/>
          </a:prstGeom>
          <a:noFill/>
          <a:ln>
            <a:noFill/>
          </a:ln>
        </p:spPr>
        <p:txBody>
          <a:bodyPr spcFirstLastPara="1" wrap="square" lIns="91425" tIns="91425" rIns="91425" bIns="91425" anchor="t" anchorCtr="0">
            <a:noAutofit/>
          </a:bodyPr>
          <a:lstStyle/>
          <a:p>
            <a:pPr marL="0" lvl="0" indent="0" algn="ctr" rtl="0">
              <a:buNone/>
            </a:pPr>
            <a:r>
              <a:rPr lang="en-US" dirty="0"/>
              <a:t>Fine-tuning &amp; inference</a:t>
            </a:r>
          </a:p>
        </p:txBody>
      </p:sp>
      <p:sp>
        <p:nvSpPr>
          <p:cNvPr id="148" name="Google Shape;148;p10"/>
          <p:cNvSpPr txBox="1">
            <a:spLocks noGrp="1"/>
          </p:cNvSpPr>
          <p:nvPr>
            <p:ph type="body" idx="1"/>
          </p:nvPr>
        </p:nvSpPr>
        <p:spPr>
          <a:xfrm>
            <a:off x="850392" y="1371600"/>
            <a:ext cx="10570464" cy="883920"/>
          </a:xfrm>
          <a:prstGeom prst="rect">
            <a:avLst/>
          </a:prstGeom>
          <a:noFill/>
          <a:ln>
            <a:noFill/>
          </a:ln>
        </p:spPr>
        <p:txBody>
          <a:bodyPr spcFirstLastPara="1" wrap="square" lIns="91425" tIns="91425" rIns="91425" bIns="91425" anchor="t" anchorCtr="0">
            <a:noAutofit/>
          </a:bodyPr>
          <a:lstStyle/>
          <a:p>
            <a:pPr marL="152400" indent="0" algn="l">
              <a:lnSpc>
                <a:spcPct val="110000"/>
              </a:lnSpc>
              <a:buNone/>
            </a:pPr>
            <a:r>
              <a:rPr lang="en-US" sz="2000" dirty="0">
                <a:latin typeface="FS PF BeauSans Pro"/>
                <a:ea typeface="FS PF BeauSans Pro"/>
                <a:cs typeface="FS PF BeauSans Pro"/>
              </a:rPr>
              <a:t>OmniVoice is fine-tuned on our synthetic NVV data alone (224,064 utterances, 811 h, 17 tags) for 10,000 steps; at inference, an inline tag produces the sound in the cloned voice.</a:t>
            </a:r>
          </a:p>
        </p:txBody>
      </p:sp>
      <p:sp>
        <p:nvSpPr>
          <p:cNvPr id="2" name="Slide Number Placeholder 1">
            <a:extLst>
              <a:ext uri="{FF2B5EF4-FFF2-40B4-BE49-F238E27FC236}">
                <a16:creationId xmlns:a16="http://schemas.microsoft.com/office/drawing/2014/main" id="{249CE59B-DD91-4B3A-8ACA-10EA59D7C3EE}"/>
              </a:ext>
            </a:extLst>
          </p:cNvPr>
          <p:cNvSpPr>
            <a:spLocks noGrp="1"/>
          </p:cNvSpPr>
          <p:nvPr>
            <p:ph type="sldNum" idx="12"/>
          </p:nvPr>
        </p:nvSpPr>
        <p:spPr/>
        <p:txBody>
          <a:bodyPr/>
          <a:lstStyle/>
          <a:p>
            <a:pPr marL="0" lvl="0" indent="0" algn="ctr" rtl="0">
              <a:spcBef>
                <a:spcPts val="0"/>
              </a:spcBef>
              <a:spcAft>
                <a:spcPts val="0"/>
              </a:spcAft>
              <a:buNone/>
            </a:pPr>
            <a:fld id="{00000000-1234-1234-1234-123412341234}" type="slidenum">
              <a:rPr lang="en-US" smtClean="0"/>
              <a:t>15</a:t>
            </a:fld>
            <a:endParaRPr lang="en-US" dirty="0"/>
          </a:p>
        </p:txBody>
      </p:sp>
      <p:sp>
        <p:nvSpPr>
          <p:cNvPr id="1010" name="Footnote citations"/>
          <p:cNvSpPr txBox="1"/>
          <p:nvPr/>
        </p:nvSpPr>
        <p:spPr>
          <a:xfrm>
            <a:off x="411480" y="5852160"/>
            <a:ext cx="8869680" cy="914400"/>
          </a:xfrm>
          <a:prstGeom prst="rect">
            <a:avLst/>
          </a:prstGeom>
          <a:noFill/>
          <a:ln>
            <a:noFill/>
          </a:ln>
        </p:spPr>
        <p:txBody>
          <a:bodyPr wrap="square" lIns="45720" tIns="45720" rIns="45720" bIns="45720" anchor="b">
            <a:noAutofit/>
          </a:bodyPr>
          <a:lstStyle/>
          <a:p>
            <a:pPr>
              <a:buNone/>
            </a:pPr>
            <a:r>
              <a:rPr lang="en-US" sz="900" b="1" dirty="0">
                <a:solidFill>
                  <a:srgbClr val="595959"/>
                </a:solidFill>
                <a:latin typeface="FS PF BeauSans Pro"/>
                <a:ea typeface="FS PF BeauSans Pro"/>
                <a:cs typeface="FS PF BeauSans Pro"/>
              </a:rPr>
              <a:t>OmniVoice: </a:t>
            </a:r>
            <a:r>
              <a:rPr lang="en-US" sz="900" dirty="0">
                <a:solidFill>
                  <a:srgbClr val="595959"/>
                </a:solidFill>
                <a:latin typeface="FS PF BeauSans Pro"/>
                <a:ea typeface="FS PF BeauSans Pro"/>
                <a:cs typeface="FS PF BeauSans Pro"/>
              </a:rPr>
              <a:t>Zhu et al., arXiv:2604.00688, 2026</a:t>
            </a:r>
          </a:p>
        </p:txBody>
      </p:sp>
      <p:pic>
        <p:nvPicPr>
          <p:cNvPr id="1011" name="Figure fine-tuning (Canva)" descr="NVV speech corpus fine-tunes OmniVoice, which speaks the tagged sentence with the NVV"/>
          <p:cNvPicPr>
            <a:picLocks noChangeAspect="1"/>
          </p:cNvPicPr>
          <p:nvPr/>
        </p:nvPicPr>
        <p:blipFill>
          <a:blip r:embed="rId2"/>
          <a:stretch>
            <a:fillRect/>
          </a:stretch>
        </p:blipFill>
        <p:spPr>
          <a:xfrm>
            <a:off x="731520" y="3107065"/>
            <a:ext cx="10725912" cy="1924029"/>
          </a:xfrm>
          <a:prstGeom prst="rect">
            <a:avLst/>
          </a:prstGeom>
        </p:spPr>
      </p:pic>
    </p:spTree>
    <p:extLst>
      <p:ext uri="{BB962C8B-B14F-4D97-AF65-F5344CB8AC3E}">
        <p14:creationId xmlns:p14="http://schemas.microsoft.com/office/powerpoint/2010/main" val="584723571"/>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Shape 145">
          <a:extLst>
            <a:ext uri="{FF2B5EF4-FFF2-40B4-BE49-F238E27FC236}">
              <a16:creationId xmlns:a16="http://schemas.microsoft.com/office/drawing/2014/main" id="{67CB50DF-B1ED-0C9D-C732-111A79BCBA67}"/>
            </a:ext>
          </a:extLst>
        </p:cNvPr>
        <p:cNvGrpSpPr/>
        <p:nvPr/>
      </p:nvGrpSpPr>
      <p:grpSpPr>
        <a:xfrm>
          <a:off x="0" y="0"/>
          <a:ext cx="0" cy="0"/>
          <a:chOff x="0" y="0"/>
          <a:chExt cx="0" cy="0"/>
        </a:xfrm>
      </p:grpSpPr>
      <p:sp>
        <p:nvSpPr>
          <p:cNvPr id="146" name="Google Shape;146;p10">
            <a:extLst>
              <a:ext uri="{FF2B5EF4-FFF2-40B4-BE49-F238E27FC236}">
                <a16:creationId xmlns:a16="http://schemas.microsoft.com/office/drawing/2014/main" id="{E553ECB0-80F2-AB4F-C73E-4094CB12EDC2}"/>
              </a:ext>
            </a:extLst>
          </p:cNvPr>
          <p:cNvSpPr txBox="1">
            <a:spLocks noGrp="1"/>
          </p:cNvSpPr>
          <p:nvPr>
            <p:ph type="ctrTitle"/>
          </p:nvPr>
        </p:nvSpPr>
        <p:spPr>
          <a:xfrm>
            <a:off x="822960" y="466344"/>
            <a:ext cx="10543032" cy="731520"/>
          </a:xfrm>
          <a:prstGeom prst="rect">
            <a:avLst/>
          </a:prstGeom>
          <a:noFill/>
          <a:ln>
            <a:noFill/>
          </a:ln>
        </p:spPr>
        <p:txBody>
          <a:bodyPr spcFirstLastPara="1" wrap="square" lIns="91425" tIns="91425" rIns="91425" bIns="91425" anchor="t" anchorCtr="0">
            <a:noAutofit/>
          </a:bodyPr>
          <a:lstStyle/>
          <a:p>
            <a:pPr marL="0" lvl="0" indent="0" algn="ctr" rtl="0">
              <a:buNone/>
            </a:pPr>
            <a:r>
              <a:rPr lang="en-US" dirty="0"/>
              <a:t>Fine-tuning &amp; inference</a:t>
            </a:r>
          </a:p>
        </p:txBody>
      </p:sp>
      <p:sp>
        <p:nvSpPr>
          <p:cNvPr id="148" name="Google Shape;148;p10">
            <a:extLst>
              <a:ext uri="{FF2B5EF4-FFF2-40B4-BE49-F238E27FC236}">
                <a16:creationId xmlns:a16="http://schemas.microsoft.com/office/drawing/2014/main" id="{E1EC1085-DFC1-305B-8DD9-A638FFD50B81}"/>
              </a:ext>
            </a:extLst>
          </p:cNvPr>
          <p:cNvSpPr txBox="1">
            <a:spLocks noGrp="1"/>
          </p:cNvSpPr>
          <p:nvPr>
            <p:ph type="body" idx="1"/>
          </p:nvPr>
        </p:nvSpPr>
        <p:spPr>
          <a:xfrm>
            <a:off x="699785" y="2545080"/>
            <a:ext cx="3000846" cy="883920"/>
          </a:xfrm>
          <a:prstGeom prst="rect">
            <a:avLst/>
          </a:prstGeom>
          <a:noFill/>
          <a:ln>
            <a:noFill/>
          </a:ln>
        </p:spPr>
        <p:txBody>
          <a:bodyPr spcFirstLastPara="1" wrap="square" lIns="91425" tIns="91425" rIns="91425" bIns="91425" anchor="t" anchorCtr="0">
            <a:noAutofit/>
          </a:bodyPr>
          <a:lstStyle/>
          <a:p>
            <a:pPr marL="152400" lvl="0" indent="0" algn="l" rtl="0">
              <a:lnSpc>
                <a:spcPct val="115000"/>
              </a:lnSpc>
              <a:spcBef>
                <a:spcPts val="0"/>
              </a:spcBef>
              <a:spcAft>
                <a:spcPts val="0"/>
              </a:spcAft>
              <a:buNone/>
            </a:pPr>
            <a:r>
              <a:rPr lang="en-US" sz="2000" dirty="0">
                <a:latin typeface="FS PF BeauSans Pro"/>
                <a:ea typeface="FS PF BeauSans Pro"/>
                <a:cs typeface="FS PF BeauSans Pro"/>
              </a:rPr>
              <a:t>OmniVoice is NAR TTS system finetune on many languages and NVV tags (mostly Chinese)</a:t>
            </a:r>
          </a:p>
        </p:txBody>
      </p:sp>
      <p:sp>
        <p:nvSpPr>
          <p:cNvPr id="2" name="Slide Number Placeholder 1">
            <a:extLst>
              <a:ext uri="{FF2B5EF4-FFF2-40B4-BE49-F238E27FC236}">
                <a16:creationId xmlns:a16="http://schemas.microsoft.com/office/drawing/2014/main" id="{450B0665-26CA-78D7-024E-04A788359A7E}"/>
              </a:ext>
            </a:extLst>
          </p:cNvPr>
          <p:cNvSpPr>
            <a:spLocks noGrp="1"/>
          </p:cNvSpPr>
          <p:nvPr>
            <p:ph type="sldNum" idx="12"/>
          </p:nvPr>
        </p:nvSpPr>
        <p:spPr/>
        <p:txBody>
          <a:bodyPr/>
          <a:lstStyle/>
          <a:p>
            <a:pPr marL="0" lvl="0" indent="0" algn="ctr" rtl="0">
              <a:spcBef>
                <a:spcPts val="0"/>
              </a:spcBef>
              <a:spcAft>
                <a:spcPts val="0"/>
              </a:spcAft>
              <a:buNone/>
            </a:pPr>
            <a:fld id="{00000000-1234-1234-1234-123412341234}" type="slidenum">
              <a:rPr lang="en-US" smtClean="0"/>
              <a:t>16</a:t>
            </a:fld>
            <a:endParaRPr lang="en-US" dirty="0"/>
          </a:p>
        </p:txBody>
      </p:sp>
      <p:pic>
        <p:nvPicPr>
          <p:cNvPr id="3" name="Picture 2" descr="OmniVoice: 600개 이상의 언어를 지원하는 제로샷 음성 복제 및 음성 디자인 TTS 모델 - 읽을거리&amp;정보공유 -  PyTorchKR">
            <a:extLst>
              <a:ext uri="{FF2B5EF4-FFF2-40B4-BE49-F238E27FC236}">
                <a16:creationId xmlns:a16="http://schemas.microsoft.com/office/drawing/2014/main" id="{23F3A01F-53C5-D359-0706-E52BA2C103F8}"/>
              </a:ext>
            </a:extLst>
          </p:cNvPr>
          <p:cNvPicPr>
            <a:picLocks noChangeAspect="1"/>
          </p:cNvPicPr>
          <p:nvPr/>
        </p:nvPicPr>
        <p:blipFill>
          <a:blip r:embed="rId2"/>
          <a:stretch>
            <a:fillRect/>
          </a:stretch>
        </p:blipFill>
        <p:spPr>
          <a:xfrm>
            <a:off x="4083722" y="1143000"/>
            <a:ext cx="7772400" cy="4572000"/>
          </a:xfrm>
          <a:prstGeom prst="rect">
            <a:avLst/>
          </a:prstGeom>
        </p:spPr>
      </p:pic>
      <p:sp>
        <p:nvSpPr>
          <p:cNvPr id="149" name="Footnote citations"/>
          <p:cNvSpPr txBox="1"/>
          <p:nvPr/>
        </p:nvSpPr>
        <p:spPr>
          <a:xfrm>
            <a:off x="411480" y="5852160"/>
            <a:ext cx="8869680" cy="914400"/>
          </a:xfrm>
          <a:prstGeom prst="rect">
            <a:avLst/>
          </a:prstGeom>
          <a:noFill/>
          <a:ln>
            <a:noFill/>
          </a:ln>
        </p:spPr>
        <p:txBody>
          <a:bodyPr wrap="square" lIns="45720" tIns="45720" rIns="45720" bIns="45720" anchor="b">
            <a:noAutofit/>
          </a:bodyPr>
          <a:lstStyle/>
          <a:p>
            <a:pPr>
              <a:buNone/>
            </a:pPr>
            <a:r>
              <a:rPr lang="en-US" sz="900" b="1" dirty="0">
                <a:solidFill>
                  <a:srgbClr val="595959"/>
                </a:solidFill>
                <a:latin typeface="FS PF BeauSans Pro"/>
                <a:ea typeface="FS PF BeauSans Pro"/>
                <a:cs typeface="FS PF BeauSans Pro"/>
              </a:rPr>
              <a:t>OmniVoice: </a:t>
            </a:r>
            <a:r>
              <a:rPr lang="en-US" sz="900" dirty="0">
                <a:solidFill>
                  <a:srgbClr val="595959"/>
                </a:solidFill>
                <a:latin typeface="FS PF BeauSans Pro"/>
                <a:ea typeface="FS PF BeauSans Pro"/>
                <a:cs typeface="FS PF BeauSans Pro"/>
              </a:rPr>
              <a:t>Zhu et al., arXiv:2604.00688, 2026</a:t>
            </a:r>
          </a:p>
        </p:txBody>
      </p:sp>
    </p:spTree>
    <p:extLst>
      <p:ext uri="{BB962C8B-B14F-4D97-AF65-F5344CB8AC3E}">
        <p14:creationId xmlns:p14="http://schemas.microsoft.com/office/powerpoint/2010/main" val="3538853604"/>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Shape 145"/>
        <p:cNvGrpSpPr/>
        <p:nvPr/>
      </p:nvGrpSpPr>
      <p:grpSpPr>
        <a:xfrm>
          <a:off x="0" y="0"/>
          <a:ext cx="0" cy="0"/>
          <a:chOff x="0" y="0"/>
          <a:chExt cx="0" cy="0"/>
        </a:xfrm>
      </p:grpSpPr>
      <p:sp>
        <p:nvSpPr>
          <p:cNvPr id="146" name="Google Shape;146;p10"/>
          <p:cNvSpPr txBox="1">
            <a:spLocks noGrp="1"/>
          </p:cNvSpPr>
          <p:nvPr>
            <p:ph type="ctrTitle"/>
          </p:nvPr>
        </p:nvSpPr>
        <p:spPr>
          <a:xfrm>
            <a:off x="822960" y="466344"/>
            <a:ext cx="10543032" cy="731520"/>
          </a:xfrm>
          <a:prstGeom prst="rect">
            <a:avLst/>
          </a:prstGeom>
          <a:noFill/>
          <a:ln>
            <a:noFill/>
          </a:ln>
        </p:spPr>
        <p:txBody>
          <a:bodyPr spcFirstLastPara="1" wrap="square" lIns="91425" tIns="91425" rIns="91425" bIns="91425" anchor="t" anchorCtr="0">
            <a:noAutofit/>
          </a:bodyPr>
          <a:lstStyle/>
          <a:p>
            <a:pPr marL="0" lvl="0" indent="0" algn="ctr" rtl="0">
              <a:buNone/>
            </a:pPr>
            <a:r>
              <a:rPr lang="en-US" dirty="0"/>
              <a:t>Why fine-tune OmniVoice?</a:t>
            </a:r>
          </a:p>
        </p:txBody>
      </p:sp>
      <p:sp>
        <p:nvSpPr>
          <p:cNvPr id="2" name="Slide Number Placeholder 1">
            <a:extLst>
              <a:ext uri="{FF2B5EF4-FFF2-40B4-BE49-F238E27FC236}">
                <a16:creationId xmlns:a16="http://schemas.microsoft.com/office/drawing/2014/main" id="{249CE59B-DD91-4B3A-8ACA-10EA59D7C3EE}"/>
              </a:ext>
            </a:extLst>
          </p:cNvPr>
          <p:cNvSpPr>
            <a:spLocks noGrp="1"/>
          </p:cNvSpPr>
          <p:nvPr>
            <p:ph type="sldNum" idx="12"/>
          </p:nvPr>
        </p:nvSpPr>
        <p:spPr/>
        <p:txBody>
          <a:bodyPr/>
          <a:lstStyle/>
          <a:p>
            <a:pPr marL="0" lvl="0" indent="0" algn="ctr" rtl="0">
              <a:spcBef>
                <a:spcPts val="0"/>
              </a:spcBef>
              <a:spcAft>
                <a:spcPts val="0"/>
              </a:spcAft>
              <a:buNone/>
            </a:pPr>
            <a:fld id="{00000000-1234-1234-1234-123412341234}" type="slidenum">
              <a:rPr lang="en-US" smtClean="0"/>
              <a:t>17</a:t>
            </a:fld>
            <a:endParaRPr lang="en-US" dirty="0"/>
          </a:p>
        </p:txBody>
      </p:sp>
      <p:sp>
        <p:nvSpPr>
          <p:cNvPr id="1008" name="TextBox 8"/>
          <p:cNvSpPr txBox="1"/>
          <p:nvPr/>
        </p:nvSpPr>
        <p:spPr>
          <a:xfrm>
            <a:off x="875406" y="1673833"/>
            <a:ext cx="4732004" cy="971549"/>
          </a:xfrm>
          <a:prstGeom prst="rect">
            <a:avLst/>
          </a:prstGeom>
        </p:spPr>
        <p:txBody>
          <a:bodyPr lIns="0" tIns="0" rIns="0" bIns="0" rtlCol="0" anchor="t">
            <a:spAutoFit/>
          </a:bodyPr>
          <a:lstStyle/>
          <a:p>
            <a:pPr algn="l">
              <a:lnSpc>
                <a:spcPts val="3600"/>
              </a:lnSpc>
            </a:pPr>
            <a:r>
              <a:rPr lang="en-US" sz="2000" b="1" dirty="0">
                <a:solidFill>
                  <a:srgbClr val="E80500"/>
                </a:solidFill>
                <a:latin typeface="FS PF BeauSans Pro"/>
                <a:ea typeface="FS PF BeauSans Pro"/>
                <a:cs typeface="FS PF BeauSans Pro"/>
                <a:sym typeface="FS PF BeauSans Pro"/>
              </a:rPr>
              <a:t>Few NVV tags</a:t>
            </a:r>
          </a:p>
          <a:p>
            <a:pPr algn="l">
              <a:lnSpc>
                <a:spcPts val="2400"/>
              </a:lnSpc>
            </a:pPr>
            <a:r>
              <a:rPr lang="en-US" sz="1733" dirty="0">
                <a:solidFill>
                  <a:srgbClr val="000000"/>
                </a:solidFill>
                <a:latin typeface="FS PF BeauSans Pro"/>
                <a:ea typeface="FS PF BeauSans Pro"/>
                <a:cs typeface="FS PF BeauSans Pro"/>
                <a:sym typeface="FS PF BeauSans Pro"/>
              </a:rPr>
              <a:t>Only [laughter] and [sigh] are non-verbal; 15 of our 17 classes have no tag.</a:t>
            </a:r>
          </a:p>
        </p:txBody>
      </p:sp>
      <p:sp>
        <p:nvSpPr>
          <p:cNvPr id="1009" name="TextBox 9"/>
          <p:cNvSpPr txBox="1"/>
          <p:nvPr/>
        </p:nvSpPr>
        <p:spPr>
          <a:xfrm>
            <a:off x="6691707" y="1673833"/>
            <a:ext cx="4640296" cy="1050886"/>
          </a:xfrm>
          <a:prstGeom prst="rect">
            <a:avLst/>
          </a:prstGeom>
        </p:spPr>
        <p:txBody>
          <a:bodyPr lIns="0" tIns="0" rIns="0" bIns="0" rtlCol="0" anchor="t">
            <a:spAutoFit/>
          </a:bodyPr>
          <a:lstStyle/>
          <a:p>
            <a:pPr algn="l">
              <a:lnSpc>
                <a:spcPts val="3600"/>
              </a:lnSpc>
            </a:pPr>
            <a:r>
              <a:rPr lang="en-US" sz="2000" b="1" dirty="0">
                <a:solidFill>
                  <a:srgbClr val="E80500"/>
                </a:solidFill>
                <a:latin typeface="FS PF BeauSans Pro"/>
                <a:ea typeface="FS PF BeauSans Pro"/>
                <a:cs typeface="FS PF BeauSans Pro"/>
                <a:sym typeface="FS PF BeauSans Pro"/>
              </a:rPr>
              <a:t>Easy integration</a:t>
            </a:r>
          </a:p>
          <a:p>
            <a:pPr algn="l">
              <a:lnSpc>
                <a:spcPts val="2400"/>
              </a:lnSpc>
            </a:pPr>
            <a:r>
              <a:rPr lang="en-US" sz="1733" dirty="0">
                <a:solidFill>
                  <a:srgbClr val="000000"/>
                </a:solidFill>
                <a:latin typeface="FS PF BeauSans Pro"/>
                <a:ea typeface="FS PF BeauSans Pro"/>
                <a:cs typeface="FS PF BeauSans Pro"/>
                <a:sym typeface="FS PF BeauSans Pro"/>
              </a:rPr>
              <a:t>It can learn new NVV tags easily and give great result</a:t>
            </a:r>
          </a:p>
        </p:txBody>
      </p:sp>
      <p:sp>
        <p:nvSpPr>
          <p:cNvPr id="1010" name="TextBox 10"/>
          <p:cNvSpPr txBox="1"/>
          <p:nvPr/>
        </p:nvSpPr>
        <p:spPr>
          <a:xfrm>
            <a:off x="875406" y="3533169"/>
            <a:ext cx="4579157" cy="1051506"/>
          </a:xfrm>
          <a:prstGeom prst="rect">
            <a:avLst/>
          </a:prstGeom>
        </p:spPr>
        <p:txBody>
          <a:bodyPr lIns="0" tIns="0" rIns="0" bIns="0" rtlCol="0" anchor="t">
            <a:spAutoFit/>
          </a:bodyPr>
          <a:lstStyle/>
          <a:p>
            <a:pPr algn="l">
              <a:lnSpc>
                <a:spcPts val="3600"/>
              </a:lnSpc>
            </a:pPr>
            <a:r>
              <a:rPr lang="en-US" sz="2000" b="1" dirty="0">
                <a:solidFill>
                  <a:srgbClr val="E80500"/>
                </a:solidFill>
                <a:latin typeface="FS PF BeauSans Pro"/>
                <a:ea typeface="FS PF BeauSans Pro"/>
                <a:cs typeface="FS PF BeauSans Pro"/>
                <a:sym typeface="FS PF BeauSans Pro"/>
              </a:rPr>
              <a:t>No tag control</a:t>
            </a:r>
          </a:p>
          <a:p>
            <a:pPr algn="l">
              <a:lnSpc>
                <a:spcPts val="2400"/>
              </a:lnSpc>
            </a:pPr>
            <a:r>
              <a:rPr lang="en-US" sz="1733" dirty="0">
                <a:solidFill>
                  <a:srgbClr val="000000"/>
                </a:solidFill>
                <a:latin typeface="FS PF BeauSans Pro"/>
                <a:ea typeface="FS PF BeauSans Pro"/>
                <a:cs typeface="FS PF BeauSans Pro"/>
                <a:sym typeface="FS PF BeauSans Pro"/>
              </a:rPr>
              <a:t>It often drops the tag or speak the tag in English when the </a:t>
            </a:r>
            <a:r>
              <a:rPr lang="en-US" sz="1733" dirty="0">
                <a:latin typeface="FS PF BeauSans Pro"/>
                <a:ea typeface="FS PF BeauSans Pro"/>
                <a:cs typeface="FS PF BeauSans Pro"/>
                <a:sym typeface="FS PF BeauSans Pro"/>
              </a:rPr>
              <a:t>context</a:t>
            </a:r>
            <a:r>
              <a:rPr lang="en-US" sz="1733" dirty="0">
                <a:solidFill>
                  <a:srgbClr val="000000"/>
                </a:solidFill>
                <a:latin typeface="FS PF BeauSans Pro"/>
                <a:ea typeface="FS PF BeauSans Pro"/>
                <a:cs typeface="FS PF BeauSans Pro"/>
                <a:sym typeface="FS PF BeauSans Pro"/>
              </a:rPr>
              <a:t> is Vietnamese.</a:t>
            </a:r>
          </a:p>
        </p:txBody>
      </p:sp>
      <p:sp>
        <p:nvSpPr>
          <p:cNvPr id="1011" name="TextBox 11"/>
          <p:cNvSpPr txBox="1"/>
          <p:nvPr/>
        </p:nvSpPr>
        <p:spPr>
          <a:xfrm>
            <a:off x="6691707" y="3533169"/>
            <a:ext cx="4640296" cy="1051506"/>
          </a:xfrm>
          <a:prstGeom prst="rect">
            <a:avLst/>
          </a:prstGeom>
        </p:spPr>
        <p:txBody>
          <a:bodyPr lIns="0" tIns="0" rIns="0" bIns="0" rtlCol="0" anchor="t">
            <a:spAutoFit/>
          </a:bodyPr>
          <a:lstStyle/>
          <a:p>
            <a:pPr algn="l">
              <a:lnSpc>
                <a:spcPts val="3600"/>
              </a:lnSpc>
            </a:pPr>
            <a:r>
              <a:rPr lang="en-US" sz="2000" b="1" dirty="0">
                <a:solidFill>
                  <a:srgbClr val="E80500"/>
                </a:solidFill>
                <a:latin typeface="FS PF BeauSans Pro"/>
                <a:ea typeface="FS PF BeauSans Pro"/>
                <a:cs typeface="FS PF BeauSans Pro"/>
                <a:sym typeface="FS PF BeauSans Pro"/>
              </a:rPr>
              <a:t>Our fix</a:t>
            </a:r>
          </a:p>
          <a:p>
            <a:pPr algn="l">
              <a:lnSpc>
                <a:spcPts val="2400"/>
              </a:lnSpc>
            </a:pPr>
            <a:r>
              <a:rPr lang="en-US" sz="1733" dirty="0">
                <a:solidFill>
                  <a:srgbClr val="000000"/>
                </a:solidFill>
                <a:latin typeface="FS PF BeauSans Pro"/>
                <a:ea typeface="FS PF BeauSans Pro"/>
                <a:cs typeface="FS PF BeauSans Pro"/>
                <a:sym typeface="FS PF BeauSans Pro"/>
              </a:rPr>
              <a:t>Fine-tune on our synthetic data alone: all 17 tags on Vietnamese speech, with the same objective.</a:t>
            </a:r>
          </a:p>
        </p:txBody>
      </p:sp>
      <p:sp>
        <p:nvSpPr>
          <p:cNvPr id="1012" name="Footnote citations"/>
          <p:cNvSpPr txBox="1"/>
          <p:nvPr/>
        </p:nvSpPr>
        <p:spPr>
          <a:xfrm>
            <a:off x="411480" y="5852160"/>
            <a:ext cx="8869680" cy="914400"/>
          </a:xfrm>
          <a:prstGeom prst="rect">
            <a:avLst/>
          </a:prstGeom>
          <a:noFill/>
          <a:ln>
            <a:noFill/>
          </a:ln>
        </p:spPr>
        <p:txBody>
          <a:bodyPr wrap="square" lIns="45720" tIns="45720" rIns="45720" bIns="45720" anchor="b">
            <a:noAutofit/>
          </a:bodyPr>
          <a:lstStyle/>
          <a:p>
            <a:pPr>
              <a:buNone/>
            </a:pPr>
            <a:r>
              <a:rPr lang="en-US" sz="900" b="1" dirty="0">
                <a:solidFill>
                  <a:srgbClr val="595959"/>
                </a:solidFill>
                <a:latin typeface="FS PF BeauSans Pro"/>
                <a:ea typeface="FS PF BeauSans Pro"/>
                <a:cs typeface="FS PF BeauSans Pro"/>
              </a:rPr>
              <a:t>OmniVoice: </a:t>
            </a:r>
            <a:r>
              <a:rPr lang="en-US" sz="900" dirty="0">
                <a:solidFill>
                  <a:srgbClr val="595959"/>
                </a:solidFill>
                <a:latin typeface="FS PF BeauSans Pro"/>
                <a:ea typeface="FS PF BeauSans Pro"/>
                <a:cs typeface="FS PF BeauSans Pro"/>
              </a:rPr>
              <a:t>Zhu et al., arXiv:2604.00688, 2026</a:t>
            </a:r>
          </a:p>
        </p:txBody>
      </p:sp>
    </p:spTree>
    <p:extLst>
      <p:ext uri="{BB962C8B-B14F-4D97-AF65-F5344CB8AC3E}">
        <p14:creationId xmlns:p14="http://schemas.microsoft.com/office/powerpoint/2010/main" val="584723571"/>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Shape 145">
          <a:extLst>
            <a:ext uri="{FF2B5EF4-FFF2-40B4-BE49-F238E27FC236}">
              <a16:creationId xmlns:a16="http://schemas.microsoft.com/office/drawing/2014/main" id="{1DF9C122-3012-C3BD-F55B-FF675829078B}"/>
            </a:ext>
          </a:extLst>
        </p:cNvPr>
        <p:cNvGrpSpPr/>
        <p:nvPr/>
      </p:nvGrpSpPr>
      <p:grpSpPr>
        <a:xfrm>
          <a:off x="0" y="0"/>
          <a:ext cx="0" cy="0"/>
          <a:chOff x="0" y="0"/>
          <a:chExt cx="0" cy="0"/>
        </a:xfrm>
      </p:grpSpPr>
      <p:sp>
        <p:nvSpPr>
          <p:cNvPr id="146" name="Google Shape;146;p10">
            <a:extLst>
              <a:ext uri="{FF2B5EF4-FFF2-40B4-BE49-F238E27FC236}">
                <a16:creationId xmlns:a16="http://schemas.microsoft.com/office/drawing/2014/main" id="{C5954C47-8350-BBD2-1E84-89E1A6785D3B}"/>
              </a:ext>
            </a:extLst>
          </p:cNvPr>
          <p:cNvSpPr txBox="1">
            <a:spLocks noGrp="1"/>
          </p:cNvSpPr>
          <p:nvPr>
            <p:ph type="ctrTitle"/>
          </p:nvPr>
        </p:nvSpPr>
        <p:spPr>
          <a:xfrm>
            <a:off x="822960" y="466344"/>
            <a:ext cx="10543032" cy="731520"/>
          </a:xfrm>
          <a:prstGeom prst="rect">
            <a:avLst/>
          </a:prstGeom>
          <a:noFill/>
          <a:ln>
            <a:noFill/>
          </a:ln>
        </p:spPr>
        <p:txBody>
          <a:bodyPr spcFirstLastPara="1" wrap="square" lIns="91425" tIns="91425" rIns="91425" bIns="91425" anchor="t" anchorCtr="0">
            <a:noAutofit/>
          </a:bodyPr>
          <a:lstStyle/>
          <a:p>
            <a:pPr marL="0" lvl="0" indent="0" algn="ctr" rtl="0">
              <a:buNone/>
            </a:pPr>
            <a:r>
              <a:rPr lang="en-US" dirty="0"/>
              <a:t>NVV clip pool</a:t>
            </a:r>
          </a:p>
        </p:txBody>
      </p:sp>
      <p:sp>
        <p:nvSpPr>
          <p:cNvPr id="148" name="Google Shape;148;p10">
            <a:extLst>
              <a:ext uri="{FF2B5EF4-FFF2-40B4-BE49-F238E27FC236}">
                <a16:creationId xmlns:a16="http://schemas.microsoft.com/office/drawing/2014/main" id="{2948CE33-01E6-E042-142B-7C712E61EEE7}"/>
              </a:ext>
            </a:extLst>
          </p:cNvPr>
          <p:cNvSpPr txBox="1">
            <a:spLocks noGrp="1"/>
          </p:cNvSpPr>
          <p:nvPr>
            <p:ph type="body" idx="1"/>
          </p:nvPr>
        </p:nvSpPr>
        <p:spPr>
          <a:xfrm>
            <a:off x="502920" y="1371600"/>
            <a:ext cx="4754880" cy="3840480"/>
          </a:xfrm>
          <a:prstGeom prst="rect">
            <a:avLst/>
          </a:prstGeom>
          <a:noFill/>
          <a:ln>
            <a:noFill/>
          </a:ln>
        </p:spPr>
        <p:txBody>
          <a:bodyPr spcFirstLastPara="1" wrap="square" lIns="91425" tIns="91425" rIns="91425" bIns="91425" anchor="t" anchorCtr="0">
            <a:noAutofit/>
          </a:bodyPr>
          <a:lstStyle/>
          <a:p>
            <a:pPr marL="152400" indent="0" algn="l">
              <a:lnSpc>
                <a:spcPct val="110000"/>
              </a:lnSpc>
              <a:spcAft>
                <a:spcPts val="600"/>
              </a:spcAft>
              <a:buNone/>
            </a:pPr>
            <a:r>
              <a:rPr lang="en-US" sz="1800" dirty="0">
                <a:latin typeface="FS PF BeauSans Pro"/>
                <a:ea typeface="FS PF BeauSans Pro"/>
                <a:cs typeface="FS PF BeauSans Pro"/>
              </a:rPr>
              <a:t>Built once before synthesis: clean, isolated NVV clips pooled from several corpora into 17 classes.</a:t>
            </a:r>
          </a:p>
          <a:p>
            <a:pPr marL="495300" indent="-342900">
              <a:lnSpc>
                <a:spcPct val="110000"/>
              </a:lnSpc>
              <a:spcAft>
                <a:spcPts val="300"/>
              </a:spcAft>
              <a:buFont typeface="Wingdings" panose="05000000000000000000" pitchFamily="2" charset="2"/>
              <a:buChar char="Ø"/>
            </a:pPr>
            <a:r>
              <a:rPr lang="en-US" sz="1600" b="1" dirty="0">
                <a:latin typeface="FS PF BeauSans Pro"/>
                <a:ea typeface="FS PF BeauSans Pro"/>
                <a:cs typeface="FS PF BeauSans Pro"/>
              </a:rPr>
              <a:t>13,165 clips, 12.0 h</a:t>
            </a:r>
            <a:r>
              <a:rPr lang="en-US" sz="1600" dirty="0">
                <a:latin typeface="FS PF BeauSans Pro"/>
                <a:ea typeface="FS PF BeauSans Pro"/>
                <a:cs typeface="FS PF BeauSans Pro"/>
              </a:rPr>
              <a:t> in total</a:t>
            </a:r>
          </a:p>
        </p:txBody>
      </p:sp>
      <p:sp>
        <p:nvSpPr>
          <p:cNvPr id="2" name="Slide Number Placeholder 1">
            <a:extLst>
              <a:ext uri="{FF2B5EF4-FFF2-40B4-BE49-F238E27FC236}">
                <a16:creationId xmlns:a16="http://schemas.microsoft.com/office/drawing/2014/main" id="{90EF4C06-006E-3F1E-BB18-3BB234B95A8E}"/>
              </a:ext>
            </a:extLst>
          </p:cNvPr>
          <p:cNvSpPr>
            <a:spLocks noGrp="1"/>
          </p:cNvSpPr>
          <p:nvPr>
            <p:ph type="sldNum" idx="12"/>
          </p:nvPr>
        </p:nvSpPr>
        <p:spPr/>
        <p:txBody>
          <a:bodyPr/>
          <a:lstStyle/>
          <a:p>
            <a:pPr marL="0" lvl="0" indent="0" algn="ctr" rtl="0">
              <a:spcBef>
                <a:spcPts val="0"/>
              </a:spcBef>
              <a:spcAft>
                <a:spcPts val="0"/>
              </a:spcAft>
              <a:buNone/>
            </a:pPr>
            <a:fld id="{00000000-1234-1234-1234-123412341234}" type="slidenum">
              <a:rPr lang="en-US" smtClean="0"/>
              <a:t>18</a:t>
            </a:fld>
            <a:endParaRPr lang="en-US" dirty="0"/>
          </a:p>
        </p:txBody>
      </p:sp>
      <p:sp>
        <p:nvSpPr>
          <p:cNvPr id="3" name="TextBox 2">
            <a:extLst>
              <a:ext uri="{FF2B5EF4-FFF2-40B4-BE49-F238E27FC236}">
                <a16:creationId xmlns:a16="http://schemas.microsoft.com/office/drawing/2014/main" id="{E346E55C-9483-A29E-BD57-5AAFA5098EAD}"/>
              </a:ext>
            </a:extLst>
          </p:cNvPr>
          <p:cNvSpPr txBox="1"/>
          <p:nvPr/>
        </p:nvSpPr>
        <p:spPr>
          <a:xfrm>
            <a:off x="5394960" y="5074920"/>
            <a:ext cx="6309360" cy="310896"/>
          </a:xfrm>
          <a:prstGeom prst="rect">
            <a:avLst/>
          </a:prstGeom>
          <a:noFill/>
        </p:spPr>
        <p:txBody>
          <a:bodyPr wrap="none" rtlCol="0">
            <a:spAutoFit/>
          </a:bodyPr>
          <a:lstStyle/>
          <a:p>
            <a:pPr algn="ctr"/>
            <a:r>
              <a:rPr lang="en-US" sz="1100" dirty="0">
                <a:solidFill>
                  <a:srgbClr val="262626"/>
                </a:solidFill>
                <a:latin typeface="FS PF BeauSans Pro"/>
                <a:ea typeface="FS PF BeauSans Pro"/>
                <a:cs typeface="FS PF BeauSans Pro"/>
              </a:rPr>
              <a:t>Figure 1: NVV clips per class in the clip pool</a:t>
            </a:r>
          </a:p>
        </p:txBody>
      </p:sp>
      <p:graphicFrame>
        <p:nvGraphicFramePr>
          <p:cNvPr id="1016" name="Chart NVV clips per class" descr="Bar chart of NVV clips per class: breathing 3,196, crying 2,288, the six VocalSound classes about 900 each, screaming 896, then gasp 364 down to pant 11."/>
          <p:cNvGraphicFramePr>
            <a:graphicFrameLocks noGrp="1"/>
          </p:cNvGraphicFramePr>
          <p:nvPr/>
        </p:nvGraphicFramePr>
        <p:xfrm>
          <a:off x="5394960" y="1234440"/>
          <a:ext cx="6309360" cy="3794760"/>
        </p:xfrm>
        <a:graphic>
          <a:graphicData uri="http://schemas.openxmlformats.org/drawingml/2006/chart">
            <c:chart xmlns:c="http://schemas.openxmlformats.org/drawingml/2006/chart" xmlns:r="http://schemas.openxmlformats.org/officeDocument/2006/relationships" r:id="rId2"/>
          </a:graphicData>
        </a:graphic>
      </p:graphicFrame>
    </p:spTree>
    <p:extLst>
      <p:ext uri="{BB962C8B-B14F-4D97-AF65-F5344CB8AC3E}">
        <p14:creationId xmlns:p14="http://schemas.microsoft.com/office/powerpoint/2010/main" val="2102328433"/>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Shape 145"/>
        <p:cNvGrpSpPr/>
        <p:nvPr/>
      </p:nvGrpSpPr>
      <p:grpSpPr>
        <a:xfrm>
          <a:off x="0" y="0"/>
          <a:ext cx="0" cy="0"/>
          <a:chOff x="0" y="0"/>
          <a:chExt cx="0" cy="0"/>
        </a:xfrm>
      </p:grpSpPr>
      <p:sp>
        <p:nvSpPr>
          <p:cNvPr id="146" name="Google Shape;146;p10"/>
          <p:cNvSpPr txBox="1">
            <a:spLocks noGrp="1"/>
          </p:cNvSpPr>
          <p:nvPr>
            <p:ph type="ctrTitle"/>
          </p:nvPr>
        </p:nvSpPr>
        <p:spPr>
          <a:xfrm>
            <a:off x="822960" y="466344"/>
            <a:ext cx="10543032" cy="731520"/>
          </a:xfrm>
          <a:prstGeom prst="rect">
            <a:avLst/>
          </a:prstGeom>
          <a:noFill/>
          <a:ln>
            <a:noFill/>
          </a:ln>
        </p:spPr>
        <p:txBody>
          <a:bodyPr spcFirstLastPara="1" wrap="square" lIns="91425" tIns="91425" rIns="91425" bIns="91425" anchor="t" anchorCtr="0">
            <a:noAutofit/>
          </a:bodyPr>
          <a:lstStyle/>
          <a:p>
            <a:pPr marL="0" lvl="0" indent="0" algn="ctr" rtl="0">
              <a:buNone/>
            </a:pPr>
            <a:r>
              <a:rPr lang="en-US" dirty="0"/>
              <a:t>Result</a:t>
            </a:r>
          </a:p>
        </p:txBody>
      </p:sp>
      <p:sp>
        <p:nvSpPr>
          <p:cNvPr id="148" name="Google Shape;148;p10"/>
          <p:cNvSpPr txBox="1">
            <a:spLocks noGrp="1"/>
          </p:cNvSpPr>
          <p:nvPr>
            <p:ph type="body" idx="1"/>
          </p:nvPr>
        </p:nvSpPr>
        <p:spPr>
          <a:xfrm>
            <a:off x="548640" y="1325880"/>
            <a:ext cx="11064240" cy="502920"/>
          </a:xfrm>
          <a:prstGeom prst="rect">
            <a:avLst/>
          </a:prstGeom>
          <a:noFill/>
          <a:ln>
            <a:noFill/>
          </a:ln>
        </p:spPr>
        <p:txBody>
          <a:bodyPr spcFirstLastPara="1" wrap="square" lIns="91425" tIns="91425" rIns="91425" bIns="91425" anchor="t" anchorCtr="0">
            <a:noAutofit/>
          </a:bodyPr>
          <a:lstStyle/>
          <a:p>
            <a:pPr marL="152400" indent="0" algn="l">
              <a:lnSpc>
                <a:spcPct val="110000"/>
              </a:lnSpc>
              <a:buNone/>
            </a:pPr>
            <a:r>
              <a:rPr lang="en-US" sz="1700" dirty="0">
                <a:latin typeface="FS PF BeauSans Pro"/>
                <a:ea typeface="FS PF BeauSans Pro"/>
                <a:cs typeface="FS PF BeauSans Pro"/>
              </a:rPr>
              <a:t>The first synthesize TTS with nonverbal element for Vietnamese, able to scale up for more tags</a:t>
            </a:r>
          </a:p>
        </p:txBody>
      </p:sp>
      <p:sp>
        <p:nvSpPr>
          <p:cNvPr id="2" name="Slide Number Placeholder 1">
            <a:extLst>
              <a:ext uri="{FF2B5EF4-FFF2-40B4-BE49-F238E27FC236}">
                <a16:creationId xmlns:a16="http://schemas.microsoft.com/office/drawing/2014/main" id="{249CE59B-DD91-4B3A-8ACA-10EA59D7C3EE}"/>
              </a:ext>
            </a:extLst>
          </p:cNvPr>
          <p:cNvSpPr>
            <a:spLocks noGrp="1"/>
          </p:cNvSpPr>
          <p:nvPr>
            <p:ph type="sldNum" idx="12"/>
          </p:nvPr>
        </p:nvSpPr>
        <p:spPr/>
        <p:txBody>
          <a:bodyPr/>
          <a:lstStyle/>
          <a:p>
            <a:pPr marL="0" lvl="0" indent="0" algn="ctr" rtl="0">
              <a:spcBef>
                <a:spcPts val="0"/>
              </a:spcBef>
              <a:spcAft>
                <a:spcPts val="0"/>
              </a:spcAft>
              <a:buNone/>
            </a:pPr>
            <a:fld id="{00000000-1234-1234-1234-123412341234}" type="slidenum">
              <a:rPr lang="en-US" smtClean="0"/>
              <a:t>19</a:t>
            </a:fld>
            <a:endParaRPr lang="en-US" dirty="0"/>
          </a:p>
        </p:txBody>
      </p:sp>
      <p:sp>
        <p:nvSpPr>
          <p:cNvPr id="3" name="TextBox 2">
            <a:extLst>
              <a:ext uri="{FF2B5EF4-FFF2-40B4-BE49-F238E27FC236}">
                <a16:creationId xmlns:a16="http://schemas.microsoft.com/office/drawing/2014/main" id="{57E87E1A-D060-BE3F-639E-3C826F9CD4BF}"/>
              </a:ext>
            </a:extLst>
          </p:cNvPr>
          <p:cNvSpPr txBox="1"/>
          <p:nvPr/>
        </p:nvSpPr>
        <p:spPr>
          <a:xfrm>
            <a:off x="4023360" y="5532120"/>
            <a:ext cx="7315200" cy="310896"/>
          </a:xfrm>
          <a:prstGeom prst="rect">
            <a:avLst/>
          </a:prstGeom>
          <a:noFill/>
        </p:spPr>
        <p:txBody>
          <a:bodyPr wrap="none" rtlCol="0">
            <a:spAutoFit/>
          </a:bodyPr>
          <a:lstStyle/>
          <a:p>
            <a:pPr algn="ctr"/>
            <a:r>
              <a:rPr lang="en-US" sz="1100" dirty="0">
                <a:solidFill>
                  <a:srgbClr val="262626"/>
                </a:solidFill>
                <a:latin typeface="FS PF BeauSans Pro"/>
                <a:ea typeface="FS PF BeauSans Pro"/>
                <a:cs typeface="FS PF BeauSans Pro"/>
              </a:rPr>
              <a:t>Figure 2: Hours of synthetic training speech per tag (built from ViVoice)</a:t>
            </a:r>
          </a:p>
        </p:txBody>
      </p:sp>
      <p:sp>
        <p:nvSpPr>
          <p:cNvPr id="149" name="Stat 0"/>
          <p:cNvSpPr/>
          <p:nvPr/>
        </p:nvSpPr>
        <p:spPr>
          <a:xfrm>
            <a:off x="640080" y="2103120"/>
            <a:ext cx="2926080" cy="1005840"/>
          </a:xfrm>
          <a:prstGeom prst="roundRect">
            <a:avLst>
              <a:gd name="adj" fmla="val 8000"/>
            </a:avLst>
          </a:prstGeom>
          <a:solidFill>
            <a:srgbClr val="FFFFFF"/>
          </a:solidFill>
          <a:ln w="12700">
            <a:solidFill>
              <a:srgbClr val="E0E0E0"/>
            </a:solidFill>
          </a:ln>
        </p:spPr>
        <p:txBody>
          <a:bodyPr wrap="square" lIns="137160" tIns="45720" rIns="137160" bIns="45720" anchor="ctr">
            <a:noAutofit/>
          </a:bodyPr>
          <a:lstStyle/>
          <a:p>
            <a:pPr algn="ctr"/>
            <a:r>
              <a:rPr lang="en-US" sz="3600" b="1" dirty="0">
                <a:solidFill>
                  <a:srgbClr val="EE0033"/>
                </a:solidFill>
                <a:latin typeface="FS PF BeauSans Pro"/>
                <a:ea typeface="FS PF BeauSans Pro"/>
                <a:cs typeface="FS PF BeauSans Pro"/>
              </a:rPr>
              <a:t>224,064</a:t>
            </a:r>
          </a:p>
          <a:p>
            <a:pPr algn="ctr">
              <a:lnSpc>
                <a:spcPct val="100000"/>
              </a:lnSpc>
            </a:pPr>
            <a:r>
              <a:rPr lang="en-US" sz="1200" dirty="0">
                <a:solidFill>
                  <a:srgbClr val="262626"/>
                </a:solidFill>
                <a:latin typeface="FS PF BeauSans Pro"/>
                <a:ea typeface="FS PF BeauSans Pro"/>
                <a:cs typeface="FS PF BeauSans Pro"/>
              </a:rPr>
              <a:t>utterances, one NVV each</a:t>
            </a:r>
          </a:p>
        </p:txBody>
      </p:sp>
      <p:sp>
        <p:nvSpPr>
          <p:cNvPr id="150" name="Stat 1"/>
          <p:cNvSpPr/>
          <p:nvPr/>
        </p:nvSpPr>
        <p:spPr>
          <a:xfrm>
            <a:off x="640080" y="3218687"/>
            <a:ext cx="2926080" cy="1005840"/>
          </a:xfrm>
          <a:prstGeom prst="roundRect">
            <a:avLst>
              <a:gd name="adj" fmla="val 8000"/>
            </a:avLst>
          </a:prstGeom>
          <a:solidFill>
            <a:srgbClr val="FFFFFF"/>
          </a:solidFill>
          <a:ln w="12700">
            <a:solidFill>
              <a:srgbClr val="E0E0E0"/>
            </a:solidFill>
          </a:ln>
        </p:spPr>
        <p:txBody>
          <a:bodyPr wrap="square" lIns="137160" tIns="45720" rIns="137160" bIns="45720" anchor="ctr">
            <a:noAutofit/>
          </a:bodyPr>
          <a:lstStyle/>
          <a:p>
            <a:pPr algn="ctr"/>
            <a:r>
              <a:rPr lang="en-US" sz="3600" b="1" dirty="0">
                <a:solidFill>
                  <a:srgbClr val="EE0033"/>
                </a:solidFill>
                <a:latin typeface="FS PF BeauSans Pro"/>
                <a:ea typeface="FS PF BeauSans Pro"/>
                <a:cs typeface="FS PF BeauSans Pro"/>
              </a:rPr>
              <a:t>810.8 h</a:t>
            </a:r>
          </a:p>
          <a:p>
            <a:pPr algn="ctr">
              <a:lnSpc>
                <a:spcPct val="100000"/>
              </a:lnSpc>
            </a:pPr>
            <a:r>
              <a:rPr lang="en-US" sz="1200" dirty="0">
                <a:solidFill>
                  <a:srgbClr val="262626"/>
                </a:solidFill>
                <a:latin typeface="FS PF BeauSans Pro"/>
                <a:ea typeface="FS PF BeauSans Pro"/>
                <a:cs typeface="FS PF BeauSans Pro"/>
              </a:rPr>
              <a:t>of tagged Vietnamese speech</a:t>
            </a:r>
          </a:p>
        </p:txBody>
      </p:sp>
      <p:sp>
        <p:nvSpPr>
          <p:cNvPr id="151" name="Stat 2"/>
          <p:cNvSpPr/>
          <p:nvPr/>
        </p:nvSpPr>
        <p:spPr>
          <a:xfrm>
            <a:off x="640080" y="4334256"/>
            <a:ext cx="2926080" cy="1005840"/>
          </a:xfrm>
          <a:prstGeom prst="roundRect">
            <a:avLst>
              <a:gd name="adj" fmla="val 8000"/>
            </a:avLst>
          </a:prstGeom>
          <a:solidFill>
            <a:srgbClr val="FFFFFF"/>
          </a:solidFill>
          <a:ln w="12700">
            <a:solidFill>
              <a:srgbClr val="E0E0E0"/>
            </a:solidFill>
          </a:ln>
        </p:spPr>
        <p:txBody>
          <a:bodyPr wrap="square" lIns="137160" tIns="45720" rIns="137160" bIns="45720" anchor="ctr">
            <a:noAutofit/>
          </a:bodyPr>
          <a:lstStyle/>
          <a:p>
            <a:pPr algn="ctr"/>
            <a:r>
              <a:rPr lang="en-US" sz="3600" b="1" dirty="0">
                <a:solidFill>
                  <a:srgbClr val="EE0033"/>
                </a:solidFill>
                <a:latin typeface="FS PF BeauSans Pro"/>
                <a:ea typeface="FS PF BeauSans Pro"/>
                <a:cs typeface="FS PF BeauSans Pro"/>
              </a:rPr>
              <a:t>17</a:t>
            </a:r>
          </a:p>
          <a:p>
            <a:pPr algn="ctr">
              <a:lnSpc>
                <a:spcPct val="100000"/>
              </a:lnSpc>
            </a:pPr>
            <a:r>
              <a:rPr lang="en-US" sz="1200" dirty="0">
                <a:solidFill>
                  <a:srgbClr val="262626"/>
                </a:solidFill>
                <a:latin typeface="FS PF BeauSans Pro"/>
                <a:ea typeface="FS PF BeauSans Pro"/>
                <a:cs typeface="FS PF BeauSans Pro"/>
              </a:rPr>
              <a:t>NVV tags, 10,190–13,522 utterances each</a:t>
            </a:r>
          </a:p>
        </p:txBody>
      </p:sp>
      <p:graphicFrame>
        <p:nvGraphicFramePr>
          <p:cNvPr id="152" name="Chart hours per tag" descr="Bar chart of synthetic training hours per tag: from laughter 55.2 h down to burp 41.8 h and snoring 31.7 h; 810.8 h in total."/>
          <p:cNvGraphicFramePr>
            <a:graphicFrameLocks noGrp="1"/>
          </p:cNvGraphicFramePr>
          <p:nvPr/>
        </p:nvGraphicFramePr>
        <p:xfrm>
          <a:off x="4023360" y="1828800"/>
          <a:ext cx="7406640" cy="3657600"/>
        </p:xfrm>
        <a:graphic>
          <a:graphicData uri="http://schemas.openxmlformats.org/drawingml/2006/chart">
            <c:chart xmlns:c="http://schemas.openxmlformats.org/drawingml/2006/chart" xmlns:r="http://schemas.openxmlformats.org/officeDocument/2006/relationships" r:id="rId2"/>
          </a:graphicData>
        </a:graphic>
      </p:graphicFrame>
    </p:spTree>
    <p:extLst>
      <p:ext uri="{BB962C8B-B14F-4D97-AF65-F5344CB8AC3E}">
        <p14:creationId xmlns:p14="http://schemas.microsoft.com/office/powerpoint/2010/main" val="584723571"/>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Shape 145"/>
        <p:cNvGrpSpPr/>
        <p:nvPr/>
      </p:nvGrpSpPr>
      <p:grpSpPr>
        <a:xfrm>
          <a:off x="0" y="0"/>
          <a:ext cx="0" cy="0"/>
          <a:chOff x="0" y="0"/>
          <a:chExt cx="0" cy="0"/>
        </a:xfrm>
      </p:grpSpPr>
      <p:sp>
        <p:nvSpPr>
          <p:cNvPr id="146" name="Google Shape;146;p10"/>
          <p:cNvSpPr txBox="1">
            <a:spLocks noGrp="1"/>
          </p:cNvSpPr>
          <p:nvPr>
            <p:ph type="ctrTitle"/>
          </p:nvPr>
        </p:nvSpPr>
        <p:spPr>
          <a:xfrm>
            <a:off x="822960" y="466344"/>
            <a:ext cx="10543032" cy="731520"/>
          </a:xfrm>
          <a:prstGeom prst="rect">
            <a:avLst/>
          </a:prstGeom>
          <a:noFill/>
          <a:ln>
            <a:noFill/>
          </a:ln>
        </p:spPr>
        <p:txBody>
          <a:bodyPr spcFirstLastPara="1" wrap="square" lIns="91425" tIns="91425" rIns="91425" bIns="91425" anchor="t" anchorCtr="0">
            <a:noAutofit/>
          </a:bodyPr>
          <a:lstStyle/>
          <a:p>
            <a:pPr marL="0" lvl="0" indent="0" algn="ctr" rtl="0">
              <a:buNone/>
            </a:pPr>
            <a:r>
              <a:rPr lang="en-US" dirty="0"/>
              <a:t>Evaluation metrics</a:t>
            </a:r>
          </a:p>
        </p:txBody>
      </p:sp>
      <p:sp>
        <p:nvSpPr>
          <p:cNvPr id="2" name="Slide Number Placeholder 1">
            <a:extLst>
              <a:ext uri="{FF2B5EF4-FFF2-40B4-BE49-F238E27FC236}">
                <a16:creationId xmlns:a16="http://schemas.microsoft.com/office/drawing/2014/main" id="{249CE59B-DD91-4B3A-8ACA-10EA59D7C3EE}"/>
              </a:ext>
            </a:extLst>
          </p:cNvPr>
          <p:cNvSpPr>
            <a:spLocks noGrp="1"/>
          </p:cNvSpPr>
          <p:nvPr>
            <p:ph type="sldNum" idx="12"/>
          </p:nvPr>
        </p:nvSpPr>
        <p:spPr/>
        <p:txBody>
          <a:bodyPr/>
          <a:lstStyle/>
          <a:p>
            <a:pPr marL="0" lvl="0" indent="0" algn="ctr" rtl="0">
              <a:spcBef>
                <a:spcPts val="0"/>
              </a:spcBef>
              <a:spcAft>
                <a:spcPts val="0"/>
              </a:spcAft>
              <a:buNone/>
            </a:pPr>
            <a:fld id="{00000000-1234-1234-1234-123412341234}" type="slidenum">
              <a:rPr lang="en-US" smtClean="0"/>
              <a:t>20</a:t>
            </a:fld>
            <a:endParaRPr lang="en-US" dirty="0"/>
          </a:p>
        </p:txBody>
      </p:sp>
      <p:sp>
        <p:nvSpPr>
          <p:cNvPr id="147" name="Metrics Zero-shot TTS"/>
          <p:cNvSpPr/>
          <p:nvPr/>
        </p:nvSpPr>
        <p:spPr>
          <a:xfrm>
            <a:off x="548640" y="1417320"/>
            <a:ext cx="3429000" cy="3749039"/>
          </a:xfrm>
          <a:prstGeom prst="roundRect">
            <a:avLst>
              <a:gd name="adj" fmla="val 6000"/>
            </a:avLst>
          </a:prstGeom>
          <a:solidFill>
            <a:srgbClr val="FFFFFF"/>
          </a:solidFill>
          <a:ln w="12700">
            <a:solidFill>
              <a:srgbClr val="E0E0E0"/>
            </a:solidFill>
          </a:ln>
        </p:spPr>
        <p:txBody>
          <a:bodyPr wrap="square" lIns="137160" tIns="137160" rIns="137160" bIns="137160" anchor="t">
            <a:noAutofit/>
          </a:bodyPr>
          <a:lstStyle/>
          <a:p>
            <a:pPr algn="l">
              <a:lnSpc>
                <a:spcPct val="100000"/>
              </a:lnSpc>
              <a:buNone/>
            </a:pPr>
            <a:r>
              <a:rPr lang="en-US" sz="1800" b="1" dirty="0">
                <a:solidFill>
                  <a:srgbClr val="EE0033"/>
                </a:solidFill>
                <a:latin typeface="FS PF BeauSans Pro"/>
                <a:ea typeface="FS PF BeauSans Pro"/>
                <a:cs typeface="FS PF BeauSans Pro"/>
              </a:rPr>
              <a:t>Zero-shot TTS</a:t>
            </a:r>
          </a:p>
          <a:p>
            <a:pPr algn="l">
              <a:lnSpc>
                <a:spcPct val="100000"/>
              </a:lnSpc>
              <a:spcAft>
                <a:spcPts val="900"/>
              </a:spcAft>
              <a:buNone/>
            </a:pPr>
            <a:r>
              <a:rPr lang="en-US" sz="1200" dirty="0">
                <a:solidFill>
                  <a:srgbClr val="595959"/>
                </a:solidFill>
                <a:latin typeface="FS PF BeauSans Pro"/>
                <a:ea typeface="FS PF BeauSans Pro"/>
                <a:cs typeface="FS PF BeauSans Pro"/>
              </a:rPr>
              <a:t>238 plain-text utterances</a:t>
            </a:r>
          </a:p>
          <a:p>
            <a:pPr algn="l">
              <a:lnSpc>
                <a:spcPct val="100000"/>
              </a:lnSpc>
              <a:buNone/>
            </a:pPr>
            <a:r>
              <a:rPr lang="en-US" sz="1400" b="1" dirty="0">
                <a:solidFill>
                  <a:srgbClr val="262626"/>
                </a:solidFill>
                <a:latin typeface="FS PF BeauSans Pro"/>
                <a:ea typeface="FS PF BeauSans Pro"/>
                <a:cs typeface="FS PF BeauSans Pro"/>
              </a:rPr>
              <a:t>WER ↓</a:t>
            </a:r>
          </a:p>
          <a:p>
            <a:pPr algn="l">
              <a:lnSpc>
                <a:spcPct val="110000"/>
              </a:lnSpc>
              <a:spcAft>
                <a:spcPts val="900"/>
              </a:spcAft>
              <a:buNone/>
            </a:pPr>
            <a:r>
              <a:rPr lang="en-US" sz="1300" dirty="0">
                <a:solidFill>
                  <a:srgbClr val="262626"/>
                </a:solidFill>
                <a:latin typeface="FS PF BeauSans Pro"/>
                <a:ea typeface="FS PF BeauSans Pro"/>
                <a:cs typeface="FS PF BeauSans Pro"/>
              </a:rPr>
              <a:t>word error rate (%) of a Zipformer ASR transcript vs the input text</a:t>
            </a:r>
          </a:p>
          <a:p>
            <a:pPr algn="l">
              <a:lnSpc>
                <a:spcPct val="100000"/>
              </a:lnSpc>
              <a:buNone/>
            </a:pPr>
            <a:r>
              <a:rPr lang="en-US" sz="1400" b="1" dirty="0">
                <a:solidFill>
                  <a:srgbClr val="262626"/>
                </a:solidFill>
                <a:latin typeface="FS PF BeauSans Pro"/>
                <a:ea typeface="FS PF BeauSans Pro"/>
                <a:cs typeface="FS PF BeauSans Pro"/>
              </a:rPr>
              <a:t>SIM-o ↑</a:t>
            </a:r>
          </a:p>
          <a:p>
            <a:pPr algn="l">
              <a:lnSpc>
                <a:spcPct val="110000"/>
              </a:lnSpc>
              <a:spcAft>
                <a:spcPts val="900"/>
              </a:spcAft>
              <a:buNone/>
            </a:pPr>
            <a:r>
              <a:rPr lang="en-US" sz="1300" dirty="0">
                <a:solidFill>
                  <a:srgbClr val="262626"/>
                </a:solidFill>
                <a:latin typeface="FS PF BeauSans Pro"/>
                <a:ea typeface="FS PF BeauSans Pro"/>
                <a:cs typeface="FS PF BeauSans Pro"/>
              </a:rPr>
              <a:t>speaker similarity: ECAPA-TDNN cosine, output vs reference voice</a:t>
            </a:r>
          </a:p>
          <a:p>
            <a:pPr algn="l">
              <a:lnSpc>
                <a:spcPct val="100000"/>
              </a:lnSpc>
              <a:buNone/>
            </a:pPr>
            <a:r>
              <a:rPr lang="en-US" sz="1400" b="1" dirty="0">
                <a:solidFill>
                  <a:srgbClr val="262626"/>
                </a:solidFill>
                <a:latin typeface="FS PF BeauSans Pro"/>
                <a:ea typeface="FS PF BeauSans Pro"/>
                <a:cs typeface="FS PF BeauSans Pro"/>
              </a:rPr>
              <a:t>RTF ↓</a:t>
            </a:r>
          </a:p>
          <a:p>
            <a:pPr algn="l">
              <a:lnSpc>
                <a:spcPct val="110000"/>
              </a:lnSpc>
              <a:spcAft>
                <a:spcPts val="900"/>
              </a:spcAft>
              <a:buNone/>
            </a:pPr>
            <a:r>
              <a:rPr lang="en-US" sz="1300" dirty="0">
                <a:solidFill>
                  <a:srgbClr val="262626"/>
                </a:solidFill>
                <a:latin typeface="FS PF BeauSans Pro"/>
                <a:ea typeface="FS PF BeauSans Pro"/>
                <a:cs typeface="FS PF BeauSans Pro"/>
              </a:rPr>
              <a:t>synthesis time ÷ audio length, one A100</a:t>
            </a:r>
          </a:p>
        </p:txBody>
      </p:sp>
      <p:sp>
        <p:nvSpPr>
          <p:cNvPr id="148" name="Metrics NVV synthesis"/>
          <p:cNvSpPr/>
          <p:nvPr/>
        </p:nvSpPr>
        <p:spPr>
          <a:xfrm>
            <a:off x="4251959" y="1417320"/>
            <a:ext cx="3429000" cy="3749039"/>
          </a:xfrm>
          <a:prstGeom prst="roundRect">
            <a:avLst>
              <a:gd name="adj" fmla="val 6000"/>
            </a:avLst>
          </a:prstGeom>
          <a:solidFill>
            <a:srgbClr val="FFFFFF"/>
          </a:solidFill>
          <a:ln w="12700">
            <a:solidFill>
              <a:srgbClr val="E0E0E0"/>
            </a:solidFill>
          </a:ln>
        </p:spPr>
        <p:txBody>
          <a:bodyPr wrap="square" lIns="137160" tIns="137160" rIns="137160" bIns="137160" anchor="t">
            <a:noAutofit/>
          </a:bodyPr>
          <a:lstStyle/>
          <a:p>
            <a:pPr algn="l">
              <a:lnSpc>
                <a:spcPct val="100000"/>
              </a:lnSpc>
              <a:buNone/>
            </a:pPr>
            <a:r>
              <a:rPr lang="en-US" sz="1800" b="1" dirty="0">
                <a:solidFill>
                  <a:srgbClr val="EE0033"/>
                </a:solidFill>
                <a:latin typeface="FS PF BeauSans Pro"/>
                <a:ea typeface="FS PF BeauSans Pro"/>
                <a:cs typeface="FS PF BeauSans Pro"/>
              </a:rPr>
              <a:t>NVV synthesis</a:t>
            </a:r>
          </a:p>
          <a:p>
            <a:pPr algn="l">
              <a:lnSpc>
                <a:spcPct val="100000"/>
              </a:lnSpc>
              <a:spcAft>
                <a:spcPts val="900"/>
              </a:spcAft>
              <a:buNone/>
            </a:pPr>
            <a:r>
              <a:rPr lang="en-US" sz="1200" dirty="0">
                <a:solidFill>
                  <a:srgbClr val="595959"/>
                </a:solidFill>
                <a:latin typeface="FS PF BeauSans Pro"/>
                <a:ea typeface="FS PF BeauSans Pro"/>
                <a:cs typeface="FS PF BeauSans Pro"/>
              </a:rPr>
              <a:t>2,940 tagged items, 7 unseen voices</a:t>
            </a:r>
          </a:p>
          <a:p>
            <a:pPr algn="l">
              <a:lnSpc>
                <a:spcPct val="100000"/>
              </a:lnSpc>
              <a:buNone/>
            </a:pPr>
            <a:r>
              <a:rPr lang="en-US" sz="1400" b="1" dirty="0">
                <a:solidFill>
                  <a:srgbClr val="262626"/>
                </a:solidFill>
                <a:latin typeface="FS PF BeauSans Pro"/>
                <a:ea typeface="FS PF BeauSans Pro"/>
                <a:cs typeface="FS PF BeauSans Pro"/>
              </a:rPr>
              <a:t>NVMR ↓</a:t>
            </a:r>
          </a:p>
          <a:p>
            <a:pPr algn="l">
              <a:lnSpc>
                <a:spcPct val="110000"/>
              </a:lnSpc>
              <a:spcAft>
                <a:spcPts val="900"/>
              </a:spcAft>
              <a:buNone/>
            </a:pPr>
            <a:r>
              <a:rPr lang="en-US" sz="1300" dirty="0">
                <a:solidFill>
                  <a:srgbClr val="262626"/>
                </a:solidFill>
                <a:latin typeface="FS PF BeauSans Pro"/>
                <a:ea typeface="FS PF BeauSans Pro"/>
                <a:cs typeface="FS PF BeauSans Pro"/>
              </a:rPr>
              <a:t>miss rate: tags with no vocalization at all (skipped or read out)</a:t>
            </a:r>
          </a:p>
          <a:p>
            <a:pPr algn="l">
              <a:lnSpc>
                <a:spcPct val="100000"/>
              </a:lnSpc>
              <a:buNone/>
            </a:pPr>
            <a:r>
              <a:rPr lang="en-US" sz="1400" b="1" dirty="0">
                <a:solidFill>
                  <a:srgbClr val="262626"/>
                </a:solidFill>
                <a:latin typeface="FS PF BeauSans Pro"/>
                <a:ea typeface="FS PF BeauSans Pro"/>
                <a:cs typeface="FS PF BeauSans Pro"/>
              </a:rPr>
              <a:t>NVPA ↑</a:t>
            </a:r>
          </a:p>
          <a:p>
            <a:pPr algn="l">
              <a:lnSpc>
                <a:spcPct val="110000"/>
              </a:lnSpc>
              <a:spcAft>
                <a:spcPts val="900"/>
              </a:spcAft>
              <a:buNone/>
            </a:pPr>
            <a:r>
              <a:rPr lang="en-US" sz="1300" dirty="0">
                <a:solidFill>
                  <a:srgbClr val="262626"/>
                </a:solidFill>
                <a:latin typeface="FS PF BeauSans Pro"/>
                <a:ea typeface="FS PF BeauSans Pro"/>
                <a:cs typeface="FS PF BeauSans Pro"/>
              </a:rPr>
              <a:t>placement accuracy: FlexSED finds the tagged class at the tag's position</a:t>
            </a:r>
          </a:p>
          <a:p>
            <a:pPr algn="l">
              <a:lnSpc>
                <a:spcPct val="100000"/>
              </a:lnSpc>
              <a:buNone/>
            </a:pPr>
            <a:r>
              <a:rPr lang="en-US" sz="1400" b="1" dirty="0">
                <a:solidFill>
                  <a:srgbClr val="262626"/>
                </a:solidFill>
                <a:latin typeface="FS PF BeauSans Pro"/>
                <a:ea typeface="FS PF BeauSans Pro"/>
                <a:cs typeface="FS PF BeauSans Pro"/>
              </a:rPr>
              <a:t>WER, SIM-o, RTF</a:t>
            </a:r>
          </a:p>
          <a:p>
            <a:pPr algn="l">
              <a:lnSpc>
                <a:spcPct val="110000"/>
              </a:lnSpc>
              <a:spcAft>
                <a:spcPts val="900"/>
              </a:spcAft>
              <a:buNone/>
            </a:pPr>
            <a:r>
              <a:rPr lang="en-US" sz="1300" dirty="0">
                <a:solidFill>
                  <a:srgbClr val="262626"/>
                </a:solidFill>
                <a:latin typeface="FS PF BeauSans Pro"/>
                <a:ea typeface="FS PF BeauSans Pro"/>
                <a:cs typeface="FS PF BeauSans Pro"/>
              </a:rPr>
              <a:t>as in zero-shot</a:t>
            </a:r>
          </a:p>
        </p:txBody>
      </p:sp>
      <p:sp>
        <p:nvSpPr>
          <p:cNvPr id="149" name="Metrics Listening test"/>
          <p:cNvSpPr/>
          <p:nvPr/>
        </p:nvSpPr>
        <p:spPr>
          <a:xfrm>
            <a:off x="7955279" y="1417320"/>
            <a:ext cx="3429000" cy="3749039"/>
          </a:xfrm>
          <a:prstGeom prst="roundRect">
            <a:avLst>
              <a:gd name="adj" fmla="val 6000"/>
            </a:avLst>
          </a:prstGeom>
          <a:solidFill>
            <a:srgbClr val="FFFFFF"/>
          </a:solidFill>
          <a:ln w="12700">
            <a:solidFill>
              <a:srgbClr val="E0E0E0"/>
            </a:solidFill>
          </a:ln>
        </p:spPr>
        <p:txBody>
          <a:bodyPr wrap="square" lIns="137160" tIns="137160" rIns="137160" bIns="137160" anchor="t">
            <a:noAutofit/>
          </a:bodyPr>
          <a:lstStyle/>
          <a:p>
            <a:pPr algn="l">
              <a:lnSpc>
                <a:spcPct val="100000"/>
              </a:lnSpc>
              <a:buNone/>
            </a:pPr>
            <a:r>
              <a:rPr lang="en-US" sz="1800" b="1" dirty="0">
                <a:solidFill>
                  <a:srgbClr val="EE0033"/>
                </a:solidFill>
                <a:latin typeface="FS PF BeauSans Pro"/>
                <a:ea typeface="FS PF BeauSans Pro"/>
                <a:cs typeface="FS PF BeauSans Pro"/>
              </a:rPr>
              <a:t>Listening test</a:t>
            </a:r>
          </a:p>
          <a:p>
            <a:pPr algn="l">
              <a:lnSpc>
                <a:spcPct val="100000"/>
              </a:lnSpc>
              <a:spcAft>
                <a:spcPts val="900"/>
              </a:spcAft>
              <a:buNone/>
            </a:pPr>
            <a:r>
              <a:rPr lang="en-US" sz="1200" dirty="0">
                <a:solidFill>
                  <a:srgbClr val="595959"/>
                </a:solidFill>
                <a:latin typeface="FS PF BeauSans Pro"/>
                <a:ea typeface="FS PF BeauSans Pro"/>
                <a:cs typeface="FS PF BeauSans Pro"/>
              </a:rPr>
              <a:t>10 native listeners × 40 samples, rated 1–5</a:t>
            </a:r>
          </a:p>
          <a:p>
            <a:pPr algn="l">
              <a:lnSpc>
                <a:spcPct val="100000"/>
              </a:lnSpc>
              <a:buNone/>
            </a:pPr>
            <a:r>
              <a:rPr lang="en-US" sz="1400" b="1" dirty="0">
                <a:solidFill>
                  <a:srgbClr val="262626"/>
                </a:solidFill>
                <a:latin typeface="FS PF BeauSans Pro"/>
                <a:ea typeface="FS PF BeauSans Pro"/>
                <a:cs typeface="FS PF BeauSans Pro"/>
              </a:rPr>
              <a:t>MOS-Q ↑</a:t>
            </a:r>
          </a:p>
          <a:p>
            <a:pPr algn="l">
              <a:lnSpc>
                <a:spcPct val="110000"/>
              </a:lnSpc>
              <a:spcAft>
                <a:spcPts val="900"/>
              </a:spcAft>
              <a:buNone/>
            </a:pPr>
            <a:r>
              <a:rPr lang="en-US" sz="1300" dirty="0">
                <a:solidFill>
                  <a:srgbClr val="262626"/>
                </a:solidFill>
                <a:latin typeface="FS PF BeauSans Pro"/>
                <a:ea typeface="FS PF BeauSans Pro"/>
                <a:cs typeface="FS PF BeauSans Pro"/>
              </a:rPr>
              <a:t>audio quality</a:t>
            </a:r>
          </a:p>
          <a:p>
            <a:pPr algn="l">
              <a:lnSpc>
                <a:spcPct val="100000"/>
              </a:lnSpc>
              <a:buNone/>
            </a:pPr>
            <a:r>
              <a:rPr lang="en-US" sz="1400" b="1" dirty="0">
                <a:solidFill>
                  <a:srgbClr val="262626"/>
                </a:solidFill>
                <a:latin typeface="FS PF BeauSans Pro"/>
                <a:ea typeface="FS PF BeauSans Pro"/>
                <a:cs typeface="FS PF BeauSans Pro"/>
              </a:rPr>
              <a:t>MOS-N ↑</a:t>
            </a:r>
          </a:p>
          <a:p>
            <a:pPr algn="l">
              <a:lnSpc>
                <a:spcPct val="110000"/>
              </a:lnSpc>
              <a:spcAft>
                <a:spcPts val="900"/>
              </a:spcAft>
              <a:buNone/>
            </a:pPr>
            <a:r>
              <a:rPr lang="en-US" sz="1300" dirty="0">
                <a:solidFill>
                  <a:srgbClr val="262626"/>
                </a:solidFill>
                <a:latin typeface="FS PF BeauSans Pro"/>
                <a:ea typeface="FS PF BeauSans Pro"/>
                <a:cs typeface="FS PF BeauSans Pro"/>
              </a:rPr>
              <a:t>naturalness: does it sound like a real person?</a:t>
            </a:r>
          </a:p>
          <a:p>
            <a:pPr algn="l">
              <a:lnSpc>
                <a:spcPct val="100000"/>
              </a:lnSpc>
              <a:buNone/>
            </a:pPr>
            <a:r>
              <a:rPr lang="en-US" sz="1400" b="1" dirty="0">
                <a:solidFill>
                  <a:srgbClr val="262626"/>
                </a:solidFill>
                <a:latin typeface="FS PF BeauSans Pro"/>
                <a:ea typeface="FS PF BeauSans Pro"/>
                <a:cs typeface="FS PF BeauSans Pro"/>
              </a:rPr>
              <a:t>MOS-E ↑</a:t>
            </a:r>
          </a:p>
          <a:p>
            <a:pPr algn="l">
              <a:lnSpc>
                <a:spcPct val="110000"/>
              </a:lnSpc>
              <a:spcAft>
                <a:spcPts val="900"/>
              </a:spcAft>
              <a:buNone/>
            </a:pPr>
            <a:r>
              <a:rPr lang="en-US" sz="1300" dirty="0">
                <a:solidFill>
                  <a:srgbClr val="262626"/>
                </a:solidFill>
                <a:latin typeface="FS PF BeauSans Pro"/>
                <a:ea typeface="FS PF BeauSans Pro"/>
                <a:cs typeface="FS PF BeauSans Pro"/>
              </a:rPr>
              <a:t>expressiveness: the right sound, with the sentence's feeling</a:t>
            </a:r>
          </a:p>
          <a:p>
            <a:pPr algn="l">
              <a:lnSpc>
                <a:spcPct val="100000"/>
              </a:lnSpc>
              <a:buNone/>
            </a:pPr>
            <a:r>
              <a:rPr lang="en-US" sz="1400" b="1" dirty="0">
                <a:solidFill>
                  <a:srgbClr val="262626"/>
                </a:solidFill>
                <a:latin typeface="FS PF BeauSans Pro"/>
                <a:ea typeface="FS PF BeauSans Pro"/>
                <a:cs typeface="FS PF BeauSans Pro"/>
              </a:rPr>
              <a:t>±</a:t>
            </a:r>
          </a:p>
          <a:p>
            <a:pPr algn="l">
              <a:lnSpc>
                <a:spcPct val="110000"/>
              </a:lnSpc>
              <a:spcAft>
                <a:spcPts val="900"/>
              </a:spcAft>
              <a:buNone/>
            </a:pPr>
            <a:r>
              <a:rPr lang="en-US" sz="1300" dirty="0">
                <a:solidFill>
                  <a:srgbClr val="262626"/>
                </a:solidFill>
                <a:latin typeface="FS PF BeauSans Pro"/>
                <a:ea typeface="FS PF BeauSans Pro"/>
                <a:cs typeface="FS PF BeauSans Pro"/>
              </a:rPr>
              <a:t>95% confidence interval</a:t>
            </a:r>
          </a:p>
        </p:txBody>
      </p:sp>
      <p:sp>
        <p:nvSpPr>
          <p:cNvPr id="150" name="Footnote citations"/>
          <p:cNvSpPr txBox="1"/>
          <p:nvPr/>
        </p:nvSpPr>
        <p:spPr>
          <a:xfrm>
            <a:off x="411480" y="5989320"/>
            <a:ext cx="8869680" cy="777240"/>
          </a:xfrm>
          <a:prstGeom prst="rect">
            <a:avLst/>
          </a:prstGeom>
          <a:noFill/>
          <a:ln>
            <a:noFill/>
          </a:ln>
        </p:spPr>
        <p:txBody>
          <a:bodyPr wrap="square" lIns="45720" tIns="45720" rIns="45720" bIns="45720" anchor="b">
            <a:noAutofit/>
          </a:bodyPr>
          <a:lstStyle/>
          <a:p>
            <a:pPr>
              <a:buNone/>
            </a:pPr>
            <a:r>
              <a:rPr lang="en-US" sz="900" b="1" dirty="0">
                <a:solidFill>
                  <a:srgbClr val="595959"/>
                </a:solidFill>
                <a:latin typeface="FS PF BeauSans Pro"/>
                <a:ea typeface="FS PF BeauSans Pro"/>
                <a:cs typeface="FS PF BeauSans Pro"/>
              </a:rPr>
              <a:t>FlexSED: </a:t>
            </a:r>
            <a:r>
              <a:rPr lang="en-US" sz="900" dirty="0">
                <a:solidFill>
                  <a:srgbClr val="595959"/>
                </a:solidFill>
                <a:latin typeface="FS PF BeauSans Pro"/>
                <a:ea typeface="FS PF BeauSans Pro"/>
                <a:cs typeface="FS PF BeauSans Pro"/>
              </a:rPr>
              <a:t>Hai et al., arXiv:2509.18606, 2025</a:t>
            </a:r>
          </a:p>
          <a:p>
            <a:pPr>
              <a:buNone/>
            </a:pPr>
            <a:r>
              <a:rPr lang="en-US" sz="900" b="1" dirty="0">
                <a:solidFill>
                  <a:srgbClr val="595959"/>
                </a:solidFill>
                <a:latin typeface="FS PF BeauSans Pro"/>
                <a:ea typeface="FS PF BeauSans Pro"/>
                <a:cs typeface="FS PF BeauSans Pro"/>
              </a:rPr>
              <a:t>Zipformer: </a:t>
            </a:r>
            <a:r>
              <a:rPr lang="en-US" sz="900" dirty="0">
                <a:solidFill>
                  <a:srgbClr val="595959"/>
                </a:solidFill>
                <a:latin typeface="FS PF BeauSans Pro"/>
                <a:ea typeface="FS PF BeauSans Pro"/>
                <a:cs typeface="FS PF BeauSans Pro"/>
              </a:rPr>
              <a:t>Yao et al., ICLR 2024</a:t>
            </a:r>
          </a:p>
          <a:p>
            <a:pPr>
              <a:buNone/>
            </a:pPr>
            <a:r>
              <a:rPr lang="en-US" sz="900" b="1" dirty="0">
                <a:solidFill>
                  <a:srgbClr val="595959"/>
                </a:solidFill>
                <a:latin typeface="FS PF BeauSans Pro"/>
                <a:ea typeface="FS PF BeauSans Pro"/>
                <a:cs typeface="FS PF BeauSans Pro"/>
              </a:rPr>
              <a:t>ECAPA-TDNN: </a:t>
            </a:r>
            <a:r>
              <a:rPr lang="en-US" sz="900" dirty="0">
                <a:solidFill>
                  <a:srgbClr val="595959"/>
                </a:solidFill>
                <a:latin typeface="FS PF BeauSans Pro"/>
                <a:ea typeface="FS PF BeauSans Pro"/>
                <a:cs typeface="FS PF BeauSans Pro"/>
              </a:rPr>
              <a:t>Desplanques et al., Interspeech 2020</a:t>
            </a:r>
          </a:p>
        </p:txBody>
      </p:sp>
    </p:spTree>
    <p:extLst>
      <p:ext uri="{BB962C8B-B14F-4D97-AF65-F5344CB8AC3E}">
        <p14:creationId xmlns:p14="http://schemas.microsoft.com/office/powerpoint/2010/main" val="584723571"/>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Shape 145"/>
        <p:cNvGrpSpPr/>
        <p:nvPr/>
      </p:nvGrpSpPr>
      <p:grpSpPr>
        <a:xfrm>
          <a:off x="0" y="0"/>
          <a:ext cx="0" cy="0"/>
          <a:chOff x="0" y="0"/>
          <a:chExt cx="0" cy="0"/>
        </a:xfrm>
      </p:grpSpPr>
      <p:sp>
        <p:nvSpPr>
          <p:cNvPr id="146" name="Google Shape;146;p10"/>
          <p:cNvSpPr txBox="1">
            <a:spLocks noGrp="1"/>
          </p:cNvSpPr>
          <p:nvPr>
            <p:ph type="ctrTitle"/>
          </p:nvPr>
        </p:nvSpPr>
        <p:spPr>
          <a:xfrm>
            <a:off x="822960" y="466344"/>
            <a:ext cx="10543032" cy="731520"/>
          </a:xfrm>
          <a:prstGeom prst="rect">
            <a:avLst/>
          </a:prstGeom>
          <a:noFill/>
          <a:ln>
            <a:noFill/>
          </a:ln>
        </p:spPr>
        <p:txBody>
          <a:bodyPr spcFirstLastPara="1" wrap="square" lIns="91425" tIns="91425" rIns="91425" bIns="91425" anchor="t" anchorCtr="0">
            <a:noAutofit/>
          </a:bodyPr>
          <a:lstStyle/>
          <a:p>
            <a:pPr marL="0" lvl="0" indent="0" algn="ctr" rtl="0">
              <a:buNone/>
            </a:pPr>
            <a:r>
              <a:rPr lang="en-US" dirty="0"/>
              <a:t>Result</a:t>
            </a:r>
          </a:p>
        </p:txBody>
      </p:sp>
      <p:sp>
        <p:nvSpPr>
          <p:cNvPr id="148" name="Google Shape;148;p10"/>
          <p:cNvSpPr txBox="1">
            <a:spLocks noGrp="1"/>
          </p:cNvSpPr>
          <p:nvPr>
            <p:ph type="body" idx="1"/>
          </p:nvPr>
        </p:nvSpPr>
        <p:spPr>
          <a:xfrm>
            <a:off x="850392" y="1325880"/>
            <a:ext cx="10570464" cy="457200"/>
          </a:xfrm>
          <a:prstGeom prst="rect">
            <a:avLst/>
          </a:prstGeom>
          <a:noFill/>
          <a:ln>
            <a:noFill/>
          </a:ln>
        </p:spPr>
        <p:txBody>
          <a:bodyPr spcFirstLastPara="1" wrap="square" lIns="91425" tIns="91425" rIns="91425" bIns="91425" anchor="t" anchorCtr="0">
            <a:noAutofit/>
          </a:bodyPr>
          <a:lstStyle/>
          <a:p>
            <a:pPr marL="152400" indent="0" algn="l">
              <a:lnSpc>
                <a:spcPct val="110000"/>
              </a:lnSpc>
              <a:buNone/>
            </a:pPr>
            <a:r>
              <a:rPr lang="en-US" sz="1800" dirty="0">
                <a:latin typeface="FS PF BeauSans Pro"/>
                <a:ea typeface="FS PF BeauSans Pro"/>
                <a:cs typeface="FS PF BeauSans Pro"/>
              </a:rPr>
              <a:t>Zero-shot TTS on plain text: the same </a:t>
            </a:r>
            <a:r>
              <a:rPr lang="en-US" sz="1800" b="1" dirty="0">
                <a:latin typeface="FS PF BeauSans Pro"/>
                <a:ea typeface="FS PF BeauSans Pro"/>
                <a:cs typeface="FS PF BeauSans Pro"/>
              </a:rPr>
              <a:t>238 utterances</a:t>
            </a:r>
            <a:r>
              <a:rPr lang="en-US" sz="1800" dirty="0">
                <a:latin typeface="FS PF BeauSans Pro"/>
                <a:ea typeface="FS PF BeauSans Pro"/>
                <a:cs typeface="FS PF BeauSans Pro"/>
              </a:rPr>
              <a:t> for every system</a:t>
            </a:r>
          </a:p>
        </p:txBody>
      </p:sp>
      <p:sp>
        <p:nvSpPr>
          <p:cNvPr id="2" name="Slide Number Placeholder 1">
            <a:extLst>
              <a:ext uri="{FF2B5EF4-FFF2-40B4-BE49-F238E27FC236}">
                <a16:creationId xmlns:a16="http://schemas.microsoft.com/office/drawing/2014/main" id="{249CE59B-DD91-4B3A-8ACA-10EA59D7C3EE}"/>
              </a:ext>
            </a:extLst>
          </p:cNvPr>
          <p:cNvSpPr>
            <a:spLocks noGrp="1"/>
          </p:cNvSpPr>
          <p:nvPr>
            <p:ph type="sldNum" idx="12"/>
          </p:nvPr>
        </p:nvSpPr>
        <p:spPr/>
        <p:txBody>
          <a:bodyPr/>
          <a:lstStyle/>
          <a:p>
            <a:pPr marL="0" lvl="0" indent="0" algn="ctr" rtl="0">
              <a:spcBef>
                <a:spcPts val="0"/>
              </a:spcBef>
              <a:spcAft>
                <a:spcPts val="0"/>
              </a:spcAft>
              <a:buNone/>
            </a:pPr>
            <a:fld id="{00000000-1234-1234-1234-123412341234}" type="slidenum">
              <a:rPr lang="en-US" smtClean="0"/>
              <a:t>21</a:t>
            </a:fld>
            <a:endParaRPr lang="en-US" dirty="0"/>
          </a:p>
        </p:txBody>
      </p:sp>
      <p:sp>
        <p:nvSpPr>
          <p:cNvPr id="5" name="TextBox 4">
            <a:extLst>
              <a:ext uri="{FF2B5EF4-FFF2-40B4-BE49-F238E27FC236}">
                <a16:creationId xmlns:a16="http://schemas.microsoft.com/office/drawing/2014/main" id="{E31E5905-79B7-94D5-4785-3478AB6EA853}"/>
              </a:ext>
            </a:extLst>
          </p:cNvPr>
          <p:cNvSpPr txBox="1"/>
          <p:nvPr/>
        </p:nvSpPr>
        <p:spPr>
          <a:xfrm>
            <a:off x="2895447" y="5202936"/>
            <a:ext cx="6400800" cy="310896"/>
          </a:xfrm>
          <a:prstGeom prst="rect">
            <a:avLst/>
          </a:prstGeom>
          <a:noFill/>
        </p:spPr>
        <p:txBody>
          <a:bodyPr wrap="none" rtlCol="0">
            <a:spAutoFit/>
          </a:bodyPr>
          <a:lstStyle/>
          <a:p>
            <a:pPr algn="ctr"/>
            <a:r>
              <a:rPr lang="en-US" sz="1100" dirty="0">
                <a:solidFill>
                  <a:srgbClr val="262626"/>
                </a:solidFill>
                <a:latin typeface="FS PF BeauSans Pro"/>
                <a:ea typeface="FS PF BeauSans Pro"/>
                <a:cs typeface="FS PF BeauSans Pro"/>
              </a:rPr>
              <a:t>Table 3: Zero-shot TTS evaluation (WER in %)</a:t>
            </a:r>
          </a:p>
        </p:txBody>
      </p:sp>
      <p:graphicFrame>
        <p:nvGraphicFramePr>
          <p:cNvPr id="153" name="Table zero-shot"/>
          <p:cNvGraphicFramePr>
            <a:graphicFrameLocks noGrp="1"/>
          </p:cNvGraphicFramePr>
          <p:nvPr/>
        </p:nvGraphicFramePr>
        <p:xfrm>
          <a:off x="1713585" y="1874519"/>
          <a:ext cx="8764524" cy="3218688"/>
        </p:xfrm>
        <a:graphic>
          <a:graphicData uri="http://schemas.openxmlformats.org/drawingml/2006/table">
            <a:tbl>
              <a:tblPr firstRow="1"/>
              <a:tblGrid>
                <a:gridCol w="3950208">
                  <a:extLst>
                    <a:ext uri="{9D8B030D-6E8A-4147-A177-3AD203B41FA5}">
                      <a16:colId xmlns:a16="http://schemas.microsoft.com/office/drawing/2014/main" val="20000"/>
                    </a:ext>
                  </a:extLst>
                </a:gridCol>
                <a:gridCol w="1604772">
                  <a:extLst>
                    <a:ext uri="{9D8B030D-6E8A-4147-A177-3AD203B41FA5}">
                      <a16:colId xmlns:a16="http://schemas.microsoft.com/office/drawing/2014/main" val="20001"/>
                    </a:ext>
                  </a:extLst>
                </a:gridCol>
                <a:gridCol w="1604772">
                  <a:extLst>
                    <a:ext uri="{9D8B030D-6E8A-4147-A177-3AD203B41FA5}">
                      <a16:colId xmlns:a16="http://schemas.microsoft.com/office/drawing/2014/main" val="20002"/>
                    </a:ext>
                  </a:extLst>
                </a:gridCol>
                <a:gridCol w="1604772">
                  <a:extLst>
                    <a:ext uri="{9D8B030D-6E8A-4147-A177-3AD203B41FA5}">
                      <a16:colId xmlns:a16="http://schemas.microsoft.com/office/drawing/2014/main" val="20003"/>
                    </a:ext>
                  </a:extLst>
                </a:gridCol>
              </a:tblGrid>
              <a:tr h="402336">
                <a:tc>
                  <a:txBody>
                    <a:bodyPr/>
                    <a:lstStyle/>
                    <a:p>
                      <a:pPr algn="l"/>
                      <a:r>
                        <a:rPr lang="en-US" sz="1500" b="1" dirty="0">
                          <a:solidFill>
                            <a:srgbClr val="262626"/>
                          </a:solidFill>
                          <a:latin typeface="FS PF BeauSans Pro"/>
                          <a:ea typeface="FS PF BeauSans Pro"/>
                          <a:cs typeface="FS PF BeauSans Pro"/>
                        </a:rPr>
                        <a:t>System</a:t>
                      </a:r>
                    </a:p>
                  </a:txBody>
                  <a:tcPr marL="68580" marR="68580" marT="22860" marB="22860" anchor="ctr">
                    <a:lnL w="0">
                      <a:noFill/>
                    </a:lnL>
                    <a:lnR w="0">
                      <a:noFill/>
                    </a:lnR>
                    <a:lnT w="19050">
                      <a:solidFill>
                        <a:srgbClr val="262626"/>
                      </a:solidFill>
                    </a:lnT>
                    <a:lnB w="9525">
                      <a:solidFill>
                        <a:srgbClr val="262626"/>
                      </a:solidFill>
                    </a:lnB>
                    <a:noFill/>
                  </a:tcPr>
                </a:tc>
                <a:tc>
                  <a:txBody>
                    <a:bodyPr/>
                    <a:lstStyle/>
                    <a:p>
                      <a:pPr algn="ctr"/>
                      <a:r>
                        <a:rPr lang="en-US" sz="1500" b="1" dirty="0">
                          <a:solidFill>
                            <a:srgbClr val="262626"/>
                          </a:solidFill>
                          <a:latin typeface="FS PF BeauSans Pro"/>
                          <a:ea typeface="FS PF BeauSans Pro"/>
                          <a:cs typeface="FS PF BeauSans Pro"/>
                        </a:rPr>
                        <a:t>WER ↓</a:t>
                      </a:r>
                    </a:p>
                  </a:txBody>
                  <a:tcPr marL="68580" marR="68580" marT="22860" marB="22860" anchor="ctr">
                    <a:lnL w="0">
                      <a:noFill/>
                    </a:lnL>
                    <a:lnR w="0">
                      <a:noFill/>
                    </a:lnR>
                    <a:lnT w="19050">
                      <a:solidFill>
                        <a:srgbClr val="262626"/>
                      </a:solidFill>
                    </a:lnT>
                    <a:lnB w="9525">
                      <a:solidFill>
                        <a:srgbClr val="262626"/>
                      </a:solidFill>
                    </a:lnB>
                    <a:noFill/>
                  </a:tcPr>
                </a:tc>
                <a:tc>
                  <a:txBody>
                    <a:bodyPr/>
                    <a:lstStyle/>
                    <a:p>
                      <a:pPr algn="ctr"/>
                      <a:r>
                        <a:rPr lang="en-US" sz="1500" b="1" dirty="0">
                          <a:solidFill>
                            <a:srgbClr val="262626"/>
                          </a:solidFill>
                          <a:latin typeface="FS PF BeauSans Pro"/>
                          <a:ea typeface="FS PF BeauSans Pro"/>
                          <a:cs typeface="FS PF BeauSans Pro"/>
                        </a:rPr>
                        <a:t>SIM-o ↑</a:t>
                      </a:r>
                    </a:p>
                  </a:txBody>
                  <a:tcPr marL="68580" marR="68580" marT="22860" marB="22860" anchor="ctr">
                    <a:lnL w="0">
                      <a:noFill/>
                    </a:lnL>
                    <a:lnR w="0">
                      <a:noFill/>
                    </a:lnR>
                    <a:lnT w="19050">
                      <a:solidFill>
                        <a:srgbClr val="262626"/>
                      </a:solidFill>
                    </a:lnT>
                    <a:lnB w="9525">
                      <a:solidFill>
                        <a:srgbClr val="262626"/>
                      </a:solidFill>
                    </a:lnB>
                    <a:noFill/>
                  </a:tcPr>
                </a:tc>
                <a:tc>
                  <a:txBody>
                    <a:bodyPr/>
                    <a:lstStyle/>
                    <a:p>
                      <a:pPr algn="ctr"/>
                      <a:r>
                        <a:rPr lang="en-US" sz="1500" b="1" dirty="0">
                          <a:solidFill>
                            <a:srgbClr val="262626"/>
                          </a:solidFill>
                          <a:latin typeface="FS PF BeauSans Pro"/>
                          <a:ea typeface="FS PF BeauSans Pro"/>
                          <a:cs typeface="FS PF BeauSans Pro"/>
                        </a:rPr>
                        <a:t>RTF ↓</a:t>
                      </a:r>
                    </a:p>
                  </a:txBody>
                  <a:tcPr marL="68580" marR="68580" marT="22860" marB="22860" anchor="ctr">
                    <a:lnL w="0">
                      <a:noFill/>
                    </a:lnL>
                    <a:lnR w="0">
                      <a:noFill/>
                    </a:lnR>
                    <a:lnT w="19050">
                      <a:solidFill>
                        <a:srgbClr val="262626"/>
                      </a:solidFill>
                    </a:lnT>
                    <a:lnB w="9525">
                      <a:solidFill>
                        <a:srgbClr val="262626"/>
                      </a:solidFill>
                    </a:lnB>
                    <a:noFill/>
                  </a:tcPr>
                </a:tc>
                <a:extLst>
                  <a:ext uri="{0D108BD9-81ED-4DB2-BD59-A6C34878D82A}">
                    <a16:rowId xmlns:a16="http://schemas.microsoft.com/office/drawing/2014/main" val="10000"/>
                  </a:ext>
                </a:extLst>
              </a:tr>
              <a:tr h="402336">
                <a:tc>
                  <a:txBody>
                    <a:bodyPr/>
                    <a:lstStyle/>
                    <a:p>
                      <a:pPr algn="l"/>
                      <a:r>
                        <a:rPr lang="en-US" sz="1500" dirty="0">
                          <a:solidFill>
                            <a:srgbClr val="262626"/>
                          </a:solidFill>
                          <a:latin typeface="FS PF BeauSans Pro"/>
                          <a:ea typeface="FS PF BeauSans Pro"/>
                          <a:cs typeface="FS PF BeauSans Pro"/>
                        </a:rPr>
                        <a:t>viXTTS</a:t>
                      </a:r>
                    </a:p>
                  </a:txBody>
                  <a:tcPr marL="68580" marR="68580" marT="22860" marB="22860" anchor="ctr">
                    <a:lnL w="0">
                      <a:noFill/>
                    </a:lnL>
                    <a:lnR w="0">
                      <a:noFill/>
                    </a:lnR>
                    <a:lnT w="9525" cap="flat" cmpd="sng" algn="ctr">
                      <a:solidFill>
                        <a:srgbClr val="262626"/>
                      </a:solidFill>
                      <a:prstDash val="solid"/>
                      <a:round/>
                      <a:headEnd type="none" w="med" len="med"/>
                      <a:tailEnd type="none" w="med" len="med"/>
                    </a:lnT>
                    <a:lnB w="0">
                      <a:noFill/>
                    </a:lnB>
                    <a:noFill/>
                  </a:tcPr>
                </a:tc>
                <a:tc>
                  <a:txBody>
                    <a:bodyPr/>
                    <a:lstStyle/>
                    <a:p>
                      <a:pPr algn="ctr"/>
                      <a:r>
                        <a:rPr lang="en-US" sz="1500" dirty="0">
                          <a:solidFill>
                            <a:srgbClr val="262626"/>
                          </a:solidFill>
                          <a:latin typeface="FS PF BeauSans Pro"/>
                          <a:ea typeface="FS PF BeauSans Pro"/>
                          <a:cs typeface="FS PF BeauSans Pro"/>
                        </a:rPr>
                        <a:t>3.27</a:t>
                      </a:r>
                    </a:p>
                  </a:txBody>
                  <a:tcPr marL="68580" marR="68580" marT="22860" marB="22860" anchor="ctr">
                    <a:lnL w="0">
                      <a:noFill/>
                    </a:lnL>
                    <a:lnR w="0">
                      <a:noFill/>
                    </a:lnR>
                    <a:lnT w="9525" cap="flat" cmpd="sng" algn="ctr">
                      <a:solidFill>
                        <a:srgbClr val="262626"/>
                      </a:solidFill>
                      <a:prstDash val="solid"/>
                      <a:round/>
                      <a:headEnd type="none" w="med" len="med"/>
                      <a:tailEnd type="none" w="med" len="med"/>
                    </a:lnT>
                    <a:lnB w="0">
                      <a:noFill/>
                    </a:lnB>
                    <a:noFill/>
                  </a:tcPr>
                </a:tc>
                <a:tc>
                  <a:txBody>
                    <a:bodyPr/>
                    <a:lstStyle/>
                    <a:p>
                      <a:pPr algn="ctr"/>
                      <a:r>
                        <a:rPr lang="en-US" sz="1500" dirty="0">
                          <a:solidFill>
                            <a:srgbClr val="262626"/>
                          </a:solidFill>
                          <a:latin typeface="FS PF BeauSans Pro"/>
                          <a:ea typeface="FS PF BeauSans Pro"/>
                          <a:cs typeface="FS PF BeauSans Pro"/>
                        </a:rPr>
                        <a:t>0.70</a:t>
                      </a:r>
                    </a:p>
                  </a:txBody>
                  <a:tcPr marL="68580" marR="68580" marT="22860" marB="22860" anchor="ctr">
                    <a:lnL w="0">
                      <a:noFill/>
                    </a:lnL>
                    <a:lnR w="0">
                      <a:noFill/>
                    </a:lnR>
                    <a:lnT w="9525" cap="flat" cmpd="sng" algn="ctr">
                      <a:solidFill>
                        <a:srgbClr val="262626"/>
                      </a:solidFill>
                      <a:prstDash val="solid"/>
                      <a:round/>
                      <a:headEnd type="none" w="med" len="med"/>
                      <a:tailEnd type="none" w="med" len="med"/>
                    </a:lnT>
                    <a:lnB w="0">
                      <a:noFill/>
                    </a:lnB>
                    <a:noFill/>
                  </a:tcPr>
                </a:tc>
                <a:tc>
                  <a:txBody>
                    <a:bodyPr/>
                    <a:lstStyle/>
                    <a:p>
                      <a:pPr algn="ctr"/>
                      <a:r>
                        <a:rPr lang="en-US" sz="1500" dirty="0">
                          <a:solidFill>
                            <a:srgbClr val="262626"/>
                          </a:solidFill>
                          <a:latin typeface="FS PF BeauSans Pro"/>
                          <a:ea typeface="FS PF BeauSans Pro"/>
                          <a:cs typeface="FS PF BeauSans Pro"/>
                        </a:rPr>
                        <a:t>0.67</a:t>
                      </a:r>
                    </a:p>
                  </a:txBody>
                  <a:tcPr marL="68580" marR="68580" marT="22860" marB="22860" anchor="ctr">
                    <a:lnL w="0">
                      <a:noFill/>
                    </a:lnL>
                    <a:lnR w="0">
                      <a:noFill/>
                    </a:lnR>
                    <a:lnT w="9525" cap="flat" cmpd="sng" algn="ctr">
                      <a:solidFill>
                        <a:srgbClr val="262626"/>
                      </a:solidFill>
                      <a:prstDash val="solid"/>
                      <a:round/>
                      <a:headEnd type="none" w="med" len="med"/>
                      <a:tailEnd type="none" w="med" len="med"/>
                    </a:lnT>
                    <a:lnB w="0">
                      <a:noFill/>
                    </a:lnB>
                    <a:noFill/>
                  </a:tcPr>
                </a:tc>
                <a:extLst>
                  <a:ext uri="{0D108BD9-81ED-4DB2-BD59-A6C34878D82A}">
                    <a16:rowId xmlns:a16="http://schemas.microsoft.com/office/drawing/2014/main" val="10001"/>
                  </a:ext>
                </a:extLst>
              </a:tr>
              <a:tr h="402336">
                <a:tc>
                  <a:txBody>
                    <a:bodyPr/>
                    <a:lstStyle/>
                    <a:p>
                      <a:pPr algn="l"/>
                      <a:r>
                        <a:rPr lang="en-US" sz="1500" dirty="0">
                          <a:solidFill>
                            <a:srgbClr val="262626"/>
                          </a:solidFill>
                          <a:latin typeface="FS PF BeauSans Pro"/>
                          <a:ea typeface="FS PF BeauSans Pro"/>
                          <a:cs typeface="FS PF BeauSans Pro"/>
                        </a:rPr>
                        <a:t>F5-TTS</a:t>
                      </a:r>
                    </a:p>
                  </a:txBody>
                  <a:tcPr marL="68580" marR="68580" marT="22860" marB="22860" anchor="ctr">
                    <a:lnL w="0">
                      <a:noFill/>
                    </a:lnL>
                    <a:lnR w="0">
                      <a:noFill/>
                    </a:lnR>
                    <a:lnT w="0">
                      <a:noFill/>
                    </a:lnT>
                    <a:lnB w="0">
                      <a:noFill/>
                    </a:lnB>
                    <a:noFill/>
                  </a:tcPr>
                </a:tc>
                <a:tc>
                  <a:txBody>
                    <a:bodyPr/>
                    <a:lstStyle/>
                    <a:p>
                      <a:pPr algn="ctr"/>
                      <a:r>
                        <a:rPr lang="en-US" sz="1500" dirty="0">
                          <a:solidFill>
                            <a:srgbClr val="262626"/>
                          </a:solidFill>
                          <a:latin typeface="FS PF BeauSans Pro"/>
                          <a:ea typeface="FS PF BeauSans Pro"/>
                          <a:cs typeface="FS PF BeauSans Pro"/>
                        </a:rPr>
                        <a:t>3.02</a:t>
                      </a:r>
                    </a:p>
                  </a:txBody>
                  <a:tcPr marL="68580" marR="68580" marT="22860" marB="22860" anchor="ctr">
                    <a:lnL w="0">
                      <a:noFill/>
                    </a:lnL>
                    <a:lnR w="0">
                      <a:noFill/>
                    </a:lnR>
                    <a:lnT w="0">
                      <a:noFill/>
                    </a:lnT>
                    <a:lnB w="0">
                      <a:noFill/>
                    </a:lnB>
                    <a:noFill/>
                  </a:tcPr>
                </a:tc>
                <a:tc>
                  <a:txBody>
                    <a:bodyPr/>
                    <a:lstStyle/>
                    <a:p>
                      <a:pPr algn="ctr"/>
                      <a:r>
                        <a:rPr lang="en-US" sz="1500" dirty="0">
                          <a:solidFill>
                            <a:srgbClr val="262626"/>
                          </a:solidFill>
                          <a:latin typeface="FS PF BeauSans Pro"/>
                          <a:ea typeface="FS PF BeauSans Pro"/>
                          <a:cs typeface="FS PF BeauSans Pro"/>
                        </a:rPr>
                        <a:t>0.82</a:t>
                      </a:r>
                    </a:p>
                  </a:txBody>
                  <a:tcPr marL="68580" marR="68580" marT="22860" marB="22860" anchor="ctr">
                    <a:lnL w="0">
                      <a:noFill/>
                    </a:lnL>
                    <a:lnR w="0">
                      <a:noFill/>
                    </a:lnR>
                    <a:lnT w="0">
                      <a:noFill/>
                    </a:lnT>
                    <a:lnB w="0">
                      <a:noFill/>
                    </a:lnB>
                    <a:noFill/>
                  </a:tcPr>
                </a:tc>
                <a:tc>
                  <a:txBody>
                    <a:bodyPr/>
                    <a:lstStyle/>
                    <a:p>
                      <a:pPr algn="ctr"/>
                      <a:r>
                        <a:rPr lang="en-US" sz="1500" dirty="0">
                          <a:solidFill>
                            <a:srgbClr val="262626"/>
                          </a:solidFill>
                          <a:latin typeface="FS PF BeauSans Pro"/>
                          <a:ea typeface="FS PF BeauSans Pro"/>
                          <a:cs typeface="FS PF BeauSans Pro"/>
                        </a:rPr>
                        <a:t>0.47</a:t>
                      </a:r>
                    </a:p>
                  </a:txBody>
                  <a:tcPr marL="68580" marR="68580" marT="22860" marB="22860" anchor="ctr">
                    <a:lnL w="0">
                      <a:noFill/>
                    </a:lnL>
                    <a:lnR w="0">
                      <a:noFill/>
                    </a:lnR>
                    <a:lnT w="0">
                      <a:noFill/>
                    </a:lnT>
                    <a:lnB w="0">
                      <a:noFill/>
                    </a:lnB>
                    <a:noFill/>
                  </a:tcPr>
                </a:tc>
                <a:extLst>
                  <a:ext uri="{0D108BD9-81ED-4DB2-BD59-A6C34878D82A}">
                    <a16:rowId xmlns:a16="http://schemas.microsoft.com/office/drawing/2014/main" val="10002"/>
                  </a:ext>
                </a:extLst>
              </a:tr>
              <a:tr h="402336">
                <a:tc>
                  <a:txBody>
                    <a:bodyPr/>
                    <a:lstStyle/>
                    <a:p>
                      <a:pPr algn="l"/>
                      <a:r>
                        <a:rPr lang="en-US" sz="1500" dirty="0">
                          <a:solidFill>
                            <a:srgbClr val="262626"/>
                          </a:solidFill>
                          <a:latin typeface="FS PF BeauSans Pro"/>
                          <a:ea typeface="FS PF BeauSans Pro"/>
                          <a:cs typeface="FS PF BeauSans Pro"/>
                        </a:rPr>
                        <a:t>VietVoice-TTS</a:t>
                      </a:r>
                    </a:p>
                  </a:txBody>
                  <a:tcPr marL="68580" marR="68580" marT="22860" marB="22860" anchor="ctr">
                    <a:lnL w="0">
                      <a:noFill/>
                    </a:lnL>
                    <a:lnR w="0">
                      <a:noFill/>
                    </a:lnR>
                    <a:lnT w="0">
                      <a:noFill/>
                    </a:lnT>
                    <a:lnB w="0">
                      <a:noFill/>
                    </a:lnB>
                    <a:noFill/>
                  </a:tcPr>
                </a:tc>
                <a:tc>
                  <a:txBody>
                    <a:bodyPr/>
                    <a:lstStyle/>
                    <a:p>
                      <a:pPr algn="ctr"/>
                      <a:r>
                        <a:rPr lang="en-US" sz="1500" dirty="0">
                          <a:solidFill>
                            <a:srgbClr val="262626"/>
                          </a:solidFill>
                          <a:latin typeface="FS PF BeauSans Pro"/>
                          <a:ea typeface="FS PF BeauSans Pro"/>
                          <a:cs typeface="FS PF BeauSans Pro"/>
                        </a:rPr>
                        <a:t>2.37</a:t>
                      </a:r>
                    </a:p>
                  </a:txBody>
                  <a:tcPr marL="68580" marR="68580" marT="22860" marB="22860" anchor="ctr">
                    <a:lnL w="0">
                      <a:noFill/>
                    </a:lnL>
                    <a:lnR w="0">
                      <a:noFill/>
                    </a:lnR>
                    <a:lnT w="0">
                      <a:noFill/>
                    </a:lnT>
                    <a:lnB w="0">
                      <a:noFill/>
                    </a:lnB>
                    <a:noFill/>
                  </a:tcPr>
                </a:tc>
                <a:tc>
                  <a:txBody>
                    <a:bodyPr/>
                    <a:lstStyle/>
                    <a:p>
                      <a:pPr algn="ctr"/>
                      <a:r>
                        <a:rPr lang="en-US" sz="1500" dirty="0">
                          <a:solidFill>
                            <a:srgbClr val="262626"/>
                          </a:solidFill>
                          <a:latin typeface="FS PF BeauSans Pro"/>
                          <a:ea typeface="FS PF BeauSans Pro"/>
                          <a:cs typeface="FS PF BeauSans Pro"/>
                        </a:rPr>
                        <a:t>0.78</a:t>
                      </a:r>
                    </a:p>
                  </a:txBody>
                  <a:tcPr marL="68580" marR="68580" marT="22860" marB="22860" anchor="ctr">
                    <a:lnL w="0">
                      <a:noFill/>
                    </a:lnL>
                    <a:lnR w="0">
                      <a:noFill/>
                    </a:lnR>
                    <a:lnT w="0">
                      <a:noFill/>
                    </a:lnT>
                    <a:lnB w="0">
                      <a:noFill/>
                    </a:lnB>
                    <a:noFill/>
                  </a:tcPr>
                </a:tc>
                <a:tc>
                  <a:txBody>
                    <a:bodyPr/>
                    <a:lstStyle/>
                    <a:p>
                      <a:pPr algn="ctr"/>
                      <a:r>
                        <a:rPr lang="en-US" sz="1500" dirty="0">
                          <a:solidFill>
                            <a:srgbClr val="262626"/>
                          </a:solidFill>
                          <a:latin typeface="FS PF BeauSans Pro"/>
                          <a:ea typeface="FS PF BeauSans Pro"/>
                          <a:cs typeface="FS PF BeauSans Pro"/>
                        </a:rPr>
                        <a:t>0.47</a:t>
                      </a:r>
                    </a:p>
                  </a:txBody>
                  <a:tcPr marL="68580" marR="68580" marT="22860" marB="22860" anchor="ctr">
                    <a:lnL w="0">
                      <a:noFill/>
                    </a:lnL>
                    <a:lnR w="0">
                      <a:noFill/>
                    </a:lnR>
                    <a:lnT w="0">
                      <a:noFill/>
                    </a:lnT>
                    <a:lnB w="0">
                      <a:noFill/>
                    </a:lnB>
                    <a:noFill/>
                  </a:tcPr>
                </a:tc>
                <a:extLst>
                  <a:ext uri="{0D108BD9-81ED-4DB2-BD59-A6C34878D82A}">
                    <a16:rowId xmlns:a16="http://schemas.microsoft.com/office/drawing/2014/main" val="10003"/>
                  </a:ext>
                </a:extLst>
              </a:tr>
              <a:tr h="402336">
                <a:tc>
                  <a:txBody>
                    <a:bodyPr/>
                    <a:lstStyle/>
                    <a:p>
                      <a:pPr algn="l"/>
                      <a:r>
                        <a:rPr lang="en-US" sz="1500" dirty="0">
                          <a:solidFill>
                            <a:srgbClr val="262626"/>
                          </a:solidFill>
                          <a:latin typeface="FS PF BeauSans Pro"/>
                          <a:ea typeface="FS PF BeauSans Pro"/>
                          <a:cs typeface="FS PF BeauSans Pro"/>
                        </a:rPr>
                        <a:t>VieNeu-TTS</a:t>
                      </a:r>
                    </a:p>
                  </a:txBody>
                  <a:tcPr marL="68580" marR="68580" marT="22860" marB="22860" anchor="ctr">
                    <a:lnL w="0">
                      <a:noFill/>
                    </a:lnL>
                    <a:lnR w="0">
                      <a:noFill/>
                    </a:lnR>
                    <a:lnT w="0">
                      <a:noFill/>
                    </a:lnT>
                    <a:lnB w="0">
                      <a:noFill/>
                    </a:lnB>
                    <a:noFill/>
                  </a:tcPr>
                </a:tc>
                <a:tc>
                  <a:txBody>
                    <a:bodyPr/>
                    <a:lstStyle/>
                    <a:p>
                      <a:pPr algn="ctr"/>
                      <a:r>
                        <a:rPr lang="en-US" sz="1500" dirty="0">
                          <a:solidFill>
                            <a:srgbClr val="262626"/>
                          </a:solidFill>
                          <a:latin typeface="FS PF BeauSans Pro"/>
                          <a:ea typeface="FS PF BeauSans Pro"/>
                          <a:cs typeface="FS PF BeauSans Pro"/>
                        </a:rPr>
                        <a:t>2.00</a:t>
                      </a:r>
                    </a:p>
                  </a:txBody>
                  <a:tcPr marL="68580" marR="68580" marT="22860" marB="22860" anchor="ctr">
                    <a:lnL w="0">
                      <a:noFill/>
                    </a:lnL>
                    <a:lnR w="0">
                      <a:noFill/>
                    </a:lnR>
                    <a:lnT w="0">
                      <a:noFill/>
                    </a:lnT>
                    <a:lnB w="0">
                      <a:noFill/>
                    </a:lnB>
                    <a:noFill/>
                  </a:tcPr>
                </a:tc>
                <a:tc>
                  <a:txBody>
                    <a:bodyPr/>
                    <a:lstStyle/>
                    <a:p>
                      <a:pPr algn="ctr"/>
                      <a:r>
                        <a:rPr lang="en-US" sz="1500" dirty="0">
                          <a:solidFill>
                            <a:srgbClr val="262626"/>
                          </a:solidFill>
                          <a:latin typeface="FS PF BeauSans Pro"/>
                          <a:ea typeface="FS PF BeauSans Pro"/>
                          <a:cs typeface="FS PF BeauSans Pro"/>
                        </a:rPr>
                        <a:t>0.65</a:t>
                      </a:r>
                    </a:p>
                  </a:txBody>
                  <a:tcPr marL="68580" marR="68580" marT="22860" marB="22860" anchor="ctr">
                    <a:lnL w="0">
                      <a:noFill/>
                    </a:lnL>
                    <a:lnR w="0">
                      <a:noFill/>
                    </a:lnR>
                    <a:lnT w="0">
                      <a:noFill/>
                    </a:lnT>
                    <a:lnB w="0">
                      <a:noFill/>
                    </a:lnB>
                    <a:noFill/>
                  </a:tcPr>
                </a:tc>
                <a:tc>
                  <a:txBody>
                    <a:bodyPr/>
                    <a:lstStyle/>
                    <a:p>
                      <a:pPr algn="ctr"/>
                      <a:r>
                        <a:rPr lang="en-US" sz="1500" dirty="0">
                          <a:solidFill>
                            <a:srgbClr val="262626"/>
                          </a:solidFill>
                          <a:latin typeface="FS PF BeauSans Pro"/>
                          <a:ea typeface="FS PF BeauSans Pro"/>
                          <a:cs typeface="FS PF BeauSans Pro"/>
                        </a:rPr>
                        <a:t>0.89</a:t>
                      </a:r>
                    </a:p>
                  </a:txBody>
                  <a:tcPr marL="68580" marR="68580" marT="22860" marB="22860" anchor="ctr">
                    <a:lnL w="0">
                      <a:noFill/>
                    </a:lnL>
                    <a:lnR w="0">
                      <a:noFill/>
                    </a:lnR>
                    <a:lnT w="0">
                      <a:noFill/>
                    </a:lnT>
                    <a:lnB w="0">
                      <a:noFill/>
                    </a:lnB>
                    <a:noFill/>
                  </a:tcPr>
                </a:tc>
                <a:extLst>
                  <a:ext uri="{0D108BD9-81ED-4DB2-BD59-A6C34878D82A}">
                    <a16:rowId xmlns:a16="http://schemas.microsoft.com/office/drawing/2014/main" val="10004"/>
                  </a:ext>
                </a:extLst>
              </a:tr>
              <a:tr h="402336">
                <a:tc>
                  <a:txBody>
                    <a:bodyPr/>
                    <a:lstStyle/>
                    <a:p>
                      <a:pPr algn="l"/>
                      <a:r>
                        <a:rPr lang="en-US" sz="1500" dirty="0">
                          <a:solidFill>
                            <a:srgbClr val="262626"/>
                          </a:solidFill>
                          <a:latin typeface="FS PF BeauSans Pro"/>
                          <a:ea typeface="FS PF BeauSans Pro"/>
                          <a:cs typeface="FS PF BeauSans Pro"/>
                        </a:rPr>
                        <a:t>Fish Audio</a:t>
                      </a:r>
                    </a:p>
                  </a:txBody>
                  <a:tcPr marL="68580" marR="68580" marT="22860" marB="22860" anchor="ctr">
                    <a:lnL w="0">
                      <a:noFill/>
                    </a:lnL>
                    <a:lnR w="0">
                      <a:noFill/>
                    </a:lnR>
                    <a:lnT w="0">
                      <a:noFill/>
                    </a:lnT>
                    <a:lnB w="9525">
                      <a:solidFill>
                        <a:srgbClr val="262626"/>
                      </a:solidFill>
                    </a:lnB>
                    <a:noFill/>
                  </a:tcPr>
                </a:tc>
                <a:tc>
                  <a:txBody>
                    <a:bodyPr/>
                    <a:lstStyle/>
                    <a:p>
                      <a:pPr algn="ctr"/>
                      <a:r>
                        <a:rPr lang="en-US" sz="1500" dirty="0">
                          <a:solidFill>
                            <a:srgbClr val="262626"/>
                          </a:solidFill>
                          <a:latin typeface="FS PF BeauSans Pro"/>
                          <a:ea typeface="FS PF BeauSans Pro"/>
                          <a:cs typeface="FS PF BeauSans Pro"/>
                        </a:rPr>
                        <a:t>11.31</a:t>
                      </a:r>
                    </a:p>
                  </a:txBody>
                  <a:tcPr marL="68580" marR="68580" marT="22860" marB="22860" anchor="ctr">
                    <a:lnL w="0">
                      <a:noFill/>
                    </a:lnL>
                    <a:lnR w="0">
                      <a:noFill/>
                    </a:lnR>
                    <a:lnT w="0">
                      <a:noFill/>
                    </a:lnT>
                    <a:lnB w="9525">
                      <a:solidFill>
                        <a:srgbClr val="262626"/>
                      </a:solidFill>
                    </a:lnB>
                    <a:noFill/>
                  </a:tcPr>
                </a:tc>
                <a:tc>
                  <a:txBody>
                    <a:bodyPr/>
                    <a:lstStyle/>
                    <a:p>
                      <a:pPr algn="ctr"/>
                      <a:r>
                        <a:rPr lang="en-US" sz="1500" dirty="0">
                          <a:solidFill>
                            <a:srgbClr val="262626"/>
                          </a:solidFill>
                          <a:latin typeface="FS PF BeauSans Pro"/>
                          <a:ea typeface="FS PF BeauSans Pro"/>
                          <a:cs typeface="FS PF BeauSans Pro"/>
                        </a:rPr>
                        <a:t>0.79</a:t>
                      </a:r>
                    </a:p>
                  </a:txBody>
                  <a:tcPr marL="68580" marR="68580" marT="22860" marB="22860" anchor="ctr">
                    <a:lnL w="0">
                      <a:noFill/>
                    </a:lnL>
                    <a:lnR w="0">
                      <a:noFill/>
                    </a:lnR>
                    <a:lnT w="0">
                      <a:noFill/>
                    </a:lnT>
                    <a:lnB w="9525">
                      <a:solidFill>
                        <a:srgbClr val="262626"/>
                      </a:solidFill>
                    </a:lnB>
                    <a:noFill/>
                  </a:tcPr>
                </a:tc>
                <a:tc>
                  <a:txBody>
                    <a:bodyPr/>
                    <a:lstStyle/>
                    <a:p>
                      <a:pPr algn="ctr"/>
                      <a:r>
                        <a:rPr lang="en-US" sz="1500" dirty="0">
                          <a:solidFill>
                            <a:srgbClr val="262626"/>
                          </a:solidFill>
                          <a:latin typeface="FS PF BeauSans Pro"/>
                          <a:ea typeface="FS PF BeauSans Pro"/>
                          <a:cs typeface="FS PF BeauSans Pro"/>
                        </a:rPr>
                        <a:t>–</a:t>
                      </a:r>
                    </a:p>
                  </a:txBody>
                  <a:tcPr marL="68580" marR="68580" marT="22860" marB="22860" anchor="ctr">
                    <a:lnL w="0">
                      <a:noFill/>
                    </a:lnL>
                    <a:lnR w="0">
                      <a:noFill/>
                    </a:lnR>
                    <a:lnT w="0">
                      <a:noFill/>
                    </a:lnT>
                    <a:lnB w="9525">
                      <a:solidFill>
                        <a:srgbClr val="262626"/>
                      </a:solidFill>
                    </a:lnB>
                    <a:noFill/>
                  </a:tcPr>
                </a:tc>
                <a:extLst>
                  <a:ext uri="{0D108BD9-81ED-4DB2-BD59-A6C34878D82A}">
                    <a16:rowId xmlns:a16="http://schemas.microsoft.com/office/drawing/2014/main" val="10005"/>
                  </a:ext>
                </a:extLst>
              </a:tr>
              <a:tr h="402336">
                <a:tc>
                  <a:txBody>
                    <a:bodyPr/>
                    <a:lstStyle/>
                    <a:p>
                      <a:pPr algn="l"/>
                      <a:r>
                        <a:rPr lang="en-US" sz="1500" dirty="0">
                          <a:solidFill>
                            <a:srgbClr val="262626"/>
                          </a:solidFill>
                          <a:latin typeface="FS PF BeauSans Pro"/>
                          <a:ea typeface="FS PF BeauSans Pro"/>
                          <a:cs typeface="FS PF BeauSans Pro"/>
                        </a:rPr>
                        <a:t>OmniVoice (base)</a:t>
                      </a:r>
                    </a:p>
                  </a:txBody>
                  <a:tcPr marL="68580" marR="68580" marT="22860" marB="22860" anchor="ctr">
                    <a:lnL w="0">
                      <a:noFill/>
                    </a:lnL>
                    <a:lnR w="0">
                      <a:noFill/>
                    </a:lnR>
                    <a:lnT w="9525" cap="flat" cmpd="sng" algn="ctr">
                      <a:solidFill>
                        <a:srgbClr val="262626"/>
                      </a:solidFill>
                      <a:prstDash val="solid"/>
                      <a:round/>
                      <a:headEnd type="none" w="med" len="med"/>
                      <a:tailEnd type="none" w="med" len="med"/>
                    </a:lnT>
                    <a:lnB w="0">
                      <a:noFill/>
                    </a:lnB>
                    <a:noFill/>
                  </a:tcPr>
                </a:tc>
                <a:tc>
                  <a:txBody>
                    <a:bodyPr/>
                    <a:lstStyle/>
                    <a:p>
                      <a:pPr algn="ctr"/>
                      <a:r>
                        <a:rPr lang="en-US" sz="1500" dirty="0">
                          <a:solidFill>
                            <a:srgbClr val="262626"/>
                          </a:solidFill>
                          <a:latin typeface="FS PF BeauSans Pro"/>
                          <a:ea typeface="FS PF BeauSans Pro"/>
                          <a:cs typeface="FS PF BeauSans Pro"/>
                        </a:rPr>
                        <a:t>3.93</a:t>
                      </a:r>
                    </a:p>
                  </a:txBody>
                  <a:tcPr marL="68580" marR="68580" marT="22860" marB="22860" anchor="ctr">
                    <a:lnL w="0">
                      <a:noFill/>
                    </a:lnL>
                    <a:lnR w="0">
                      <a:noFill/>
                    </a:lnR>
                    <a:lnT w="9525" cap="flat" cmpd="sng" algn="ctr">
                      <a:solidFill>
                        <a:srgbClr val="262626"/>
                      </a:solidFill>
                      <a:prstDash val="solid"/>
                      <a:round/>
                      <a:headEnd type="none" w="med" len="med"/>
                      <a:tailEnd type="none" w="med" len="med"/>
                    </a:lnT>
                    <a:lnB w="0">
                      <a:noFill/>
                    </a:lnB>
                    <a:noFill/>
                  </a:tcPr>
                </a:tc>
                <a:tc>
                  <a:txBody>
                    <a:bodyPr/>
                    <a:lstStyle/>
                    <a:p>
                      <a:pPr algn="ctr"/>
                      <a:r>
                        <a:rPr lang="en-US" sz="1500" dirty="0">
                          <a:solidFill>
                            <a:srgbClr val="262626"/>
                          </a:solidFill>
                          <a:latin typeface="FS PF BeauSans Pro"/>
                          <a:ea typeface="FS PF BeauSans Pro"/>
                          <a:cs typeface="FS PF BeauSans Pro"/>
                        </a:rPr>
                        <a:t>0.84</a:t>
                      </a:r>
                    </a:p>
                  </a:txBody>
                  <a:tcPr marL="68580" marR="68580" marT="22860" marB="22860" anchor="ctr">
                    <a:lnL w="0">
                      <a:noFill/>
                    </a:lnL>
                    <a:lnR w="0">
                      <a:noFill/>
                    </a:lnR>
                    <a:lnT w="9525" cap="flat" cmpd="sng" algn="ctr">
                      <a:solidFill>
                        <a:srgbClr val="262626"/>
                      </a:solidFill>
                      <a:prstDash val="solid"/>
                      <a:round/>
                      <a:headEnd type="none" w="med" len="med"/>
                      <a:tailEnd type="none" w="med" len="med"/>
                    </a:lnT>
                    <a:lnB w="0">
                      <a:noFill/>
                    </a:lnB>
                    <a:noFill/>
                  </a:tcPr>
                </a:tc>
                <a:tc>
                  <a:txBody>
                    <a:bodyPr/>
                    <a:lstStyle/>
                    <a:p>
                      <a:pPr algn="ctr"/>
                      <a:r>
                        <a:rPr lang="en-US" sz="1500" dirty="0">
                          <a:solidFill>
                            <a:srgbClr val="262626"/>
                          </a:solidFill>
                          <a:latin typeface="FS PF BeauSans Pro"/>
                          <a:ea typeface="FS PF BeauSans Pro"/>
                          <a:cs typeface="FS PF BeauSans Pro"/>
                        </a:rPr>
                        <a:t>0.06</a:t>
                      </a:r>
                    </a:p>
                  </a:txBody>
                  <a:tcPr marL="68580" marR="68580" marT="22860" marB="22860" anchor="ctr">
                    <a:lnL w="0">
                      <a:noFill/>
                    </a:lnL>
                    <a:lnR w="0">
                      <a:noFill/>
                    </a:lnR>
                    <a:lnT w="9525" cap="flat" cmpd="sng" algn="ctr">
                      <a:solidFill>
                        <a:srgbClr val="262626"/>
                      </a:solidFill>
                      <a:prstDash val="solid"/>
                      <a:round/>
                      <a:headEnd type="none" w="med" len="med"/>
                      <a:tailEnd type="none" w="med" len="med"/>
                    </a:lnT>
                    <a:lnB w="0">
                      <a:noFill/>
                    </a:lnB>
                    <a:noFill/>
                  </a:tcPr>
                </a:tc>
                <a:extLst>
                  <a:ext uri="{0D108BD9-81ED-4DB2-BD59-A6C34878D82A}">
                    <a16:rowId xmlns:a16="http://schemas.microsoft.com/office/drawing/2014/main" val="10006"/>
                  </a:ext>
                </a:extLst>
              </a:tr>
              <a:tr h="402336">
                <a:tc>
                  <a:txBody>
                    <a:bodyPr/>
                    <a:lstStyle/>
                    <a:p>
                      <a:pPr algn="l"/>
                      <a:r>
                        <a:rPr lang="en-US" sz="1500" b="1" dirty="0">
                          <a:solidFill>
                            <a:srgbClr val="262626"/>
                          </a:solidFill>
                          <a:latin typeface="FS PF BeauSans Pro"/>
                          <a:ea typeface="FS PF BeauSans Pro"/>
                          <a:cs typeface="FS PF BeauSans Pro"/>
                        </a:rPr>
                        <a:t>OmniVoice fine-tuned (ours)</a:t>
                      </a:r>
                    </a:p>
                  </a:txBody>
                  <a:tcPr marL="68580" marR="68580" marT="22860" marB="22860" anchor="ctr">
                    <a:lnL w="0">
                      <a:noFill/>
                    </a:lnL>
                    <a:lnR w="0">
                      <a:noFill/>
                    </a:lnR>
                    <a:lnT w="0">
                      <a:noFill/>
                    </a:lnT>
                    <a:lnB w="19050">
                      <a:solidFill>
                        <a:srgbClr val="262626"/>
                      </a:solidFill>
                    </a:lnB>
                    <a:solidFill>
                      <a:srgbClr val="FDECEC"/>
                    </a:solidFill>
                  </a:tcPr>
                </a:tc>
                <a:tc>
                  <a:txBody>
                    <a:bodyPr/>
                    <a:lstStyle/>
                    <a:p>
                      <a:pPr algn="ctr"/>
                      <a:r>
                        <a:rPr lang="en-US" sz="1500" b="1" dirty="0">
                          <a:solidFill>
                            <a:srgbClr val="262626"/>
                          </a:solidFill>
                          <a:latin typeface="FS PF BeauSans Pro"/>
                          <a:ea typeface="FS PF BeauSans Pro"/>
                          <a:cs typeface="FS PF BeauSans Pro"/>
                        </a:rPr>
                        <a:t>4.78</a:t>
                      </a:r>
                    </a:p>
                  </a:txBody>
                  <a:tcPr marL="68580" marR="68580" marT="22860" marB="22860" anchor="ctr">
                    <a:lnL w="0">
                      <a:noFill/>
                    </a:lnL>
                    <a:lnR w="0">
                      <a:noFill/>
                    </a:lnR>
                    <a:lnT w="0">
                      <a:noFill/>
                    </a:lnT>
                    <a:lnB w="19050">
                      <a:solidFill>
                        <a:srgbClr val="262626"/>
                      </a:solidFill>
                    </a:lnB>
                    <a:solidFill>
                      <a:srgbClr val="FDECEC"/>
                    </a:solidFill>
                  </a:tcPr>
                </a:tc>
                <a:tc>
                  <a:txBody>
                    <a:bodyPr/>
                    <a:lstStyle/>
                    <a:p>
                      <a:pPr algn="ctr"/>
                      <a:r>
                        <a:rPr lang="en-US" sz="1500" b="1" dirty="0">
                          <a:solidFill>
                            <a:srgbClr val="262626"/>
                          </a:solidFill>
                          <a:latin typeface="FS PF BeauSans Pro"/>
                          <a:ea typeface="FS PF BeauSans Pro"/>
                          <a:cs typeface="FS PF BeauSans Pro"/>
                        </a:rPr>
                        <a:t>0.84</a:t>
                      </a:r>
                    </a:p>
                  </a:txBody>
                  <a:tcPr marL="68580" marR="68580" marT="22860" marB="22860" anchor="ctr">
                    <a:lnL w="0">
                      <a:noFill/>
                    </a:lnL>
                    <a:lnR w="0">
                      <a:noFill/>
                    </a:lnR>
                    <a:lnT w="0">
                      <a:noFill/>
                    </a:lnT>
                    <a:lnB w="19050">
                      <a:solidFill>
                        <a:srgbClr val="262626"/>
                      </a:solidFill>
                    </a:lnB>
                    <a:solidFill>
                      <a:srgbClr val="FDECEC"/>
                    </a:solidFill>
                  </a:tcPr>
                </a:tc>
                <a:tc>
                  <a:txBody>
                    <a:bodyPr/>
                    <a:lstStyle/>
                    <a:p>
                      <a:pPr algn="ctr"/>
                      <a:r>
                        <a:rPr lang="en-US" sz="1500" b="1" dirty="0">
                          <a:solidFill>
                            <a:srgbClr val="262626"/>
                          </a:solidFill>
                          <a:latin typeface="FS PF BeauSans Pro"/>
                          <a:ea typeface="FS PF BeauSans Pro"/>
                          <a:cs typeface="FS PF BeauSans Pro"/>
                        </a:rPr>
                        <a:t>0.06</a:t>
                      </a:r>
                    </a:p>
                  </a:txBody>
                  <a:tcPr marL="68580" marR="68580" marT="22860" marB="22860" anchor="ctr">
                    <a:lnL w="0">
                      <a:noFill/>
                    </a:lnL>
                    <a:lnR w="0">
                      <a:noFill/>
                    </a:lnR>
                    <a:lnT w="0">
                      <a:noFill/>
                    </a:lnT>
                    <a:lnB w="19050">
                      <a:solidFill>
                        <a:srgbClr val="262626"/>
                      </a:solidFill>
                    </a:lnB>
                    <a:solidFill>
                      <a:srgbClr val="FDECEC"/>
                    </a:solidFill>
                  </a:tcPr>
                </a:tc>
                <a:extLst>
                  <a:ext uri="{0D108BD9-81ED-4DB2-BD59-A6C34878D82A}">
                    <a16:rowId xmlns:a16="http://schemas.microsoft.com/office/drawing/2014/main" val="10007"/>
                  </a:ext>
                </a:extLst>
              </a:tr>
            </a:tbl>
          </a:graphicData>
        </a:graphic>
      </p:graphicFrame>
      <p:sp>
        <p:nvSpPr>
          <p:cNvPr id="154" name="Footnote citations"/>
          <p:cNvSpPr txBox="1"/>
          <p:nvPr/>
        </p:nvSpPr>
        <p:spPr>
          <a:xfrm>
            <a:off x="228600" y="5760720"/>
            <a:ext cx="5760720" cy="1005840"/>
          </a:xfrm>
          <a:prstGeom prst="rect">
            <a:avLst/>
          </a:prstGeom>
          <a:noFill/>
          <a:ln>
            <a:noFill/>
          </a:ln>
        </p:spPr>
        <p:txBody>
          <a:bodyPr wrap="square" lIns="45720" tIns="45720" rIns="45720" bIns="45720" anchor="b">
            <a:noAutofit/>
          </a:bodyPr>
          <a:lstStyle/>
          <a:p>
            <a:pPr>
              <a:buNone/>
            </a:pPr>
            <a:r>
              <a:rPr lang="en-US" sz="800" b="1" dirty="0">
                <a:solidFill>
                  <a:srgbClr val="595959"/>
                </a:solidFill>
                <a:latin typeface="FS PF BeauSans Pro"/>
                <a:ea typeface="FS PF BeauSans Pro"/>
                <a:cs typeface="FS PF BeauSans Pro"/>
              </a:rPr>
              <a:t>OmniVoice: </a:t>
            </a:r>
            <a:r>
              <a:rPr lang="en-US" sz="800" dirty="0">
                <a:solidFill>
                  <a:srgbClr val="595959"/>
                </a:solidFill>
                <a:latin typeface="FS PF BeauSans Pro"/>
                <a:ea typeface="FS PF BeauSans Pro"/>
                <a:cs typeface="FS PF BeauSans Pro"/>
              </a:rPr>
              <a:t>Zhu et al., arXiv:2604.00688, 2026</a:t>
            </a:r>
          </a:p>
          <a:p>
            <a:pPr>
              <a:buNone/>
            </a:pPr>
            <a:r>
              <a:rPr lang="en-US" sz="800" b="1" dirty="0">
                <a:solidFill>
                  <a:srgbClr val="595959"/>
                </a:solidFill>
                <a:latin typeface="FS PF BeauSans Pro"/>
                <a:ea typeface="FS PF BeauSans Pro"/>
                <a:cs typeface="FS PF BeauSans Pro"/>
              </a:rPr>
              <a:t>viXTTS: </a:t>
            </a:r>
            <a:r>
              <a:rPr lang="en-US" sz="800" dirty="0">
                <a:solidFill>
                  <a:srgbClr val="595959"/>
                </a:solidFill>
                <a:latin typeface="FS PF BeauSans Pro"/>
                <a:ea typeface="FS PF BeauSans Pro"/>
                <a:cs typeface="FS PF BeauSans Pro"/>
              </a:rPr>
              <a:t>capleaf, huggingface.co/capleaf/viXTTS, 2024 (fine-tuned XTTS: Casanova et al., Interspeech 2024)</a:t>
            </a:r>
          </a:p>
          <a:p>
            <a:pPr>
              <a:buNone/>
            </a:pPr>
            <a:r>
              <a:rPr lang="en-US" sz="800" b="1" dirty="0">
                <a:solidFill>
                  <a:srgbClr val="595959"/>
                </a:solidFill>
                <a:latin typeface="FS PF BeauSans Pro"/>
                <a:ea typeface="FS PF BeauSans Pro"/>
                <a:cs typeface="FS PF BeauSans Pro"/>
              </a:rPr>
              <a:t>F5-TTS: </a:t>
            </a:r>
            <a:r>
              <a:rPr lang="en-US" sz="800" dirty="0">
                <a:solidFill>
                  <a:srgbClr val="595959"/>
                </a:solidFill>
                <a:latin typeface="FS PF BeauSans Pro"/>
                <a:ea typeface="FS PF BeauSans Pro"/>
                <a:cs typeface="FS PF BeauSans Pro"/>
              </a:rPr>
              <a:t>Chen et al., arXiv:2410.06885, 2024</a:t>
            </a:r>
          </a:p>
          <a:p>
            <a:pPr>
              <a:buNone/>
            </a:pPr>
            <a:r>
              <a:rPr lang="en-US" sz="800" b="1" dirty="0">
                <a:solidFill>
                  <a:srgbClr val="595959"/>
                </a:solidFill>
                <a:latin typeface="FS PF BeauSans Pro"/>
                <a:ea typeface="FS PF BeauSans Pro"/>
                <a:cs typeface="FS PF BeauSans Pro"/>
              </a:rPr>
              <a:t>VietVoice-TTS: </a:t>
            </a:r>
            <a:r>
              <a:rPr lang="en-US" sz="800" dirty="0">
                <a:solidFill>
                  <a:srgbClr val="595959"/>
                </a:solidFill>
                <a:latin typeface="FS PF BeauSans Pro"/>
                <a:ea typeface="FS PF BeauSans Pro"/>
                <a:cs typeface="FS PF BeauSans Pro"/>
              </a:rPr>
              <a:t>[source to add]</a:t>
            </a:r>
          </a:p>
        </p:txBody>
      </p:sp>
      <p:sp>
        <p:nvSpPr>
          <p:cNvPr id="155" name="Footnote citations 2"/>
          <p:cNvSpPr txBox="1"/>
          <p:nvPr/>
        </p:nvSpPr>
        <p:spPr>
          <a:xfrm>
            <a:off x="5852160" y="5760720"/>
            <a:ext cx="3566160" cy="1005840"/>
          </a:xfrm>
          <a:prstGeom prst="rect">
            <a:avLst/>
          </a:prstGeom>
          <a:noFill/>
          <a:ln>
            <a:noFill/>
          </a:ln>
        </p:spPr>
        <p:txBody>
          <a:bodyPr wrap="square" lIns="45720" tIns="45720" rIns="45720" bIns="45720" anchor="b">
            <a:noAutofit/>
          </a:bodyPr>
          <a:lstStyle/>
          <a:p>
            <a:pPr>
              <a:buNone/>
            </a:pPr>
            <a:r>
              <a:rPr lang="en-US" sz="800" b="1" dirty="0">
                <a:solidFill>
                  <a:srgbClr val="595959"/>
                </a:solidFill>
                <a:latin typeface="FS PF BeauSans Pro"/>
                <a:ea typeface="FS PF BeauSans Pro"/>
                <a:cs typeface="FS PF BeauSans Pro"/>
              </a:rPr>
              <a:t>VieNeu-TTS: </a:t>
            </a:r>
            <a:r>
              <a:rPr lang="en-US" sz="800" dirty="0">
                <a:solidFill>
                  <a:srgbClr val="595959"/>
                </a:solidFill>
                <a:latin typeface="FS PF BeauSans Pro"/>
                <a:ea typeface="FS PF BeauSans Pro"/>
                <a:cs typeface="FS PF BeauSans Pro"/>
              </a:rPr>
              <a:t>Pham, github.com/pnnbao97/VieNeu-TTS</a:t>
            </a:r>
          </a:p>
          <a:p>
            <a:pPr>
              <a:buNone/>
            </a:pPr>
            <a:r>
              <a:rPr lang="en-US" sz="800" b="1" dirty="0">
                <a:solidFill>
                  <a:srgbClr val="595959"/>
                </a:solidFill>
                <a:latin typeface="FS PF BeauSans Pro"/>
                <a:ea typeface="FS PF BeauSans Pro"/>
                <a:cs typeface="FS PF BeauSans Pro"/>
              </a:rPr>
              <a:t>Fish Audio: </a:t>
            </a:r>
            <a:r>
              <a:rPr lang="en-US" sz="800" dirty="0">
                <a:solidFill>
                  <a:srgbClr val="595959"/>
                </a:solidFill>
                <a:latin typeface="FS PF BeauSans Pro"/>
                <a:ea typeface="FS PF BeauSans Pro"/>
                <a:cs typeface="FS PF BeauSans Pro"/>
              </a:rPr>
              <a:t>Fish Audio, OpenAudio S1, huggingface.co/fishaudio/openaudio-s1-mini, 2025</a:t>
            </a:r>
          </a:p>
          <a:p>
            <a:pPr>
              <a:buNone/>
            </a:pPr>
            <a:r>
              <a:rPr lang="en-US" sz="800" b="1" dirty="0">
                <a:solidFill>
                  <a:srgbClr val="595959"/>
                </a:solidFill>
                <a:latin typeface="FS PF BeauSans Pro"/>
                <a:ea typeface="FS PF BeauSans Pro"/>
                <a:cs typeface="FS PF BeauSans Pro"/>
              </a:rPr>
              <a:t>Zipformer: </a:t>
            </a:r>
            <a:r>
              <a:rPr lang="en-US" sz="800" dirty="0">
                <a:solidFill>
                  <a:srgbClr val="595959"/>
                </a:solidFill>
                <a:latin typeface="FS PF BeauSans Pro"/>
                <a:ea typeface="FS PF BeauSans Pro"/>
                <a:cs typeface="FS PF BeauSans Pro"/>
              </a:rPr>
              <a:t>Yao et al., ICLR 2024</a:t>
            </a:r>
          </a:p>
          <a:p>
            <a:pPr>
              <a:buNone/>
            </a:pPr>
            <a:r>
              <a:rPr lang="en-US" sz="800" b="1" dirty="0">
                <a:solidFill>
                  <a:srgbClr val="595959"/>
                </a:solidFill>
                <a:latin typeface="FS PF BeauSans Pro"/>
                <a:ea typeface="FS PF BeauSans Pro"/>
                <a:cs typeface="FS PF BeauSans Pro"/>
              </a:rPr>
              <a:t>ECAPA-TDNN: </a:t>
            </a:r>
            <a:r>
              <a:rPr lang="en-US" sz="800" dirty="0">
                <a:solidFill>
                  <a:srgbClr val="595959"/>
                </a:solidFill>
                <a:latin typeface="FS PF BeauSans Pro"/>
                <a:ea typeface="FS PF BeauSans Pro"/>
                <a:cs typeface="FS PF BeauSans Pro"/>
              </a:rPr>
              <a:t>Desplanques et al., Interspeech 2020</a:t>
            </a:r>
          </a:p>
        </p:txBody>
      </p:sp>
      <p:sp>
        <p:nvSpPr>
          <p:cNvPr id="156" name="Table note"/>
          <p:cNvSpPr txBox="1"/>
          <p:nvPr/>
        </p:nvSpPr>
        <p:spPr>
          <a:xfrm>
            <a:off x="2441448" y="5504688"/>
            <a:ext cx="7315200" cy="274320"/>
          </a:xfrm>
          <a:prstGeom prst="rect">
            <a:avLst/>
          </a:prstGeom>
          <a:noFill/>
          <a:ln>
            <a:noFill/>
          </a:ln>
        </p:spPr>
        <p:txBody>
          <a:bodyPr wrap="square" lIns="45720" tIns="45720" rIns="45720" bIns="45720" anchor="t">
            <a:noAutofit/>
          </a:bodyPr>
          <a:lstStyle/>
          <a:p>
            <a:pPr algn="ctr">
              <a:lnSpc>
                <a:spcPct val="100000"/>
              </a:lnSpc>
              <a:buNone/>
            </a:pPr>
            <a:r>
              <a:rPr lang="en-US" sz="1100" dirty="0">
                <a:solidFill>
                  <a:srgbClr val="595959"/>
                </a:solidFill>
                <a:latin typeface="FS PF BeauSans Pro"/>
                <a:ea typeface="FS PF BeauSans Pro"/>
                <a:cs typeface="FS PF BeauSans Pro"/>
              </a:rPr>
              <a:t>Fish Audio is only reachable through an API, so its RTF is not measured</a:t>
            </a:r>
          </a:p>
        </p:txBody>
      </p:sp>
    </p:spTree>
    <p:extLst>
      <p:ext uri="{BB962C8B-B14F-4D97-AF65-F5344CB8AC3E}">
        <p14:creationId xmlns:p14="http://schemas.microsoft.com/office/powerpoint/2010/main" val="612411738"/>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Shape 145">
          <a:extLst>
            <a:ext uri="{FF2B5EF4-FFF2-40B4-BE49-F238E27FC236}">
              <a16:creationId xmlns:a16="http://schemas.microsoft.com/office/drawing/2014/main" id="{C51F5F76-588A-B9B3-C6DD-54B09A5772DC}"/>
            </a:ext>
          </a:extLst>
        </p:cNvPr>
        <p:cNvGrpSpPr/>
        <p:nvPr/>
      </p:nvGrpSpPr>
      <p:grpSpPr>
        <a:xfrm>
          <a:off x="0" y="0"/>
          <a:ext cx="0" cy="0"/>
          <a:chOff x="0" y="0"/>
          <a:chExt cx="0" cy="0"/>
        </a:xfrm>
      </p:grpSpPr>
      <p:sp>
        <p:nvSpPr>
          <p:cNvPr id="146" name="Google Shape;146;p10">
            <a:extLst>
              <a:ext uri="{FF2B5EF4-FFF2-40B4-BE49-F238E27FC236}">
                <a16:creationId xmlns:a16="http://schemas.microsoft.com/office/drawing/2014/main" id="{632D0268-15FB-556B-4631-CB6696ACE0B0}"/>
              </a:ext>
            </a:extLst>
          </p:cNvPr>
          <p:cNvSpPr txBox="1">
            <a:spLocks noGrp="1"/>
          </p:cNvSpPr>
          <p:nvPr>
            <p:ph type="ctrTitle"/>
          </p:nvPr>
        </p:nvSpPr>
        <p:spPr>
          <a:xfrm>
            <a:off x="822960" y="466344"/>
            <a:ext cx="10543032" cy="731520"/>
          </a:xfrm>
          <a:prstGeom prst="rect">
            <a:avLst/>
          </a:prstGeom>
          <a:noFill/>
          <a:ln>
            <a:noFill/>
          </a:ln>
        </p:spPr>
        <p:txBody>
          <a:bodyPr spcFirstLastPara="1" wrap="square" lIns="91425" tIns="91425" rIns="91425" bIns="91425" anchor="t" anchorCtr="0">
            <a:noAutofit/>
          </a:bodyPr>
          <a:lstStyle/>
          <a:p>
            <a:pPr marL="0" lvl="0" indent="0" algn="ctr" rtl="0">
              <a:buNone/>
            </a:pPr>
            <a:r>
              <a:rPr lang="en-US" dirty="0"/>
              <a:t>Result</a:t>
            </a:r>
          </a:p>
        </p:txBody>
      </p:sp>
      <p:sp>
        <p:nvSpPr>
          <p:cNvPr id="148" name="Google Shape;148;p10">
            <a:extLst>
              <a:ext uri="{FF2B5EF4-FFF2-40B4-BE49-F238E27FC236}">
                <a16:creationId xmlns:a16="http://schemas.microsoft.com/office/drawing/2014/main" id="{F7FE67D2-93AA-CCD4-6420-2E3033D02C11}"/>
              </a:ext>
            </a:extLst>
          </p:cNvPr>
          <p:cNvSpPr txBox="1">
            <a:spLocks noGrp="1"/>
          </p:cNvSpPr>
          <p:nvPr>
            <p:ph type="body" idx="1"/>
          </p:nvPr>
        </p:nvSpPr>
        <p:spPr>
          <a:xfrm>
            <a:off x="850392" y="1325880"/>
            <a:ext cx="10570464" cy="457200"/>
          </a:xfrm>
          <a:prstGeom prst="rect">
            <a:avLst/>
          </a:prstGeom>
          <a:noFill/>
          <a:ln>
            <a:noFill/>
          </a:ln>
        </p:spPr>
        <p:txBody>
          <a:bodyPr spcFirstLastPara="1" wrap="square" lIns="91425" tIns="91425" rIns="91425" bIns="91425" anchor="t" anchorCtr="0">
            <a:noAutofit/>
          </a:bodyPr>
          <a:lstStyle/>
          <a:p>
            <a:pPr marL="152400" indent="0" algn="l">
              <a:lnSpc>
                <a:spcPct val="110000"/>
              </a:lnSpc>
              <a:buNone/>
            </a:pPr>
            <a:r>
              <a:rPr lang="en-US" sz="1800" dirty="0">
                <a:latin typeface="FS PF BeauSans Pro"/>
                <a:ea typeface="FS PF BeauSans Pro"/>
                <a:cs typeface="FS PF BeauSans Pro"/>
              </a:rPr>
              <a:t>NVV synthesis: </a:t>
            </a:r>
            <a:r>
              <a:rPr lang="en-US" sz="1800" b="1" dirty="0">
                <a:latin typeface="FS PF BeauSans Pro"/>
                <a:ea typeface="FS PF BeauSans Pro"/>
                <a:cs typeface="FS PF BeauSans Pro"/>
              </a:rPr>
              <a:t>2,940 tagged items</a:t>
            </a:r>
            <a:r>
              <a:rPr lang="en-US" sz="1800" dirty="0">
                <a:latin typeface="FS PF BeauSans Pro"/>
                <a:ea typeface="FS PF BeauSans Pro"/>
                <a:cs typeface="FS PF BeauSans Pro"/>
              </a:rPr>
              <a:t> (420 sentences, 14 classes, 7 unseen voices)</a:t>
            </a:r>
          </a:p>
        </p:txBody>
      </p:sp>
      <p:sp>
        <p:nvSpPr>
          <p:cNvPr id="2" name="Slide Number Placeholder 1">
            <a:extLst>
              <a:ext uri="{FF2B5EF4-FFF2-40B4-BE49-F238E27FC236}">
                <a16:creationId xmlns:a16="http://schemas.microsoft.com/office/drawing/2014/main" id="{23C2AC4F-9CBA-47FA-32EC-B0C72302E3E0}"/>
              </a:ext>
            </a:extLst>
          </p:cNvPr>
          <p:cNvSpPr>
            <a:spLocks noGrp="1"/>
          </p:cNvSpPr>
          <p:nvPr>
            <p:ph type="sldNum" idx="12"/>
          </p:nvPr>
        </p:nvSpPr>
        <p:spPr/>
        <p:txBody>
          <a:bodyPr/>
          <a:lstStyle/>
          <a:p>
            <a:pPr marL="0" lvl="0" indent="0" algn="ctr" rtl="0">
              <a:spcBef>
                <a:spcPts val="0"/>
              </a:spcBef>
              <a:spcAft>
                <a:spcPts val="0"/>
              </a:spcAft>
              <a:buNone/>
            </a:pPr>
            <a:fld id="{00000000-1234-1234-1234-123412341234}" type="slidenum">
              <a:rPr lang="en-US" smtClean="0"/>
              <a:t>22</a:t>
            </a:fld>
            <a:endParaRPr lang="en-US" dirty="0"/>
          </a:p>
        </p:txBody>
      </p:sp>
      <p:sp>
        <p:nvSpPr>
          <p:cNvPr id="3" name="TextBox 2">
            <a:extLst>
              <a:ext uri="{FF2B5EF4-FFF2-40B4-BE49-F238E27FC236}">
                <a16:creationId xmlns:a16="http://schemas.microsoft.com/office/drawing/2014/main" id="{E675FA8E-996E-DFC4-D9E4-11CE06492166}"/>
              </a:ext>
            </a:extLst>
          </p:cNvPr>
          <p:cNvSpPr txBox="1"/>
          <p:nvPr/>
        </p:nvSpPr>
        <p:spPr>
          <a:xfrm>
            <a:off x="2895447" y="4773168"/>
            <a:ext cx="6400800" cy="310896"/>
          </a:xfrm>
          <a:prstGeom prst="rect">
            <a:avLst/>
          </a:prstGeom>
          <a:noFill/>
        </p:spPr>
        <p:txBody>
          <a:bodyPr wrap="none" rtlCol="0">
            <a:spAutoFit/>
          </a:bodyPr>
          <a:lstStyle/>
          <a:p>
            <a:pPr algn="ctr"/>
            <a:r>
              <a:rPr lang="en-US" sz="1100" dirty="0">
                <a:solidFill>
                  <a:srgbClr val="262626"/>
                </a:solidFill>
                <a:latin typeface="FS PF BeauSans Pro"/>
                <a:ea typeface="FS PF BeauSans Pro"/>
                <a:cs typeface="FS PF BeauSans Pro"/>
              </a:rPr>
              <a:t>Table 4: Vietnamese NVV synthesis (WER in %)</a:t>
            </a:r>
          </a:p>
        </p:txBody>
      </p:sp>
      <p:graphicFrame>
        <p:nvGraphicFramePr>
          <p:cNvPr id="153" name="Table NVV synthesis"/>
          <p:cNvGraphicFramePr>
            <a:graphicFrameLocks noGrp="1"/>
          </p:cNvGraphicFramePr>
          <p:nvPr/>
        </p:nvGraphicFramePr>
        <p:xfrm>
          <a:off x="911199" y="2103120"/>
          <a:ext cx="10369296" cy="2560320"/>
        </p:xfrm>
        <a:graphic>
          <a:graphicData uri="http://schemas.openxmlformats.org/drawingml/2006/table">
            <a:tbl>
              <a:tblPr firstRow="1"/>
              <a:tblGrid>
                <a:gridCol w="3511296">
                  <a:extLst>
                    <a:ext uri="{9D8B030D-6E8A-4147-A177-3AD203B41FA5}">
                      <a16:colId xmlns:a16="http://schemas.microsoft.com/office/drawing/2014/main" val="20000"/>
                    </a:ext>
                  </a:extLst>
                </a:gridCol>
                <a:gridCol w="1371600">
                  <a:extLst>
                    <a:ext uri="{9D8B030D-6E8A-4147-A177-3AD203B41FA5}">
                      <a16:colId xmlns:a16="http://schemas.microsoft.com/office/drawing/2014/main" val="20001"/>
                    </a:ext>
                  </a:extLst>
                </a:gridCol>
                <a:gridCol w="1371600">
                  <a:extLst>
                    <a:ext uri="{9D8B030D-6E8A-4147-A177-3AD203B41FA5}">
                      <a16:colId xmlns:a16="http://schemas.microsoft.com/office/drawing/2014/main" val="20002"/>
                    </a:ext>
                  </a:extLst>
                </a:gridCol>
                <a:gridCol w="1371600">
                  <a:extLst>
                    <a:ext uri="{9D8B030D-6E8A-4147-A177-3AD203B41FA5}">
                      <a16:colId xmlns:a16="http://schemas.microsoft.com/office/drawing/2014/main" val="20003"/>
                    </a:ext>
                  </a:extLst>
                </a:gridCol>
                <a:gridCol w="1371600">
                  <a:extLst>
                    <a:ext uri="{9D8B030D-6E8A-4147-A177-3AD203B41FA5}">
                      <a16:colId xmlns:a16="http://schemas.microsoft.com/office/drawing/2014/main" val="20004"/>
                    </a:ext>
                  </a:extLst>
                </a:gridCol>
                <a:gridCol w="1371600">
                  <a:extLst>
                    <a:ext uri="{9D8B030D-6E8A-4147-A177-3AD203B41FA5}">
                      <a16:colId xmlns:a16="http://schemas.microsoft.com/office/drawing/2014/main" val="20005"/>
                    </a:ext>
                  </a:extLst>
                </a:gridCol>
              </a:tblGrid>
              <a:tr h="640080">
                <a:tc>
                  <a:txBody>
                    <a:bodyPr/>
                    <a:lstStyle/>
                    <a:p>
                      <a:pPr algn="l"/>
                      <a:r>
                        <a:rPr lang="en-US" sz="1500" b="1" dirty="0">
                          <a:solidFill>
                            <a:srgbClr val="262626"/>
                          </a:solidFill>
                          <a:latin typeface="FS PF BeauSans Pro"/>
                          <a:ea typeface="FS PF BeauSans Pro"/>
                          <a:cs typeface="FS PF BeauSans Pro"/>
                        </a:rPr>
                        <a:t>System</a:t>
                      </a:r>
                    </a:p>
                  </a:txBody>
                  <a:tcPr marL="68580" marR="68580" marT="22860" marB="22860" anchor="ctr">
                    <a:lnL w="0">
                      <a:noFill/>
                    </a:lnL>
                    <a:lnR w="0">
                      <a:noFill/>
                    </a:lnR>
                    <a:lnT w="19050">
                      <a:solidFill>
                        <a:srgbClr val="262626"/>
                      </a:solidFill>
                    </a:lnT>
                    <a:lnB w="9525">
                      <a:solidFill>
                        <a:srgbClr val="262626"/>
                      </a:solidFill>
                    </a:lnB>
                    <a:noFill/>
                  </a:tcPr>
                </a:tc>
                <a:tc>
                  <a:txBody>
                    <a:bodyPr/>
                    <a:lstStyle/>
                    <a:p>
                      <a:pPr algn="ctr"/>
                      <a:r>
                        <a:rPr lang="en-US" sz="1500" b="1" dirty="0">
                          <a:solidFill>
                            <a:srgbClr val="262626"/>
                          </a:solidFill>
                          <a:latin typeface="FS PF BeauSans Pro"/>
                          <a:ea typeface="FS PF BeauSans Pro"/>
                          <a:cs typeface="FS PF BeauSans Pro"/>
                        </a:rPr>
                        <a:t>NVMR ↓</a:t>
                      </a:r>
                    </a:p>
                  </a:txBody>
                  <a:tcPr marL="68580" marR="68580" marT="22860" marB="22860" anchor="ctr">
                    <a:lnL w="0">
                      <a:noFill/>
                    </a:lnL>
                    <a:lnR w="0">
                      <a:noFill/>
                    </a:lnR>
                    <a:lnT w="19050">
                      <a:solidFill>
                        <a:srgbClr val="262626"/>
                      </a:solidFill>
                    </a:lnT>
                    <a:lnB w="9525">
                      <a:solidFill>
                        <a:srgbClr val="262626"/>
                      </a:solidFill>
                    </a:lnB>
                    <a:noFill/>
                  </a:tcPr>
                </a:tc>
                <a:tc>
                  <a:txBody>
                    <a:bodyPr/>
                    <a:lstStyle/>
                    <a:p>
                      <a:pPr algn="ctr"/>
                      <a:r>
                        <a:rPr lang="en-US" sz="1500" b="1" dirty="0">
                          <a:solidFill>
                            <a:srgbClr val="262626"/>
                          </a:solidFill>
                          <a:latin typeface="FS PF BeauSans Pro"/>
                          <a:ea typeface="FS PF BeauSans Pro"/>
                          <a:cs typeface="FS PF BeauSans Pro"/>
                        </a:rPr>
                        <a:t>NVPA ↑</a:t>
                      </a:r>
                    </a:p>
                  </a:txBody>
                  <a:tcPr marL="68580" marR="68580" marT="22860" marB="22860" anchor="ctr">
                    <a:lnL w="0">
                      <a:noFill/>
                    </a:lnL>
                    <a:lnR w="0">
                      <a:noFill/>
                    </a:lnR>
                    <a:lnT w="19050">
                      <a:solidFill>
                        <a:srgbClr val="262626"/>
                      </a:solidFill>
                    </a:lnT>
                    <a:lnB w="9525">
                      <a:solidFill>
                        <a:srgbClr val="262626"/>
                      </a:solidFill>
                    </a:lnB>
                    <a:noFill/>
                  </a:tcPr>
                </a:tc>
                <a:tc>
                  <a:txBody>
                    <a:bodyPr/>
                    <a:lstStyle/>
                    <a:p>
                      <a:pPr algn="ctr"/>
                      <a:r>
                        <a:rPr lang="en-US" sz="1500" b="1" dirty="0">
                          <a:solidFill>
                            <a:srgbClr val="262626"/>
                          </a:solidFill>
                          <a:latin typeface="FS PF BeauSans Pro"/>
                          <a:ea typeface="FS PF BeauSans Pro"/>
                          <a:cs typeface="FS PF BeauSans Pro"/>
                        </a:rPr>
                        <a:t>WER ↓</a:t>
                      </a:r>
                    </a:p>
                  </a:txBody>
                  <a:tcPr marL="68580" marR="68580" marT="22860" marB="22860" anchor="ctr">
                    <a:lnL w="0">
                      <a:noFill/>
                    </a:lnL>
                    <a:lnR w="0">
                      <a:noFill/>
                    </a:lnR>
                    <a:lnT w="19050">
                      <a:solidFill>
                        <a:srgbClr val="262626"/>
                      </a:solidFill>
                    </a:lnT>
                    <a:lnB w="9525">
                      <a:solidFill>
                        <a:srgbClr val="262626"/>
                      </a:solidFill>
                    </a:lnB>
                    <a:noFill/>
                  </a:tcPr>
                </a:tc>
                <a:tc>
                  <a:txBody>
                    <a:bodyPr/>
                    <a:lstStyle/>
                    <a:p>
                      <a:pPr algn="ctr"/>
                      <a:r>
                        <a:rPr lang="en-US" sz="1500" b="1" dirty="0">
                          <a:solidFill>
                            <a:srgbClr val="262626"/>
                          </a:solidFill>
                          <a:latin typeface="FS PF BeauSans Pro"/>
                          <a:ea typeface="FS PF BeauSans Pro"/>
                          <a:cs typeface="FS PF BeauSans Pro"/>
                        </a:rPr>
                        <a:t>SIM-o ↑</a:t>
                      </a:r>
                    </a:p>
                  </a:txBody>
                  <a:tcPr marL="68580" marR="68580" marT="22860" marB="22860" anchor="ctr">
                    <a:lnL w="0">
                      <a:noFill/>
                    </a:lnL>
                    <a:lnR w="0">
                      <a:noFill/>
                    </a:lnR>
                    <a:lnT w="19050">
                      <a:solidFill>
                        <a:srgbClr val="262626"/>
                      </a:solidFill>
                    </a:lnT>
                    <a:lnB w="9525">
                      <a:solidFill>
                        <a:srgbClr val="262626"/>
                      </a:solidFill>
                    </a:lnB>
                    <a:noFill/>
                  </a:tcPr>
                </a:tc>
                <a:tc>
                  <a:txBody>
                    <a:bodyPr/>
                    <a:lstStyle/>
                    <a:p>
                      <a:pPr algn="ctr"/>
                      <a:r>
                        <a:rPr lang="en-US" sz="1500" b="1" dirty="0">
                          <a:solidFill>
                            <a:srgbClr val="262626"/>
                          </a:solidFill>
                          <a:latin typeface="FS PF BeauSans Pro"/>
                          <a:ea typeface="FS PF BeauSans Pro"/>
                          <a:cs typeface="FS PF BeauSans Pro"/>
                        </a:rPr>
                        <a:t>RTF ↓</a:t>
                      </a:r>
                    </a:p>
                  </a:txBody>
                  <a:tcPr marL="68580" marR="68580" marT="22860" marB="22860" anchor="ctr">
                    <a:lnL w="0">
                      <a:noFill/>
                    </a:lnL>
                    <a:lnR w="0">
                      <a:noFill/>
                    </a:lnR>
                    <a:lnT w="19050">
                      <a:solidFill>
                        <a:srgbClr val="262626"/>
                      </a:solidFill>
                    </a:lnT>
                    <a:lnB w="9525">
                      <a:solidFill>
                        <a:srgbClr val="262626"/>
                      </a:solidFill>
                    </a:lnB>
                    <a:noFill/>
                  </a:tcPr>
                </a:tc>
                <a:extLst>
                  <a:ext uri="{0D108BD9-81ED-4DB2-BD59-A6C34878D82A}">
                    <a16:rowId xmlns:a16="http://schemas.microsoft.com/office/drawing/2014/main" val="10000"/>
                  </a:ext>
                </a:extLst>
              </a:tr>
              <a:tr h="640080">
                <a:tc>
                  <a:txBody>
                    <a:bodyPr/>
                    <a:lstStyle/>
                    <a:p>
                      <a:pPr algn="l"/>
                      <a:r>
                        <a:rPr lang="en-US" sz="1500" dirty="0">
                          <a:solidFill>
                            <a:srgbClr val="262626"/>
                          </a:solidFill>
                          <a:latin typeface="FS PF BeauSans Pro"/>
                          <a:ea typeface="FS PF BeauSans Pro"/>
                          <a:cs typeface="FS PF BeauSans Pro"/>
                        </a:rPr>
                        <a:t>Fish Audio</a:t>
                      </a:r>
                    </a:p>
                  </a:txBody>
                  <a:tcPr marL="68580" marR="68580" marT="22860" marB="22860" anchor="ctr">
                    <a:lnL w="0">
                      <a:noFill/>
                    </a:lnL>
                    <a:lnR w="0">
                      <a:noFill/>
                    </a:lnR>
                    <a:lnT w="9525" cap="flat" cmpd="sng" algn="ctr">
                      <a:solidFill>
                        <a:srgbClr val="262626"/>
                      </a:solidFill>
                      <a:prstDash val="solid"/>
                      <a:round/>
                      <a:headEnd type="none" w="med" len="med"/>
                      <a:tailEnd type="none" w="med" len="med"/>
                    </a:lnT>
                    <a:lnB w="0">
                      <a:noFill/>
                    </a:lnB>
                    <a:noFill/>
                  </a:tcPr>
                </a:tc>
                <a:tc>
                  <a:txBody>
                    <a:bodyPr/>
                    <a:lstStyle/>
                    <a:p>
                      <a:pPr algn="ctr"/>
                      <a:r>
                        <a:rPr lang="en-US" sz="1500" dirty="0">
                          <a:solidFill>
                            <a:srgbClr val="262626"/>
                          </a:solidFill>
                          <a:latin typeface="FS PF BeauSans Pro"/>
                          <a:ea typeface="FS PF BeauSans Pro"/>
                          <a:cs typeface="FS PF BeauSans Pro"/>
                        </a:rPr>
                        <a:t>0.6543</a:t>
                      </a:r>
                    </a:p>
                  </a:txBody>
                  <a:tcPr marL="68580" marR="68580" marT="22860" marB="22860" anchor="ctr">
                    <a:lnL w="0">
                      <a:noFill/>
                    </a:lnL>
                    <a:lnR w="0">
                      <a:noFill/>
                    </a:lnR>
                    <a:lnT w="9525" cap="flat" cmpd="sng" algn="ctr">
                      <a:solidFill>
                        <a:srgbClr val="262626"/>
                      </a:solidFill>
                      <a:prstDash val="solid"/>
                      <a:round/>
                      <a:headEnd type="none" w="med" len="med"/>
                      <a:tailEnd type="none" w="med" len="med"/>
                    </a:lnT>
                    <a:lnB w="0">
                      <a:noFill/>
                    </a:lnB>
                    <a:noFill/>
                  </a:tcPr>
                </a:tc>
                <a:tc>
                  <a:txBody>
                    <a:bodyPr/>
                    <a:lstStyle/>
                    <a:p>
                      <a:pPr algn="ctr"/>
                      <a:r>
                        <a:rPr lang="en-US" sz="1500" dirty="0">
                          <a:solidFill>
                            <a:srgbClr val="262626"/>
                          </a:solidFill>
                          <a:latin typeface="FS PF BeauSans Pro"/>
                          <a:ea typeface="FS PF BeauSans Pro"/>
                          <a:cs typeface="FS PF BeauSans Pro"/>
                        </a:rPr>
                        <a:t>0.2280</a:t>
                      </a:r>
                    </a:p>
                  </a:txBody>
                  <a:tcPr marL="68580" marR="68580" marT="22860" marB="22860" anchor="ctr">
                    <a:lnL w="0">
                      <a:noFill/>
                    </a:lnL>
                    <a:lnR w="0">
                      <a:noFill/>
                    </a:lnR>
                    <a:lnT w="9525" cap="flat" cmpd="sng" algn="ctr">
                      <a:solidFill>
                        <a:srgbClr val="262626"/>
                      </a:solidFill>
                      <a:prstDash val="solid"/>
                      <a:round/>
                      <a:headEnd type="none" w="med" len="med"/>
                      <a:tailEnd type="none" w="med" len="med"/>
                    </a:lnT>
                    <a:lnB w="0">
                      <a:noFill/>
                    </a:lnB>
                    <a:noFill/>
                  </a:tcPr>
                </a:tc>
                <a:tc>
                  <a:txBody>
                    <a:bodyPr/>
                    <a:lstStyle/>
                    <a:p>
                      <a:pPr algn="ctr"/>
                      <a:r>
                        <a:rPr lang="en-US" sz="1500" dirty="0">
                          <a:solidFill>
                            <a:srgbClr val="262626"/>
                          </a:solidFill>
                          <a:latin typeface="FS PF BeauSans Pro"/>
                          <a:ea typeface="FS PF BeauSans Pro"/>
                          <a:cs typeface="FS PF BeauSans Pro"/>
                        </a:rPr>
                        <a:t>60.48</a:t>
                      </a:r>
                    </a:p>
                  </a:txBody>
                  <a:tcPr marL="68580" marR="68580" marT="22860" marB="22860" anchor="ctr">
                    <a:lnL w="0">
                      <a:noFill/>
                    </a:lnL>
                    <a:lnR w="0">
                      <a:noFill/>
                    </a:lnR>
                    <a:lnT w="9525" cap="flat" cmpd="sng" algn="ctr">
                      <a:solidFill>
                        <a:srgbClr val="262626"/>
                      </a:solidFill>
                      <a:prstDash val="solid"/>
                      <a:round/>
                      <a:headEnd type="none" w="med" len="med"/>
                      <a:tailEnd type="none" w="med" len="med"/>
                    </a:lnT>
                    <a:lnB w="0">
                      <a:noFill/>
                    </a:lnB>
                    <a:noFill/>
                  </a:tcPr>
                </a:tc>
                <a:tc>
                  <a:txBody>
                    <a:bodyPr/>
                    <a:lstStyle/>
                    <a:p>
                      <a:pPr algn="ctr"/>
                      <a:r>
                        <a:rPr lang="en-US" sz="1500" dirty="0">
                          <a:solidFill>
                            <a:srgbClr val="262626"/>
                          </a:solidFill>
                          <a:latin typeface="FS PF BeauSans Pro"/>
                          <a:ea typeface="FS PF BeauSans Pro"/>
                          <a:cs typeface="FS PF BeauSans Pro"/>
                        </a:rPr>
                        <a:t>0.32</a:t>
                      </a:r>
                    </a:p>
                  </a:txBody>
                  <a:tcPr marL="68580" marR="68580" marT="22860" marB="22860" anchor="ctr">
                    <a:lnL w="0">
                      <a:noFill/>
                    </a:lnL>
                    <a:lnR w="0">
                      <a:noFill/>
                    </a:lnR>
                    <a:lnT w="9525" cap="flat" cmpd="sng" algn="ctr">
                      <a:solidFill>
                        <a:srgbClr val="262626"/>
                      </a:solidFill>
                      <a:prstDash val="solid"/>
                      <a:round/>
                      <a:headEnd type="none" w="med" len="med"/>
                      <a:tailEnd type="none" w="med" len="med"/>
                    </a:lnT>
                    <a:lnB w="0">
                      <a:noFill/>
                    </a:lnB>
                    <a:noFill/>
                  </a:tcPr>
                </a:tc>
                <a:tc>
                  <a:txBody>
                    <a:bodyPr/>
                    <a:lstStyle/>
                    <a:p>
                      <a:pPr algn="ctr"/>
                      <a:r>
                        <a:rPr lang="en-US" sz="1500" dirty="0">
                          <a:solidFill>
                            <a:srgbClr val="262626"/>
                          </a:solidFill>
                          <a:latin typeface="FS PF BeauSans Pro"/>
                          <a:ea typeface="FS PF BeauSans Pro"/>
                          <a:cs typeface="FS PF BeauSans Pro"/>
                        </a:rPr>
                        <a:t>–</a:t>
                      </a:r>
                    </a:p>
                  </a:txBody>
                  <a:tcPr marL="68580" marR="68580" marT="22860" marB="22860" anchor="ctr">
                    <a:lnL w="0">
                      <a:noFill/>
                    </a:lnL>
                    <a:lnR w="0">
                      <a:noFill/>
                    </a:lnR>
                    <a:lnT w="9525" cap="flat" cmpd="sng" algn="ctr">
                      <a:solidFill>
                        <a:srgbClr val="262626"/>
                      </a:solidFill>
                      <a:prstDash val="solid"/>
                      <a:round/>
                      <a:headEnd type="none" w="med" len="med"/>
                      <a:tailEnd type="none" w="med" len="med"/>
                    </a:lnT>
                    <a:lnB w="0">
                      <a:noFill/>
                    </a:lnB>
                    <a:noFill/>
                  </a:tcPr>
                </a:tc>
                <a:extLst>
                  <a:ext uri="{0D108BD9-81ED-4DB2-BD59-A6C34878D82A}">
                    <a16:rowId xmlns:a16="http://schemas.microsoft.com/office/drawing/2014/main" val="10001"/>
                  </a:ext>
                </a:extLst>
              </a:tr>
              <a:tr h="640080">
                <a:tc>
                  <a:txBody>
                    <a:bodyPr/>
                    <a:lstStyle/>
                    <a:p>
                      <a:pPr algn="l"/>
                      <a:r>
                        <a:rPr lang="en-US" sz="1500" dirty="0">
                          <a:solidFill>
                            <a:srgbClr val="262626"/>
                          </a:solidFill>
                          <a:latin typeface="FS PF BeauSans Pro"/>
                          <a:ea typeface="FS PF BeauSans Pro"/>
                          <a:cs typeface="FS PF BeauSans Pro"/>
                        </a:rPr>
                        <a:t>OmniVoice (base)</a:t>
                      </a:r>
                    </a:p>
                  </a:txBody>
                  <a:tcPr marL="68580" marR="68580" marT="22860" marB="22860" anchor="ctr">
                    <a:lnL w="0">
                      <a:noFill/>
                    </a:lnL>
                    <a:lnR w="0">
                      <a:noFill/>
                    </a:lnR>
                    <a:lnT w="0">
                      <a:noFill/>
                    </a:lnT>
                    <a:lnB w="0">
                      <a:noFill/>
                    </a:lnB>
                    <a:noFill/>
                  </a:tcPr>
                </a:tc>
                <a:tc>
                  <a:txBody>
                    <a:bodyPr/>
                    <a:lstStyle/>
                    <a:p>
                      <a:pPr algn="ctr"/>
                      <a:r>
                        <a:rPr lang="en-US" sz="1500" dirty="0">
                          <a:solidFill>
                            <a:srgbClr val="262626"/>
                          </a:solidFill>
                          <a:latin typeface="FS PF BeauSans Pro"/>
                          <a:ea typeface="FS PF BeauSans Pro"/>
                          <a:cs typeface="FS PF BeauSans Pro"/>
                        </a:rPr>
                        <a:t>0.6435</a:t>
                      </a:r>
                    </a:p>
                  </a:txBody>
                  <a:tcPr marL="68580" marR="68580" marT="22860" marB="22860" anchor="ctr">
                    <a:lnL w="0">
                      <a:noFill/>
                    </a:lnL>
                    <a:lnR w="0">
                      <a:noFill/>
                    </a:lnR>
                    <a:lnT w="0">
                      <a:noFill/>
                    </a:lnT>
                    <a:lnB w="0">
                      <a:noFill/>
                    </a:lnB>
                    <a:noFill/>
                  </a:tcPr>
                </a:tc>
                <a:tc>
                  <a:txBody>
                    <a:bodyPr/>
                    <a:lstStyle/>
                    <a:p>
                      <a:pPr algn="ctr"/>
                      <a:r>
                        <a:rPr lang="en-US" sz="1500" dirty="0">
                          <a:solidFill>
                            <a:srgbClr val="262626"/>
                          </a:solidFill>
                          <a:latin typeface="FS PF BeauSans Pro"/>
                          <a:ea typeface="FS PF BeauSans Pro"/>
                          <a:cs typeface="FS PF BeauSans Pro"/>
                        </a:rPr>
                        <a:t>0.1153</a:t>
                      </a:r>
                    </a:p>
                  </a:txBody>
                  <a:tcPr marL="68580" marR="68580" marT="22860" marB="22860" anchor="ctr">
                    <a:lnL w="0">
                      <a:noFill/>
                    </a:lnL>
                    <a:lnR w="0">
                      <a:noFill/>
                    </a:lnR>
                    <a:lnT w="0">
                      <a:noFill/>
                    </a:lnT>
                    <a:lnB w="0">
                      <a:noFill/>
                    </a:lnB>
                    <a:noFill/>
                  </a:tcPr>
                </a:tc>
                <a:tc>
                  <a:txBody>
                    <a:bodyPr/>
                    <a:lstStyle/>
                    <a:p>
                      <a:pPr algn="ctr"/>
                      <a:r>
                        <a:rPr lang="en-US" sz="1500" dirty="0">
                          <a:solidFill>
                            <a:srgbClr val="262626"/>
                          </a:solidFill>
                          <a:latin typeface="FS PF BeauSans Pro"/>
                          <a:ea typeface="FS PF BeauSans Pro"/>
                          <a:cs typeface="FS PF BeauSans Pro"/>
                        </a:rPr>
                        <a:t>8.11</a:t>
                      </a:r>
                    </a:p>
                  </a:txBody>
                  <a:tcPr marL="68580" marR="68580" marT="22860" marB="22860" anchor="ctr">
                    <a:lnL w="0">
                      <a:noFill/>
                    </a:lnL>
                    <a:lnR w="0">
                      <a:noFill/>
                    </a:lnR>
                    <a:lnT w="0">
                      <a:noFill/>
                    </a:lnT>
                    <a:lnB w="0">
                      <a:noFill/>
                    </a:lnB>
                    <a:noFill/>
                  </a:tcPr>
                </a:tc>
                <a:tc>
                  <a:txBody>
                    <a:bodyPr/>
                    <a:lstStyle/>
                    <a:p>
                      <a:pPr algn="ctr"/>
                      <a:r>
                        <a:rPr lang="en-US" sz="1500" dirty="0">
                          <a:solidFill>
                            <a:srgbClr val="262626"/>
                          </a:solidFill>
                          <a:latin typeface="FS PF BeauSans Pro"/>
                          <a:ea typeface="FS PF BeauSans Pro"/>
                          <a:cs typeface="FS PF BeauSans Pro"/>
                        </a:rPr>
                        <a:t>0.75</a:t>
                      </a:r>
                    </a:p>
                  </a:txBody>
                  <a:tcPr marL="68580" marR="68580" marT="22860" marB="22860" anchor="ctr">
                    <a:lnL w="0">
                      <a:noFill/>
                    </a:lnL>
                    <a:lnR w="0">
                      <a:noFill/>
                    </a:lnR>
                    <a:lnT w="0">
                      <a:noFill/>
                    </a:lnT>
                    <a:lnB w="0">
                      <a:noFill/>
                    </a:lnB>
                    <a:noFill/>
                  </a:tcPr>
                </a:tc>
                <a:tc>
                  <a:txBody>
                    <a:bodyPr/>
                    <a:lstStyle/>
                    <a:p>
                      <a:pPr algn="ctr"/>
                      <a:r>
                        <a:rPr lang="en-US" sz="1500" dirty="0">
                          <a:solidFill>
                            <a:srgbClr val="262626"/>
                          </a:solidFill>
                          <a:latin typeface="FS PF BeauSans Pro"/>
                          <a:ea typeface="FS PF BeauSans Pro"/>
                          <a:cs typeface="FS PF BeauSans Pro"/>
                        </a:rPr>
                        <a:t>0.06</a:t>
                      </a:r>
                    </a:p>
                  </a:txBody>
                  <a:tcPr marL="68580" marR="68580" marT="22860" marB="22860" anchor="ctr">
                    <a:lnL w="0">
                      <a:noFill/>
                    </a:lnL>
                    <a:lnR w="0">
                      <a:noFill/>
                    </a:lnR>
                    <a:lnT w="0">
                      <a:noFill/>
                    </a:lnT>
                    <a:lnB w="0">
                      <a:noFill/>
                    </a:lnB>
                    <a:noFill/>
                  </a:tcPr>
                </a:tc>
                <a:extLst>
                  <a:ext uri="{0D108BD9-81ED-4DB2-BD59-A6C34878D82A}">
                    <a16:rowId xmlns:a16="http://schemas.microsoft.com/office/drawing/2014/main" val="10002"/>
                  </a:ext>
                </a:extLst>
              </a:tr>
              <a:tr h="640080">
                <a:tc>
                  <a:txBody>
                    <a:bodyPr/>
                    <a:lstStyle/>
                    <a:p>
                      <a:pPr algn="l"/>
                      <a:r>
                        <a:rPr lang="en-US" sz="1500" b="1" dirty="0">
                          <a:solidFill>
                            <a:srgbClr val="262626"/>
                          </a:solidFill>
                          <a:latin typeface="FS PF BeauSans Pro"/>
                          <a:ea typeface="FS PF BeauSans Pro"/>
                          <a:cs typeface="FS PF BeauSans Pro"/>
                        </a:rPr>
                        <a:t>OmniVoice fine-tuned (ours)</a:t>
                      </a:r>
                    </a:p>
                  </a:txBody>
                  <a:tcPr marL="68580" marR="68580" marT="22860" marB="22860" anchor="ctr">
                    <a:lnL w="0">
                      <a:noFill/>
                    </a:lnL>
                    <a:lnR w="0">
                      <a:noFill/>
                    </a:lnR>
                    <a:lnT w="0">
                      <a:noFill/>
                    </a:lnT>
                    <a:lnB w="19050">
                      <a:solidFill>
                        <a:srgbClr val="262626"/>
                      </a:solidFill>
                    </a:lnB>
                    <a:solidFill>
                      <a:srgbClr val="FDECEC"/>
                    </a:solidFill>
                  </a:tcPr>
                </a:tc>
                <a:tc>
                  <a:txBody>
                    <a:bodyPr/>
                    <a:lstStyle/>
                    <a:p>
                      <a:pPr algn="ctr"/>
                      <a:r>
                        <a:rPr lang="en-US" sz="1500" b="1" dirty="0">
                          <a:solidFill>
                            <a:srgbClr val="262626"/>
                          </a:solidFill>
                          <a:latin typeface="FS PF BeauSans Pro"/>
                          <a:ea typeface="FS PF BeauSans Pro"/>
                          <a:cs typeface="FS PF BeauSans Pro"/>
                        </a:rPr>
                        <a:t>0.3507</a:t>
                      </a:r>
                    </a:p>
                  </a:txBody>
                  <a:tcPr marL="68580" marR="68580" marT="22860" marB="22860" anchor="ctr">
                    <a:lnL w="0">
                      <a:noFill/>
                    </a:lnL>
                    <a:lnR w="0">
                      <a:noFill/>
                    </a:lnR>
                    <a:lnT w="0">
                      <a:noFill/>
                    </a:lnT>
                    <a:lnB w="19050">
                      <a:solidFill>
                        <a:srgbClr val="262626"/>
                      </a:solidFill>
                    </a:lnB>
                    <a:solidFill>
                      <a:srgbClr val="FDECEC"/>
                    </a:solidFill>
                  </a:tcPr>
                </a:tc>
                <a:tc>
                  <a:txBody>
                    <a:bodyPr/>
                    <a:lstStyle/>
                    <a:p>
                      <a:pPr algn="ctr"/>
                      <a:r>
                        <a:rPr lang="en-US" sz="1500" b="1" dirty="0">
                          <a:solidFill>
                            <a:srgbClr val="262626"/>
                          </a:solidFill>
                          <a:latin typeface="FS PF BeauSans Pro"/>
                          <a:ea typeface="FS PF BeauSans Pro"/>
                          <a:cs typeface="FS PF BeauSans Pro"/>
                        </a:rPr>
                        <a:t>0.5000</a:t>
                      </a:r>
                    </a:p>
                  </a:txBody>
                  <a:tcPr marL="68580" marR="68580" marT="22860" marB="22860" anchor="ctr">
                    <a:lnL w="0">
                      <a:noFill/>
                    </a:lnL>
                    <a:lnR w="0">
                      <a:noFill/>
                    </a:lnR>
                    <a:lnT w="0">
                      <a:noFill/>
                    </a:lnT>
                    <a:lnB w="19050">
                      <a:solidFill>
                        <a:srgbClr val="262626"/>
                      </a:solidFill>
                    </a:lnB>
                    <a:solidFill>
                      <a:srgbClr val="FDECEC"/>
                    </a:solidFill>
                  </a:tcPr>
                </a:tc>
                <a:tc>
                  <a:txBody>
                    <a:bodyPr/>
                    <a:lstStyle/>
                    <a:p>
                      <a:pPr algn="ctr"/>
                      <a:r>
                        <a:rPr lang="en-US" sz="1500" b="1" dirty="0">
                          <a:solidFill>
                            <a:srgbClr val="262626"/>
                          </a:solidFill>
                          <a:latin typeface="FS PF BeauSans Pro"/>
                          <a:ea typeface="FS PF BeauSans Pro"/>
                          <a:cs typeface="FS PF BeauSans Pro"/>
                        </a:rPr>
                        <a:t>6.73</a:t>
                      </a:r>
                    </a:p>
                  </a:txBody>
                  <a:tcPr marL="68580" marR="68580" marT="22860" marB="22860" anchor="ctr">
                    <a:lnL w="0">
                      <a:noFill/>
                    </a:lnL>
                    <a:lnR w="0">
                      <a:noFill/>
                    </a:lnR>
                    <a:lnT w="0">
                      <a:noFill/>
                    </a:lnT>
                    <a:lnB w="19050">
                      <a:solidFill>
                        <a:srgbClr val="262626"/>
                      </a:solidFill>
                    </a:lnB>
                    <a:solidFill>
                      <a:srgbClr val="FDECEC"/>
                    </a:solidFill>
                  </a:tcPr>
                </a:tc>
                <a:tc>
                  <a:txBody>
                    <a:bodyPr/>
                    <a:lstStyle/>
                    <a:p>
                      <a:pPr algn="ctr"/>
                      <a:r>
                        <a:rPr lang="en-US" sz="1500" b="1" dirty="0">
                          <a:solidFill>
                            <a:srgbClr val="262626"/>
                          </a:solidFill>
                          <a:latin typeface="FS PF BeauSans Pro"/>
                          <a:ea typeface="FS PF BeauSans Pro"/>
                          <a:cs typeface="FS PF BeauSans Pro"/>
                        </a:rPr>
                        <a:t>0.74</a:t>
                      </a:r>
                    </a:p>
                  </a:txBody>
                  <a:tcPr marL="68580" marR="68580" marT="22860" marB="22860" anchor="ctr">
                    <a:lnL w="0">
                      <a:noFill/>
                    </a:lnL>
                    <a:lnR w="0">
                      <a:noFill/>
                    </a:lnR>
                    <a:lnT w="0">
                      <a:noFill/>
                    </a:lnT>
                    <a:lnB w="19050">
                      <a:solidFill>
                        <a:srgbClr val="262626"/>
                      </a:solidFill>
                    </a:lnB>
                    <a:solidFill>
                      <a:srgbClr val="FDECEC"/>
                    </a:solidFill>
                  </a:tcPr>
                </a:tc>
                <a:tc>
                  <a:txBody>
                    <a:bodyPr/>
                    <a:lstStyle/>
                    <a:p>
                      <a:pPr algn="ctr"/>
                      <a:r>
                        <a:rPr lang="en-US" sz="1500" b="1" dirty="0">
                          <a:solidFill>
                            <a:srgbClr val="262626"/>
                          </a:solidFill>
                          <a:latin typeface="FS PF BeauSans Pro"/>
                          <a:ea typeface="FS PF BeauSans Pro"/>
                          <a:cs typeface="FS PF BeauSans Pro"/>
                        </a:rPr>
                        <a:t>0.06</a:t>
                      </a:r>
                    </a:p>
                  </a:txBody>
                  <a:tcPr marL="68580" marR="68580" marT="22860" marB="22860" anchor="ctr">
                    <a:lnL w="0">
                      <a:noFill/>
                    </a:lnL>
                    <a:lnR w="0">
                      <a:noFill/>
                    </a:lnR>
                    <a:lnT w="0">
                      <a:noFill/>
                    </a:lnT>
                    <a:lnB w="19050">
                      <a:solidFill>
                        <a:srgbClr val="262626"/>
                      </a:solidFill>
                    </a:lnB>
                    <a:solidFill>
                      <a:srgbClr val="FDECEC"/>
                    </a:solidFill>
                  </a:tcPr>
                </a:tc>
                <a:extLst>
                  <a:ext uri="{0D108BD9-81ED-4DB2-BD59-A6C34878D82A}">
                    <a16:rowId xmlns:a16="http://schemas.microsoft.com/office/drawing/2014/main" val="10003"/>
                  </a:ext>
                </a:extLst>
              </a:tr>
            </a:tbl>
          </a:graphicData>
        </a:graphic>
      </p:graphicFrame>
      <p:sp>
        <p:nvSpPr>
          <p:cNvPr id="154" name="Footnote citations"/>
          <p:cNvSpPr txBox="1"/>
          <p:nvPr/>
        </p:nvSpPr>
        <p:spPr>
          <a:xfrm>
            <a:off x="411480" y="5623560"/>
            <a:ext cx="8869680" cy="1143000"/>
          </a:xfrm>
          <a:prstGeom prst="rect">
            <a:avLst/>
          </a:prstGeom>
          <a:noFill/>
          <a:ln>
            <a:noFill/>
          </a:ln>
        </p:spPr>
        <p:txBody>
          <a:bodyPr wrap="square" lIns="45720" tIns="45720" rIns="45720" bIns="45720" anchor="b">
            <a:noAutofit/>
          </a:bodyPr>
          <a:lstStyle/>
          <a:p>
            <a:pPr>
              <a:buNone/>
            </a:pPr>
            <a:r>
              <a:rPr lang="en-US" sz="900" b="1" dirty="0">
                <a:solidFill>
                  <a:srgbClr val="595959"/>
                </a:solidFill>
                <a:latin typeface="FS PF BeauSans Pro"/>
                <a:ea typeface="FS PF BeauSans Pro"/>
                <a:cs typeface="FS PF BeauSans Pro"/>
              </a:rPr>
              <a:t>OmniVoice: </a:t>
            </a:r>
            <a:r>
              <a:rPr lang="en-US" sz="900" dirty="0">
                <a:solidFill>
                  <a:srgbClr val="595959"/>
                </a:solidFill>
                <a:latin typeface="FS PF BeauSans Pro"/>
                <a:ea typeface="FS PF BeauSans Pro"/>
                <a:cs typeface="FS PF BeauSans Pro"/>
              </a:rPr>
              <a:t>Zhu et al., arXiv:2604.00688, 2026</a:t>
            </a:r>
          </a:p>
          <a:p>
            <a:pPr>
              <a:buNone/>
            </a:pPr>
            <a:r>
              <a:rPr lang="en-US" sz="900" b="1" dirty="0">
                <a:solidFill>
                  <a:srgbClr val="595959"/>
                </a:solidFill>
                <a:latin typeface="FS PF BeauSans Pro"/>
                <a:ea typeface="FS PF BeauSans Pro"/>
                <a:cs typeface="FS PF BeauSans Pro"/>
              </a:rPr>
              <a:t>Fish Audio: </a:t>
            </a:r>
            <a:r>
              <a:rPr lang="en-US" sz="900" dirty="0">
                <a:solidFill>
                  <a:srgbClr val="595959"/>
                </a:solidFill>
                <a:latin typeface="FS PF BeauSans Pro"/>
                <a:ea typeface="FS PF BeauSans Pro"/>
                <a:cs typeface="FS PF BeauSans Pro"/>
              </a:rPr>
              <a:t>Fish Audio, OpenAudio S1, huggingface.co/fishaudio/openaudio-s1-mini, 2025</a:t>
            </a:r>
          </a:p>
          <a:p>
            <a:pPr>
              <a:buNone/>
            </a:pPr>
            <a:r>
              <a:rPr lang="en-US" sz="900" b="1" dirty="0">
                <a:solidFill>
                  <a:srgbClr val="595959"/>
                </a:solidFill>
                <a:latin typeface="FS PF BeauSans Pro"/>
                <a:ea typeface="FS PF BeauSans Pro"/>
                <a:cs typeface="FS PF BeauSans Pro"/>
              </a:rPr>
              <a:t>FlexSED: </a:t>
            </a:r>
            <a:r>
              <a:rPr lang="en-US" sz="900" dirty="0">
                <a:solidFill>
                  <a:srgbClr val="595959"/>
                </a:solidFill>
                <a:latin typeface="FS PF BeauSans Pro"/>
                <a:ea typeface="FS PF BeauSans Pro"/>
                <a:cs typeface="FS PF BeauSans Pro"/>
              </a:rPr>
              <a:t>Hai et al., arXiv:2509.18606, 2025</a:t>
            </a:r>
          </a:p>
          <a:p>
            <a:pPr>
              <a:buNone/>
            </a:pPr>
            <a:r>
              <a:rPr lang="en-US" sz="900" b="1" dirty="0">
                <a:solidFill>
                  <a:srgbClr val="595959"/>
                </a:solidFill>
                <a:latin typeface="FS PF BeauSans Pro"/>
                <a:ea typeface="FS PF BeauSans Pro"/>
                <a:cs typeface="FS PF BeauSans Pro"/>
              </a:rPr>
              <a:t>Zipformer: </a:t>
            </a:r>
            <a:r>
              <a:rPr lang="en-US" sz="900" dirty="0">
                <a:solidFill>
                  <a:srgbClr val="595959"/>
                </a:solidFill>
                <a:latin typeface="FS PF BeauSans Pro"/>
                <a:ea typeface="FS PF BeauSans Pro"/>
                <a:cs typeface="FS PF BeauSans Pro"/>
              </a:rPr>
              <a:t>Yao et al., ICLR 2024</a:t>
            </a:r>
          </a:p>
          <a:p>
            <a:pPr>
              <a:buNone/>
            </a:pPr>
            <a:r>
              <a:rPr lang="en-US" sz="900" b="1" dirty="0">
                <a:solidFill>
                  <a:srgbClr val="595959"/>
                </a:solidFill>
                <a:latin typeface="FS PF BeauSans Pro"/>
                <a:ea typeface="FS PF BeauSans Pro"/>
                <a:cs typeface="FS PF BeauSans Pro"/>
              </a:rPr>
              <a:t>ECAPA-TDNN: </a:t>
            </a:r>
            <a:r>
              <a:rPr lang="en-US" sz="900" dirty="0">
                <a:solidFill>
                  <a:srgbClr val="595959"/>
                </a:solidFill>
                <a:latin typeface="FS PF BeauSans Pro"/>
                <a:ea typeface="FS PF BeauSans Pro"/>
                <a:cs typeface="FS PF BeauSans Pro"/>
              </a:rPr>
              <a:t>Desplanques et al., Interspeech 2020</a:t>
            </a:r>
          </a:p>
        </p:txBody>
      </p:sp>
      <p:sp>
        <p:nvSpPr>
          <p:cNvPr id="155" name="Table note"/>
          <p:cNvSpPr txBox="1"/>
          <p:nvPr/>
        </p:nvSpPr>
        <p:spPr>
          <a:xfrm>
            <a:off x="2441448" y="5074920"/>
            <a:ext cx="7315200" cy="274320"/>
          </a:xfrm>
          <a:prstGeom prst="rect">
            <a:avLst/>
          </a:prstGeom>
          <a:noFill/>
          <a:ln>
            <a:noFill/>
          </a:ln>
        </p:spPr>
        <p:txBody>
          <a:bodyPr wrap="square" lIns="45720" tIns="45720" rIns="45720" bIns="45720" anchor="t">
            <a:noAutofit/>
          </a:bodyPr>
          <a:lstStyle/>
          <a:p>
            <a:pPr algn="ctr">
              <a:lnSpc>
                <a:spcPct val="100000"/>
              </a:lnSpc>
              <a:buNone/>
            </a:pPr>
            <a:r>
              <a:rPr lang="en-US" sz="1100" dirty="0">
                <a:solidFill>
                  <a:srgbClr val="595959"/>
                </a:solidFill>
                <a:latin typeface="FS PF BeauSans Pro"/>
                <a:ea typeface="FS PF BeauSans Pro"/>
                <a:cs typeface="FS PF BeauSans Pro"/>
              </a:rPr>
              <a:t>Fish Audio: API only, evaluated on a 280-item subset of the 2,940; RTF not measured</a:t>
            </a:r>
          </a:p>
        </p:txBody>
      </p:sp>
    </p:spTree>
    <p:extLst>
      <p:ext uri="{BB962C8B-B14F-4D97-AF65-F5344CB8AC3E}">
        <p14:creationId xmlns:p14="http://schemas.microsoft.com/office/powerpoint/2010/main" val="3802345156"/>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Shape 145"/>
        <p:cNvGrpSpPr/>
        <p:nvPr/>
      </p:nvGrpSpPr>
      <p:grpSpPr>
        <a:xfrm>
          <a:off x="0" y="0"/>
          <a:ext cx="0" cy="0"/>
          <a:chOff x="0" y="0"/>
          <a:chExt cx="0" cy="0"/>
        </a:xfrm>
      </p:grpSpPr>
      <p:sp>
        <p:nvSpPr>
          <p:cNvPr id="146" name="Google Shape;146;p10"/>
          <p:cNvSpPr txBox="1">
            <a:spLocks noGrp="1"/>
          </p:cNvSpPr>
          <p:nvPr>
            <p:ph type="ctrTitle"/>
          </p:nvPr>
        </p:nvSpPr>
        <p:spPr>
          <a:xfrm>
            <a:off x="822960" y="466344"/>
            <a:ext cx="10543032" cy="731520"/>
          </a:xfrm>
          <a:prstGeom prst="rect">
            <a:avLst/>
          </a:prstGeom>
          <a:noFill/>
          <a:ln>
            <a:noFill/>
          </a:ln>
        </p:spPr>
        <p:txBody>
          <a:bodyPr spcFirstLastPara="1" wrap="square" lIns="91425" tIns="91425" rIns="91425" bIns="91425" anchor="t" anchorCtr="0">
            <a:noAutofit/>
          </a:bodyPr>
          <a:lstStyle/>
          <a:p>
            <a:pPr marL="0" lvl="0" indent="0" algn="ctr" rtl="0">
              <a:buNone/>
            </a:pPr>
            <a:r>
              <a:rPr lang="en-US" dirty="0"/>
              <a:t>Result</a:t>
            </a:r>
          </a:p>
        </p:txBody>
      </p:sp>
      <p:sp>
        <p:nvSpPr>
          <p:cNvPr id="148" name="Google Shape;148;p10"/>
          <p:cNvSpPr txBox="1">
            <a:spLocks noGrp="1"/>
          </p:cNvSpPr>
          <p:nvPr>
            <p:ph type="body" idx="1"/>
          </p:nvPr>
        </p:nvSpPr>
        <p:spPr>
          <a:xfrm>
            <a:off x="850392" y="1325880"/>
            <a:ext cx="10570464" cy="457200"/>
          </a:xfrm>
          <a:prstGeom prst="rect">
            <a:avLst/>
          </a:prstGeom>
          <a:noFill/>
          <a:ln>
            <a:noFill/>
          </a:ln>
        </p:spPr>
        <p:txBody>
          <a:bodyPr spcFirstLastPara="1" wrap="square" lIns="91425" tIns="91425" rIns="91425" bIns="91425" anchor="t" anchorCtr="0">
            <a:noAutofit/>
          </a:bodyPr>
          <a:lstStyle/>
          <a:p>
            <a:pPr marL="152400" indent="0" algn="l">
              <a:lnSpc>
                <a:spcPct val="110000"/>
              </a:lnSpc>
              <a:buNone/>
            </a:pPr>
            <a:r>
              <a:rPr lang="en-US" sz="1800" dirty="0">
                <a:latin typeface="FS PF BeauSans Pro"/>
                <a:ea typeface="FS PF BeauSans Pro"/>
                <a:cs typeface="FS PF BeauSans Pro"/>
              </a:rPr>
              <a:t>Listening test: </a:t>
            </a:r>
            <a:r>
              <a:rPr lang="en-US" sz="1800" b="1" dirty="0">
                <a:latin typeface="FS PF BeauSans Pro"/>
                <a:ea typeface="FS PF BeauSans Pro"/>
                <a:cs typeface="FS PF BeauSans Pro"/>
              </a:rPr>
              <a:t>10 native listeners</a:t>
            </a:r>
            <a:r>
              <a:rPr lang="en-US" sz="1800" dirty="0">
                <a:latin typeface="FS PF BeauSans Pro"/>
                <a:ea typeface="FS PF BeauSans Pro"/>
                <a:cs typeface="FS PF BeauSans Pro"/>
              </a:rPr>
              <a:t>, 40 NVV samples each, balanced across the three systems</a:t>
            </a:r>
          </a:p>
        </p:txBody>
      </p:sp>
      <p:sp>
        <p:nvSpPr>
          <p:cNvPr id="2" name="Slide Number Placeholder 1">
            <a:extLst>
              <a:ext uri="{FF2B5EF4-FFF2-40B4-BE49-F238E27FC236}">
                <a16:creationId xmlns:a16="http://schemas.microsoft.com/office/drawing/2014/main" id="{249CE59B-DD91-4B3A-8ACA-10EA59D7C3EE}"/>
              </a:ext>
            </a:extLst>
          </p:cNvPr>
          <p:cNvSpPr>
            <a:spLocks noGrp="1"/>
          </p:cNvSpPr>
          <p:nvPr>
            <p:ph type="sldNum" idx="12"/>
          </p:nvPr>
        </p:nvSpPr>
        <p:spPr/>
        <p:txBody>
          <a:bodyPr/>
          <a:lstStyle/>
          <a:p>
            <a:pPr marL="0" lvl="0" indent="0" algn="ctr" rtl="0">
              <a:spcBef>
                <a:spcPts val="0"/>
              </a:spcBef>
              <a:spcAft>
                <a:spcPts val="0"/>
              </a:spcAft>
              <a:buNone/>
            </a:pPr>
            <a:fld id="{00000000-1234-1234-1234-123412341234}" type="slidenum">
              <a:rPr lang="en-US" smtClean="0"/>
              <a:t>23</a:t>
            </a:fld>
            <a:endParaRPr lang="en-US" dirty="0"/>
          </a:p>
        </p:txBody>
      </p:sp>
      <p:graphicFrame>
        <p:nvGraphicFramePr>
          <p:cNvPr id="153" name="Table listening test"/>
          <p:cNvGraphicFramePr>
            <a:graphicFrameLocks noGrp="1"/>
          </p:cNvGraphicFramePr>
          <p:nvPr/>
        </p:nvGraphicFramePr>
        <p:xfrm>
          <a:off x="1180947" y="2103120"/>
          <a:ext cx="9829800" cy="2560320"/>
        </p:xfrm>
        <a:graphic>
          <a:graphicData uri="http://schemas.openxmlformats.org/drawingml/2006/table">
            <a:tbl>
              <a:tblPr firstRow="1"/>
              <a:tblGrid>
                <a:gridCol w="3657600">
                  <a:extLst>
                    <a:ext uri="{9D8B030D-6E8A-4147-A177-3AD203B41FA5}">
                      <a16:colId xmlns:a16="http://schemas.microsoft.com/office/drawing/2014/main" val="20000"/>
                    </a:ext>
                  </a:extLst>
                </a:gridCol>
                <a:gridCol w="2057400">
                  <a:extLst>
                    <a:ext uri="{9D8B030D-6E8A-4147-A177-3AD203B41FA5}">
                      <a16:colId xmlns:a16="http://schemas.microsoft.com/office/drawing/2014/main" val="20001"/>
                    </a:ext>
                  </a:extLst>
                </a:gridCol>
                <a:gridCol w="2057400">
                  <a:extLst>
                    <a:ext uri="{9D8B030D-6E8A-4147-A177-3AD203B41FA5}">
                      <a16:colId xmlns:a16="http://schemas.microsoft.com/office/drawing/2014/main" val="20002"/>
                    </a:ext>
                  </a:extLst>
                </a:gridCol>
                <a:gridCol w="2057400">
                  <a:extLst>
                    <a:ext uri="{9D8B030D-6E8A-4147-A177-3AD203B41FA5}">
                      <a16:colId xmlns:a16="http://schemas.microsoft.com/office/drawing/2014/main" val="20003"/>
                    </a:ext>
                  </a:extLst>
                </a:gridCol>
              </a:tblGrid>
              <a:tr h="640080">
                <a:tc>
                  <a:txBody>
                    <a:bodyPr/>
                    <a:lstStyle/>
                    <a:p>
                      <a:pPr algn="l"/>
                      <a:r>
                        <a:rPr lang="en-US" sz="1500" b="1" dirty="0">
                          <a:solidFill>
                            <a:srgbClr val="262626"/>
                          </a:solidFill>
                          <a:latin typeface="FS PF BeauSans Pro"/>
                          <a:ea typeface="FS PF BeauSans Pro"/>
                          <a:cs typeface="FS PF BeauSans Pro"/>
                        </a:rPr>
                        <a:t>System</a:t>
                      </a:r>
                    </a:p>
                  </a:txBody>
                  <a:tcPr marL="68580" marR="68580" marT="22860" marB="22860" anchor="ctr">
                    <a:lnL w="0">
                      <a:noFill/>
                    </a:lnL>
                    <a:lnR w="0">
                      <a:noFill/>
                    </a:lnR>
                    <a:lnT w="19050">
                      <a:solidFill>
                        <a:srgbClr val="262626"/>
                      </a:solidFill>
                    </a:lnT>
                    <a:lnB w="9525">
                      <a:solidFill>
                        <a:srgbClr val="262626"/>
                      </a:solidFill>
                    </a:lnB>
                    <a:noFill/>
                  </a:tcPr>
                </a:tc>
                <a:tc>
                  <a:txBody>
                    <a:bodyPr/>
                    <a:lstStyle/>
                    <a:p>
                      <a:pPr algn="ctr"/>
                      <a:r>
                        <a:rPr lang="en-US" sz="1500" b="1" dirty="0">
                          <a:solidFill>
                            <a:srgbClr val="262626"/>
                          </a:solidFill>
                          <a:latin typeface="FS PF BeauSans Pro"/>
                          <a:ea typeface="FS PF BeauSans Pro"/>
                          <a:cs typeface="FS PF BeauSans Pro"/>
                        </a:rPr>
                        <a:t>MOS-Q ↑</a:t>
                      </a:r>
                    </a:p>
                  </a:txBody>
                  <a:tcPr marL="68580" marR="68580" marT="22860" marB="22860" anchor="ctr">
                    <a:lnL w="0">
                      <a:noFill/>
                    </a:lnL>
                    <a:lnR w="0">
                      <a:noFill/>
                    </a:lnR>
                    <a:lnT w="19050">
                      <a:solidFill>
                        <a:srgbClr val="262626"/>
                      </a:solidFill>
                    </a:lnT>
                    <a:lnB w="9525">
                      <a:solidFill>
                        <a:srgbClr val="262626"/>
                      </a:solidFill>
                    </a:lnB>
                    <a:noFill/>
                  </a:tcPr>
                </a:tc>
                <a:tc>
                  <a:txBody>
                    <a:bodyPr/>
                    <a:lstStyle/>
                    <a:p>
                      <a:pPr algn="ctr"/>
                      <a:r>
                        <a:rPr lang="en-US" sz="1500" b="1" dirty="0">
                          <a:solidFill>
                            <a:srgbClr val="262626"/>
                          </a:solidFill>
                          <a:latin typeface="FS PF BeauSans Pro"/>
                          <a:ea typeface="FS PF BeauSans Pro"/>
                          <a:cs typeface="FS PF BeauSans Pro"/>
                        </a:rPr>
                        <a:t>MOS-N ↑</a:t>
                      </a:r>
                    </a:p>
                  </a:txBody>
                  <a:tcPr marL="68580" marR="68580" marT="22860" marB="22860" anchor="ctr">
                    <a:lnL w="0">
                      <a:noFill/>
                    </a:lnL>
                    <a:lnR w="0">
                      <a:noFill/>
                    </a:lnR>
                    <a:lnT w="19050">
                      <a:solidFill>
                        <a:srgbClr val="262626"/>
                      </a:solidFill>
                    </a:lnT>
                    <a:lnB w="9525">
                      <a:solidFill>
                        <a:srgbClr val="262626"/>
                      </a:solidFill>
                    </a:lnB>
                    <a:noFill/>
                  </a:tcPr>
                </a:tc>
                <a:tc>
                  <a:txBody>
                    <a:bodyPr/>
                    <a:lstStyle/>
                    <a:p>
                      <a:pPr algn="ctr"/>
                      <a:r>
                        <a:rPr lang="en-US" sz="1500" b="1" dirty="0">
                          <a:solidFill>
                            <a:srgbClr val="262626"/>
                          </a:solidFill>
                          <a:latin typeface="FS PF BeauSans Pro"/>
                          <a:ea typeface="FS PF BeauSans Pro"/>
                          <a:cs typeface="FS PF BeauSans Pro"/>
                        </a:rPr>
                        <a:t>MOS-E ↑</a:t>
                      </a:r>
                    </a:p>
                  </a:txBody>
                  <a:tcPr marL="68580" marR="68580" marT="22860" marB="22860" anchor="ctr">
                    <a:lnL w="0">
                      <a:noFill/>
                    </a:lnL>
                    <a:lnR w="0">
                      <a:noFill/>
                    </a:lnR>
                    <a:lnT w="19050">
                      <a:solidFill>
                        <a:srgbClr val="262626"/>
                      </a:solidFill>
                    </a:lnT>
                    <a:lnB w="9525">
                      <a:solidFill>
                        <a:srgbClr val="262626"/>
                      </a:solidFill>
                    </a:lnB>
                    <a:noFill/>
                  </a:tcPr>
                </a:tc>
                <a:extLst>
                  <a:ext uri="{0D108BD9-81ED-4DB2-BD59-A6C34878D82A}">
                    <a16:rowId xmlns:a16="http://schemas.microsoft.com/office/drawing/2014/main" val="10000"/>
                  </a:ext>
                </a:extLst>
              </a:tr>
              <a:tr h="640080">
                <a:tc>
                  <a:txBody>
                    <a:bodyPr/>
                    <a:lstStyle/>
                    <a:p>
                      <a:pPr algn="l"/>
                      <a:r>
                        <a:rPr lang="en-US" sz="1500" dirty="0">
                          <a:solidFill>
                            <a:srgbClr val="262626"/>
                          </a:solidFill>
                          <a:latin typeface="FS PF BeauSans Pro"/>
                          <a:ea typeface="FS PF BeauSans Pro"/>
                          <a:cs typeface="FS PF BeauSans Pro"/>
                        </a:rPr>
                        <a:t>Fish Audio</a:t>
                      </a:r>
                    </a:p>
                  </a:txBody>
                  <a:tcPr marL="68580" marR="68580" marT="22860" marB="22860" anchor="ctr">
                    <a:lnL w="0">
                      <a:noFill/>
                    </a:lnL>
                    <a:lnR w="0">
                      <a:noFill/>
                    </a:lnR>
                    <a:lnT w="9525" cap="flat" cmpd="sng" algn="ctr">
                      <a:solidFill>
                        <a:srgbClr val="262626"/>
                      </a:solidFill>
                      <a:prstDash val="solid"/>
                      <a:round/>
                      <a:headEnd type="none" w="med" len="med"/>
                      <a:tailEnd type="none" w="med" len="med"/>
                    </a:lnT>
                    <a:lnB w="0">
                      <a:noFill/>
                    </a:lnB>
                    <a:noFill/>
                  </a:tcPr>
                </a:tc>
                <a:tc>
                  <a:txBody>
                    <a:bodyPr/>
                    <a:lstStyle/>
                    <a:p>
                      <a:pPr algn="ctr"/>
                      <a:r>
                        <a:rPr lang="en-US" sz="1500" dirty="0">
                          <a:solidFill>
                            <a:srgbClr val="262626"/>
                          </a:solidFill>
                          <a:latin typeface="FS PF BeauSans Pro"/>
                          <a:ea typeface="FS PF BeauSans Pro"/>
                          <a:cs typeface="FS PF BeauSans Pro"/>
                        </a:rPr>
                        <a:t>3.38 ± 0.04</a:t>
                      </a:r>
                    </a:p>
                  </a:txBody>
                  <a:tcPr marL="68580" marR="68580" marT="22860" marB="22860" anchor="ctr">
                    <a:lnL w="0">
                      <a:noFill/>
                    </a:lnL>
                    <a:lnR w="0">
                      <a:noFill/>
                    </a:lnR>
                    <a:lnT w="9525" cap="flat" cmpd="sng" algn="ctr">
                      <a:solidFill>
                        <a:srgbClr val="262626"/>
                      </a:solidFill>
                      <a:prstDash val="solid"/>
                      <a:round/>
                      <a:headEnd type="none" w="med" len="med"/>
                      <a:tailEnd type="none" w="med" len="med"/>
                    </a:lnT>
                    <a:lnB w="0">
                      <a:noFill/>
                    </a:lnB>
                    <a:noFill/>
                  </a:tcPr>
                </a:tc>
                <a:tc>
                  <a:txBody>
                    <a:bodyPr/>
                    <a:lstStyle/>
                    <a:p>
                      <a:pPr algn="ctr"/>
                      <a:r>
                        <a:rPr lang="en-US" sz="1500" dirty="0">
                          <a:solidFill>
                            <a:srgbClr val="262626"/>
                          </a:solidFill>
                          <a:latin typeface="FS PF BeauSans Pro"/>
                          <a:ea typeface="FS PF BeauSans Pro"/>
                          <a:cs typeface="FS PF BeauSans Pro"/>
                        </a:rPr>
                        <a:t>2.12 ± 0.05</a:t>
                      </a:r>
                    </a:p>
                  </a:txBody>
                  <a:tcPr marL="68580" marR="68580" marT="22860" marB="22860" anchor="ctr">
                    <a:lnL w="0">
                      <a:noFill/>
                    </a:lnL>
                    <a:lnR w="0">
                      <a:noFill/>
                    </a:lnR>
                    <a:lnT w="9525" cap="flat" cmpd="sng" algn="ctr">
                      <a:solidFill>
                        <a:srgbClr val="262626"/>
                      </a:solidFill>
                      <a:prstDash val="solid"/>
                      <a:round/>
                      <a:headEnd type="none" w="med" len="med"/>
                      <a:tailEnd type="none" w="med" len="med"/>
                    </a:lnT>
                    <a:lnB w="0">
                      <a:noFill/>
                    </a:lnB>
                    <a:noFill/>
                  </a:tcPr>
                </a:tc>
                <a:tc>
                  <a:txBody>
                    <a:bodyPr/>
                    <a:lstStyle/>
                    <a:p>
                      <a:pPr algn="ctr"/>
                      <a:r>
                        <a:rPr lang="en-US" sz="1500" dirty="0">
                          <a:solidFill>
                            <a:srgbClr val="262626"/>
                          </a:solidFill>
                          <a:latin typeface="FS PF BeauSans Pro"/>
                          <a:ea typeface="FS PF BeauSans Pro"/>
                          <a:cs typeface="FS PF BeauSans Pro"/>
                        </a:rPr>
                        <a:t>1.96 ± 0.04</a:t>
                      </a:r>
                    </a:p>
                  </a:txBody>
                  <a:tcPr marL="68580" marR="68580" marT="22860" marB="22860" anchor="ctr">
                    <a:lnL w="0">
                      <a:noFill/>
                    </a:lnL>
                    <a:lnR w="0">
                      <a:noFill/>
                    </a:lnR>
                    <a:lnT w="9525" cap="flat" cmpd="sng" algn="ctr">
                      <a:solidFill>
                        <a:srgbClr val="262626"/>
                      </a:solidFill>
                      <a:prstDash val="solid"/>
                      <a:round/>
                      <a:headEnd type="none" w="med" len="med"/>
                      <a:tailEnd type="none" w="med" len="med"/>
                    </a:lnT>
                    <a:lnB w="0">
                      <a:noFill/>
                    </a:lnB>
                    <a:noFill/>
                  </a:tcPr>
                </a:tc>
                <a:extLst>
                  <a:ext uri="{0D108BD9-81ED-4DB2-BD59-A6C34878D82A}">
                    <a16:rowId xmlns:a16="http://schemas.microsoft.com/office/drawing/2014/main" val="10001"/>
                  </a:ext>
                </a:extLst>
              </a:tr>
              <a:tr h="640080">
                <a:tc>
                  <a:txBody>
                    <a:bodyPr/>
                    <a:lstStyle/>
                    <a:p>
                      <a:pPr algn="l"/>
                      <a:r>
                        <a:rPr lang="en-US" sz="1500" dirty="0">
                          <a:solidFill>
                            <a:srgbClr val="262626"/>
                          </a:solidFill>
                          <a:latin typeface="FS PF BeauSans Pro"/>
                          <a:ea typeface="FS PF BeauSans Pro"/>
                          <a:cs typeface="FS PF BeauSans Pro"/>
                        </a:rPr>
                        <a:t>OmniVoice (base)</a:t>
                      </a:r>
                    </a:p>
                  </a:txBody>
                  <a:tcPr marL="68580" marR="68580" marT="22860" marB="22860" anchor="ctr">
                    <a:lnL w="0">
                      <a:noFill/>
                    </a:lnL>
                    <a:lnR w="0">
                      <a:noFill/>
                    </a:lnR>
                    <a:lnT w="0">
                      <a:noFill/>
                    </a:lnT>
                    <a:lnB w="0">
                      <a:noFill/>
                    </a:lnB>
                    <a:noFill/>
                  </a:tcPr>
                </a:tc>
                <a:tc>
                  <a:txBody>
                    <a:bodyPr/>
                    <a:lstStyle/>
                    <a:p>
                      <a:pPr algn="ctr"/>
                      <a:r>
                        <a:rPr lang="en-US" sz="1500" dirty="0">
                          <a:solidFill>
                            <a:srgbClr val="262626"/>
                          </a:solidFill>
                          <a:latin typeface="FS PF BeauSans Pro"/>
                          <a:ea typeface="FS PF BeauSans Pro"/>
                          <a:cs typeface="FS PF BeauSans Pro"/>
                        </a:rPr>
                        <a:t>3.63 ± 0.03</a:t>
                      </a:r>
                    </a:p>
                  </a:txBody>
                  <a:tcPr marL="68580" marR="68580" marT="22860" marB="22860" anchor="ctr">
                    <a:lnL w="0">
                      <a:noFill/>
                    </a:lnL>
                    <a:lnR w="0">
                      <a:noFill/>
                    </a:lnR>
                    <a:lnT w="0">
                      <a:noFill/>
                    </a:lnT>
                    <a:lnB w="0">
                      <a:noFill/>
                    </a:lnB>
                    <a:noFill/>
                  </a:tcPr>
                </a:tc>
                <a:tc>
                  <a:txBody>
                    <a:bodyPr/>
                    <a:lstStyle/>
                    <a:p>
                      <a:pPr algn="ctr"/>
                      <a:r>
                        <a:rPr lang="en-US" sz="1500" dirty="0">
                          <a:solidFill>
                            <a:srgbClr val="262626"/>
                          </a:solidFill>
                          <a:latin typeface="FS PF BeauSans Pro"/>
                          <a:ea typeface="FS PF BeauSans Pro"/>
                          <a:cs typeface="FS PF BeauSans Pro"/>
                        </a:rPr>
                        <a:t>2.19 ± 0.04</a:t>
                      </a:r>
                    </a:p>
                  </a:txBody>
                  <a:tcPr marL="68580" marR="68580" marT="22860" marB="22860" anchor="ctr">
                    <a:lnL w="0">
                      <a:noFill/>
                    </a:lnL>
                    <a:lnR w="0">
                      <a:noFill/>
                    </a:lnR>
                    <a:lnT w="0">
                      <a:noFill/>
                    </a:lnT>
                    <a:lnB w="0">
                      <a:noFill/>
                    </a:lnB>
                    <a:noFill/>
                  </a:tcPr>
                </a:tc>
                <a:tc>
                  <a:txBody>
                    <a:bodyPr/>
                    <a:lstStyle/>
                    <a:p>
                      <a:pPr algn="ctr"/>
                      <a:r>
                        <a:rPr lang="en-US" sz="1500" dirty="0">
                          <a:solidFill>
                            <a:srgbClr val="262626"/>
                          </a:solidFill>
                          <a:latin typeface="FS PF BeauSans Pro"/>
                          <a:ea typeface="FS PF BeauSans Pro"/>
                          <a:cs typeface="FS PF BeauSans Pro"/>
                        </a:rPr>
                        <a:t>1.56 ± 0.03</a:t>
                      </a:r>
                    </a:p>
                  </a:txBody>
                  <a:tcPr marL="68580" marR="68580" marT="22860" marB="22860" anchor="ctr">
                    <a:lnL w="0">
                      <a:noFill/>
                    </a:lnL>
                    <a:lnR w="0">
                      <a:noFill/>
                    </a:lnR>
                    <a:lnT w="0">
                      <a:noFill/>
                    </a:lnT>
                    <a:lnB w="0">
                      <a:noFill/>
                    </a:lnB>
                    <a:noFill/>
                  </a:tcPr>
                </a:tc>
                <a:extLst>
                  <a:ext uri="{0D108BD9-81ED-4DB2-BD59-A6C34878D82A}">
                    <a16:rowId xmlns:a16="http://schemas.microsoft.com/office/drawing/2014/main" val="10002"/>
                  </a:ext>
                </a:extLst>
              </a:tr>
              <a:tr h="640080">
                <a:tc>
                  <a:txBody>
                    <a:bodyPr/>
                    <a:lstStyle/>
                    <a:p>
                      <a:pPr algn="l"/>
                      <a:r>
                        <a:rPr lang="en-US" sz="1500" b="1" dirty="0">
                          <a:solidFill>
                            <a:srgbClr val="262626"/>
                          </a:solidFill>
                          <a:latin typeface="FS PF BeauSans Pro"/>
                          <a:ea typeface="FS PF BeauSans Pro"/>
                          <a:cs typeface="FS PF BeauSans Pro"/>
                        </a:rPr>
                        <a:t>OmniVoice fine-tuned (ours)</a:t>
                      </a:r>
                    </a:p>
                  </a:txBody>
                  <a:tcPr marL="68580" marR="68580" marT="22860" marB="22860" anchor="ctr">
                    <a:lnL w="0">
                      <a:noFill/>
                    </a:lnL>
                    <a:lnR w="0">
                      <a:noFill/>
                    </a:lnR>
                    <a:lnT w="0">
                      <a:noFill/>
                    </a:lnT>
                    <a:lnB w="19050">
                      <a:solidFill>
                        <a:srgbClr val="262626"/>
                      </a:solidFill>
                    </a:lnB>
                    <a:solidFill>
                      <a:srgbClr val="FDECEC"/>
                    </a:solidFill>
                  </a:tcPr>
                </a:tc>
                <a:tc>
                  <a:txBody>
                    <a:bodyPr/>
                    <a:lstStyle/>
                    <a:p>
                      <a:pPr algn="ctr"/>
                      <a:r>
                        <a:rPr lang="en-US" sz="1500" b="1" dirty="0">
                          <a:solidFill>
                            <a:srgbClr val="262626"/>
                          </a:solidFill>
                          <a:latin typeface="FS PF BeauSans Pro"/>
                          <a:ea typeface="FS PF BeauSans Pro"/>
                          <a:cs typeface="FS PF BeauSans Pro"/>
                        </a:rPr>
                        <a:t>3.89 ± 0.01</a:t>
                      </a:r>
                    </a:p>
                  </a:txBody>
                  <a:tcPr marL="68580" marR="68580" marT="22860" marB="22860" anchor="ctr">
                    <a:lnL w="0">
                      <a:noFill/>
                    </a:lnL>
                    <a:lnR w="0">
                      <a:noFill/>
                    </a:lnR>
                    <a:lnT w="0">
                      <a:noFill/>
                    </a:lnT>
                    <a:lnB w="19050">
                      <a:solidFill>
                        <a:srgbClr val="262626"/>
                      </a:solidFill>
                    </a:lnB>
                    <a:solidFill>
                      <a:srgbClr val="FDECEC"/>
                    </a:solidFill>
                  </a:tcPr>
                </a:tc>
                <a:tc>
                  <a:txBody>
                    <a:bodyPr/>
                    <a:lstStyle/>
                    <a:p>
                      <a:pPr algn="ctr"/>
                      <a:r>
                        <a:rPr lang="en-US" sz="1500" b="1" dirty="0">
                          <a:solidFill>
                            <a:srgbClr val="262626"/>
                          </a:solidFill>
                          <a:latin typeface="FS PF BeauSans Pro"/>
                          <a:ea typeface="FS PF BeauSans Pro"/>
                          <a:cs typeface="FS PF BeauSans Pro"/>
                        </a:rPr>
                        <a:t>3.15 ± 0.04</a:t>
                      </a:r>
                    </a:p>
                  </a:txBody>
                  <a:tcPr marL="68580" marR="68580" marT="22860" marB="22860" anchor="ctr">
                    <a:lnL w="0">
                      <a:noFill/>
                    </a:lnL>
                    <a:lnR w="0">
                      <a:noFill/>
                    </a:lnR>
                    <a:lnT w="0">
                      <a:noFill/>
                    </a:lnT>
                    <a:lnB w="19050">
                      <a:solidFill>
                        <a:srgbClr val="262626"/>
                      </a:solidFill>
                    </a:lnB>
                    <a:solidFill>
                      <a:srgbClr val="FDECEC"/>
                    </a:solidFill>
                  </a:tcPr>
                </a:tc>
                <a:tc>
                  <a:txBody>
                    <a:bodyPr/>
                    <a:lstStyle/>
                    <a:p>
                      <a:pPr algn="ctr"/>
                      <a:r>
                        <a:rPr lang="en-US" sz="1500" b="1" dirty="0">
                          <a:solidFill>
                            <a:srgbClr val="262626"/>
                          </a:solidFill>
                          <a:latin typeface="FS PF BeauSans Pro"/>
                          <a:ea typeface="FS PF BeauSans Pro"/>
                          <a:cs typeface="FS PF BeauSans Pro"/>
                        </a:rPr>
                        <a:t>2.96 ± 0.05</a:t>
                      </a:r>
                    </a:p>
                  </a:txBody>
                  <a:tcPr marL="68580" marR="68580" marT="22860" marB="22860" anchor="ctr">
                    <a:lnL w="0">
                      <a:noFill/>
                    </a:lnL>
                    <a:lnR w="0">
                      <a:noFill/>
                    </a:lnR>
                    <a:lnT w="0">
                      <a:noFill/>
                    </a:lnT>
                    <a:lnB w="19050">
                      <a:solidFill>
                        <a:srgbClr val="262626"/>
                      </a:solidFill>
                    </a:lnB>
                    <a:solidFill>
                      <a:srgbClr val="FDECEC"/>
                    </a:solidFill>
                  </a:tcPr>
                </a:tc>
                <a:extLst>
                  <a:ext uri="{0D108BD9-81ED-4DB2-BD59-A6C34878D82A}">
                    <a16:rowId xmlns:a16="http://schemas.microsoft.com/office/drawing/2014/main" val="10003"/>
                  </a:ext>
                </a:extLst>
              </a:tr>
            </a:tbl>
          </a:graphicData>
        </a:graphic>
      </p:graphicFrame>
      <p:sp>
        <p:nvSpPr>
          <p:cNvPr id="154" name="Table caption"/>
          <p:cNvSpPr txBox="1"/>
          <p:nvPr/>
        </p:nvSpPr>
        <p:spPr>
          <a:xfrm>
            <a:off x="2895447" y="4773168"/>
            <a:ext cx="6400800" cy="310896"/>
          </a:xfrm>
          <a:prstGeom prst="rect">
            <a:avLst/>
          </a:prstGeom>
          <a:noFill/>
          <a:ln>
            <a:noFill/>
          </a:ln>
        </p:spPr>
        <p:txBody>
          <a:bodyPr wrap="square" lIns="45720" tIns="45720" rIns="45720" bIns="45720" anchor="t">
            <a:noAutofit/>
          </a:bodyPr>
          <a:lstStyle/>
          <a:p>
            <a:pPr algn="ctr"/>
            <a:r>
              <a:rPr lang="en-US" sz="1100" dirty="0">
                <a:solidFill>
                  <a:srgbClr val="262626"/>
                </a:solidFill>
                <a:latin typeface="FS PF BeauSans Pro"/>
                <a:ea typeface="FS PF BeauSans Pro"/>
                <a:cs typeface="FS PF BeauSans Pro"/>
              </a:rPr>
              <a:t>Table 5: Listening test on NVV synthesis (1–5, 95% CI)</a:t>
            </a:r>
          </a:p>
        </p:txBody>
      </p:sp>
      <p:sp>
        <p:nvSpPr>
          <p:cNvPr id="155" name="Footnote citations"/>
          <p:cNvSpPr txBox="1"/>
          <p:nvPr/>
        </p:nvSpPr>
        <p:spPr>
          <a:xfrm>
            <a:off x="411480" y="5852160"/>
            <a:ext cx="8869680" cy="914400"/>
          </a:xfrm>
          <a:prstGeom prst="rect">
            <a:avLst/>
          </a:prstGeom>
          <a:noFill/>
          <a:ln>
            <a:noFill/>
          </a:ln>
        </p:spPr>
        <p:txBody>
          <a:bodyPr wrap="square" lIns="45720" tIns="45720" rIns="45720" bIns="45720" anchor="b">
            <a:noAutofit/>
          </a:bodyPr>
          <a:lstStyle/>
          <a:p>
            <a:pPr>
              <a:buNone/>
            </a:pPr>
            <a:r>
              <a:rPr lang="en-US" sz="900" b="1" dirty="0">
                <a:solidFill>
                  <a:srgbClr val="595959"/>
                </a:solidFill>
                <a:latin typeface="FS PF BeauSans Pro"/>
                <a:ea typeface="FS PF BeauSans Pro"/>
                <a:cs typeface="FS PF BeauSans Pro"/>
              </a:rPr>
              <a:t>OmniVoice: </a:t>
            </a:r>
            <a:r>
              <a:rPr lang="en-US" sz="900" dirty="0">
                <a:solidFill>
                  <a:srgbClr val="595959"/>
                </a:solidFill>
                <a:latin typeface="FS PF BeauSans Pro"/>
                <a:ea typeface="FS PF BeauSans Pro"/>
                <a:cs typeface="FS PF BeauSans Pro"/>
              </a:rPr>
              <a:t>Zhu et al., arXiv:2604.00688, 2026</a:t>
            </a:r>
          </a:p>
          <a:p>
            <a:pPr>
              <a:buNone/>
            </a:pPr>
            <a:r>
              <a:rPr lang="en-US" sz="900" b="1" dirty="0">
                <a:solidFill>
                  <a:srgbClr val="595959"/>
                </a:solidFill>
                <a:latin typeface="FS PF BeauSans Pro"/>
                <a:ea typeface="FS PF BeauSans Pro"/>
                <a:cs typeface="FS PF BeauSans Pro"/>
              </a:rPr>
              <a:t>Fish Audio: </a:t>
            </a:r>
            <a:r>
              <a:rPr lang="en-US" sz="900" dirty="0">
                <a:solidFill>
                  <a:srgbClr val="595959"/>
                </a:solidFill>
                <a:latin typeface="FS PF BeauSans Pro"/>
                <a:ea typeface="FS PF BeauSans Pro"/>
                <a:cs typeface="FS PF BeauSans Pro"/>
              </a:rPr>
              <a:t>Fish Audio, OpenAudio S1, huggingface.co/fishaudio/openaudio-s1-mini, 2025</a:t>
            </a:r>
          </a:p>
        </p:txBody>
      </p:sp>
    </p:spTree>
    <p:extLst>
      <p:ext uri="{BB962C8B-B14F-4D97-AF65-F5344CB8AC3E}">
        <p14:creationId xmlns:p14="http://schemas.microsoft.com/office/powerpoint/2010/main" val="584723571"/>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Shape 145"/>
        <p:cNvGrpSpPr/>
        <p:nvPr/>
      </p:nvGrpSpPr>
      <p:grpSpPr>
        <a:xfrm>
          <a:off x="0" y="0"/>
          <a:ext cx="0" cy="0"/>
          <a:chOff x="0" y="0"/>
          <a:chExt cx="0" cy="0"/>
        </a:xfrm>
      </p:grpSpPr>
      <p:sp>
        <p:nvSpPr>
          <p:cNvPr id="146" name="Google Shape;146;p10"/>
          <p:cNvSpPr txBox="1">
            <a:spLocks noGrp="1"/>
          </p:cNvSpPr>
          <p:nvPr>
            <p:ph type="ctrTitle"/>
          </p:nvPr>
        </p:nvSpPr>
        <p:spPr>
          <a:xfrm>
            <a:off x="822960" y="466344"/>
            <a:ext cx="10543032" cy="731520"/>
          </a:xfrm>
          <a:prstGeom prst="rect">
            <a:avLst/>
          </a:prstGeom>
          <a:noFill/>
          <a:ln>
            <a:noFill/>
          </a:ln>
        </p:spPr>
        <p:txBody>
          <a:bodyPr spcFirstLastPara="1" wrap="square" lIns="91425" tIns="91425" rIns="91425" bIns="91425" anchor="t" anchorCtr="0">
            <a:noAutofit/>
          </a:bodyPr>
          <a:lstStyle/>
          <a:p>
            <a:pPr marL="0" lvl="0" indent="0" algn="ctr" rtl="0">
              <a:buNone/>
            </a:pPr>
            <a:r>
              <a:rPr lang="en-US" dirty="0"/>
              <a:t>Result</a:t>
            </a:r>
          </a:p>
        </p:txBody>
      </p:sp>
      <p:sp>
        <p:nvSpPr>
          <p:cNvPr id="148" name="Google Shape;148;p10"/>
          <p:cNvSpPr txBox="1">
            <a:spLocks noGrp="1"/>
          </p:cNvSpPr>
          <p:nvPr>
            <p:ph type="body" idx="1"/>
          </p:nvPr>
        </p:nvSpPr>
        <p:spPr>
          <a:xfrm>
            <a:off x="850392" y="1371600"/>
            <a:ext cx="10570464" cy="457200"/>
          </a:xfrm>
          <a:prstGeom prst="rect">
            <a:avLst/>
          </a:prstGeom>
          <a:noFill/>
          <a:ln>
            <a:noFill/>
          </a:ln>
        </p:spPr>
        <p:txBody>
          <a:bodyPr spcFirstLastPara="1" wrap="square" lIns="91425" tIns="91425" rIns="91425" bIns="91425" anchor="t" anchorCtr="0">
            <a:noAutofit/>
          </a:bodyPr>
          <a:lstStyle/>
          <a:p>
            <a:pPr marL="152400" lvl="0" indent="0" algn="l" rtl="0">
              <a:lnSpc>
                <a:spcPct val="115000"/>
              </a:lnSpc>
              <a:spcBef>
                <a:spcPts val="0"/>
              </a:spcBef>
              <a:spcAft>
                <a:spcPts val="0"/>
              </a:spcAft>
              <a:buNone/>
            </a:pPr>
            <a:r>
              <a:rPr lang="en-US" sz="2000" dirty="0">
                <a:latin typeface="FS PF BeauSans Pro"/>
                <a:ea typeface="FS PF BeauSans Pro"/>
                <a:cs typeface="FS PF BeauSans Pro"/>
              </a:rPr>
              <a:t>The first synthesize TTS system to speak with nonverbal cue effectively</a:t>
            </a:r>
          </a:p>
        </p:txBody>
      </p:sp>
      <p:sp>
        <p:nvSpPr>
          <p:cNvPr id="2" name="Slide Number Placeholder 1">
            <a:extLst>
              <a:ext uri="{FF2B5EF4-FFF2-40B4-BE49-F238E27FC236}">
                <a16:creationId xmlns:a16="http://schemas.microsoft.com/office/drawing/2014/main" id="{249CE59B-DD91-4B3A-8ACA-10EA59D7C3EE}"/>
              </a:ext>
            </a:extLst>
          </p:cNvPr>
          <p:cNvSpPr>
            <a:spLocks noGrp="1"/>
          </p:cNvSpPr>
          <p:nvPr>
            <p:ph type="sldNum" idx="12"/>
          </p:nvPr>
        </p:nvSpPr>
        <p:spPr/>
        <p:txBody>
          <a:bodyPr/>
          <a:lstStyle/>
          <a:p>
            <a:pPr marL="0" lvl="0" indent="0" algn="ctr" rtl="0">
              <a:spcBef>
                <a:spcPts val="0"/>
              </a:spcBef>
              <a:spcAft>
                <a:spcPts val="0"/>
              </a:spcAft>
              <a:buNone/>
            </a:pPr>
            <a:fld id="{00000000-1234-1234-1234-123412341234}" type="slidenum">
              <a:rPr lang="en-US" smtClean="0"/>
              <a:t>24</a:t>
            </a:fld>
            <a:endParaRPr lang="en-US" dirty="0"/>
          </a:p>
        </p:txBody>
      </p:sp>
      <p:graphicFrame>
        <p:nvGraphicFramePr>
          <p:cNvPr id="149" name="Demo table"/>
          <p:cNvGraphicFramePr>
            <a:graphicFrameLocks noGrp="1"/>
          </p:cNvGraphicFramePr>
          <p:nvPr/>
        </p:nvGraphicFramePr>
        <p:xfrm>
          <a:off x="822960" y="1965960"/>
          <a:ext cx="10607040" cy="3767328"/>
        </p:xfrm>
        <a:graphic>
          <a:graphicData uri="http://schemas.openxmlformats.org/drawingml/2006/table">
            <a:tbl>
              <a:tblPr firstRow="1"/>
              <a:tblGrid>
                <a:gridCol w="4343400">
                  <a:extLst>
                    <a:ext uri="{9D8B030D-6E8A-4147-A177-3AD203B41FA5}">
                      <a16:colId xmlns:a16="http://schemas.microsoft.com/office/drawing/2014/main" val="20000"/>
                    </a:ext>
                  </a:extLst>
                </a:gridCol>
                <a:gridCol w="1325880">
                  <a:extLst>
                    <a:ext uri="{9D8B030D-6E8A-4147-A177-3AD203B41FA5}">
                      <a16:colId xmlns:a16="http://schemas.microsoft.com/office/drawing/2014/main" val="20001"/>
                    </a:ext>
                  </a:extLst>
                </a:gridCol>
                <a:gridCol w="1645920">
                  <a:extLst>
                    <a:ext uri="{9D8B030D-6E8A-4147-A177-3AD203B41FA5}">
                      <a16:colId xmlns:a16="http://schemas.microsoft.com/office/drawing/2014/main" val="20002"/>
                    </a:ext>
                  </a:extLst>
                </a:gridCol>
                <a:gridCol w="1645920">
                  <a:extLst>
                    <a:ext uri="{9D8B030D-6E8A-4147-A177-3AD203B41FA5}">
                      <a16:colId xmlns:a16="http://schemas.microsoft.com/office/drawing/2014/main" val="20003"/>
                    </a:ext>
                  </a:extLst>
                </a:gridCol>
                <a:gridCol w="1645920">
                  <a:extLst>
                    <a:ext uri="{9D8B030D-6E8A-4147-A177-3AD203B41FA5}">
                      <a16:colId xmlns:a16="http://schemas.microsoft.com/office/drawing/2014/main" val="20004"/>
                    </a:ext>
                  </a:extLst>
                </a:gridCol>
              </a:tblGrid>
              <a:tr h="548640">
                <a:tc>
                  <a:txBody>
                    <a:bodyPr/>
                    <a:lstStyle/>
                    <a:p>
                      <a:pPr algn="l">
                        <a:lnSpc>
                          <a:spcPct val="105000"/>
                        </a:lnSpc>
                      </a:pPr>
                      <a:r>
                        <a:rPr lang="en-US" sz="1300" b="1" dirty="0">
                          <a:solidFill>
                            <a:srgbClr val="262626"/>
                          </a:solidFill>
                          <a:latin typeface="FS PF BeauSans Pro"/>
                          <a:ea typeface="FS PF BeauSans Pro"/>
                          <a:cs typeface="FS PF BeauSans Pro"/>
                        </a:rPr>
                        <a:t>Utterance (input text)</a:t>
                      </a:r>
                    </a:p>
                  </a:txBody>
                  <a:tcPr anchor="ctr">
                    <a:lnL w="0">
                      <a:noFill/>
                    </a:lnL>
                    <a:lnR w="0">
                      <a:noFill/>
                    </a:lnR>
                    <a:lnT w="19050">
                      <a:solidFill>
                        <a:srgbClr val="262626"/>
                      </a:solidFill>
                    </a:lnT>
                    <a:lnB w="9525">
                      <a:solidFill>
                        <a:srgbClr val="262626"/>
                      </a:solidFill>
                    </a:lnB>
                    <a:noFill/>
                  </a:tcPr>
                </a:tc>
                <a:tc>
                  <a:txBody>
                    <a:bodyPr/>
                    <a:lstStyle/>
                    <a:p>
                      <a:pPr algn="ctr">
                        <a:lnSpc>
                          <a:spcPct val="105000"/>
                        </a:lnSpc>
                      </a:pPr>
                      <a:r>
                        <a:rPr lang="en-US" sz="1200" b="1" dirty="0">
                          <a:solidFill>
                            <a:srgbClr val="262626"/>
                          </a:solidFill>
                          <a:latin typeface="FS PF BeauSans Pro"/>
                          <a:ea typeface="FS PF BeauSans Pro"/>
                          <a:cs typeface="FS PF BeauSans Pro"/>
                        </a:rPr>
                        <a:t>Reference voice</a:t>
                      </a:r>
                    </a:p>
                  </a:txBody>
                  <a:tcPr anchor="ctr">
                    <a:lnL w="0">
                      <a:noFill/>
                    </a:lnL>
                    <a:lnR w="0">
                      <a:noFill/>
                    </a:lnR>
                    <a:lnT w="19050">
                      <a:solidFill>
                        <a:srgbClr val="262626"/>
                      </a:solidFill>
                    </a:lnT>
                    <a:lnB w="9525">
                      <a:solidFill>
                        <a:srgbClr val="262626"/>
                      </a:solidFill>
                    </a:lnB>
                    <a:noFill/>
                  </a:tcPr>
                </a:tc>
                <a:tc>
                  <a:txBody>
                    <a:bodyPr/>
                    <a:lstStyle/>
                    <a:p>
                      <a:pPr algn="ctr">
                        <a:lnSpc>
                          <a:spcPct val="105000"/>
                        </a:lnSpc>
                      </a:pPr>
                      <a:r>
                        <a:rPr lang="en-US" sz="1200" b="1" dirty="0">
                          <a:solidFill>
                            <a:srgbClr val="262626"/>
                          </a:solidFill>
                          <a:latin typeface="FS PF BeauSans Pro"/>
                          <a:ea typeface="FS PF BeauSans Pro"/>
                          <a:cs typeface="FS PF BeauSans Pro"/>
                        </a:rPr>
                        <a:t>Fish Audio</a:t>
                      </a:r>
                    </a:p>
                  </a:txBody>
                  <a:tcPr anchor="ctr">
                    <a:lnL w="0">
                      <a:noFill/>
                    </a:lnL>
                    <a:lnR w="0">
                      <a:noFill/>
                    </a:lnR>
                    <a:lnT w="19050">
                      <a:solidFill>
                        <a:srgbClr val="262626"/>
                      </a:solidFill>
                    </a:lnT>
                    <a:lnB w="9525">
                      <a:solidFill>
                        <a:srgbClr val="262626"/>
                      </a:solidFill>
                    </a:lnB>
                    <a:noFill/>
                  </a:tcPr>
                </a:tc>
                <a:tc>
                  <a:txBody>
                    <a:bodyPr/>
                    <a:lstStyle/>
                    <a:p>
                      <a:pPr algn="ctr">
                        <a:lnSpc>
                          <a:spcPct val="105000"/>
                        </a:lnSpc>
                      </a:pPr>
                      <a:r>
                        <a:rPr lang="en-US" sz="1200" b="1" dirty="0">
                          <a:solidFill>
                            <a:srgbClr val="262626"/>
                          </a:solidFill>
                          <a:latin typeface="FS PF BeauSans Pro"/>
                          <a:ea typeface="FS PF BeauSans Pro"/>
                          <a:cs typeface="FS PF BeauSans Pro"/>
                        </a:rPr>
                        <a:t>OmniVoice (base)</a:t>
                      </a:r>
                    </a:p>
                  </a:txBody>
                  <a:tcPr anchor="ctr">
                    <a:lnL w="0">
                      <a:noFill/>
                    </a:lnL>
                    <a:lnR w="0">
                      <a:noFill/>
                    </a:lnR>
                    <a:lnT w="19050">
                      <a:solidFill>
                        <a:srgbClr val="262626"/>
                      </a:solidFill>
                    </a:lnT>
                    <a:lnB w="9525">
                      <a:solidFill>
                        <a:srgbClr val="262626"/>
                      </a:solidFill>
                    </a:lnB>
                    <a:noFill/>
                  </a:tcPr>
                </a:tc>
                <a:tc>
                  <a:txBody>
                    <a:bodyPr/>
                    <a:lstStyle/>
                    <a:p>
                      <a:pPr algn="ctr">
                        <a:lnSpc>
                          <a:spcPct val="105000"/>
                        </a:lnSpc>
                      </a:pPr>
                      <a:r>
                        <a:rPr lang="en-US" sz="1200" b="1" dirty="0">
                          <a:solidFill>
                            <a:srgbClr val="EE0033"/>
                          </a:solidFill>
                          <a:latin typeface="FS PF BeauSans Pro"/>
                          <a:ea typeface="FS PF BeauSans Pro"/>
                          <a:cs typeface="FS PF BeauSans Pro"/>
                        </a:rPr>
                        <a:t>OmniVoice fine-tuned (ours)</a:t>
                      </a:r>
                    </a:p>
                  </a:txBody>
                  <a:tcPr anchor="ctr">
                    <a:lnL w="0">
                      <a:noFill/>
                    </a:lnL>
                    <a:lnR w="0">
                      <a:noFill/>
                    </a:lnR>
                    <a:lnT w="19050">
                      <a:solidFill>
                        <a:srgbClr val="262626"/>
                      </a:solidFill>
                    </a:lnT>
                    <a:lnB w="9525">
                      <a:solidFill>
                        <a:srgbClr val="262626"/>
                      </a:solidFill>
                    </a:lnB>
                    <a:solidFill>
                      <a:srgbClr val="FDECEC"/>
                    </a:solidFill>
                  </a:tcPr>
                </a:tc>
                <a:extLst>
                  <a:ext uri="{0D108BD9-81ED-4DB2-BD59-A6C34878D82A}">
                    <a16:rowId xmlns:a16="http://schemas.microsoft.com/office/drawing/2014/main" val="10000"/>
                  </a:ext>
                </a:extLst>
              </a:tr>
              <a:tr h="804672">
                <a:tc>
                  <a:txBody>
                    <a:bodyPr/>
                    <a:lstStyle/>
                    <a:p>
                      <a:pPr algn="l">
                        <a:lnSpc>
                          <a:spcPct val="105000"/>
                        </a:lnSpc>
                      </a:pPr>
                      <a:r>
                        <a:rPr lang="en-US" sz="1300" b="1" dirty="0">
                          <a:solidFill>
                            <a:srgbClr val="EE0033"/>
                          </a:solidFill>
                          <a:latin typeface="FS PF BeauSans Pro"/>
                          <a:ea typeface="FS PF BeauSans Pro"/>
                          <a:cs typeface="FS PF BeauSans Pro"/>
                        </a:rPr>
                        <a:t>[laughter]</a:t>
                      </a:r>
                      <a:r>
                        <a:rPr lang="en-US" sz="1300" dirty="0">
                          <a:solidFill>
                            <a:srgbClr val="262626"/>
                          </a:solidFill>
                          <a:latin typeface="FS PF BeauSans Pro"/>
                          <a:ea typeface="FS PF BeauSans Pro"/>
                          <a:cs typeface="FS PF BeauSans Pro"/>
                        </a:rPr>
                        <a:t> cậu kể chuyện gì mà buồn cười thế làm tôi cười đau cả bụng</a:t>
                      </a:r>
                    </a:p>
                  </a:txBody>
                  <a:tcPr anchor="ctr">
                    <a:lnL w="0">
                      <a:noFill/>
                    </a:lnL>
                    <a:lnR w="0">
                      <a:noFill/>
                    </a:lnR>
                    <a:lnT w="9525" cap="flat" cmpd="sng" algn="ctr">
                      <a:solidFill>
                        <a:srgbClr val="262626"/>
                      </a:solidFill>
                      <a:prstDash val="solid"/>
                      <a:round/>
                      <a:headEnd type="none" w="med" len="med"/>
                      <a:tailEnd type="none" w="med" len="med"/>
                    </a:lnT>
                    <a:lnB w="6350">
                      <a:solidFill>
                        <a:srgbClr val="BFBFBF"/>
                      </a:solidFill>
                    </a:lnB>
                    <a:noFill/>
                  </a:tcPr>
                </a:tc>
                <a:tc>
                  <a:txBody>
                    <a:bodyPr/>
                    <a:lstStyle/>
                    <a:p>
                      <a:pPr algn="ctr">
                        <a:lnSpc>
                          <a:spcPct val="105000"/>
                        </a:lnSpc>
                      </a:pPr>
                      <a:endParaRPr lang="en-US" sz="1000"/>
                    </a:p>
                  </a:txBody>
                  <a:tcPr anchor="ctr">
                    <a:lnL w="0">
                      <a:noFill/>
                    </a:lnL>
                    <a:lnR w="0">
                      <a:noFill/>
                    </a:lnR>
                    <a:lnT w="9525" cap="flat" cmpd="sng" algn="ctr">
                      <a:solidFill>
                        <a:srgbClr val="262626"/>
                      </a:solidFill>
                      <a:prstDash val="solid"/>
                      <a:round/>
                      <a:headEnd type="none" w="med" len="med"/>
                      <a:tailEnd type="none" w="med" len="med"/>
                    </a:lnT>
                    <a:lnB w="6350">
                      <a:solidFill>
                        <a:srgbClr val="BFBFBF"/>
                      </a:solidFill>
                    </a:lnB>
                    <a:noFill/>
                  </a:tcPr>
                </a:tc>
                <a:tc>
                  <a:txBody>
                    <a:bodyPr/>
                    <a:lstStyle/>
                    <a:p>
                      <a:pPr algn="ctr">
                        <a:lnSpc>
                          <a:spcPct val="105000"/>
                        </a:lnSpc>
                      </a:pPr>
                      <a:endParaRPr lang="en-US" sz="1000"/>
                    </a:p>
                  </a:txBody>
                  <a:tcPr anchor="ctr">
                    <a:lnL w="0">
                      <a:noFill/>
                    </a:lnL>
                    <a:lnR w="0">
                      <a:noFill/>
                    </a:lnR>
                    <a:lnT w="9525" cap="flat" cmpd="sng" algn="ctr">
                      <a:solidFill>
                        <a:srgbClr val="262626"/>
                      </a:solidFill>
                      <a:prstDash val="solid"/>
                      <a:round/>
                      <a:headEnd type="none" w="med" len="med"/>
                      <a:tailEnd type="none" w="med" len="med"/>
                    </a:lnT>
                    <a:lnB w="6350">
                      <a:solidFill>
                        <a:srgbClr val="BFBFBF"/>
                      </a:solidFill>
                    </a:lnB>
                    <a:noFill/>
                  </a:tcPr>
                </a:tc>
                <a:tc>
                  <a:txBody>
                    <a:bodyPr/>
                    <a:lstStyle/>
                    <a:p>
                      <a:pPr algn="ctr">
                        <a:lnSpc>
                          <a:spcPct val="105000"/>
                        </a:lnSpc>
                      </a:pPr>
                      <a:endParaRPr lang="en-US" sz="1000"/>
                    </a:p>
                  </a:txBody>
                  <a:tcPr anchor="ctr">
                    <a:lnL w="0">
                      <a:noFill/>
                    </a:lnL>
                    <a:lnR w="0">
                      <a:noFill/>
                    </a:lnR>
                    <a:lnT w="9525" cap="flat" cmpd="sng" algn="ctr">
                      <a:solidFill>
                        <a:srgbClr val="262626"/>
                      </a:solidFill>
                      <a:prstDash val="solid"/>
                      <a:round/>
                      <a:headEnd type="none" w="med" len="med"/>
                      <a:tailEnd type="none" w="med" len="med"/>
                    </a:lnT>
                    <a:lnB w="6350">
                      <a:solidFill>
                        <a:srgbClr val="BFBFBF"/>
                      </a:solidFill>
                    </a:lnB>
                    <a:noFill/>
                  </a:tcPr>
                </a:tc>
                <a:tc>
                  <a:txBody>
                    <a:bodyPr/>
                    <a:lstStyle/>
                    <a:p>
                      <a:pPr algn="ctr">
                        <a:lnSpc>
                          <a:spcPct val="105000"/>
                        </a:lnSpc>
                      </a:pPr>
                      <a:endParaRPr lang="en-US" sz="1000"/>
                    </a:p>
                  </a:txBody>
                  <a:tcPr anchor="ctr">
                    <a:lnL w="0">
                      <a:noFill/>
                    </a:lnL>
                    <a:lnR w="0">
                      <a:noFill/>
                    </a:lnR>
                    <a:lnT w="9525" cap="flat" cmpd="sng" algn="ctr">
                      <a:solidFill>
                        <a:srgbClr val="262626"/>
                      </a:solidFill>
                      <a:prstDash val="solid"/>
                      <a:round/>
                      <a:headEnd type="none" w="med" len="med"/>
                      <a:tailEnd type="none" w="med" len="med"/>
                    </a:lnT>
                    <a:lnB w="6350">
                      <a:solidFill>
                        <a:srgbClr val="BFBFBF"/>
                      </a:solidFill>
                    </a:lnB>
                    <a:solidFill>
                      <a:srgbClr val="FDECEC"/>
                    </a:solidFill>
                  </a:tcPr>
                </a:tc>
                <a:extLst>
                  <a:ext uri="{0D108BD9-81ED-4DB2-BD59-A6C34878D82A}">
                    <a16:rowId xmlns:a16="http://schemas.microsoft.com/office/drawing/2014/main" val="10001"/>
                  </a:ext>
                </a:extLst>
              </a:tr>
              <a:tr h="804672">
                <a:tc>
                  <a:txBody>
                    <a:bodyPr/>
                    <a:lstStyle/>
                    <a:p>
                      <a:pPr algn="l">
                        <a:lnSpc>
                          <a:spcPct val="105000"/>
                        </a:lnSpc>
                      </a:pPr>
                      <a:r>
                        <a:rPr lang="en-US" sz="1300" b="1" dirty="0">
                          <a:solidFill>
                            <a:srgbClr val="EE0033"/>
                          </a:solidFill>
                          <a:latin typeface="FS PF BeauSans Pro"/>
                          <a:ea typeface="FS PF BeauSans Pro"/>
                          <a:cs typeface="FS PF BeauSans Pro"/>
                        </a:rPr>
                        <a:t>[throatclearing]</a:t>
                      </a:r>
                      <a:r>
                        <a:rPr lang="en-US" sz="1300" dirty="0">
                          <a:solidFill>
                            <a:srgbClr val="262626"/>
                          </a:solidFill>
                          <a:latin typeface="FS PF BeauSans Pro"/>
                          <a:ea typeface="FS PF BeauSans Pro"/>
                          <a:cs typeface="FS PF BeauSans Pro"/>
                        </a:rPr>
                        <a:t> Xin chào mọi người, chúng ta bắt đầu cuộc họp hôm nay nhé.</a:t>
                      </a:r>
                    </a:p>
                  </a:txBody>
                  <a:tcPr anchor="ctr">
                    <a:lnL w="0">
                      <a:noFill/>
                    </a:lnL>
                    <a:lnR w="0">
                      <a:noFill/>
                    </a:lnR>
                    <a:lnT w="6350" cap="flat" cmpd="sng" algn="ctr">
                      <a:solidFill>
                        <a:srgbClr val="BFBFBF"/>
                      </a:solidFill>
                      <a:prstDash val="solid"/>
                      <a:round/>
                      <a:headEnd type="none" w="med" len="med"/>
                      <a:tailEnd type="none" w="med" len="med"/>
                    </a:lnT>
                    <a:lnB w="6350">
                      <a:solidFill>
                        <a:srgbClr val="BFBFBF"/>
                      </a:solidFill>
                    </a:lnB>
                    <a:noFill/>
                  </a:tcPr>
                </a:tc>
                <a:tc>
                  <a:txBody>
                    <a:bodyPr/>
                    <a:lstStyle/>
                    <a:p>
                      <a:pPr algn="ctr">
                        <a:lnSpc>
                          <a:spcPct val="105000"/>
                        </a:lnSpc>
                      </a:pPr>
                      <a:endParaRPr lang="en-US" sz="1000"/>
                    </a:p>
                  </a:txBody>
                  <a:tcPr anchor="ctr">
                    <a:lnL w="0">
                      <a:noFill/>
                    </a:lnL>
                    <a:lnR w="0">
                      <a:noFill/>
                    </a:lnR>
                    <a:lnT w="6350" cap="flat" cmpd="sng" algn="ctr">
                      <a:solidFill>
                        <a:srgbClr val="BFBFBF"/>
                      </a:solidFill>
                      <a:prstDash val="solid"/>
                      <a:round/>
                      <a:headEnd type="none" w="med" len="med"/>
                      <a:tailEnd type="none" w="med" len="med"/>
                    </a:lnT>
                    <a:lnB w="6350">
                      <a:solidFill>
                        <a:srgbClr val="BFBFBF"/>
                      </a:solidFill>
                    </a:lnB>
                    <a:noFill/>
                  </a:tcPr>
                </a:tc>
                <a:tc>
                  <a:txBody>
                    <a:bodyPr/>
                    <a:lstStyle/>
                    <a:p>
                      <a:pPr algn="ctr">
                        <a:lnSpc>
                          <a:spcPct val="105000"/>
                        </a:lnSpc>
                      </a:pPr>
                      <a:endParaRPr lang="en-US" sz="1000"/>
                    </a:p>
                  </a:txBody>
                  <a:tcPr anchor="ctr">
                    <a:lnL w="0">
                      <a:noFill/>
                    </a:lnL>
                    <a:lnR w="0">
                      <a:noFill/>
                    </a:lnR>
                    <a:lnT w="6350" cap="flat" cmpd="sng" algn="ctr">
                      <a:solidFill>
                        <a:srgbClr val="BFBFBF"/>
                      </a:solidFill>
                      <a:prstDash val="solid"/>
                      <a:round/>
                      <a:headEnd type="none" w="med" len="med"/>
                      <a:tailEnd type="none" w="med" len="med"/>
                    </a:lnT>
                    <a:lnB w="6350">
                      <a:solidFill>
                        <a:srgbClr val="BFBFBF"/>
                      </a:solidFill>
                    </a:lnB>
                    <a:noFill/>
                  </a:tcPr>
                </a:tc>
                <a:tc>
                  <a:txBody>
                    <a:bodyPr/>
                    <a:lstStyle/>
                    <a:p>
                      <a:pPr algn="ctr">
                        <a:lnSpc>
                          <a:spcPct val="105000"/>
                        </a:lnSpc>
                      </a:pPr>
                      <a:endParaRPr lang="en-US" sz="1000"/>
                    </a:p>
                  </a:txBody>
                  <a:tcPr anchor="ctr">
                    <a:lnL w="0">
                      <a:noFill/>
                    </a:lnL>
                    <a:lnR w="0">
                      <a:noFill/>
                    </a:lnR>
                    <a:lnT w="6350" cap="flat" cmpd="sng" algn="ctr">
                      <a:solidFill>
                        <a:srgbClr val="BFBFBF"/>
                      </a:solidFill>
                      <a:prstDash val="solid"/>
                      <a:round/>
                      <a:headEnd type="none" w="med" len="med"/>
                      <a:tailEnd type="none" w="med" len="med"/>
                    </a:lnT>
                    <a:lnB w="6350">
                      <a:solidFill>
                        <a:srgbClr val="BFBFBF"/>
                      </a:solidFill>
                    </a:lnB>
                    <a:noFill/>
                  </a:tcPr>
                </a:tc>
                <a:tc>
                  <a:txBody>
                    <a:bodyPr/>
                    <a:lstStyle/>
                    <a:p>
                      <a:pPr algn="ctr">
                        <a:lnSpc>
                          <a:spcPct val="105000"/>
                        </a:lnSpc>
                      </a:pPr>
                      <a:endParaRPr lang="en-US" sz="1000"/>
                    </a:p>
                  </a:txBody>
                  <a:tcPr anchor="ctr">
                    <a:lnL w="0">
                      <a:noFill/>
                    </a:lnL>
                    <a:lnR w="0">
                      <a:noFill/>
                    </a:lnR>
                    <a:lnT w="6350" cap="flat" cmpd="sng" algn="ctr">
                      <a:solidFill>
                        <a:srgbClr val="BFBFBF"/>
                      </a:solidFill>
                      <a:prstDash val="solid"/>
                      <a:round/>
                      <a:headEnd type="none" w="med" len="med"/>
                      <a:tailEnd type="none" w="med" len="med"/>
                    </a:lnT>
                    <a:lnB w="6350">
                      <a:solidFill>
                        <a:srgbClr val="BFBFBF"/>
                      </a:solidFill>
                    </a:lnB>
                    <a:solidFill>
                      <a:srgbClr val="FDECEC"/>
                    </a:solidFill>
                  </a:tcPr>
                </a:tc>
                <a:extLst>
                  <a:ext uri="{0D108BD9-81ED-4DB2-BD59-A6C34878D82A}">
                    <a16:rowId xmlns:a16="http://schemas.microsoft.com/office/drawing/2014/main" val="10002"/>
                  </a:ext>
                </a:extLst>
              </a:tr>
              <a:tr h="804672">
                <a:tc>
                  <a:txBody>
                    <a:bodyPr/>
                    <a:lstStyle/>
                    <a:p>
                      <a:pPr algn="l">
                        <a:lnSpc>
                          <a:spcPct val="105000"/>
                        </a:lnSpc>
                      </a:pPr>
                      <a:r>
                        <a:rPr lang="en-US" sz="1300" dirty="0">
                          <a:solidFill>
                            <a:srgbClr val="262626"/>
                          </a:solidFill>
                          <a:latin typeface="FS PF BeauSans Pro"/>
                          <a:ea typeface="FS PF BeauSans Pro"/>
                          <a:cs typeface="FS PF BeauSans Pro"/>
                        </a:rPr>
                        <a:t>Cảm ơn ông trời </a:t>
                      </a:r>
                      <a:r>
                        <a:rPr lang="en-US" sz="1300" b="1" dirty="0">
                          <a:solidFill>
                            <a:srgbClr val="EE0033"/>
                          </a:solidFill>
                          <a:latin typeface="FS PF BeauSans Pro"/>
                          <a:ea typeface="FS PF BeauSans Pro"/>
                          <a:cs typeface="FS PF BeauSans Pro"/>
                        </a:rPr>
                        <a:t>[sniff]</a:t>
                      </a:r>
                      <a:r>
                        <a:rPr lang="en-US" sz="1300" dirty="0">
                          <a:solidFill>
                            <a:srgbClr val="262626"/>
                          </a:solidFill>
                          <a:latin typeface="FS PF BeauSans Pro"/>
                          <a:ea typeface="FS PF BeauSans Pro"/>
                          <a:cs typeface="FS PF BeauSans Pro"/>
                        </a:rPr>
                        <a:t> cuối cùng tôi cũng tìm được chìa khóa nhà</a:t>
                      </a:r>
                    </a:p>
                  </a:txBody>
                  <a:tcPr anchor="ctr">
                    <a:lnL w="0">
                      <a:noFill/>
                    </a:lnL>
                    <a:lnR w="0">
                      <a:noFill/>
                    </a:lnR>
                    <a:lnT w="6350" cap="flat" cmpd="sng" algn="ctr">
                      <a:solidFill>
                        <a:srgbClr val="BFBFBF"/>
                      </a:solidFill>
                      <a:prstDash val="solid"/>
                      <a:round/>
                      <a:headEnd type="none" w="med" len="med"/>
                      <a:tailEnd type="none" w="med" len="med"/>
                    </a:lnT>
                    <a:lnB w="6350">
                      <a:solidFill>
                        <a:srgbClr val="BFBFBF"/>
                      </a:solidFill>
                    </a:lnB>
                    <a:noFill/>
                  </a:tcPr>
                </a:tc>
                <a:tc>
                  <a:txBody>
                    <a:bodyPr/>
                    <a:lstStyle/>
                    <a:p>
                      <a:pPr algn="ctr">
                        <a:lnSpc>
                          <a:spcPct val="105000"/>
                        </a:lnSpc>
                      </a:pPr>
                      <a:endParaRPr lang="en-US" sz="1000"/>
                    </a:p>
                  </a:txBody>
                  <a:tcPr anchor="ctr">
                    <a:lnL w="0">
                      <a:noFill/>
                    </a:lnL>
                    <a:lnR w="0">
                      <a:noFill/>
                    </a:lnR>
                    <a:lnT w="6350" cap="flat" cmpd="sng" algn="ctr">
                      <a:solidFill>
                        <a:srgbClr val="BFBFBF"/>
                      </a:solidFill>
                      <a:prstDash val="solid"/>
                      <a:round/>
                      <a:headEnd type="none" w="med" len="med"/>
                      <a:tailEnd type="none" w="med" len="med"/>
                    </a:lnT>
                    <a:lnB w="6350">
                      <a:solidFill>
                        <a:srgbClr val="BFBFBF"/>
                      </a:solidFill>
                    </a:lnB>
                    <a:noFill/>
                  </a:tcPr>
                </a:tc>
                <a:tc>
                  <a:txBody>
                    <a:bodyPr/>
                    <a:lstStyle/>
                    <a:p>
                      <a:pPr algn="ctr">
                        <a:lnSpc>
                          <a:spcPct val="105000"/>
                        </a:lnSpc>
                      </a:pPr>
                      <a:endParaRPr lang="en-US" sz="1000"/>
                    </a:p>
                  </a:txBody>
                  <a:tcPr anchor="ctr">
                    <a:lnL w="0">
                      <a:noFill/>
                    </a:lnL>
                    <a:lnR w="0">
                      <a:noFill/>
                    </a:lnR>
                    <a:lnT w="6350" cap="flat" cmpd="sng" algn="ctr">
                      <a:solidFill>
                        <a:srgbClr val="BFBFBF"/>
                      </a:solidFill>
                      <a:prstDash val="solid"/>
                      <a:round/>
                      <a:headEnd type="none" w="med" len="med"/>
                      <a:tailEnd type="none" w="med" len="med"/>
                    </a:lnT>
                    <a:lnB w="6350">
                      <a:solidFill>
                        <a:srgbClr val="BFBFBF"/>
                      </a:solidFill>
                    </a:lnB>
                    <a:noFill/>
                  </a:tcPr>
                </a:tc>
                <a:tc>
                  <a:txBody>
                    <a:bodyPr/>
                    <a:lstStyle/>
                    <a:p>
                      <a:pPr algn="ctr">
                        <a:lnSpc>
                          <a:spcPct val="105000"/>
                        </a:lnSpc>
                      </a:pPr>
                      <a:endParaRPr lang="en-US" sz="1000"/>
                    </a:p>
                  </a:txBody>
                  <a:tcPr anchor="ctr">
                    <a:lnL w="0">
                      <a:noFill/>
                    </a:lnL>
                    <a:lnR w="0">
                      <a:noFill/>
                    </a:lnR>
                    <a:lnT w="6350" cap="flat" cmpd="sng" algn="ctr">
                      <a:solidFill>
                        <a:srgbClr val="BFBFBF"/>
                      </a:solidFill>
                      <a:prstDash val="solid"/>
                      <a:round/>
                      <a:headEnd type="none" w="med" len="med"/>
                      <a:tailEnd type="none" w="med" len="med"/>
                    </a:lnT>
                    <a:lnB w="6350">
                      <a:solidFill>
                        <a:srgbClr val="BFBFBF"/>
                      </a:solidFill>
                    </a:lnB>
                    <a:noFill/>
                  </a:tcPr>
                </a:tc>
                <a:tc>
                  <a:txBody>
                    <a:bodyPr/>
                    <a:lstStyle/>
                    <a:p>
                      <a:pPr algn="ctr">
                        <a:lnSpc>
                          <a:spcPct val="105000"/>
                        </a:lnSpc>
                      </a:pPr>
                      <a:endParaRPr lang="en-US" sz="1000"/>
                    </a:p>
                  </a:txBody>
                  <a:tcPr anchor="ctr">
                    <a:lnL w="0">
                      <a:noFill/>
                    </a:lnL>
                    <a:lnR w="0">
                      <a:noFill/>
                    </a:lnR>
                    <a:lnT w="6350" cap="flat" cmpd="sng" algn="ctr">
                      <a:solidFill>
                        <a:srgbClr val="BFBFBF"/>
                      </a:solidFill>
                      <a:prstDash val="solid"/>
                      <a:round/>
                      <a:headEnd type="none" w="med" len="med"/>
                      <a:tailEnd type="none" w="med" len="med"/>
                    </a:lnT>
                    <a:lnB w="6350">
                      <a:solidFill>
                        <a:srgbClr val="BFBFBF"/>
                      </a:solidFill>
                    </a:lnB>
                    <a:solidFill>
                      <a:srgbClr val="FDECEC"/>
                    </a:solidFill>
                  </a:tcPr>
                </a:tc>
                <a:extLst>
                  <a:ext uri="{0D108BD9-81ED-4DB2-BD59-A6C34878D82A}">
                    <a16:rowId xmlns:a16="http://schemas.microsoft.com/office/drawing/2014/main" val="10003"/>
                  </a:ext>
                </a:extLst>
              </a:tr>
              <a:tr h="804672">
                <a:tc>
                  <a:txBody>
                    <a:bodyPr/>
                    <a:lstStyle/>
                    <a:p>
                      <a:pPr algn="l">
                        <a:lnSpc>
                          <a:spcPct val="105000"/>
                        </a:lnSpc>
                      </a:pPr>
                      <a:r>
                        <a:rPr lang="en-US" sz="1300" b="1" dirty="0">
                          <a:solidFill>
                            <a:srgbClr val="EE0033"/>
                          </a:solidFill>
                          <a:latin typeface="FS PF BeauSans Pro"/>
                          <a:ea typeface="FS PF BeauSans Pro"/>
                          <a:cs typeface="FS PF BeauSans Pro"/>
                        </a:rPr>
                        <a:t>[throatclearing]</a:t>
                      </a:r>
                      <a:r>
                        <a:rPr lang="en-US" sz="1300" dirty="0">
                          <a:solidFill>
                            <a:srgbClr val="262626"/>
                          </a:solidFill>
                          <a:latin typeface="FS PF BeauSans Pro"/>
                          <a:ea typeface="FS PF BeauSans Pro"/>
                          <a:cs typeface="FS PF BeauSans Pro"/>
                        </a:rPr>
                        <a:t> Xin lỗi, cho tôi hỏi ga Hà Nội đi lối nào ạ </a:t>
                      </a:r>
                      <a:r>
                        <a:rPr lang="en-US" sz="1300" b="1" dirty="0">
                          <a:solidFill>
                            <a:srgbClr val="EE0033"/>
                          </a:solidFill>
                          <a:latin typeface="FS PF BeauSans Pro"/>
                          <a:ea typeface="FS PF BeauSans Pro"/>
                          <a:cs typeface="FS PF BeauSans Pro"/>
                        </a:rPr>
                        <a:t>[breathing]</a:t>
                      </a:r>
                      <a:r>
                        <a:rPr lang="en-US" sz="1300" dirty="0">
                          <a:solidFill>
                            <a:srgbClr val="262626"/>
                          </a:solidFill>
                          <a:latin typeface="FS PF BeauSans Pro"/>
                          <a:ea typeface="FS PF BeauSans Pro"/>
                          <a:cs typeface="FS PF BeauSans Pro"/>
                        </a:rPr>
                        <a:t> tôi chạy nãy giờ mệt quá.</a:t>
                      </a:r>
                    </a:p>
                  </a:txBody>
                  <a:tcPr anchor="ctr">
                    <a:lnL w="0">
                      <a:noFill/>
                    </a:lnL>
                    <a:lnR w="0">
                      <a:noFill/>
                    </a:lnR>
                    <a:lnT w="6350" cap="flat" cmpd="sng" algn="ctr">
                      <a:solidFill>
                        <a:srgbClr val="BFBFBF"/>
                      </a:solidFill>
                      <a:prstDash val="solid"/>
                      <a:round/>
                      <a:headEnd type="none" w="med" len="med"/>
                      <a:tailEnd type="none" w="med" len="med"/>
                    </a:lnT>
                    <a:lnB w="19050">
                      <a:solidFill>
                        <a:srgbClr val="262626"/>
                      </a:solidFill>
                    </a:lnB>
                    <a:noFill/>
                  </a:tcPr>
                </a:tc>
                <a:tc>
                  <a:txBody>
                    <a:bodyPr/>
                    <a:lstStyle/>
                    <a:p>
                      <a:pPr algn="ctr">
                        <a:lnSpc>
                          <a:spcPct val="105000"/>
                        </a:lnSpc>
                      </a:pPr>
                      <a:endParaRPr lang="en-US" sz="1000"/>
                    </a:p>
                  </a:txBody>
                  <a:tcPr anchor="ctr">
                    <a:lnL w="0">
                      <a:noFill/>
                    </a:lnL>
                    <a:lnR w="0">
                      <a:noFill/>
                    </a:lnR>
                    <a:lnT w="6350" cap="flat" cmpd="sng" algn="ctr">
                      <a:solidFill>
                        <a:srgbClr val="BFBFBF"/>
                      </a:solidFill>
                      <a:prstDash val="solid"/>
                      <a:round/>
                      <a:headEnd type="none" w="med" len="med"/>
                      <a:tailEnd type="none" w="med" len="med"/>
                    </a:lnT>
                    <a:lnB w="19050">
                      <a:solidFill>
                        <a:srgbClr val="262626"/>
                      </a:solidFill>
                    </a:lnB>
                    <a:noFill/>
                  </a:tcPr>
                </a:tc>
                <a:tc>
                  <a:txBody>
                    <a:bodyPr/>
                    <a:lstStyle/>
                    <a:p>
                      <a:pPr algn="ctr">
                        <a:lnSpc>
                          <a:spcPct val="105000"/>
                        </a:lnSpc>
                      </a:pPr>
                      <a:endParaRPr lang="en-US" sz="1000"/>
                    </a:p>
                  </a:txBody>
                  <a:tcPr anchor="ctr">
                    <a:lnL w="0">
                      <a:noFill/>
                    </a:lnL>
                    <a:lnR w="0">
                      <a:noFill/>
                    </a:lnR>
                    <a:lnT w="6350" cap="flat" cmpd="sng" algn="ctr">
                      <a:solidFill>
                        <a:srgbClr val="BFBFBF"/>
                      </a:solidFill>
                      <a:prstDash val="solid"/>
                      <a:round/>
                      <a:headEnd type="none" w="med" len="med"/>
                      <a:tailEnd type="none" w="med" len="med"/>
                    </a:lnT>
                    <a:lnB w="19050">
                      <a:solidFill>
                        <a:srgbClr val="262626"/>
                      </a:solidFill>
                    </a:lnB>
                    <a:noFill/>
                  </a:tcPr>
                </a:tc>
                <a:tc>
                  <a:txBody>
                    <a:bodyPr/>
                    <a:lstStyle/>
                    <a:p>
                      <a:pPr algn="ctr">
                        <a:lnSpc>
                          <a:spcPct val="105000"/>
                        </a:lnSpc>
                      </a:pPr>
                      <a:endParaRPr lang="en-US" sz="1000"/>
                    </a:p>
                  </a:txBody>
                  <a:tcPr anchor="ctr">
                    <a:lnL w="0">
                      <a:noFill/>
                    </a:lnL>
                    <a:lnR w="0">
                      <a:noFill/>
                    </a:lnR>
                    <a:lnT w="6350" cap="flat" cmpd="sng" algn="ctr">
                      <a:solidFill>
                        <a:srgbClr val="BFBFBF"/>
                      </a:solidFill>
                      <a:prstDash val="solid"/>
                      <a:round/>
                      <a:headEnd type="none" w="med" len="med"/>
                      <a:tailEnd type="none" w="med" len="med"/>
                    </a:lnT>
                    <a:lnB w="19050">
                      <a:solidFill>
                        <a:srgbClr val="262626"/>
                      </a:solidFill>
                    </a:lnB>
                    <a:noFill/>
                  </a:tcPr>
                </a:tc>
                <a:tc>
                  <a:txBody>
                    <a:bodyPr/>
                    <a:lstStyle/>
                    <a:p>
                      <a:pPr algn="ctr">
                        <a:lnSpc>
                          <a:spcPct val="105000"/>
                        </a:lnSpc>
                      </a:pPr>
                      <a:endParaRPr lang="en-US" sz="1000" dirty="0"/>
                    </a:p>
                  </a:txBody>
                  <a:tcPr anchor="ctr">
                    <a:lnL w="0">
                      <a:noFill/>
                    </a:lnL>
                    <a:lnR w="0">
                      <a:noFill/>
                    </a:lnR>
                    <a:lnT w="6350" cap="flat" cmpd="sng" algn="ctr">
                      <a:solidFill>
                        <a:srgbClr val="BFBFBF"/>
                      </a:solidFill>
                      <a:prstDash val="solid"/>
                      <a:round/>
                      <a:headEnd type="none" w="med" len="med"/>
                      <a:tailEnd type="none" w="med" len="med"/>
                    </a:lnT>
                    <a:lnB w="19050">
                      <a:solidFill>
                        <a:srgbClr val="262626"/>
                      </a:solidFill>
                    </a:lnB>
                    <a:solidFill>
                      <a:srgbClr val="FDECEC"/>
                    </a:solidFill>
                  </a:tcPr>
                </a:tc>
                <a:extLst>
                  <a:ext uri="{0D108BD9-81ED-4DB2-BD59-A6C34878D82A}">
                    <a16:rowId xmlns:a16="http://schemas.microsoft.com/office/drawing/2014/main" val="10004"/>
                  </a:ext>
                </a:extLst>
              </a:tr>
            </a:tbl>
          </a:graphicData>
        </a:graphic>
      </p:graphicFrame>
      <p:pic>
        <p:nvPicPr>
          <p:cNvPr id="150" name="Audio refs t03_v2" descr="Reference voice: t03_v2">
            <a:hlinkClick r:id="" action="ppaction://media"/>
          </p:cNvPr>
          <p:cNvPicPr>
            <a:picLocks noChangeAspect="1"/>
          </p:cNvPicPr>
          <p:nvPr>
            <a:audioFile r:link="rId2"/>
            <p:extLst>
              <p:ext uri="{DAA4B4D4-6D71-4841-9C94-3DE7FCFB9230}">
                <p14:media xmlns:p14="http://schemas.microsoft.com/office/powerpoint/2010/main" r:embed="rId1"/>
              </p:ext>
            </p:extLst>
          </p:nvPr>
        </p:nvPicPr>
        <p:blipFill>
          <a:blip r:embed="rId34"/>
          <a:stretch>
            <a:fillRect/>
          </a:stretch>
        </p:blipFill>
        <p:spPr>
          <a:xfrm>
            <a:off x="5664708" y="2624327"/>
            <a:ext cx="329184" cy="329184"/>
          </a:xfrm>
          <a:prstGeom prst="rect">
            <a:avLst/>
          </a:prstGeom>
        </p:spPr>
      </p:pic>
      <p:pic>
        <p:nvPicPr>
          <p:cNvPr id="151" name="Audio drama3 t03_v2" descr="Fish Audio: t03_v2">
            <a:hlinkClick r:id="" action="ppaction://media"/>
          </p:cNvPr>
          <p:cNvPicPr>
            <a:picLocks noChangeAspect="1"/>
          </p:cNvPicPr>
          <p:nvPr>
            <a:audioFile r:link="rId4"/>
            <p:extLst>
              <p:ext uri="{DAA4B4D4-6D71-4841-9C94-3DE7FCFB9230}">
                <p14:media xmlns:p14="http://schemas.microsoft.com/office/powerpoint/2010/main" r:embed="rId3"/>
              </p:ext>
            </p:extLst>
          </p:nvPr>
        </p:nvPicPr>
        <p:blipFill>
          <a:blip r:embed="rId34"/>
          <a:stretch>
            <a:fillRect/>
          </a:stretch>
        </p:blipFill>
        <p:spPr>
          <a:xfrm>
            <a:off x="7150608" y="2624328"/>
            <a:ext cx="329184" cy="329184"/>
          </a:xfrm>
          <a:prstGeom prst="rect">
            <a:avLst/>
          </a:prstGeom>
        </p:spPr>
      </p:pic>
      <p:sp>
        <p:nvSpPr>
          <p:cNvPr id="152" name="Detect drama3 t03_v2"/>
          <p:cNvSpPr txBox="1"/>
          <p:nvPr/>
        </p:nvSpPr>
        <p:spPr>
          <a:xfrm>
            <a:off x="6492240" y="2971800"/>
            <a:ext cx="1645920" cy="274320"/>
          </a:xfrm>
          <a:prstGeom prst="rect">
            <a:avLst/>
          </a:prstGeom>
          <a:noFill/>
          <a:ln>
            <a:noFill/>
          </a:ln>
        </p:spPr>
        <p:txBody>
          <a:bodyPr wrap="square" lIns="45720" tIns="45720" rIns="45720" bIns="45720" anchor="t">
            <a:noAutofit/>
          </a:bodyPr>
          <a:lstStyle/>
          <a:p>
            <a:pPr algn="ctr">
              <a:buNone/>
            </a:pPr>
            <a:r>
              <a:rPr lang="en-US" sz="1100" b="1" dirty="0">
                <a:solidFill>
                  <a:srgbClr val="1E7B34"/>
                </a:solidFill>
                <a:latin typeface="FS PF BeauSans Pro"/>
                <a:ea typeface="FS PF BeauSans Pro"/>
                <a:cs typeface="FS PF BeauSans Pro"/>
              </a:rPr>
              <a:t>✓</a:t>
            </a:r>
          </a:p>
        </p:txBody>
      </p:sp>
      <p:pic>
        <p:nvPicPr>
          <p:cNvPr id="153" name="Audio base t03_v2" descr="OmniVoice (base): t03_v2">
            <a:hlinkClick r:id="" action="ppaction://media"/>
          </p:cNvPr>
          <p:cNvPicPr>
            <a:picLocks noChangeAspect="1"/>
          </p:cNvPicPr>
          <p:nvPr>
            <a:audioFile r:link="rId6"/>
            <p:extLst>
              <p:ext uri="{DAA4B4D4-6D71-4841-9C94-3DE7FCFB9230}">
                <p14:media xmlns:p14="http://schemas.microsoft.com/office/powerpoint/2010/main" r:embed="rId5"/>
              </p:ext>
            </p:extLst>
          </p:nvPr>
        </p:nvPicPr>
        <p:blipFill>
          <a:blip r:embed="rId34"/>
          <a:stretch>
            <a:fillRect/>
          </a:stretch>
        </p:blipFill>
        <p:spPr>
          <a:xfrm>
            <a:off x="8796528" y="2624328"/>
            <a:ext cx="329184" cy="329184"/>
          </a:xfrm>
          <a:prstGeom prst="rect">
            <a:avLst/>
          </a:prstGeom>
        </p:spPr>
      </p:pic>
      <p:sp>
        <p:nvSpPr>
          <p:cNvPr id="154" name="Detect base t03_v2"/>
          <p:cNvSpPr txBox="1"/>
          <p:nvPr/>
        </p:nvSpPr>
        <p:spPr>
          <a:xfrm>
            <a:off x="8138160" y="2971800"/>
            <a:ext cx="1645920" cy="274320"/>
          </a:xfrm>
          <a:prstGeom prst="rect">
            <a:avLst/>
          </a:prstGeom>
          <a:noFill/>
          <a:ln>
            <a:noFill/>
          </a:ln>
        </p:spPr>
        <p:txBody>
          <a:bodyPr wrap="square" lIns="45720" tIns="45720" rIns="45720" bIns="45720" anchor="t">
            <a:noAutofit/>
          </a:bodyPr>
          <a:lstStyle/>
          <a:p>
            <a:pPr algn="ctr">
              <a:buNone/>
            </a:pPr>
            <a:r>
              <a:rPr lang="en-US" sz="1100" b="1" dirty="0">
                <a:solidFill>
                  <a:srgbClr val="8C8C8C"/>
                </a:solidFill>
                <a:latin typeface="FS PF BeauSans Pro"/>
                <a:ea typeface="FS PF BeauSans Pro"/>
                <a:cs typeface="FS PF BeauSans Pro"/>
              </a:rPr>
              <a:t>✗</a:t>
            </a:r>
          </a:p>
        </p:txBody>
      </p:sp>
      <p:pic>
        <p:nvPicPr>
          <p:cNvPr id="155" name="Audio finetune t03_v2" descr="OmniVoice fine-tuned (ours): t03_v2">
            <a:hlinkClick r:id="" action="ppaction://media"/>
          </p:cNvPr>
          <p:cNvPicPr>
            <a:picLocks noChangeAspect="1"/>
          </p:cNvPicPr>
          <p:nvPr>
            <a:audioFile r:link="rId8"/>
            <p:extLst>
              <p:ext uri="{DAA4B4D4-6D71-4841-9C94-3DE7FCFB9230}">
                <p14:media xmlns:p14="http://schemas.microsoft.com/office/powerpoint/2010/main" r:embed="rId7"/>
              </p:ext>
            </p:extLst>
          </p:nvPr>
        </p:nvPicPr>
        <p:blipFill>
          <a:blip r:embed="rId34"/>
          <a:stretch>
            <a:fillRect/>
          </a:stretch>
        </p:blipFill>
        <p:spPr>
          <a:xfrm>
            <a:off x="10442448" y="2624328"/>
            <a:ext cx="329184" cy="329184"/>
          </a:xfrm>
          <a:prstGeom prst="rect">
            <a:avLst/>
          </a:prstGeom>
        </p:spPr>
      </p:pic>
      <p:sp>
        <p:nvSpPr>
          <p:cNvPr id="156" name="Detect finetune t03_v2"/>
          <p:cNvSpPr txBox="1"/>
          <p:nvPr/>
        </p:nvSpPr>
        <p:spPr>
          <a:xfrm>
            <a:off x="9784080" y="2971800"/>
            <a:ext cx="1645920" cy="274320"/>
          </a:xfrm>
          <a:prstGeom prst="rect">
            <a:avLst/>
          </a:prstGeom>
          <a:noFill/>
          <a:ln>
            <a:noFill/>
          </a:ln>
        </p:spPr>
        <p:txBody>
          <a:bodyPr wrap="square" lIns="45720" tIns="45720" rIns="45720" bIns="45720" anchor="t">
            <a:noAutofit/>
          </a:bodyPr>
          <a:lstStyle/>
          <a:p>
            <a:pPr algn="ctr">
              <a:buNone/>
            </a:pPr>
            <a:r>
              <a:rPr lang="en-US" sz="1100" b="1" dirty="0">
                <a:solidFill>
                  <a:srgbClr val="1E7B34"/>
                </a:solidFill>
                <a:latin typeface="FS PF BeauSans Pro"/>
                <a:ea typeface="FS PF BeauSans Pro"/>
                <a:cs typeface="FS PF BeauSans Pro"/>
              </a:rPr>
              <a:t>✓</a:t>
            </a:r>
          </a:p>
        </p:txBody>
      </p:sp>
      <p:pic>
        <p:nvPicPr>
          <p:cNvPr id="157" name="Audio refs t07_v1" descr="Reference voice: t07_v1">
            <a:hlinkClick r:id="" action="ppaction://media"/>
          </p:cNvPr>
          <p:cNvPicPr>
            <a:picLocks noChangeAspect="1"/>
          </p:cNvPicPr>
          <p:nvPr>
            <a:audioFile r:link="rId10"/>
            <p:extLst>
              <p:ext uri="{DAA4B4D4-6D71-4841-9C94-3DE7FCFB9230}">
                <p14:media xmlns:p14="http://schemas.microsoft.com/office/powerpoint/2010/main" r:embed="rId9"/>
              </p:ext>
            </p:extLst>
          </p:nvPr>
        </p:nvPicPr>
        <p:blipFill>
          <a:blip r:embed="rId34"/>
          <a:stretch>
            <a:fillRect/>
          </a:stretch>
        </p:blipFill>
        <p:spPr>
          <a:xfrm>
            <a:off x="5664708" y="3450151"/>
            <a:ext cx="329184" cy="329184"/>
          </a:xfrm>
          <a:prstGeom prst="rect">
            <a:avLst/>
          </a:prstGeom>
        </p:spPr>
      </p:pic>
      <p:pic>
        <p:nvPicPr>
          <p:cNvPr id="158" name="Audio drama3 t07_v1" descr="Fish Audio: t07_v1">
            <a:hlinkClick r:id="" action="ppaction://media"/>
          </p:cNvPr>
          <p:cNvPicPr>
            <a:picLocks noChangeAspect="1"/>
          </p:cNvPicPr>
          <p:nvPr>
            <a:audioFile r:link="rId12"/>
            <p:extLst>
              <p:ext uri="{DAA4B4D4-6D71-4841-9C94-3DE7FCFB9230}">
                <p14:media xmlns:p14="http://schemas.microsoft.com/office/powerpoint/2010/main" r:embed="rId11"/>
              </p:ext>
            </p:extLst>
          </p:nvPr>
        </p:nvPicPr>
        <p:blipFill>
          <a:blip r:embed="rId34"/>
          <a:stretch>
            <a:fillRect/>
          </a:stretch>
        </p:blipFill>
        <p:spPr>
          <a:xfrm>
            <a:off x="7150608" y="3429000"/>
            <a:ext cx="329184" cy="329184"/>
          </a:xfrm>
          <a:prstGeom prst="rect">
            <a:avLst/>
          </a:prstGeom>
        </p:spPr>
      </p:pic>
      <p:sp>
        <p:nvSpPr>
          <p:cNvPr id="159" name="Detect drama3 t07_v1"/>
          <p:cNvSpPr txBox="1"/>
          <p:nvPr/>
        </p:nvSpPr>
        <p:spPr>
          <a:xfrm>
            <a:off x="6492240" y="3776472"/>
            <a:ext cx="1645920" cy="274320"/>
          </a:xfrm>
          <a:prstGeom prst="rect">
            <a:avLst/>
          </a:prstGeom>
          <a:noFill/>
          <a:ln>
            <a:noFill/>
          </a:ln>
        </p:spPr>
        <p:txBody>
          <a:bodyPr wrap="square" lIns="45720" tIns="45720" rIns="45720" bIns="45720" anchor="t">
            <a:noAutofit/>
          </a:bodyPr>
          <a:lstStyle/>
          <a:p>
            <a:pPr algn="ctr">
              <a:buNone/>
            </a:pPr>
            <a:r>
              <a:rPr lang="en-US" sz="1100" b="1" dirty="0">
                <a:solidFill>
                  <a:srgbClr val="8C8C8C"/>
                </a:solidFill>
                <a:latin typeface="FS PF BeauSans Pro"/>
                <a:ea typeface="FS PF BeauSans Pro"/>
                <a:cs typeface="FS PF BeauSans Pro"/>
              </a:rPr>
              <a:t>✗</a:t>
            </a:r>
          </a:p>
        </p:txBody>
      </p:sp>
      <p:pic>
        <p:nvPicPr>
          <p:cNvPr id="160" name="Audio base t07_v1" descr="OmniVoice (base): t07_v1">
            <a:hlinkClick r:id="" action="ppaction://media"/>
          </p:cNvPr>
          <p:cNvPicPr>
            <a:picLocks noChangeAspect="1"/>
          </p:cNvPicPr>
          <p:nvPr>
            <a:audioFile r:link="rId14"/>
            <p:extLst>
              <p:ext uri="{DAA4B4D4-6D71-4841-9C94-3DE7FCFB9230}">
                <p14:media xmlns:p14="http://schemas.microsoft.com/office/powerpoint/2010/main" r:embed="rId13"/>
              </p:ext>
            </p:extLst>
          </p:nvPr>
        </p:nvPicPr>
        <p:blipFill>
          <a:blip r:embed="rId34"/>
          <a:stretch>
            <a:fillRect/>
          </a:stretch>
        </p:blipFill>
        <p:spPr>
          <a:xfrm>
            <a:off x="8796528" y="3429000"/>
            <a:ext cx="329184" cy="329184"/>
          </a:xfrm>
          <a:prstGeom prst="rect">
            <a:avLst/>
          </a:prstGeom>
        </p:spPr>
      </p:pic>
      <p:sp>
        <p:nvSpPr>
          <p:cNvPr id="161" name="Detect base t07_v1"/>
          <p:cNvSpPr txBox="1"/>
          <p:nvPr/>
        </p:nvSpPr>
        <p:spPr>
          <a:xfrm>
            <a:off x="8138160" y="3776472"/>
            <a:ext cx="1645920" cy="274320"/>
          </a:xfrm>
          <a:prstGeom prst="rect">
            <a:avLst/>
          </a:prstGeom>
          <a:noFill/>
          <a:ln>
            <a:noFill/>
          </a:ln>
        </p:spPr>
        <p:txBody>
          <a:bodyPr wrap="square" lIns="45720" tIns="45720" rIns="45720" bIns="45720" anchor="t">
            <a:noAutofit/>
          </a:bodyPr>
          <a:lstStyle/>
          <a:p>
            <a:pPr algn="ctr">
              <a:buNone/>
            </a:pPr>
            <a:r>
              <a:rPr lang="en-US" sz="1100" b="1" dirty="0">
                <a:solidFill>
                  <a:srgbClr val="8C8C8C"/>
                </a:solidFill>
                <a:latin typeface="FS PF BeauSans Pro"/>
                <a:ea typeface="FS PF BeauSans Pro"/>
                <a:cs typeface="FS PF BeauSans Pro"/>
              </a:rPr>
              <a:t>✗</a:t>
            </a:r>
          </a:p>
        </p:txBody>
      </p:sp>
      <p:pic>
        <p:nvPicPr>
          <p:cNvPr id="162" name="Audio finetune t07_v1" descr="OmniVoice fine-tuned (ours): t07_v1">
            <a:hlinkClick r:id="" action="ppaction://media"/>
          </p:cNvPr>
          <p:cNvPicPr>
            <a:picLocks noChangeAspect="1"/>
          </p:cNvPicPr>
          <p:nvPr>
            <a:audioFile r:link="rId16"/>
            <p:extLst>
              <p:ext uri="{DAA4B4D4-6D71-4841-9C94-3DE7FCFB9230}">
                <p14:media xmlns:p14="http://schemas.microsoft.com/office/powerpoint/2010/main" r:embed="rId15"/>
              </p:ext>
            </p:extLst>
          </p:nvPr>
        </p:nvPicPr>
        <p:blipFill>
          <a:blip r:embed="rId34"/>
          <a:stretch>
            <a:fillRect/>
          </a:stretch>
        </p:blipFill>
        <p:spPr>
          <a:xfrm>
            <a:off x="10442448" y="3429000"/>
            <a:ext cx="329184" cy="329184"/>
          </a:xfrm>
          <a:prstGeom prst="rect">
            <a:avLst/>
          </a:prstGeom>
        </p:spPr>
      </p:pic>
      <p:sp>
        <p:nvSpPr>
          <p:cNvPr id="163" name="Detect finetune t07_v1"/>
          <p:cNvSpPr txBox="1"/>
          <p:nvPr/>
        </p:nvSpPr>
        <p:spPr>
          <a:xfrm>
            <a:off x="9784080" y="3776472"/>
            <a:ext cx="1645920" cy="274320"/>
          </a:xfrm>
          <a:prstGeom prst="rect">
            <a:avLst/>
          </a:prstGeom>
          <a:noFill/>
          <a:ln>
            <a:noFill/>
          </a:ln>
        </p:spPr>
        <p:txBody>
          <a:bodyPr wrap="square" lIns="45720" tIns="45720" rIns="45720" bIns="45720" anchor="t">
            <a:noAutofit/>
          </a:bodyPr>
          <a:lstStyle/>
          <a:p>
            <a:pPr algn="ctr">
              <a:buNone/>
            </a:pPr>
            <a:r>
              <a:rPr lang="en-US" sz="1100" b="1" dirty="0">
                <a:solidFill>
                  <a:srgbClr val="1E7B34"/>
                </a:solidFill>
                <a:latin typeface="FS PF BeauSans Pro"/>
                <a:ea typeface="FS PF BeauSans Pro"/>
                <a:cs typeface="FS PF BeauSans Pro"/>
              </a:rPr>
              <a:t>✓</a:t>
            </a:r>
          </a:p>
        </p:txBody>
      </p:sp>
      <p:pic>
        <p:nvPicPr>
          <p:cNvPr id="164" name="Audio refs t04_v1" descr="Reference voice: t04_v1">
            <a:hlinkClick r:id="" action="ppaction://media"/>
          </p:cNvPr>
          <p:cNvPicPr>
            <a:picLocks noChangeAspect="1"/>
          </p:cNvPicPr>
          <p:nvPr>
            <a:audioFile r:link="rId18"/>
            <p:extLst>
              <p:ext uri="{DAA4B4D4-6D71-4841-9C94-3DE7FCFB9230}">
                <p14:media xmlns:p14="http://schemas.microsoft.com/office/powerpoint/2010/main" r:embed="rId17"/>
              </p:ext>
            </p:extLst>
          </p:nvPr>
        </p:nvPicPr>
        <p:blipFill>
          <a:blip r:embed="rId34"/>
          <a:stretch>
            <a:fillRect/>
          </a:stretch>
        </p:blipFill>
        <p:spPr>
          <a:xfrm>
            <a:off x="5664708" y="4235286"/>
            <a:ext cx="329184" cy="329184"/>
          </a:xfrm>
          <a:prstGeom prst="rect">
            <a:avLst/>
          </a:prstGeom>
        </p:spPr>
      </p:pic>
      <p:pic>
        <p:nvPicPr>
          <p:cNvPr id="165" name="Audio drama3 t04_v1" descr="Fish Audio: t04_v1">
            <a:hlinkClick r:id="" action="ppaction://media"/>
          </p:cNvPr>
          <p:cNvPicPr>
            <a:picLocks noChangeAspect="1"/>
          </p:cNvPicPr>
          <p:nvPr>
            <a:audioFile r:link="rId20"/>
            <p:extLst>
              <p:ext uri="{DAA4B4D4-6D71-4841-9C94-3DE7FCFB9230}">
                <p14:media xmlns:p14="http://schemas.microsoft.com/office/powerpoint/2010/main" r:embed="rId19"/>
              </p:ext>
            </p:extLst>
          </p:nvPr>
        </p:nvPicPr>
        <p:blipFill>
          <a:blip r:embed="rId34"/>
          <a:stretch>
            <a:fillRect/>
          </a:stretch>
        </p:blipFill>
        <p:spPr>
          <a:xfrm>
            <a:off x="7150608" y="4233672"/>
            <a:ext cx="329184" cy="329184"/>
          </a:xfrm>
          <a:prstGeom prst="rect">
            <a:avLst/>
          </a:prstGeom>
        </p:spPr>
      </p:pic>
      <p:sp>
        <p:nvSpPr>
          <p:cNvPr id="166" name="Detect drama3 t04_v1"/>
          <p:cNvSpPr txBox="1"/>
          <p:nvPr/>
        </p:nvSpPr>
        <p:spPr>
          <a:xfrm>
            <a:off x="6492240" y="4581144"/>
            <a:ext cx="1645920" cy="274320"/>
          </a:xfrm>
          <a:prstGeom prst="rect">
            <a:avLst/>
          </a:prstGeom>
          <a:noFill/>
          <a:ln>
            <a:noFill/>
          </a:ln>
        </p:spPr>
        <p:txBody>
          <a:bodyPr wrap="square" lIns="45720" tIns="45720" rIns="45720" bIns="45720" anchor="t">
            <a:noAutofit/>
          </a:bodyPr>
          <a:lstStyle/>
          <a:p>
            <a:pPr algn="ctr">
              <a:buNone/>
            </a:pPr>
            <a:r>
              <a:rPr lang="en-US" sz="1100" b="1" dirty="0">
                <a:solidFill>
                  <a:srgbClr val="1E7B34"/>
                </a:solidFill>
                <a:latin typeface="FS PF BeauSans Pro"/>
                <a:ea typeface="FS PF BeauSans Pro"/>
                <a:cs typeface="FS PF BeauSans Pro"/>
              </a:rPr>
              <a:t>✓</a:t>
            </a:r>
          </a:p>
        </p:txBody>
      </p:sp>
      <p:pic>
        <p:nvPicPr>
          <p:cNvPr id="167" name="Audio base t04_v1" descr="OmniVoice (base): t04_v1">
            <a:hlinkClick r:id="" action="ppaction://media"/>
          </p:cNvPr>
          <p:cNvPicPr>
            <a:picLocks noChangeAspect="1"/>
          </p:cNvPicPr>
          <p:nvPr>
            <a:audioFile r:link="rId22"/>
            <p:extLst>
              <p:ext uri="{DAA4B4D4-6D71-4841-9C94-3DE7FCFB9230}">
                <p14:media xmlns:p14="http://schemas.microsoft.com/office/powerpoint/2010/main" r:embed="rId21"/>
              </p:ext>
            </p:extLst>
          </p:nvPr>
        </p:nvPicPr>
        <p:blipFill>
          <a:blip r:embed="rId34"/>
          <a:stretch>
            <a:fillRect/>
          </a:stretch>
        </p:blipFill>
        <p:spPr>
          <a:xfrm>
            <a:off x="8796528" y="4233672"/>
            <a:ext cx="329184" cy="329184"/>
          </a:xfrm>
          <a:prstGeom prst="rect">
            <a:avLst/>
          </a:prstGeom>
        </p:spPr>
      </p:pic>
      <p:sp>
        <p:nvSpPr>
          <p:cNvPr id="168" name="Detect base t04_v1"/>
          <p:cNvSpPr txBox="1"/>
          <p:nvPr/>
        </p:nvSpPr>
        <p:spPr>
          <a:xfrm>
            <a:off x="8138160" y="4581144"/>
            <a:ext cx="1645920" cy="274320"/>
          </a:xfrm>
          <a:prstGeom prst="rect">
            <a:avLst/>
          </a:prstGeom>
          <a:noFill/>
          <a:ln>
            <a:noFill/>
          </a:ln>
        </p:spPr>
        <p:txBody>
          <a:bodyPr wrap="square" lIns="45720" tIns="45720" rIns="45720" bIns="45720" anchor="t">
            <a:noAutofit/>
          </a:bodyPr>
          <a:lstStyle/>
          <a:p>
            <a:pPr algn="ctr">
              <a:buNone/>
            </a:pPr>
            <a:r>
              <a:rPr lang="en-US" sz="1100" b="1" dirty="0">
                <a:solidFill>
                  <a:srgbClr val="8C8C8C"/>
                </a:solidFill>
                <a:latin typeface="FS PF BeauSans Pro"/>
                <a:ea typeface="FS PF BeauSans Pro"/>
                <a:cs typeface="FS PF BeauSans Pro"/>
              </a:rPr>
              <a:t>✗</a:t>
            </a:r>
          </a:p>
        </p:txBody>
      </p:sp>
      <p:pic>
        <p:nvPicPr>
          <p:cNvPr id="169" name="Audio finetune t04_v1" descr="OmniVoice fine-tuned (ours): t04_v1">
            <a:hlinkClick r:id="" action="ppaction://media"/>
          </p:cNvPr>
          <p:cNvPicPr>
            <a:picLocks noChangeAspect="1"/>
          </p:cNvPicPr>
          <p:nvPr>
            <a:audioFile r:link="rId24"/>
            <p:extLst>
              <p:ext uri="{DAA4B4D4-6D71-4841-9C94-3DE7FCFB9230}">
                <p14:media xmlns:p14="http://schemas.microsoft.com/office/powerpoint/2010/main" r:embed="rId23"/>
              </p:ext>
            </p:extLst>
          </p:nvPr>
        </p:nvPicPr>
        <p:blipFill>
          <a:blip r:embed="rId34"/>
          <a:stretch>
            <a:fillRect/>
          </a:stretch>
        </p:blipFill>
        <p:spPr>
          <a:xfrm>
            <a:off x="10442448" y="4233672"/>
            <a:ext cx="329184" cy="329184"/>
          </a:xfrm>
          <a:prstGeom prst="rect">
            <a:avLst/>
          </a:prstGeom>
        </p:spPr>
      </p:pic>
      <p:sp>
        <p:nvSpPr>
          <p:cNvPr id="170" name="Detect finetune t04_v1"/>
          <p:cNvSpPr txBox="1"/>
          <p:nvPr/>
        </p:nvSpPr>
        <p:spPr>
          <a:xfrm>
            <a:off x="9784080" y="4581144"/>
            <a:ext cx="1645920" cy="274320"/>
          </a:xfrm>
          <a:prstGeom prst="rect">
            <a:avLst/>
          </a:prstGeom>
          <a:noFill/>
          <a:ln>
            <a:noFill/>
          </a:ln>
        </p:spPr>
        <p:txBody>
          <a:bodyPr wrap="square" lIns="45720" tIns="45720" rIns="45720" bIns="45720" anchor="t">
            <a:noAutofit/>
          </a:bodyPr>
          <a:lstStyle/>
          <a:p>
            <a:pPr algn="ctr">
              <a:buNone/>
            </a:pPr>
            <a:r>
              <a:rPr lang="en-US" sz="1100" b="1" dirty="0">
                <a:solidFill>
                  <a:srgbClr val="1E7B34"/>
                </a:solidFill>
                <a:latin typeface="FS PF BeauSans Pro"/>
                <a:ea typeface="FS PF BeauSans Pro"/>
                <a:cs typeface="FS PF BeauSans Pro"/>
              </a:rPr>
              <a:t>✓</a:t>
            </a:r>
          </a:p>
        </p:txBody>
      </p:sp>
      <p:pic>
        <p:nvPicPr>
          <p:cNvPr id="171" name="Audio refs t09_v1" descr="Reference voice: t09_v1">
            <a:hlinkClick r:id="" action="ppaction://media"/>
          </p:cNvPr>
          <p:cNvPicPr>
            <a:picLocks noChangeAspect="1"/>
          </p:cNvPicPr>
          <p:nvPr>
            <a:audioFile r:link="rId26"/>
            <p:extLst>
              <p:ext uri="{DAA4B4D4-6D71-4841-9C94-3DE7FCFB9230}">
                <p14:media xmlns:p14="http://schemas.microsoft.com/office/powerpoint/2010/main" r:embed="rId25"/>
              </p:ext>
            </p:extLst>
          </p:nvPr>
        </p:nvPicPr>
        <p:blipFill>
          <a:blip r:embed="rId34"/>
          <a:stretch>
            <a:fillRect/>
          </a:stretch>
        </p:blipFill>
        <p:spPr>
          <a:xfrm>
            <a:off x="5664708" y="5038344"/>
            <a:ext cx="329184" cy="329184"/>
          </a:xfrm>
          <a:prstGeom prst="rect">
            <a:avLst/>
          </a:prstGeom>
        </p:spPr>
      </p:pic>
      <p:pic>
        <p:nvPicPr>
          <p:cNvPr id="172" name="Audio drama3 t09_v1" descr="Fish Audio: t09_v1">
            <a:hlinkClick r:id="" action="ppaction://media"/>
          </p:cNvPr>
          <p:cNvPicPr>
            <a:picLocks noChangeAspect="1"/>
          </p:cNvPicPr>
          <p:nvPr>
            <a:audioFile r:link="rId28"/>
            <p:extLst>
              <p:ext uri="{DAA4B4D4-6D71-4841-9C94-3DE7FCFB9230}">
                <p14:media xmlns:p14="http://schemas.microsoft.com/office/powerpoint/2010/main" r:embed="rId27"/>
              </p:ext>
            </p:extLst>
          </p:nvPr>
        </p:nvPicPr>
        <p:blipFill>
          <a:blip r:embed="rId34"/>
          <a:stretch>
            <a:fillRect/>
          </a:stretch>
        </p:blipFill>
        <p:spPr>
          <a:xfrm>
            <a:off x="7150608" y="5038344"/>
            <a:ext cx="329184" cy="329184"/>
          </a:xfrm>
          <a:prstGeom prst="rect">
            <a:avLst/>
          </a:prstGeom>
        </p:spPr>
      </p:pic>
      <p:sp>
        <p:nvSpPr>
          <p:cNvPr id="173" name="Detect drama3 t09_v1"/>
          <p:cNvSpPr txBox="1"/>
          <p:nvPr/>
        </p:nvSpPr>
        <p:spPr>
          <a:xfrm>
            <a:off x="6492240" y="5385816"/>
            <a:ext cx="1645920" cy="274320"/>
          </a:xfrm>
          <a:prstGeom prst="rect">
            <a:avLst/>
          </a:prstGeom>
          <a:noFill/>
          <a:ln>
            <a:noFill/>
          </a:ln>
        </p:spPr>
        <p:txBody>
          <a:bodyPr wrap="square" lIns="45720" tIns="45720" rIns="45720" bIns="45720" anchor="t">
            <a:noAutofit/>
          </a:bodyPr>
          <a:lstStyle/>
          <a:p>
            <a:pPr algn="ctr">
              <a:buNone/>
            </a:pPr>
            <a:r>
              <a:rPr lang="en-US" sz="1100" b="1" dirty="0">
                <a:solidFill>
                  <a:srgbClr val="8C8C8C"/>
                </a:solidFill>
                <a:latin typeface="FS PF BeauSans Pro"/>
                <a:ea typeface="FS PF BeauSans Pro"/>
                <a:cs typeface="FS PF BeauSans Pro"/>
              </a:rPr>
              <a:t>✗</a:t>
            </a:r>
            <a:r>
              <a:rPr lang="en-US" sz="1100" dirty="0">
                <a:latin typeface="FS PF BeauSans Pro"/>
                <a:ea typeface="FS PF BeauSans Pro"/>
                <a:cs typeface="FS PF BeauSans Pro"/>
              </a:rPr>
              <a:t>  </a:t>
            </a:r>
            <a:r>
              <a:rPr lang="en-US" sz="1100" b="1" dirty="0">
                <a:solidFill>
                  <a:srgbClr val="8C8C8C"/>
                </a:solidFill>
                <a:latin typeface="FS PF BeauSans Pro"/>
                <a:ea typeface="FS PF BeauSans Pro"/>
                <a:cs typeface="FS PF BeauSans Pro"/>
              </a:rPr>
              <a:t>✗</a:t>
            </a:r>
          </a:p>
        </p:txBody>
      </p:sp>
      <p:pic>
        <p:nvPicPr>
          <p:cNvPr id="174" name="Audio base t09_v1" descr="OmniVoice (base): t09_v1">
            <a:hlinkClick r:id="" action="ppaction://media"/>
          </p:cNvPr>
          <p:cNvPicPr>
            <a:picLocks noChangeAspect="1"/>
          </p:cNvPicPr>
          <p:nvPr>
            <a:audioFile r:link="rId30"/>
            <p:extLst>
              <p:ext uri="{DAA4B4D4-6D71-4841-9C94-3DE7FCFB9230}">
                <p14:media xmlns:p14="http://schemas.microsoft.com/office/powerpoint/2010/main" r:embed="rId29"/>
              </p:ext>
            </p:extLst>
          </p:nvPr>
        </p:nvPicPr>
        <p:blipFill>
          <a:blip r:embed="rId34"/>
          <a:stretch>
            <a:fillRect/>
          </a:stretch>
        </p:blipFill>
        <p:spPr>
          <a:xfrm>
            <a:off x="8796528" y="5038344"/>
            <a:ext cx="329184" cy="329184"/>
          </a:xfrm>
          <a:prstGeom prst="rect">
            <a:avLst/>
          </a:prstGeom>
        </p:spPr>
      </p:pic>
      <p:sp>
        <p:nvSpPr>
          <p:cNvPr id="175" name="Detect base t09_v1"/>
          <p:cNvSpPr txBox="1"/>
          <p:nvPr/>
        </p:nvSpPr>
        <p:spPr>
          <a:xfrm>
            <a:off x="8138160" y="5385816"/>
            <a:ext cx="1645920" cy="274320"/>
          </a:xfrm>
          <a:prstGeom prst="rect">
            <a:avLst/>
          </a:prstGeom>
          <a:noFill/>
          <a:ln>
            <a:noFill/>
          </a:ln>
        </p:spPr>
        <p:txBody>
          <a:bodyPr wrap="square" lIns="45720" tIns="45720" rIns="45720" bIns="45720" anchor="t">
            <a:noAutofit/>
          </a:bodyPr>
          <a:lstStyle/>
          <a:p>
            <a:pPr algn="ctr">
              <a:buNone/>
            </a:pPr>
            <a:r>
              <a:rPr lang="en-US" sz="1100" b="1" dirty="0">
                <a:solidFill>
                  <a:srgbClr val="8C8C8C"/>
                </a:solidFill>
                <a:latin typeface="FS PF BeauSans Pro"/>
                <a:ea typeface="FS PF BeauSans Pro"/>
                <a:cs typeface="FS PF BeauSans Pro"/>
              </a:rPr>
              <a:t>✗</a:t>
            </a:r>
            <a:r>
              <a:rPr lang="en-US" sz="1100" dirty="0">
                <a:latin typeface="FS PF BeauSans Pro"/>
                <a:ea typeface="FS PF BeauSans Pro"/>
                <a:cs typeface="FS PF BeauSans Pro"/>
              </a:rPr>
              <a:t>  </a:t>
            </a:r>
            <a:r>
              <a:rPr lang="en-US" sz="1100" b="1" dirty="0">
                <a:solidFill>
                  <a:srgbClr val="8C8C8C"/>
                </a:solidFill>
                <a:latin typeface="FS PF BeauSans Pro"/>
                <a:ea typeface="FS PF BeauSans Pro"/>
                <a:cs typeface="FS PF BeauSans Pro"/>
              </a:rPr>
              <a:t>✗</a:t>
            </a:r>
          </a:p>
        </p:txBody>
      </p:sp>
      <p:pic>
        <p:nvPicPr>
          <p:cNvPr id="176" name="Audio finetune t09_v1" descr="OmniVoice fine-tuned (ours): t09_v1">
            <a:hlinkClick r:id="" action="ppaction://media"/>
          </p:cNvPr>
          <p:cNvPicPr>
            <a:picLocks noChangeAspect="1"/>
          </p:cNvPicPr>
          <p:nvPr>
            <a:audioFile r:link="rId32"/>
            <p:extLst>
              <p:ext uri="{DAA4B4D4-6D71-4841-9C94-3DE7FCFB9230}">
                <p14:media xmlns:p14="http://schemas.microsoft.com/office/powerpoint/2010/main" r:embed="rId31"/>
              </p:ext>
            </p:extLst>
          </p:nvPr>
        </p:nvPicPr>
        <p:blipFill>
          <a:blip r:embed="rId34"/>
          <a:stretch>
            <a:fillRect/>
          </a:stretch>
        </p:blipFill>
        <p:spPr>
          <a:xfrm>
            <a:off x="10442448" y="5038344"/>
            <a:ext cx="329184" cy="329184"/>
          </a:xfrm>
          <a:prstGeom prst="rect">
            <a:avLst/>
          </a:prstGeom>
        </p:spPr>
      </p:pic>
      <p:sp>
        <p:nvSpPr>
          <p:cNvPr id="177" name="Detect finetune t09_v1"/>
          <p:cNvSpPr txBox="1"/>
          <p:nvPr/>
        </p:nvSpPr>
        <p:spPr>
          <a:xfrm>
            <a:off x="9784080" y="5385816"/>
            <a:ext cx="1645920" cy="274320"/>
          </a:xfrm>
          <a:prstGeom prst="rect">
            <a:avLst/>
          </a:prstGeom>
          <a:noFill/>
          <a:ln>
            <a:noFill/>
          </a:ln>
        </p:spPr>
        <p:txBody>
          <a:bodyPr wrap="square" lIns="45720" tIns="45720" rIns="45720" bIns="45720" anchor="t">
            <a:noAutofit/>
          </a:bodyPr>
          <a:lstStyle/>
          <a:p>
            <a:pPr algn="ctr">
              <a:buNone/>
            </a:pPr>
            <a:r>
              <a:rPr lang="en-US" sz="1100" b="1" dirty="0">
                <a:solidFill>
                  <a:srgbClr val="1E7B34"/>
                </a:solidFill>
                <a:latin typeface="FS PF BeauSans Pro"/>
                <a:ea typeface="FS PF BeauSans Pro"/>
                <a:cs typeface="FS PF BeauSans Pro"/>
              </a:rPr>
              <a:t>✓</a:t>
            </a:r>
            <a:r>
              <a:rPr lang="en-US" sz="1100" dirty="0">
                <a:latin typeface="FS PF BeauSans Pro"/>
                <a:ea typeface="FS PF BeauSans Pro"/>
                <a:cs typeface="FS PF BeauSans Pro"/>
              </a:rPr>
              <a:t>  </a:t>
            </a:r>
            <a:r>
              <a:rPr lang="en-US" sz="1100" b="1" dirty="0">
                <a:solidFill>
                  <a:srgbClr val="1E7B34"/>
                </a:solidFill>
                <a:latin typeface="FS PF BeauSans Pro"/>
                <a:ea typeface="FS PF BeauSans Pro"/>
                <a:cs typeface="FS PF BeauSans Pro"/>
              </a:rPr>
              <a:t>✓</a:t>
            </a:r>
          </a:p>
        </p:txBody>
      </p:sp>
      <p:sp>
        <p:nvSpPr>
          <p:cNvPr id="178" name="Demo legend"/>
          <p:cNvSpPr txBox="1"/>
          <p:nvPr/>
        </p:nvSpPr>
        <p:spPr>
          <a:xfrm>
            <a:off x="822960" y="5788151"/>
            <a:ext cx="10607040" cy="274320"/>
          </a:xfrm>
          <a:prstGeom prst="rect">
            <a:avLst/>
          </a:prstGeom>
          <a:noFill/>
          <a:ln>
            <a:noFill/>
          </a:ln>
        </p:spPr>
        <p:txBody>
          <a:bodyPr wrap="square" lIns="45720" tIns="45720" rIns="45720" bIns="45720" anchor="t">
            <a:noAutofit/>
          </a:bodyPr>
          <a:lstStyle/>
          <a:p>
            <a:pPr>
              <a:buNone/>
            </a:pPr>
            <a:r>
              <a:rPr lang="en-US" sz="900" b="1" dirty="0">
                <a:solidFill>
                  <a:srgbClr val="EE0033"/>
                </a:solidFill>
                <a:latin typeface="FS PF BeauSans Pro"/>
                <a:ea typeface="FS PF BeauSans Pro"/>
                <a:cs typeface="FS PF BeauSans Pro"/>
              </a:rPr>
              <a:t>▶</a:t>
            </a:r>
            <a:r>
              <a:rPr lang="en-US" sz="900" dirty="0">
                <a:solidFill>
                  <a:srgbClr val="595959"/>
                </a:solidFill>
                <a:latin typeface="FS PF BeauSans Pro"/>
                <a:ea typeface="FS PF BeauSans Pro"/>
                <a:cs typeface="FS PF BeauSans Pro"/>
              </a:rPr>
              <a:t> click to play    </a:t>
            </a:r>
            <a:r>
              <a:rPr lang="en-US" sz="900" b="1" dirty="0">
                <a:solidFill>
                  <a:srgbClr val="1E7B34"/>
                </a:solidFill>
                <a:latin typeface="FS PF BeauSans Pro"/>
                <a:ea typeface="FS PF BeauSans Pro"/>
                <a:cs typeface="FS PF BeauSans Pro"/>
              </a:rPr>
              <a:t>✓</a:t>
            </a:r>
            <a:r>
              <a:rPr lang="en-US" sz="900" dirty="0">
                <a:solidFill>
                  <a:srgbClr val="595959"/>
                </a:solidFill>
                <a:latin typeface="FS PF BeauSans Pro"/>
                <a:ea typeface="FS PF BeauSans Pro"/>
                <a:cs typeface="FS PF BeauSans Pro"/>
              </a:rPr>
              <a:t> / </a:t>
            </a:r>
            <a:r>
              <a:rPr lang="en-US" sz="900" b="1" dirty="0">
                <a:solidFill>
                  <a:srgbClr val="8C8C8C"/>
                </a:solidFill>
                <a:latin typeface="FS PF BeauSans Pro"/>
                <a:ea typeface="FS PF BeauSans Pro"/>
                <a:cs typeface="FS PF BeauSans Pro"/>
              </a:rPr>
              <a:t>✗</a:t>
            </a:r>
            <a:r>
              <a:rPr lang="en-US" sz="900" dirty="0">
                <a:solidFill>
                  <a:srgbClr val="595959"/>
                </a:solidFill>
                <a:latin typeface="FS PF BeauSans Pro"/>
                <a:ea typeface="FS PF BeauSans Pro"/>
                <a:cs typeface="FS PF BeauSans Pro"/>
              </a:rPr>
              <a:t> one mark per tag: FlexSED finds / misses the tagged NVV at its position    </a:t>
            </a:r>
            <a:r>
              <a:rPr lang="en-US" sz="900" b="1" dirty="0">
                <a:solidFill>
                  <a:srgbClr val="595959"/>
                </a:solidFill>
                <a:latin typeface="FS PF BeauSans Pro"/>
                <a:ea typeface="FS PF BeauSans Pro"/>
                <a:cs typeface="FS PF BeauSans Pro"/>
              </a:rPr>
              <a:t>Reference voice</a:t>
            </a:r>
            <a:r>
              <a:rPr lang="en-US" sz="900" dirty="0">
                <a:solidFill>
                  <a:srgbClr val="595959"/>
                </a:solidFill>
                <a:latin typeface="FS PF BeauSans Pro"/>
                <a:ea typeface="FS PF BeauSans Pro"/>
                <a:cs typeface="FS PF BeauSans Pro"/>
              </a:rPr>
              <a:t>: the unseen speaker's prompt clip</a:t>
            </a:r>
          </a:p>
        </p:txBody>
      </p:sp>
    </p:spTree>
    <p:extLst>
      <p:ext uri="{BB962C8B-B14F-4D97-AF65-F5344CB8AC3E}">
        <p14:creationId xmlns:p14="http://schemas.microsoft.com/office/powerpoint/2010/main" val="584723571"/>
      </p:ext>
    </p:extLst>
  </p:cSld>
  <p:clrMapOvr>
    <a:masterClrMapping/>
  </p:clrMapOvr>
  <p:timing>
    <p:tnLst>
      <p:par>
        <p:cTn id="1" dur="indefinite" restart="never" nodeType="tmRoot">
          <p:childTnLst>
            <p:audio>
              <p:cMediaNode vol="80000">
                <p:cTn id="2" fill="hold" display="0">
                  <p:stCondLst>
                    <p:cond delay="indefinite"/>
                  </p:stCondLst>
                  <p:endCondLst>
                    <p:cond evt="onStopAudio" delay="0">
                      <p:tgtEl>
                        <p:sldTgt/>
                      </p:tgtEl>
                    </p:cond>
                  </p:endCondLst>
                </p:cTn>
                <p:tgtEl>
                  <p:spTgt spid="150"/>
                </p:tgtEl>
              </p:cMediaNode>
            </p:audio>
            <p:audio>
              <p:cMediaNode vol="80000">
                <p:cTn id="3" fill="hold" display="0">
                  <p:stCondLst>
                    <p:cond delay="indefinite"/>
                  </p:stCondLst>
                  <p:endCondLst>
                    <p:cond evt="onStopAudio" delay="0">
                      <p:tgtEl>
                        <p:sldTgt/>
                      </p:tgtEl>
                    </p:cond>
                  </p:endCondLst>
                </p:cTn>
                <p:tgtEl>
                  <p:spTgt spid="151"/>
                </p:tgtEl>
              </p:cMediaNode>
            </p:audio>
            <p:audio>
              <p:cMediaNode vol="80000">
                <p:cTn id="4" fill="hold" display="0">
                  <p:stCondLst>
                    <p:cond delay="indefinite"/>
                  </p:stCondLst>
                  <p:endCondLst>
                    <p:cond evt="onStopAudio" delay="0">
                      <p:tgtEl>
                        <p:sldTgt/>
                      </p:tgtEl>
                    </p:cond>
                  </p:endCondLst>
                </p:cTn>
                <p:tgtEl>
                  <p:spTgt spid="153"/>
                </p:tgtEl>
              </p:cMediaNode>
            </p:audio>
            <p:audio>
              <p:cMediaNode vol="80000">
                <p:cTn id="5" fill="hold" display="0">
                  <p:stCondLst>
                    <p:cond delay="indefinite"/>
                  </p:stCondLst>
                  <p:endCondLst>
                    <p:cond evt="onStopAudio" delay="0">
                      <p:tgtEl>
                        <p:sldTgt/>
                      </p:tgtEl>
                    </p:cond>
                  </p:endCondLst>
                </p:cTn>
                <p:tgtEl>
                  <p:spTgt spid="155"/>
                </p:tgtEl>
              </p:cMediaNode>
            </p:audio>
            <p:audio>
              <p:cMediaNode vol="80000">
                <p:cTn id="6" fill="hold" display="0">
                  <p:stCondLst>
                    <p:cond delay="indefinite"/>
                  </p:stCondLst>
                  <p:endCondLst>
                    <p:cond evt="onStopAudio" delay="0">
                      <p:tgtEl>
                        <p:sldTgt/>
                      </p:tgtEl>
                    </p:cond>
                  </p:endCondLst>
                </p:cTn>
                <p:tgtEl>
                  <p:spTgt spid="157"/>
                </p:tgtEl>
              </p:cMediaNode>
            </p:audio>
            <p:audio>
              <p:cMediaNode vol="80000">
                <p:cTn id="7" fill="hold" display="0">
                  <p:stCondLst>
                    <p:cond delay="indefinite"/>
                  </p:stCondLst>
                  <p:endCondLst>
                    <p:cond evt="onStopAudio" delay="0">
                      <p:tgtEl>
                        <p:sldTgt/>
                      </p:tgtEl>
                    </p:cond>
                  </p:endCondLst>
                </p:cTn>
                <p:tgtEl>
                  <p:spTgt spid="158"/>
                </p:tgtEl>
              </p:cMediaNode>
            </p:audio>
            <p:audio>
              <p:cMediaNode vol="80000">
                <p:cTn id="8" fill="hold" display="0">
                  <p:stCondLst>
                    <p:cond delay="indefinite"/>
                  </p:stCondLst>
                  <p:endCondLst>
                    <p:cond evt="onStopAudio" delay="0">
                      <p:tgtEl>
                        <p:sldTgt/>
                      </p:tgtEl>
                    </p:cond>
                  </p:endCondLst>
                </p:cTn>
                <p:tgtEl>
                  <p:spTgt spid="160"/>
                </p:tgtEl>
              </p:cMediaNode>
            </p:audio>
            <p:audio>
              <p:cMediaNode vol="80000">
                <p:cTn id="9" fill="hold" display="0">
                  <p:stCondLst>
                    <p:cond delay="indefinite"/>
                  </p:stCondLst>
                  <p:endCondLst>
                    <p:cond evt="onStopAudio" delay="0">
                      <p:tgtEl>
                        <p:sldTgt/>
                      </p:tgtEl>
                    </p:cond>
                  </p:endCondLst>
                </p:cTn>
                <p:tgtEl>
                  <p:spTgt spid="162"/>
                </p:tgtEl>
              </p:cMediaNode>
            </p:audio>
            <p:audio>
              <p:cMediaNode vol="80000">
                <p:cTn id="10" fill="hold" display="0">
                  <p:stCondLst>
                    <p:cond delay="indefinite"/>
                  </p:stCondLst>
                  <p:endCondLst>
                    <p:cond evt="onStopAudio" delay="0">
                      <p:tgtEl>
                        <p:sldTgt/>
                      </p:tgtEl>
                    </p:cond>
                  </p:endCondLst>
                </p:cTn>
                <p:tgtEl>
                  <p:spTgt spid="164"/>
                </p:tgtEl>
              </p:cMediaNode>
            </p:audio>
            <p:audio>
              <p:cMediaNode vol="80000">
                <p:cTn id="11" fill="hold" display="0">
                  <p:stCondLst>
                    <p:cond delay="indefinite"/>
                  </p:stCondLst>
                  <p:endCondLst>
                    <p:cond evt="onStopAudio" delay="0">
                      <p:tgtEl>
                        <p:sldTgt/>
                      </p:tgtEl>
                    </p:cond>
                  </p:endCondLst>
                </p:cTn>
                <p:tgtEl>
                  <p:spTgt spid="165"/>
                </p:tgtEl>
              </p:cMediaNode>
            </p:audio>
            <p:audio>
              <p:cMediaNode vol="80000">
                <p:cTn id="12" fill="hold" display="0">
                  <p:stCondLst>
                    <p:cond delay="indefinite"/>
                  </p:stCondLst>
                  <p:endCondLst>
                    <p:cond evt="onStopAudio" delay="0">
                      <p:tgtEl>
                        <p:sldTgt/>
                      </p:tgtEl>
                    </p:cond>
                  </p:endCondLst>
                </p:cTn>
                <p:tgtEl>
                  <p:spTgt spid="167"/>
                </p:tgtEl>
              </p:cMediaNode>
            </p:audio>
            <p:audio>
              <p:cMediaNode vol="80000">
                <p:cTn id="13" fill="hold" display="0">
                  <p:stCondLst>
                    <p:cond delay="indefinite"/>
                  </p:stCondLst>
                  <p:endCondLst>
                    <p:cond evt="onStopAudio" delay="0">
                      <p:tgtEl>
                        <p:sldTgt/>
                      </p:tgtEl>
                    </p:cond>
                  </p:endCondLst>
                </p:cTn>
                <p:tgtEl>
                  <p:spTgt spid="169"/>
                </p:tgtEl>
              </p:cMediaNode>
            </p:audio>
            <p:audio>
              <p:cMediaNode vol="80000">
                <p:cTn id="14" fill="hold" display="0">
                  <p:stCondLst>
                    <p:cond delay="indefinite"/>
                  </p:stCondLst>
                  <p:endCondLst>
                    <p:cond evt="onStopAudio" delay="0">
                      <p:tgtEl>
                        <p:sldTgt/>
                      </p:tgtEl>
                    </p:cond>
                  </p:endCondLst>
                </p:cTn>
                <p:tgtEl>
                  <p:spTgt spid="171"/>
                </p:tgtEl>
              </p:cMediaNode>
            </p:audio>
            <p:audio>
              <p:cMediaNode vol="80000">
                <p:cTn id="15" fill="hold" display="0">
                  <p:stCondLst>
                    <p:cond delay="indefinite"/>
                  </p:stCondLst>
                  <p:endCondLst>
                    <p:cond evt="onStopAudio" delay="0">
                      <p:tgtEl>
                        <p:sldTgt/>
                      </p:tgtEl>
                    </p:cond>
                  </p:endCondLst>
                </p:cTn>
                <p:tgtEl>
                  <p:spTgt spid="172"/>
                </p:tgtEl>
              </p:cMediaNode>
            </p:audio>
            <p:audio>
              <p:cMediaNode vol="80000">
                <p:cTn id="16" fill="hold" display="0">
                  <p:stCondLst>
                    <p:cond delay="indefinite"/>
                  </p:stCondLst>
                  <p:endCondLst>
                    <p:cond evt="onStopAudio" delay="0">
                      <p:tgtEl>
                        <p:sldTgt/>
                      </p:tgtEl>
                    </p:cond>
                  </p:endCondLst>
                </p:cTn>
                <p:tgtEl>
                  <p:spTgt spid="174"/>
                </p:tgtEl>
              </p:cMediaNode>
            </p:audio>
            <p:audio>
              <p:cMediaNode vol="80000">
                <p:cTn id="17" fill="hold" display="0">
                  <p:stCondLst>
                    <p:cond delay="indefinite"/>
                  </p:stCondLst>
                  <p:endCondLst>
                    <p:cond evt="onStopAudio" delay="0">
                      <p:tgtEl>
                        <p:sldTgt/>
                      </p:tgtEl>
                    </p:cond>
                  </p:endCondLst>
                </p:cTn>
                <p:tgtEl>
                  <p:spTgt spid="176"/>
                </p:tgtEl>
              </p:cMediaNode>
            </p:audio>
          </p:childTnLst>
        </p:cTn>
      </p:par>
    </p:tn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Shape 145"/>
        <p:cNvGrpSpPr/>
        <p:nvPr/>
      </p:nvGrpSpPr>
      <p:grpSpPr>
        <a:xfrm>
          <a:off x="0" y="0"/>
          <a:ext cx="0" cy="0"/>
          <a:chOff x="0" y="0"/>
          <a:chExt cx="0" cy="0"/>
        </a:xfrm>
      </p:grpSpPr>
      <p:sp>
        <p:nvSpPr>
          <p:cNvPr id="146" name="Google Shape;146;p10"/>
          <p:cNvSpPr txBox="1">
            <a:spLocks noGrp="1"/>
          </p:cNvSpPr>
          <p:nvPr>
            <p:ph type="ctrTitle"/>
          </p:nvPr>
        </p:nvSpPr>
        <p:spPr>
          <a:xfrm>
            <a:off x="822960" y="466344"/>
            <a:ext cx="10543032" cy="731520"/>
          </a:xfrm>
          <a:prstGeom prst="rect">
            <a:avLst/>
          </a:prstGeom>
          <a:noFill/>
          <a:ln>
            <a:noFill/>
          </a:ln>
        </p:spPr>
        <p:txBody>
          <a:bodyPr spcFirstLastPara="1" wrap="square" lIns="91425" tIns="91425" rIns="91425" bIns="91425" anchor="t" anchorCtr="0">
            <a:noAutofit/>
          </a:bodyPr>
          <a:lstStyle/>
          <a:p>
            <a:pPr marL="0" lvl="0" indent="0" algn="ctr" rtl="0">
              <a:buNone/>
            </a:pPr>
            <a:r>
              <a:rPr lang="en-US" dirty="0"/>
              <a:t>Conclusion</a:t>
            </a:r>
          </a:p>
        </p:txBody>
      </p:sp>
      <p:sp>
        <p:nvSpPr>
          <p:cNvPr id="148" name="Google Shape;148;p10"/>
          <p:cNvSpPr txBox="1">
            <a:spLocks noGrp="1"/>
          </p:cNvSpPr>
          <p:nvPr>
            <p:ph type="body" idx="1"/>
          </p:nvPr>
        </p:nvSpPr>
        <p:spPr>
          <a:xfrm>
            <a:off x="850392" y="1371600"/>
            <a:ext cx="10570464" cy="4206240"/>
          </a:xfrm>
          <a:prstGeom prst="rect">
            <a:avLst/>
          </a:prstGeom>
          <a:noFill/>
          <a:ln>
            <a:noFill/>
          </a:ln>
        </p:spPr>
        <p:txBody>
          <a:bodyPr spcFirstLastPara="1" wrap="square" lIns="91425" tIns="91425" rIns="91425" bIns="91425" anchor="t" anchorCtr="0">
            <a:noAutofit/>
          </a:bodyPr>
          <a:lstStyle/>
          <a:p>
            <a:pPr marL="495300" indent="-342900">
              <a:lnSpc>
                <a:spcPct val="110000"/>
              </a:lnSpc>
              <a:spcAft>
                <a:spcPts val="300"/>
              </a:spcAft>
              <a:buFont typeface="Wingdings" panose="05000000000000000000" pitchFamily="2" charset="2"/>
              <a:buChar char="Ø"/>
            </a:pPr>
            <a:r>
              <a:rPr lang="en-US" sz="2000" dirty="0">
                <a:latin typeface="FS PF BeauSans Pro"/>
                <a:ea typeface="FS PF BeauSans Pro"/>
                <a:cs typeface="FS PF BeauSans Pro"/>
              </a:rPr>
              <a:t>Nonverbal element to enhance the naturalness of TTS system, suitable for expand our TTS and incorporate with agentic conversation</a:t>
            </a:r>
          </a:p>
          <a:p>
            <a:pPr marL="495300" indent="-342900">
              <a:lnSpc>
                <a:spcPct val="110000"/>
              </a:lnSpc>
              <a:spcAft>
                <a:spcPts val="300"/>
              </a:spcAft>
              <a:buFont typeface="Wingdings" panose="05000000000000000000" pitchFamily="2" charset="2"/>
              <a:buChar char="Ø"/>
            </a:pPr>
            <a:r>
              <a:rPr lang="en-US" sz="2000" dirty="0">
                <a:latin typeface="FS PF BeauSans Pro"/>
                <a:ea typeface="FS PF BeauSans Pro"/>
                <a:cs typeface="FS PF BeauSans Pro"/>
              </a:rPr>
              <a:t>Built a pipeline that automatically creates Vietnamese TTS + NVV data: about </a:t>
            </a:r>
            <a:r>
              <a:rPr lang="en-US" sz="2000" b="1" dirty="0">
                <a:latin typeface="FS PF BeauSans Pro"/>
                <a:ea typeface="FS PF BeauSans Pro"/>
                <a:cs typeface="FS PF BeauSans Pro"/>
              </a:rPr>
              <a:t>811 h over 17 sound types</a:t>
            </a:r>
          </a:p>
          <a:p>
            <a:pPr marL="495300" indent="-342900">
              <a:lnSpc>
                <a:spcPct val="110000"/>
              </a:lnSpc>
              <a:spcAft>
                <a:spcPts val="300"/>
              </a:spcAft>
              <a:buFont typeface="Wingdings" panose="05000000000000000000" pitchFamily="2" charset="2"/>
              <a:buChar char="Ø"/>
            </a:pPr>
            <a:r>
              <a:rPr lang="en-US" sz="2000" dirty="0">
                <a:latin typeface="FS PF BeauSans Pro"/>
                <a:ea typeface="FS PF BeauSans Pro"/>
                <a:cs typeface="FS PF BeauSans Pro"/>
              </a:rPr>
              <a:t>Fine-tuned OmniVoice makes the right sound at the right place for </a:t>
            </a:r>
            <a:r>
              <a:rPr lang="en-US" sz="2000" b="1" dirty="0">
                <a:latin typeface="FS PF BeauSans Pro"/>
                <a:ea typeface="FS PF BeauSans Pro"/>
                <a:cs typeface="FS PF BeauSans Pro"/>
              </a:rPr>
              <a:t>50%</a:t>
            </a:r>
            <a:r>
              <a:rPr lang="en-US" sz="2000" dirty="0">
                <a:latin typeface="FS PF BeauSans Pro"/>
                <a:ea typeface="FS PF BeauSans Pro"/>
                <a:cs typeface="FS PF BeauSans Pro"/>
              </a:rPr>
              <a:t> of tags (vs 11.5%) and misses </a:t>
            </a:r>
            <a:r>
              <a:rPr lang="en-US" sz="2000" b="1" dirty="0">
                <a:latin typeface="FS PF BeauSans Pro"/>
                <a:ea typeface="FS PF BeauSans Pro"/>
                <a:cs typeface="FS PF BeauSans Pro"/>
              </a:rPr>
              <a:t>35%</a:t>
            </a:r>
            <a:r>
              <a:rPr lang="en-US" sz="2000" dirty="0">
                <a:latin typeface="FS PF BeauSans Pro"/>
                <a:ea typeface="FS PF BeauSans Pro"/>
                <a:cs typeface="FS PF BeauSans Pro"/>
              </a:rPr>
              <a:t> (vs 64%)</a:t>
            </a:r>
          </a:p>
          <a:p>
            <a:pPr marL="495300" indent="-342900">
              <a:lnSpc>
                <a:spcPct val="110000"/>
              </a:lnSpc>
              <a:spcAft>
                <a:spcPts val="300"/>
              </a:spcAft>
              <a:buFont typeface="Wingdings" panose="05000000000000000000" pitchFamily="2" charset="2"/>
              <a:buChar char="Ø"/>
            </a:pPr>
            <a:r>
              <a:rPr lang="en-US" sz="2000" dirty="0">
                <a:latin typeface="FS PF BeauSans Pro"/>
                <a:ea typeface="FS PF BeauSans Pro"/>
                <a:cs typeface="FS PF BeauSans Pro"/>
              </a:rPr>
              <a:t>Small cost on plain text (WER 3.93% → 4.78%) at RTF 0.06; listeners rate it highest on quality, naturalness and expressiveness</a:t>
            </a:r>
          </a:p>
          <a:p>
            <a:pPr marL="495300" indent="-342900">
              <a:lnSpc>
                <a:spcPct val="110000"/>
              </a:lnSpc>
              <a:buFont typeface="Wingdings" panose="05000000000000000000" pitchFamily="2" charset="2"/>
              <a:buChar char="Ø"/>
            </a:pPr>
            <a:r>
              <a:rPr lang="en-US" sz="2000" dirty="0">
                <a:latin typeface="FS PF BeauSans Pro"/>
                <a:ea typeface="FS PF BeauSans Pro"/>
                <a:cs typeface="FS PF BeauSans Pro"/>
              </a:rPr>
              <a:t>Next: a ViVoice-only baseline, and a test set covering all 17 sound types</a:t>
            </a:r>
          </a:p>
        </p:txBody>
      </p:sp>
      <p:sp>
        <p:nvSpPr>
          <p:cNvPr id="2" name="Slide Number Placeholder 1">
            <a:extLst>
              <a:ext uri="{FF2B5EF4-FFF2-40B4-BE49-F238E27FC236}">
                <a16:creationId xmlns:a16="http://schemas.microsoft.com/office/drawing/2014/main" id="{249CE59B-DD91-4B3A-8ACA-10EA59D7C3EE}"/>
              </a:ext>
            </a:extLst>
          </p:cNvPr>
          <p:cNvSpPr>
            <a:spLocks noGrp="1"/>
          </p:cNvSpPr>
          <p:nvPr>
            <p:ph type="sldNum" idx="12"/>
          </p:nvPr>
        </p:nvSpPr>
        <p:spPr/>
        <p:txBody>
          <a:bodyPr/>
          <a:lstStyle/>
          <a:p>
            <a:pPr marL="0" lvl="0" indent="0" algn="ctr" rtl="0">
              <a:spcBef>
                <a:spcPts val="0"/>
              </a:spcBef>
              <a:spcAft>
                <a:spcPts val="0"/>
              </a:spcAft>
              <a:buNone/>
            </a:pPr>
            <a:fld id="{00000000-1234-1234-1234-123412341234}" type="slidenum">
              <a:rPr lang="en-US" smtClean="0"/>
              <a:t>25</a:t>
            </a:fld>
            <a:endParaRPr lang="en-US" dirty="0"/>
          </a:p>
        </p:txBody>
      </p:sp>
    </p:spTree>
    <p:extLst>
      <p:ext uri="{BB962C8B-B14F-4D97-AF65-F5344CB8AC3E}">
        <p14:creationId xmlns:p14="http://schemas.microsoft.com/office/powerpoint/2010/main" val="584723571"/>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Shape 342"/>
        <p:cNvGrpSpPr/>
        <p:nvPr/>
      </p:nvGrpSpPr>
      <p:grpSpPr>
        <a:xfrm>
          <a:off x="0" y="0"/>
          <a:ext cx="0" cy="0"/>
          <a:chOff x="0" y="0"/>
          <a:chExt cx="0" cy="0"/>
        </a:xfrm>
      </p:grpSpPr>
      <p:sp>
        <p:nvSpPr>
          <p:cNvPr id="343" name="Google Shape;343;p31"/>
          <p:cNvSpPr txBox="1">
            <a:spLocks noGrp="1"/>
          </p:cNvSpPr>
          <p:nvPr>
            <p:ph type="ctrTitle"/>
          </p:nvPr>
        </p:nvSpPr>
        <p:spPr>
          <a:xfrm flipH="1">
            <a:off x="2632200" y="1832256"/>
            <a:ext cx="6927600" cy="1820400"/>
          </a:xfrm>
          <a:prstGeom prst="rect">
            <a:avLst/>
          </a:prstGeom>
          <a:noFill/>
          <a:ln>
            <a:noFill/>
          </a:ln>
        </p:spPr>
        <p:txBody>
          <a:bodyPr spcFirstLastPara="1" wrap="square" lIns="121900" tIns="121900" rIns="121900" bIns="121900" anchor="b" anchorCtr="0">
            <a:noAutofit/>
          </a:bodyPr>
          <a:lstStyle/>
          <a:p>
            <a:pPr marL="0" marR="0" lvl="0" indent="0" algn="l" rtl="0">
              <a:lnSpc>
                <a:spcPct val="100000"/>
              </a:lnSpc>
              <a:spcBef>
                <a:spcPts val="0"/>
              </a:spcBef>
              <a:spcAft>
                <a:spcPts val="0"/>
              </a:spcAft>
              <a:buClr>
                <a:srgbClr val="000000"/>
              </a:buClr>
              <a:buSzPts val="4800"/>
              <a:buFont typeface="Arial"/>
              <a:buNone/>
            </a:pPr>
            <a:r>
              <a:rPr lang="en-US" sz="6000" b="1" dirty="0">
                <a:solidFill>
                  <a:srgbClr val="FF0000"/>
                </a:solidFill>
                <a:latin typeface="FS Magistral Bold" panose="020B0804030204080304" pitchFamily="34" charset="0"/>
                <a:ea typeface="Roboto"/>
                <a:cs typeface="Roboto"/>
                <a:sym typeface="Roboto"/>
              </a:rPr>
              <a:t>Thank you</a:t>
            </a:r>
            <a:br>
              <a:rPr lang="en-US" sz="6000" b="1" dirty="0">
                <a:solidFill>
                  <a:srgbClr val="FF0000"/>
                </a:solidFill>
                <a:latin typeface="FS Magistral Bold" panose="020B0804030204080304" pitchFamily="34" charset="0"/>
                <a:ea typeface="Roboto"/>
                <a:cs typeface="Roboto"/>
                <a:sym typeface="Roboto"/>
              </a:rPr>
            </a:br>
            <a:r>
              <a:rPr lang="en-US" sz="6000" b="1" dirty="0">
                <a:solidFill>
                  <a:srgbClr val="FF0000"/>
                </a:solidFill>
                <a:latin typeface="FS Magistral Bold" panose="020B0804030204080304" pitchFamily="34" charset="0"/>
                <a:ea typeface="Roboto"/>
                <a:cs typeface="Roboto"/>
                <a:sym typeface="Roboto"/>
              </a:rPr>
              <a:t>for listening</a:t>
            </a:r>
            <a:r>
              <a:rPr lang="en-US" sz="6000" b="1" i="0" u="none" strike="noStrike" cap="none" dirty="0">
                <a:solidFill>
                  <a:srgbClr val="FF0000"/>
                </a:solidFill>
                <a:latin typeface="FS Magistral Bold" panose="020B0804030204080304" pitchFamily="34" charset="0"/>
                <a:ea typeface="Roboto"/>
                <a:cs typeface="Roboto"/>
                <a:sym typeface="Roboto"/>
              </a:rPr>
              <a:t> </a:t>
            </a:r>
            <a:endParaRPr sz="6000" b="1" i="0" u="none" strike="noStrike" cap="none" dirty="0">
              <a:solidFill>
                <a:srgbClr val="FF0000"/>
              </a:solidFill>
              <a:latin typeface="FS Magistral Bold" panose="020B0804030204080304" pitchFamily="34" charset="0"/>
              <a:ea typeface="Roboto"/>
              <a:cs typeface="Roboto"/>
              <a:sym typeface="Roboto"/>
            </a:endParaRPr>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Shape 145"/>
        <p:cNvGrpSpPr/>
        <p:nvPr/>
      </p:nvGrpSpPr>
      <p:grpSpPr>
        <a:xfrm>
          <a:off x="0" y="0"/>
          <a:ext cx="0" cy="0"/>
          <a:chOff x="0" y="0"/>
          <a:chExt cx="0" cy="0"/>
        </a:xfrm>
      </p:grpSpPr>
      <p:sp>
        <p:nvSpPr>
          <p:cNvPr id="146" name="Google Shape;146;p10"/>
          <p:cNvSpPr txBox="1">
            <a:spLocks noGrp="1"/>
          </p:cNvSpPr>
          <p:nvPr>
            <p:ph type="ctrTitle"/>
          </p:nvPr>
        </p:nvSpPr>
        <p:spPr>
          <a:xfrm>
            <a:off x="822960" y="466344"/>
            <a:ext cx="10543032" cy="731520"/>
          </a:xfrm>
          <a:prstGeom prst="rect">
            <a:avLst/>
          </a:prstGeom>
          <a:noFill/>
          <a:ln>
            <a:noFill/>
          </a:ln>
        </p:spPr>
        <p:txBody>
          <a:bodyPr spcFirstLastPara="1" wrap="square" lIns="91425" tIns="91425" rIns="91425" bIns="91425" anchor="t" anchorCtr="0">
            <a:noAutofit/>
          </a:bodyPr>
          <a:lstStyle/>
          <a:p>
            <a:r>
              <a:rPr lang="en-US" dirty="0"/>
              <a:t>Appendix: Speech data</a:t>
            </a:r>
          </a:p>
        </p:txBody>
      </p:sp>
      <p:sp>
        <p:nvSpPr>
          <p:cNvPr id="148" name="Google Shape;148;p10"/>
          <p:cNvSpPr txBox="1">
            <a:spLocks noGrp="1"/>
          </p:cNvSpPr>
          <p:nvPr>
            <p:ph type="body" idx="1"/>
          </p:nvPr>
        </p:nvSpPr>
        <p:spPr>
          <a:xfrm>
            <a:off x="548639" y="1371600"/>
            <a:ext cx="5486400" cy="4206240"/>
          </a:xfrm>
          <a:prstGeom prst="rect">
            <a:avLst/>
          </a:prstGeom>
          <a:noFill/>
          <a:ln>
            <a:noFill/>
          </a:ln>
        </p:spPr>
        <p:txBody>
          <a:bodyPr spcFirstLastPara="1" wrap="square" lIns="91425" tIns="91425" rIns="91425" bIns="91425" anchor="t" anchorCtr="0">
            <a:noAutofit/>
          </a:bodyPr>
          <a:lstStyle/>
          <a:p>
            <a:pPr marL="152400" indent="0" algn="l">
              <a:lnSpc>
                <a:spcPct val="110000"/>
              </a:lnSpc>
              <a:spcAft>
                <a:spcPts val="600"/>
              </a:spcAft>
              <a:buNone/>
            </a:pPr>
            <a:r>
              <a:rPr lang="en-US" sz="2000" b="1" dirty="0">
                <a:latin typeface="FS PF BeauSans Pro"/>
                <a:ea typeface="FS PF BeauSans Pro"/>
                <a:cs typeface="FS PF BeauSans Pro"/>
              </a:rPr>
              <a:t>Host recordings: real Vietnamese speech</a:t>
            </a:r>
          </a:p>
          <a:p>
            <a:pPr marL="495300" indent="-342900">
              <a:lnSpc>
                <a:spcPct val="110000"/>
              </a:lnSpc>
              <a:spcAft>
                <a:spcPts val="400"/>
              </a:spcAft>
              <a:buFont typeface="Wingdings" panose="05000000000000000000" pitchFamily="2" charset="2"/>
              <a:buChar char="Ø"/>
            </a:pPr>
            <a:r>
              <a:rPr lang="en-US" sz="1800" b="1" dirty="0">
                <a:latin typeface="FS PF BeauSans Pro"/>
                <a:ea typeface="FS PF BeauSans Pro"/>
                <a:cs typeface="FS PF BeauSans Pro"/>
              </a:rPr>
              <a:t>ViVoice</a:t>
            </a:r>
            <a:r>
              <a:rPr lang="en-US" sz="1800" dirty="0">
                <a:latin typeface="FS PF BeauSans Pro"/>
                <a:ea typeface="FS PF BeauSans Pro"/>
                <a:cs typeface="FS PF BeauSans Pro"/>
              </a:rPr>
              <a:t>: Vietnamese multi-speaker speech corpus</a:t>
            </a:r>
          </a:p>
          <a:p>
            <a:pPr marL="495300" indent="-342900">
              <a:lnSpc>
                <a:spcPct val="110000"/>
              </a:lnSpc>
              <a:spcAft>
                <a:spcPts val="400"/>
              </a:spcAft>
              <a:buFont typeface="Wingdings" panose="05000000000000000000" pitchFamily="2" charset="2"/>
              <a:buChar char="Ø"/>
            </a:pPr>
            <a:r>
              <a:rPr lang="en-US" sz="1800" b="1" dirty="0">
                <a:latin typeface="FS PF BeauSans Pro"/>
                <a:ea typeface="FS PF BeauSans Pro"/>
                <a:cs typeface="FS PF BeauSans Pro"/>
              </a:rPr>
              <a:t>Internal Pod cast dataset</a:t>
            </a:r>
            <a:r>
              <a:rPr lang="en-US" sz="1800" dirty="0">
                <a:latin typeface="FS PF BeauSans Pro"/>
                <a:ea typeface="FS PF BeauSans Pro"/>
                <a:cs typeface="FS PF BeauSans Pro"/>
              </a:rPr>
              <a:t>: Vietnamese multi-speaker long speech corpus</a:t>
            </a:r>
          </a:p>
          <a:p>
            <a:pPr marL="495300" indent="-342900">
              <a:lnSpc>
                <a:spcPct val="110000"/>
              </a:lnSpc>
              <a:buFont typeface="Wingdings" panose="05000000000000000000" pitchFamily="2" charset="2"/>
              <a:buChar char="Ø"/>
            </a:pPr>
            <a:r>
              <a:rPr lang="en-US" sz="1800" dirty="0">
                <a:latin typeface="FS PF BeauSans Pro"/>
                <a:ea typeface="FS PF BeauSans Pro"/>
                <a:cs typeface="FS PF BeauSans Pro"/>
              </a:rPr>
              <a:t>Natural, conversational speech with real pauses: the slots where NVVs are inserted</a:t>
            </a:r>
          </a:p>
        </p:txBody>
      </p:sp>
      <p:sp>
        <p:nvSpPr>
          <p:cNvPr id="2" name="Slide Number Placeholder 1">
            <a:extLst>
              <a:ext uri="{FF2B5EF4-FFF2-40B4-BE49-F238E27FC236}">
                <a16:creationId xmlns:a16="http://schemas.microsoft.com/office/drawing/2014/main" id="{249CE59B-DD91-4B3A-8ACA-10EA59D7C3EE}"/>
              </a:ext>
            </a:extLst>
          </p:cNvPr>
          <p:cNvSpPr>
            <a:spLocks noGrp="1"/>
          </p:cNvSpPr>
          <p:nvPr>
            <p:ph type="sldNum" idx="12"/>
          </p:nvPr>
        </p:nvSpPr>
        <p:spPr/>
        <p:txBody>
          <a:bodyPr/>
          <a:lstStyle/>
          <a:p>
            <a:pPr marL="0" lvl="0" indent="0" algn="ctr" rtl="0">
              <a:spcBef>
                <a:spcPts val="0"/>
              </a:spcBef>
              <a:spcAft>
                <a:spcPts val="0"/>
              </a:spcAft>
              <a:buNone/>
            </a:pPr>
            <a:fld id="{00000000-1234-1234-1234-123412341234}" type="slidenum">
              <a:rPr lang="en-US" smtClean="0"/>
              <a:t>27</a:t>
            </a:fld>
            <a:endParaRPr lang="en-US" dirty="0"/>
          </a:p>
        </p:txBody>
      </p:sp>
      <p:sp>
        <p:nvSpPr>
          <p:cNvPr id="5" name="TextBox 4">
            <a:extLst>
              <a:ext uri="{FF2B5EF4-FFF2-40B4-BE49-F238E27FC236}">
                <a16:creationId xmlns:a16="http://schemas.microsoft.com/office/drawing/2014/main" id="{0938A490-75A6-82CB-B713-700B0D098A52}"/>
              </a:ext>
            </a:extLst>
          </p:cNvPr>
          <p:cNvSpPr txBox="1"/>
          <p:nvPr/>
        </p:nvSpPr>
        <p:spPr>
          <a:xfrm>
            <a:off x="6156962" y="4871334"/>
            <a:ext cx="5824728" cy="310896"/>
          </a:xfrm>
          <a:prstGeom prst="rect">
            <a:avLst/>
          </a:prstGeom>
          <a:noFill/>
        </p:spPr>
        <p:txBody>
          <a:bodyPr wrap="none" rtlCol="0">
            <a:spAutoFit/>
          </a:bodyPr>
          <a:lstStyle/>
          <a:p>
            <a:pPr algn="ctr"/>
            <a:r>
              <a:rPr lang="en-US" sz="1100" dirty="0">
                <a:solidFill>
                  <a:srgbClr val="262626"/>
                </a:solidFill>
                <a:latin typeface="FS PF BeauSans Pro"/>
                <a:ea typeface="FS PF BeauSans Pro"/>
                <a:cs typeface="FS PF BeauSans Pro"/>
              </a:rPr>
              <a:t>Table 2: ViVoice statistics</a:t>
            </a:r>
          </a:p>
        </p:txBody>
      </p:sp>
      <p:graphicFrame>
        <p:nvGraphicFramePr>
          <p:cNvPr id="151" name="Table ViVoice statistics"/>
          <p:cNvGraphicFramePr>
            <a:graphicFrameLocks noGrp="1"/>
          </p:cNvGraphicFramePr>
          <p:nvPr/>
        </p:nvGraphicFramePr>
        <p:xfrm>
          <a:off x="6156962" y="1990973"/>
          <a:ext cx="5824728" cy="2743200"/>
        </p:xfrm>
        <a:graphic>
          <a:graphicData uri="http://schemas.openxmlformats.org/drawingml/2006/table">
            <a:tbl>
              <a:tblPr firstRow="1"/>
              <a:tblGrid>
                <a:gridCol w="2240280">
                  <a:extLst>
                    <a:ext uri="{9D8B030D-6E8A-4147-A177-3AD203B41FA5}">
                      <a16:colId xmlns:a16="http://schemas.microsoft.com/office/drawing/2014/main" val="20000"/>
                    </a:ext>
                  </a:extLst>
                </a:gridCol>
                <a:gridCol w="1051560">
                  <a:extLst>
                    <a:ext uri="{9D8B030D-6E8A-4147-A177-3AD203B41FA5}">
                      <a16:colId xmlns:a16="http://schemas.microsoft.com/office/drawing/2014/main" val="20001"/>
                    </a:ext>
                  </a:extLst>
                </a:gridCol>
                <a:gridCol w="2532888">
                  <a:extLst>
                    <a:ext uri="{9D8B030D-6E8A-4147-A177-3AD203B41FA5}">
                      <a16:colId xmlns:a16="http://schemas.microsoft.com/office/drawing/2014/main" val="20002"/>
                    </a:ext>
                  </a:extLst>
                </a:gridCol>
              </a:tblGrid>
              <a:tr h="274320">
                <a:tc>
                  <a:txBody>
                    <a:bodyPr/>
                    <a:lstStyle/>
                    <a:p>
                      <a:pPr algn="l"/>
                      <a:r>
                        <a:rPr lang="en-US" sz="1050" b="1" dirty="0">
                          <a:solidFill>
                            <a:srgbClr val="262626"/>
                          </a:solidFill>
                          <a:latin typeface="FS PF BeauSans Pro"/>
                          <a:ea typeface="FS PF BeauSans Pro"/>
                          <a:cs typeface="FS PF BeauSans Pro"/>
                        </a:rPr>
                        <a:t>Statistic</a:t>
                      </a:r>
                    </a:p>
                  </a:txBody>
                  <a:tcPr marL="68580" marR="68580" marT="22860" marB="22860" anchor="ctr">
                    <a:lnL w="0">
                      <a:noFill/>
                    </a:lnL>
                    <a:lnR w="0">
                      <a:noFill/>
                    </a:lnR>
                    <a:lnT w="19050">
                      <a:solidFill>
                        <a:srgbClr val="262626"/>
                      </a:solidFill>
                    </a:lnT>
                    <a:lnB w="9525">
                      <a:solidFill>
                        <a:srgbClr val="262626"/>
                      </a:solidFill>
                    </a:lnB>
                    <a:noFill/>
                  </a:tcPr>
                </a:tc>
                <a:tc>
                  <a:txBody>
                    <a:bodyPr/>
                    <a:lstStyle/>
                    <a:p>
                      <a:pPr algn="ctr"/>
                      <a:r>
                        <a:rPr lang="en-US" sz="1050" b="1" dirty="0">
                          <a:solidFill>
                            <a:srgbClr val="262626"/>
                          </a:solidFill>
                          <a:latin typeface="FS PF BeauSans Pro"/>
                          <a:ea typeface="FS PF BeauSans Pro"/>
                          <a:cs typeface="FS PF BeauSans Pro"/>
                        </a:rPr>
                        <a:t>Value</a:t>
                      </a:r>
                    </a:p>
                  </a:txBody>
                  <a:tcPr marL="68580" marR="68580" marT="22860" marB="22860" anchor="ctr">
                    <a:lnL w="0">
                      <a:noFill/>
                    </a:lnL>
                    <a:lnR w="0">
                      <a:noFill/>
                    </a:lnR>
                    <a:lnT w="19050">
                      <a:solidFill>
                        <a:srgbClr val="262626"/>
                      </a:solidFill>
                    </a:lnT>
                    <a:lnB w="9525">
                      <a:solidFill>
                        <a:srgbClr val="262626"/>
                      </a:solidFill>
                    </a:lnB>
                    <a:noFill/>
                  </a:tcPr>
                </a:tc>
                <a:tc>
                  <a:txBody>
                    <a:bodyPr/>
                    <a:lstStyle/>
                    <a:p>
                      <a:pPr algn="ctr"/>
                      <a:r>
                        <a:rPr lang="en-US" sz="1050" b="1" dirty="0">
                          <a:solidFill>
                            <a:srgbClr val="262626"/>
                          </a:solidFill>
                          <a:latin typeface="FS PF BeauSans Pro"/>
                          <a:ea typeface="FS PF BeauSans Pro"/>
                          <a:cs typeface="FS PF BeauSans Pro"/>
                        </a:rPr>
                        <a:t>Unit / detail</a:t>
                      </a:r>
                    </a:p>
                  </a:txBody>
                  <a:tcPr marL="68580" marR="68580" marT="22860" marB="22860" anchor="ctr">
                    <a:lnL w="0">
                      <a:noFill/>
                    </a:lnL>
                    <a:lnR w="0">
                      <a:noFill/>
                    </a:lnR>
                    <a:lnT w="19050">
                      <a:solidFill>
                        <a:srgbClr val="262626"/>
                      </a:solidFill>
                    </a:lnT>
                    <a:lnB w="9525">
                      <a:solidFill>
                        <a:srgbClr val="262626"/>
                      </a:solidFill>
                    </a:lnB>
                    <a:noFill/>
                  </a:tcPr>
                </a:tc>
                <a:extLst>
                  <a:ext uri="{0D108BD9-81ED-4DB2-BD59-A6C34878D82A}">
                    <a16:rowId xmlns:a16="http://schemas.microsoft.com/office/drawing/2014/main" val="10000"/>
                  </a:ext>
                </a:extLst>
              </a:tr>
              <a:tr h="274320">
                <a:tc>
                  <a:txBody>
                    <a:bodyPr/>
                    <a:lstStyle/>
                    <a:p>
                      <a:pPr algn="l"/>
                      <a:r>
                        <a:rPr lang="en-US" sz="1050" dirty="0">
                          <a:solidFill>
                            <a:srgbClr val="262626"/>
                          </a:solidFill>
                          <a:latin typeface="FS PF BeauSans Pro"/>
                          <a:ea typeface="FS PF BeauSans Pro"/>
                          <a:cs typeface="FS PF BeauSans Pro"/>
                        </a:rPr>
                        <a:t>Total audio duration</a:t>
                      </a:r>
                    </a:p>
                  </a:txBody>
                  <a:tcPr marL="68580" marR="68580" marT="22860" marB="22860" anchor="ctr">
                    <a:lnL w="0">
                      <a:noFill/>
                    </a:lnL>
                    <a:lnR w="0">
                      <a:noFill/>
                    </a:lnR>
                    <a:lnT w="9525" cap="flat" cmpd="sng" algn="ctr">
                      <a:solidFill>
                        <a:srgbClr val="262626"/>
                      </a:solidFill>
                      <a:prstDash val="solid"/>
                      <a:round/>
                      <a:headEnd type="none" w="med" len="med"/>
                      <a:tailEnd type="none" w="med" len="med"/>
                    </a:lnT>
                    <a:lnB w="0">
                      <a:noFill/>
                    </a:lnB>
                    <a:noFill/>
                  </a:tcPr>
                </a:tc>
                <a:tc>
                  <a:txBody>
                    <a:bodyPr/>
                    <a:lstStyle/>
                    <a:p>
                      <a:pPr algn="ctr"/>
                      <a:r>
                        <a:rPr lang="en-US" sz="1050" dirty="0">
                          <a:solidFill>
                            <a:srgbClr val="262626"/>
                          </a:solidFill>
                          <a:latin typeface="FS PF BeauSans Pro"/>
                          <a:ea typeface="FS PF BeauSans Pro"/>
                          <a:cs typeface="FS PF BeauSans Pro"/>
                        </a:rPr>
                        <a:t>1,016.97</a:t>
                      </a:r>
                    </a:p>
                  </a:txBody>
                  <a:tcPr marL="68580" marR="68580" marT="22860" marB="22860" anchor="ctr">
                    <a:lnL w="0">
                      <a:noFill/>
                    </a:lnL>
                    <a:lnR w="0">
                      <a:noFill/>
                    </a:lnR>
                    <a:lnT w="9525" cap="flat" cmpd="sng" algn="ctr">
                      <a:solidFill>
                        <a:srgbClr val="262626"/>
                      </a:solidFill>
                      <a:prstDash val="solid"/>
                      <a:round/>
                      <a:headEnd type="none" w="med" len="med"/>
                      <a:tailEnd type="none" w="med" len="med"/>
                    </a:lnT>
                    <a:lnB w="0">
                      <a:noFill/>
                    </a:lnB>
                    <a:noFill/>
                  </a:tcPr>
                </a:tc>
                <a:tc>
                  <a:txBody>
                    <a:bodyPr/>
                    <a:lstStyle/>
                    <a:p>
                      <a:pPr algn="ctr"/>
                      <a:r>
                        <a:rPr lang="en-US" sz="1050" dirty="0">
                          <a:solidFill>
                            <a:srgbClr val="262626"/>
                          </a:solidFill>
                          <a:latin typeface="FS PF BeauSans Pro"/>
                          <a:ea typeface="FS PF BeauSans Pro"/>
                          <a:cs typeface="FS PF BeauSans Pro"/>
                        </a:rPr>
                        <a:t>hours</a:t>
                      </a:r>
                    </a:p>
                  </a:txBody>
                  <a:tcPr marL="68580" marR="68580" marT="22860" marB="22860" anchor="ctr">
                    <a:lnL w="0">
                      <a:noFill/>
                    </a:lnL>
                    <a:lnR w="0">
                      <a:noFill/>
                    </a:lnR>
                    <a:lnT w="9525" cap="flat" cmpd="sng" algn="ctr">
                      <a:solidFill>
                        <a:srgbClr val="262626"/>
                      </a:solidFill>
                      <a:prstDash val="solid"/>
                      <a:round/>
                      <a:headEnd type="none" w="med" len="med"/>
                      <a:tailEnd type="none" w="med" len="med"/>
                    </a:lnT>
                    <a:lnB w="0">
                      <a:noFill/>
                    </a:lnB>
                    <a:noFill/>
                  </a:tcPr>
                </a:tc>
                <a:extLst>
                  <a:ext uri="{0D108BD9-81ED-4DB2-BD59-A6C34878D82A}">
                    <a16:rowId xmlns:a16="http://schemas.microsoft.com/office/drawing/2014/main" val="10001"/>
                  </a:ext>
                </a:extLst>
              </a:tr>
              <a:tr h="274320">
                <a:tc>
                  <a:txBody>
                    <a:bodyPr/>
                    <a:lstStyle/>
                    <a:p>
                      <a:pPr algn="l"/>
                      <a:r>
                        <a:rPr lang="en-US" sz="1050" dirty="0">
                          <a:solidFill>
                            <a:srgbClr val="262626"/>
                          </a:solidFill>
                          <a:latin typeface="FS PF BeauSans Pro"/>
                          <a:ea typeface="FS PF BeauSans Pro"/>
                          <a:cs typeface="FS PF BeauSans Pro"/>
                        </a:rPr>
                        <a:t>Number of utterances</a:t>
                      </a:r>
                    </a:p>
                  </a:txBody>
                  <a:tcPr marL="68580" marR="68580" marT="22860" marB="22860" anchor="ctr">
                    <a:lnL w="0">
                      <a:noFill/>
                    </a:lnL>
                    <a:lnR w="0">
                      <a:noFill/>
                    </a:lnR>
                    <a:lnT w="0">
                      <a:noFill/>
                    </a:lnT>
                    <a:lnB w="0">
                      <a:noFill/>
                    </a:lnB>
                    <a:noFill/>
                  </a:tcPr>
                </a:tc>
                <a:tc>
                  <a:txBody>
                    <a:bodyPr/>
                    <a:lstStyle/>
                    <a:p>
                      <a:pPr algn="ctr"/>
                      <a:r>
                        <a:rPr lang="en-US" sz="1050" dirty="0">
                          <a:solidFill>
                            <a:srgbClr val="262626"/>
                          </a:solidFill>
                          <a:latin typeface="FS PF BeauSans Pro"/>
                          <a:ea typeface="FS PF BeauSans Pro"/>
                          <a:cs typeface="FS PF BeauSans Pro"/>
                        </a:rPr>
                        <a:t>887,772</a:t>
                      </a:r>
                    </a:p>
                  </a:txBody>
                  <a:tcPr marL="68580" marR="68580" marT="22860" marB="22860" anchor="ctr">
                    <a:lnL w="0">
                      <a:noFill/>
                    </a:lnL>
                    <a:lnR w="0">
                      <a:noFill/>
                    </a:lnR>
                    <a:lnT w="0">
                      <a:noFill/>
                    </a:lnT>
                    <a:lnB w="0">
                      <a:noFill/>
                    </a:lnB>
                    <a:noFill/>
                  </a:tcPr>
                </a:tc>
                <a:tc>
                  <a:txBody>
                    <a:bodyPr/>
                    <a:lstStyle/>
                    <a:p>
                      <a:pPr algn="ctr"/>
                      <a:r>
                        <a:rPr lang="en-US" sz="1050" dirty="0">
                          <a:solidFill>
                            <a:srgbClr val="262626"/>
                          </a:solidFill>
                          <a:latin typeface="FS PF BeauSans Pro"/>
                          <a:ea typeface="FS PF BeauSans Pro"/>
                          <a:cs typeface="FS PF BeauSans Pro"/>
                        </a:rPr>
                        <a:t>utterances</a:t>
                      </a:r>
                    </a:p>
                  </a:txBody>
                  <a:tcPr marL="68580" marR="68580" marT="22860" marB="22860" anchor="ctr">
                    <a:lnL w="0">
                      <a:noFill/>
                    </a:lnL>
                    <a:lnR w="0">
                      <a:noFill/>
                    </a:lnR>
                    <a:lnT w="0">
                      <a:noFill/>
                    </a:lnT>
                    <a:lnB w="0">
                      <a:noFill/>
                    </a:lnB>
                    <a:noFill/>
                  </a:tcPr>
                </a:tc>
                <a:extLst>
                  <a:ext uri="{0D108BD9-81ED-4DB2-BD59-A6C34878D82A}">
                    <a16:rowId xmlns:a16="http://schemas.microsoft.com/office/drawing/2014/main" val="10002"/>
                  </a:ext>
                </a:extLst>
              </a:tr>
              <a:tr h="274320">
                <a:tc>
                  <a:txBody>
                    <a:bodyPr/>
                    <a:lstStyle/>
                    <a:p>
                      <a:pPr algn="l"/>
                      <a:r>
                        <a:rPr lang="en-US" sz="1050" dirty="0">
                          <a:solidFill>
                            <a:srgbClr val="262626"/>
                          </a:solidFill>
                          <a:latin typeface="FS PF BeauSans Pro"/>
                          <a:ea typeface="FS PF BeauSans Pro"/>
                          <a:cs typeface="FS PF BeauSans Pro"/>
                        </a:rPr>
                        <a:t>Dataset size</a:t>
                      </a:r>
                    </a:p>
                  </a:txBody>
                  <a:tcPr marL="68580" marR="68580" marT="22860" marB="22860" anchor="ctr">
                    <a:lnL w="0">
                      <a:noFill/>
                    </a:lnL>
                    <a:lnR w="0">
                      <a:noFill/>
                    </a:lnR>
                    <a:lnT w="0">
                      <a:noFill/>
                    </a:lnT>
                    <a:lnB w="0">
                      <a:noFill/>
                    </a:lnB>
                    <a:noFill/>
                  </a:tcPr>
                </a:tc>
                <a:tc>
                  <a:txBody>
                    <a:bodyPr/>
                    <a:lstStyle/>
                    <a:p>
                      <a:pPr algn="ctr"/>
                      <a:r>
                        <a:rPr lang="en-US" sz="1050" dirty="0">
                          <a:solidFill>
                            <a:srgbClr val="262626"/>
                          </a:solidFill>
                          <a:latin typeface="FS PF BeauSans Pro"/>
                          <a:ea typeface="FS PF BeauSans Pro"/>
                          <a:cs typeface="FS PF BeauSans Pro"/>
                        </a:rPr>
                        <a:t>169</a:t>
                      </a:r>
                    </a:p>
                  </a:txBody>
                  <a:tcPr marL="68580" marR="68580" marT="22860" marB="22860" anchor="ctr">
                    <a:lnL w="0">
                      <a:noFill/>
                    </a:lnL>
                    <a:lnR w="0">
                      <a:noFill/>
                    </a:lnR>
                    <a:lnT w="0">
                      <a:noFill/>
                    </a:lnT>
                    <a:lnB w="0">
                      <a:noFill/>
                    </a:lnB>
                    <a:noFill/>
                  </a:tcPr>
                </a:tc>
                <a:tc>
                  <a:txBody>
                    <a:bodyPr/>
                    <a:lstStyle/>
                    <a:p>
                      <a:pPr algn="ctr"/>
                      <a:r>
                        <a:rPr lang="en-US" sz="1050" dirty="0">
                          <a:solidFill>
                            <a:srgbClr val="262626"/>
                          </a:solidFill>
                          <a:latin typeface="FS PF BeauSans Pro"/>
                          <a:ea typeface="FS PF BeauSans Pro"/>
                          <a:cs typeface="FS PF BeauSans Pro"/>
                        </a:rPr>
                        <a:t>GB</a:t>
                      </a:r>
                    </a:p>
                  </a:txBody>
                  <a:tcPr marL="68580" marR="68580" marT="22860" marB="22860" anchor="ctr">
                    <a:lnL w="0">
                      <a:noFill/>
                    </a:lnL>
                    <a:lnR w="0">
                      <a:noFill/>
                    </a:lnR>
                    <a:lnT w="0">
                      <a:noFill/>
                    </a:lnT>
                    <a:lnB w="0">
                      <a:noFill/>
                    </a:lnB>
                    <a:noFill/>
                  </a:tcPr>
                </a:tc>
                <a:extLst>
                  <a:ext uri="{0D108BD9-81ED-4DB2-BD59-A6C34878D82A}">
                    <a16:rowId xmlns:a16="http://schemas.microsoft.com/office/drawing/2014/main" val="10003"/>
                  </a:ext>
                </a:extLst>
              </a:tr>
              <a:tr h="274320">
                <a:tc>
                  <a:txBody>
                    <a:bodyPr/>
                    <a:lstStyle/>
                    <a:p>
                      <a:pPr algn="l"/>
                      <a:r>
                        <a:rPr lang="en-US" sz="1050" dirty="0">
                          <a:solidFill>
                            <a:srgbClr val="262626"/>
                          </a:solidFill>
                          <a:latin typeface="FS PF BeauSans Pro"/>
                          <a:ea typeface="FS PF BeauSans Pro"/>
                          <a:cs typeface="FS PF BeauSans Pro"/>
                        </a:rPr>
                        <a:t>Estimated male proportion</a:t>
                      </a:r>
                    </a:p>
                  </a:txBody>
                  <a:tcPr marL="68580" marR="68580" marT="22860" marB="22860" anchor="ctr">
                    <a:lnL w="0">
                      <a:noFill/>
                    </a:lnL>
                    <a:lnR w="0">
                      <a:noFill/>
                    </a:lnR>
                    <a:lnT w="0">
                      <a:noFill/>
                    </a:lnT>
                    <a:lnB w="0">
                      <a:noFill/>
                    </a:lnB>
                    <a:noFill/>
                  </a:tcPr>
                </a:tc>
                <a:tc>
                  <a:txBody>
                    <a:bodyPr/>
                    <a:lstStyle/>
                    <a:p>
                      <a:pPr algn="ctr"/>
                      <a:r>
                        <a:rPr lang="en-US" sz="1050" dirty="0">
                          <a:solidFill>
                            <a:srgbClr val="262626"/>
                          </a:solidFill>
                          <a:latin typeface="FS PF BeauSans Pro"/>
                          <a:ea typeface="FS PF BeauSans Pro"/>
                          <a:cs typeface="FS PF BeauSans Pro"/>
                        </a:rPr>
                        <a:t>61.3%</a:t>
                      </a:r>
                    </a:p>
                  </a:txBody>
                  <a:tcPr marL="68580" marR="68580" marT="22860" marB="22860" anchor="ctr">
                    <a:lnL w="0">
                      <a:noFill/>
                    </a:lnL>
                    <a:lnR w="0">
                      <a:noFill/>
                    </a:lnR>
                    <a:lnT w="0">
                      <a:noFill/>
                    </a:lnT>
                    <a:lnB w="0">
                      <a:noFill/>
                    </a:lnB>
                    <a:noFill/>
                  </a:tcPr>
                </a:tc>
                <a:tc>
                  <a:txBody>
                    <a:bodyPr/>
                    <a:lstStyle/>
                    <a:p>
                      <a:pPr algn="ctr"/>
                      <a:r>
                        <a:rPr lang="en-US" sz="1050" dirty="0">
                          <a:solidFill>
                            <a:srgbClr val="262626"/>
                          </a:solidFill>
                          <a:latin typeface="FS PF BeauSans Pro"/>
                          <a:ea typeface="FS PF BeauSans Pro"/>
                          <a:cs typeface="FS PF BeauSans Pro"/>
                        </a:rPr>
                        <a:t>± 3.02 percentage points (95% CI)</a:t>
                      </a:r>
                    </a:p>
                  </a:txBody>
                  <a:tcPr marL="68580" marR="68580" marT="22860" marB="22860" anchor="ctr">
                    <a:lnL w="0">
                      <a:noFill/>
                    </a:lnL>
                    <a:lnR w="0">
                      <a:noFill/>
                    </a:lnR>
                    <a:lnT w="0">
                      <a:noFill/>
                    </a:lnT>
                    <a:lnB w="0">
                      <a:noFill/>
                    </a:lnB>
                    <a:noFill/>
                  </a:tcPr>
                </a:tc>
                <a:extLst>
                  <a:ext uri="{0D108BD9-81ED-4DB2-BD59-A6C34878D82A}">
                    <a16:rowId xmlns:a16="http://schemas.microsoft.com/office/drawing/2014/main" val="10004"/>
                  </a:ext>
                </a:extLst>
              </a:tr>
              <a:tr h="274320">
                <a:tc>
                  <a:txBody>
                    <a:bodyPr/>
                    <a:lstStyle/>
                    <a:p>
                      <a:pPr algn="l"/>
                      <a:r>
                        <a:rPr lang="en-US" sz="1050" dirty="0">
                          <a:solidFill>
                            <a:srgbClr val="262626"/>
                          </a:solidFill>
                          <a:latin typeface="FS PF BeauSans Pro"/>
                          <a:ea typeface="FS PF BeauSans Pro"/>
                          <a:cs typeface="FS PF BeauSans Pro"/>
                        </a:rPr>
                        <a:t>Mean utterance duration</a:t>
                      </a:r>
                    </a:p>
                  </a:txBody>
                  <a:tcPr marL="68580" marR="68580" marT="22860" marB="22860" anchor="ctr">
                    <a:lnL w="0">
                      <a:noFill/>
                    </a:lnL>
                    <a:lnR w="0">
                      <a:noFill/>
                    </a:lnR>
                    <a:lnT w="0">
                      <a:noFill/>
                    </a:lnT>
                    <a:lnB w="0">
                      <a:noFill/>
                    </a:lnB>
                    <a:noFill/>
                  </a:tcPr>
                </a:tc>
                <a:tc>
                  <a:txBody>
                    <a:bodyPr/>
                    <a:lstStyle/>
                    <a:p>
                      <a:pPr algn="ctr"/>
                      <a:r>
                        <a:rPr lang="en-US" sz="1050" dirty="0">
                          <a:solidFill>
                            <a:srgbClr val="262626"/>
                          </a:solidFill>
                          <a:latin typeface="FS PF BeauSans Pro"/>
                          <a:ea typeface="FS PF BeauSans Pro"/>
                          <a:cs typeface="FS PF BeauSans Pro"/>
                        </a:rPr>
                        <a:t>4.12</a:t>
                      </a:r>
                    </a:p>
                  </a:txBody>
                  <a:tcPr marL="68580" marR="68580" marT="22860" marB="22860" anchor="ctr">
                    <a:lnL w="0">
                      <a:noFill/>
                    </a:lnL>
                    <a:lnR w="0">
                      <a:noFill/>
                    </a:lnR>
                    <a:lnT w="0">
                      <a:noFill/>
                    </a:lnT>
                    <a:lnB w="0">
                      <a:noFill/>
                    </a:lnB>
                    <a:noFill/>
                  </a:tcPr>
                </a:tc>
                <a:tc>
                  <a:txBody>
                    <a:bodyPr/>
                    <a:lstStyle/>
                    <a:p>
                      <a:pPr algn="ctr"/>
                      <a:r>
                        <a:rPr lang="en-US" sz="1050" dirty="0">
                          <a:solidFill>
                            <a:srgbClr val="262626"/>
                          </a:solidFill>
                          <a:latin typeface="FS PF BeauSans Pro"/>
                          <a:ea typeface="FS PF BeauSans Pro"/>
                          <a:cs typeface="FS PF BeauSans Pro"/>
                        </a:rPr>
                        <a:t>seconds</a:t>
                      </a:r>
                    </a:p>
                  </a:txBody>
                  <a:tcPr marL="68580" marR="68580" marT="22860" marB="22860" anchor="ctr">
                    <a:lnL w="0">
                      <a:noFill/>
                    </a:lnL>
                    <a:lnR w="0">
                      <a:noFill/>
                    </a:lnR>
                    <a:lnT w="0">
                      <a:noFill/>
                    </a:lnT>
                    <a:lnB w="0">
                      <a:noFill/>
                    </a:lnB>
                    <a:noFill/>
                  </a:tcPr>
                </a:tc>
                <a:extLst>
                  <a:ext uri="{0D108BD9-81ED-4DB2-BD59-A6C34878D82A}">
                    <a16:rowId xmlns:a16="http://schemas.microsoft.com/office/drawing/2014/main" val="10005"/>
                  </a:ext>
                </a:extLst>
              </a:tr>
              <a:tr h="274320">
                <a:tc>
                  <a:txBody>
                    <a:bodyPr/>
                    <a:lstStyle/>
                    <a:p>
                      <a:pPr algn="l"/>
                      <a:r>
                        <a:rPr lang="en-US" sz="1050" dirty="0">
                          <a:solidFill>
                            <a:srgbClr val="262626"/>
                          </a:solidFill>
                          <a:latin typeface="FS PF BeauSans Pro"/>
                          <a:ea typeface="FS PF BeauSans Pro"/>
                          <a:cs typeface="FS PF BeauSans Pro"/>
                        </a:rPr>
                        <a:t>25th percentile duration</a:t>
                      </a:r>
                    </a:p>
                  </a:txBody>
                  <a:tcPr marL="68580" marR="68580" marT="22860" marB="22860" anchor="ctr">
                    <a:lnL w="0">
                      <a:noFill/>
                    </a:lnL>
                    <a:lnR w="0">
                      <a:noFill/>
                    </a:lnR>
                    <a:lnT w="0">
                      <a:noFill/>
                    </a:lnT>
                    <a:lnB w="0">
                      <a:noFill/>
                    </a:lnB>
                    <a:noFill/>
                  </a:tcPr>
                </a:tc>
                <a:tc>
                  <a:txBody>
                    <a:bodyPr/>
                    <a:lstStyle/>
                    <a:p>
                      <a:pPr algn="ctr"/>
                      <a:r>
                        <a:rPr lang="en-US" sz="1050" dirty="0">
                          <a:solidFill>
                            <a:srgbClr val="262626"/>
                          </a:solidFill>
                          <a:latin typeface="FS PF BeauSans Pro"/>
                          <a:ea typeface="FS PF BeauSans Pro"/>
                          <a:cs typeface="FS PF BeauSans Pro"/>
                        </a:rPr>
                        <a:t>1.96</a:t>
                      </a:r>
                    </a:p>
                  </a:txBody>
                  <a:tcPr marL="68580" marR="68580" marT="22860" marB="22860" anchor="ctr">
                    <a:lnL w="0">
                      <a:noFill/>
                    </a:lnL>
                    <a:lnR w="0">
                      <a:noFill/>
                    </a:lnR>
                    <a:lnT w="0">
                      <a:noFill/>
                    </a:lnT>
                    <a:lnB w="0">
                      <a:noFill/>
                    </a:lnB>
                    <a:noFill/>
                  </a:tcPr>
                </a:tc>
                <a:tc>
                  <a:txBody>
                    <a:bodyPr/>
                    <a:lstStyle/>
                    <a:p>
                      <a:pPr algn="ctr"/>
                      <a:r>
                        <a:rPr lang="en-US" sz="1050" dirty="0">
                          <a:solidFill>
                            <a:srgbClr val="262626"/>
                          </a:solidFill>
                          <a:latin typeface="FS PF BeauSans Pro"/>
                          <a:ea typeface="FS PF BeauSans Pro"/>
                          <a:cs typeface="FS PF BeauSans Pro"/>
                        </a:rPr>
                        <a:t>seconds</a:t>
                      </a:r>
                    </a:p>
                  </a:txBody>
                  <a:tcPr marL="68580" marR="68580" marT="22860" marB="22860" anchor="ctr">
                    <a:lnL w="0">
                      <a:noFill/>
                    </a:lnL>
                    <a:lnR w="0">
                      <a:noFill/>
                    </a:lnR>
                    <a:lnT w="0">
                      <a:noFill/>
                    </a:lnT>
                    <a:lnB w="0">
                      <a:noFill/>
                    </a:lnB>
                    <a:noFill/>
                  </a:tcPr>
                </a:tc>
                <a:extLst>
                  <a:ext uri="{0D108BD9-81ED-4DB2-BD59-A6C34878D82A}">
                    <a16:rowId xmlns:a16="http://schemas.microsoft.com/office/drawing/2014/main" val="10006"/>
                  </a:ext>
                </a:extLst>
              </a:tr>
              <a:tr h="274320">
                <a:tc>
                  <a:txBody>
                    <a:bodyPr/>
                    <a:lstStyle/>
                    <a:p>
                      <a:pPr algn="l"/>
                      <a:r>
                        <a:rPr lang="en-US" sz="1050" dirty="0">
                          <a:solidFill>
                            <a:srgbClr val="262626"/>
                          </a:solidFill>
                          <a:latin typeface="FS PF BeauSans Pro"/>
                          <a:ea typeface="FS PF BeauSans Pro"/>
                          <a:cs typeface="FS PF BeauSans Pro"/>
                        </a:rPr>
                        <a:t>75th percentile duration</a:t>
                      </a:r>
                    </a:p>
                  </a:txBody>
                  <a:tcPr marL="68580" marR="68580" marT="22860" marB="22860" anchor="ctr">
                    <a:lnL w="0">
                      <a:noFill/>
                    </a:lnL>
                    <a:lnR w="0">
                      <a:noFill/>
                    </a:lnR>
                    <a:lnT w="0">
                      <a:noFill/>
                    </a:lnT>
                    <a:lnB w="0">
                      <a:noFill/>
                    </a:lnB>
                    <a:noFill/>
                  </a:tcPr>
                </a:tc>
                <a:tc>
                  <a:txBody>
                    <a:bodyPr/>
                    <a:lstStyle/>
                    <a:p>
                      <a:pPr algn="ctr"/>
                      <a:r>
                        <a:rPr lang="en-US" sz="1050" dirty="0">
                          <a:solidFill>
                            <a:srgbClr val="262626"/>
                          </a:solidFill>
                          <a:latin typeface="FS PF BeauSans Pro"/>
                          <a:ea typeface="FS PF BeauSans Pro"/>
                          <a:cs typeface="FS PF BeauSans Pro"/>
                        </a:rPr>
                        <a:t>5.55</a:t>
                      </a:r>
                    </a:p>
                  </a:txBody>
                  <a:tcPr marL="68580" marR="68580" marT="22860" marB="22860" anchor="ctr">
                    <a:lnL w="0">
                      <a:noFill/>
                    </a:lnL>
                    <a:lnR w="0">
                      <a:noFill/>
                    </a:lnR>
                    <a:lnT w="0">
                      <a:noFill/>
                    </a:lnT>
                    <a:lnB w="0">
                      <a:noFill/>
                    </a:lnB>
                    <a:noFill/>
                  </a:tcPr>
                </a:tc>
                <a:tc>
                  <a:txBody>
                    <a:bodyPr/>
                    <a:lstStyle/>
                    <a:p>
                      <a:pPr algn="ctr"/>
                      <a:r>
                        <a:rPr lang="en-US" sz="1050" dirty="0">
                          <a:solidFill>
                            <a:srgbClr val="262626"/>
                          </a:solidFill>
                          <a:latin typeface="FS PF BeauSans Pro"/>
                          <a:ea typeface="FS PF BeauSans Pro"/>
                          <a:cs typeface="FS PF BeauSans Pro"/>
                        </a:rPr>
                        <a:t>seconds</a:t>
                      </a:r>
                    </a:p>
                  </a:txBody>
                  <a:tcPr marL="68580" marR="68580" marT="22860" marB="22860" anchor="ctr">
                    <a:lnL w="0">
                      <a:noFill/>
                    </a:lnL>
                    <a:lnR w="0">
                      <a:noFill/>
                    </a:lnR>
                    <a:lnT w="0">
                      <a:noFill/>
                    </a:lnT>
                    <a:lnB w="0">
                      <a:noFill/>
                    </a:lnB>
                    <a:noFill/>
                  </a:tcPr>
                </a:tc>
                <a:extLst>
                  <a:ext uri="{0D108BD9-81ED-4DB2-BD59-A6C34878D82A}">
                    <a16:rowId xmlns:a16="http://schemas.microsoft.com/office/drawing/2014/main" val="10007"/>
                  </a:ext>
                </a:extLst>
              </a:tr>
              <a:tr h="274320">
                <a:tc>
                  <a:txBody>
                    <a:bodyPr/>
                    <a:lstStyle/>
                    <a:p>
                      <a:pPr algn="l"/>
                      <a:r>
                        <a:rPr lang="en-US" sz="1050" dirty="0">
                          <a:solidFill>
                            <a:srgbClr val="262626"/>
                          </a:solidFill>
                          <a:latin typeface="FS PF BeauSans Pro"/>
                          <a:ea typeface="FS PF BeauSans Pro"/>
                          <a:cs typeface="FS PF BeauSans Pro"/>
                        </a:rPr>
                        <a:t>Reported speaking rate</a:t>
                      </a:r>
                    </a:p>
                  </a:txBody>
                  <a:tcPr marL="68580" marR="68580" marT="22860" marB="22860" anchor="ctr">
                    <a:lnL w="0">
                      <a:noFill/>
                    </a:lnL>
                    <a:lnR w="0">
                      <a:noFill/>
                    </a:lnR>
                    <a:lnT w="0">
                      <a:noFill/>
                    </a:lnT>
                    <a:lnB w="0">
                      <a:noFill/>
                    </a:lnB>
                    <a:noFill/>
                  </a:tcPr>
                </a:tc>
                <a:tc>
                  <a:txBody>
                    <a:bodyPr/>
                    <a:lstStyle/>
                    <a:p>
                      <a:pPr algn="ctr"/>
                      <a:r>
                        <a:rPr lang="en-US" sz="1050" dirty="0">
                          <a:solidFill>
                            <a:srgbClr val="262626"/>
                          </a:solidFill>
                          <a:latin typeface="FS PF BeauSans Pro"/>
                          <a:ea typeface="FS PF BeauSans Pro"/>
                          <a:cs typeface="FS PF BeauSans Pro"/>
                        </a:rPr>
                        <a:t>243</a:t>
                      </a:r>
                    </a:p>
                  </a:txBody>
                  <a:tcPr marL="68580" marR="68580" marT="22860" marB="22860" anchor="ctr">
                    <a:lnL w="0">
                      <a:noFill/>
                    </a:lnL>
                    <a:lnR w="0">
                      <a:noFill/>
                    </a:lnR>
                    <a:lnT w="0">
                      <a:noFill/>
                    </a:lnT>
                    <a:lnB w="0">
                      <a:noFill/>
                    </a:lnB>
                    <a:noFill/>
                  </a:tcPr>
                </a:tc>
                <a:tc>
                  <a:txBody>
                    <a:bodyPr/>
                    <a:lstStyle/>
                    <a:p>
                      <a:pPr algn="ctr"/>
                      <a:r>
                        <a:rPr lang="en-US" sz="1050" dirty="0">
                          <a:solidFill>
                            <a:srgbClr val="262626"/>
                          </a:solidFill>
                          <a:latin typeface="FS PF BeauSans Pro"/>
                          <a:ea typeface="FS PF BeauSans Pro"/>
                          <a:cs typeface="FS PF BeauSans Pro"/>
                        </a:rPr>
                        <a:t>words/minute</a:t>
                      </a:r>
                    </a:p>
                  </a:txBody>
                  <a:tcPr marL="68580" marR="68580" marT="22860" marB="22860" anchor="ctr">
                    <a:lnL w="0">
                      <a:noFill/>
                    </a:lnL>
                    <a:lnR w="0">
                      <a:noFill/>
                    </a:lnR>
                    <a:lnT w="0">
                      <a:noFill/>
                    </a:lnT>
                    <a:lnB w="0">
                      <a:noFill/>
                    </a:lnB>
                    <a:noFill/>
                  </a:tcPr>
                </a:tc>
                <a:extLst>
                  <a:ext uri="{0D108BD9-81ED-4DB2-BD59-A6C34878D82A}">
                    <a16:rowId xmlns:a16="http://schemas.microsoft.com/office/drawing/2014/main" val="10008"/>
                  </a:ext>
                </a:extLst>
              </a:tr>
              <a:tr h="274320">
                <a:tc>
                  <a:txBody>
                    <a:bodyPr/>
                    <a:lstStyle/>
                    <a:p>
                      <a:pPr algn="l"/>
                      <a:r>
                        <a:rPr lang="en-US" sz="1050" dirty="0">
                          <a:solidFill>
                            <a:srgbClr val="262626"/>
                          </a:solidFill>
                          <a:latin typeface="FS PF BeauSans Pro"/>
                          <a:ea typeface="FS PF BeauSans Pro"/>
                          <a:cs typeface="FS PF BeauSans Pro"/>
                        </a:rPr>
                        <a:t>Estimated SI-SNR</a:t>
                      </a:r>
                    </a:p>
                  </a:txBody>
                  <a:tcPr marL="68580" marR="68580" marT="22860" marB="22860" anchor="ctr">
                    <a:lnL w="0">
                      <a:noFill/>
                    </a:lnL>
                    <a:lnR w="0">
                      <a:noFill/>
                    </a:lnR>
                    <a:lnT w="0">
                      <a:noFill/>
                    </a:lnT>
                    <a:lnB w="19050">
                      <a:solidFill>
                        <a:srgbClr val="262626"/>
                      </a:solidFill>
                    </a:lnB>
                    <a:noFill/>
                  </a:tcPr>
                </a:tc>
                <a:tc>
                  <a:txBody>
                    <a:bodyPr/>
                    <a:lstStyle/>
                    <a:p>
                      <a:pPr algn="ctr"/>
                      <a:r>
                        <a:rPr lang="en-US" sz="1050" dirty="0">
                          <a:solidFill>
                            <a:srgbClr val="262626"/>
                          </a:solidFill>
                          <a:latin typeface="FS PF BeauSans Pro"/>
                          <a:ea typeface="FS PF BeauSans Pro"/>
                          <a:cs typeface="FS PF BeauSans Pro"/>
                        </a:rPr>
                        <a:t>4.81</a:t>
                      </a:r>
                    </a:p>
                  </a:txBody>
                  <a:tcPr marL="68580" marR="68580" marT="22860" marB="22860" anchor="ctr">
                    <a:lnL w="0">
                      <a:noFill/>
                    </a:lnL>
                    <a:lnR w="0">
                      <a:noFill/>
                    </a:lnR>
                    <a:lnT w="0">
                      <a:noFill/>
                    </a:lnT>
                    <a:lnB w="19050">
                      <a:solidFill>
                        <a:srgbClr val="262626"/>
                      </a:solidFill>
                    </a:lnB>
                    <a:noFill/>
                  </a:tcPr>
                </a:tc>
                <a:tc>
                  <a:txBody>
                    <a:bodyPr/>
                    <a:lstStyle/>
                    <a:p>
                      <a:pPr algn="ctr"/>
                      <a:r>
                        <a:rPr lang="en-US" sz="1050" dirty="0">
                          <a:solidFill>
                            <a:srgbClr val="262626"/>
                          </a:solidFill>
                          <a:latin typeface="FS PF BeauSans Pro"/>
                          <a:ea typeface="FS PF BeauSans Pro"/>
                          <a:cs typeface="FS PF BeauSans Pro"/>
                        </a:rPr>
                        <a:t>dB</a:t>
                      </a:r>
                    </a:p>
                  </a:txBody>
                  <a:tcPr marL="68580" marR="68580" marT="22860" marB="22860" anchor="ctr">
                    <a:lnL w="0">
                      <a:noFill/>
                    </a:lnL>
                    <a:lnR w="0">
                      <a:noFill/>
                    </a:lnR>
                    <a:lnT w="0">
                      <a:noFill/>
                    </a:lnT>
                    <a:lnB w="19050">
                      <a:solidFill>
                        <a:srgbClr val="262626"/>
                      </a:solidFill>
                    </a:lnB>
                    <a:noFill/>
                  </a:tcPr>
                </a:tc>
                <a:extLst>
                  <a:ext uri="{0D108BD9-81ED-4DB2-BD59-A6C34878D82A}">
                    <a16:rowId xmlns:a16="http://schemas.microsoft.com/office/drawing/2014/main" val="10009"/>
                  </a:ext>
                </a:extLst>
              </a:tr>
            </a:tbl>
          </a:graphicData>
        </a:graphic>
      </p:graphicFrame>
      <p:sp>
        <p:nvSpPr>
          <p:cNvPr id="152" name="Why these choices"/>
          <p:cNvSpPr/>
          <p:nvPr/>
        </p:nvSpPr>
        <p:spPr>
          <a:xfrm>
            <a:off x="548640" y="4114800"/>
            <a:ext cx="5394960" cy="1691640"/>
          </a:xfrm>
          <a:prstGeom prst="roundRect">
            <a:avLst>
              <a:gd name="adj" fmla="val 5000"/>
            </a:avLst>
          </a:prstGeom>
          <a:solidFill>
            <a:srgbClr val="FFFFFF"/>
          </a:solidFill>
          <a:ln w="12700">
            <a:solidFill>
              <a:srgbClr val="E0E0E0"/>
            </a:solidFill>
          </a:ln>
        </p:spPr>
        <p:txBody>
          <a:bodyPr wrap="square" lIns="137160" tIns="118872" rIns="137160" bIns="91440" anchor="t">
            <a:noAutofit/>
          </a:bodyPr>
          <a:lstStyle/>
          <a:p>
            <a:pPr>
              <a:lnSpc>
                <a:spcPct val="100000"/>
              </a:lnSpc>
              <a:spcAft>
                <a:spcPts val="500"/>
              </a:spcAft>
              <a:buNone/>
            </a:pPr>
            <a:r>
              <a:rPr lang="en-US" sz="1400" b="1" dirty="0">
                <a:solidFill>
                  <a:srgbClr val="262626"/>
                </a:solidFill>
                <a:latin typeface="FS PF BeauSans Pro"/>
                <a:ea typeface="FS PF BeauSans Pro"/>
                <a:cs typeface="FS PF BeauSans Pro"/>
              </a:rPr>
              <a:t>Why these choices</a:t>
            </a:r>
          </a:p>
          <a:p>
            <a:pPr>
              <a:lnSpc>
                <a:spcPct val="105000"/>
              </a:lnSpc>
              <a:spcAft>
                <a:spcPts val="500"/>
              </a:spcAft>
              <a:buNone/>
            </a:pPr>
            <a:r>
              <a:rPr lang="en-US" sz="1600" b="1" dirty="0">
                <a:solidFill>
                  <a:srgbClr val="EE0033"/>
                </a:solidFill>
                <a:latin typeface="FS PF BeauSans Pro"/>
                <a:ea typeface="FS PF BeauSans Pro"/>
                <a:cs typeface="FS PF BeauSans Pro"/>
              </a:rPr>
              <a:t xml:space="preserve">1,017 h  </a:t>
            </a:r>
            <a:r>
              <a:rPr lang="en-US" sz="1150" dirty="0">
                <a:solidFill>
                  <a:srgbClr val="262626"/>
                </a:solidFill>
                <a:latin typeface="FS PF BeauSans Pro"/>
                <a:ea typeface="FS PF BeauSans Pro"/>
                <a:cs typeface="FS PF BeauSans Pro"/>
              </a:rPr>
              <a:t>887,772 utterances of multi-speaker Vietnamese: enough hosts for 10k+ utterances per tag</a:t>
            </a:r>
            <a:r>
              <a:rPr lang="en-US" sz="950" dirty="0">
                <a:solidFill>
                  <a:srgbClr val="595959"/>
                </a:solidFill>
                <a:latin typeface="FS PF BeauSans Pro"/>
                <a:ea typeface="FS PF BeauSans Pro"/>
                <a:cs typeface="FS PF BeauSans Pro"/>
              </a:rPr>
              <a:t xml:space="preserve">  (Table 2)</a:t>
            </a:r>
          </a:p>
          <a:p>
            <a:pPr>
              <a:lnSpc>
                <a:spcPct val="105000"/>
              </a:lnSpc>
              <a:spcAft>
                <a:spcPts val="500"/>
              </a:spcAft>
              <a:buNone/>
            </a:pPr>
            <a:r>
              <a:rPr lang="en-US" sz="1600" b="1" dirty="0">
                <a:solidFill>
                  <a:srgbClr val="EE0033"/>
                </a:solidFill>
                <a:latin typeface="FS PF BeauSans Pro"/>
                <a:ea typeface="FS PF BeauSans Pro"/>
                <a:cs typeface="FS PF BeauSans Pro"/>
              </a:rPr>
              <a:t xml:space="preserve">In-domain  </a:t>
            </a:r>
            <a:r>
              <a:rPr lang="en-US" sz="1150" dirty="0">
                <a:solidFill>
                  <a:srgbClr val="262626"/>
                </a:solidFill>
                <a:latin typeface="FS PF BeauSans Pro"/>
                <a:ea typeface="FS PF BeauSans Pro"/>
                <a:cs typeface="FS PF BeauSans Pro"/>
              </a:rPr>
              <a:t>untagged ViVoice is already in OmniVoice's training data: fine-tuning adds tags, not a new voice domain</a:t>
            </a:r>
            <a:r>
              <a:rPr lang="en-US" sz="950" dirty="0">
                <a:solidFill>
                  <a:srgbClr val="595959"/>
                </a:solidFill>
                <a:latin typeface="FS PF BeauSans Pro"/>
                <a:ea typeface="FS PF BeauSans Pro"/>
                <a:cs typeface="FS PF BeauSans Pro"/>
              </a:rPr>
              <a:t xml:space="preserve">  (Zhu et al., 2026)</a:t>
            </a:r>
          </a:p>
        </p:txBody>
      </p:sp>
      <p:sp>
        <p:nvSpPr>
          <p:cNvPr id="153" name="Footnote citations"/>
          <p:cNvSpPr txBox="1"/>
          <p:nvPr/>
        </p:nvSpPr>
        <p:spPr>
          <a:xfrm>
            <a:off x="411480" y="5852160"/>
            <a:ext cx="8869680" cy="914400"/>
          </a:xfrm>
          <a:prstGeom prst="rect">
            <a:avLst/>
          </a:prstGeom>
          <a:noFill/>
          <a:ln>
            <a:noFill/>
          </a:ln>
        </p:spPr>
        <p:txBody>
          <a:bodyPr wrap="square" lIns="45720" tIns="45720" rIns="45720" bIns="45720" anchor="b">
            <a:noAutofit/>
          </a:bodyPr>
          <a:lstStyle/>
          <a:p>
            <a:pPr>
              <a:buNone/>
            </a:pPr>
            <a:r>
              <a:rPr lang="en-US" sz="900" b="1" dirty="0">
                <a:solidFill>
                  <a:srgbClr val="595959"/>
                </a:solidFill>
                <a:latin typeface="FS PF BeauSans Pro"/>
                <a:ea typeface="FS PF BeauSans Pro"/>
                <a:cs typeface="FS PF BeauSans Pro"/>
              </a:rPr>
              <a:t xml:space="preserve">ViVoice: </a:t>
            </a:r>
            <a:r>
              <a:rPr lang="en-US" sz="900" dirty="0">
                <a:solidFill>
                  <a:srgbClr val="595959"/>
                </a:solidFill>
                <a:latin typeface="FS PF BeauSans Pro"/>
                <a:ea typeface="FS PF BeauSans Pro"/>
                <a:cs typeface="FS PF BeauSans Pro"/>
              </a:rPr>
              <a:t>capleaf, huggingface.co/datasets/capleaf/viVoice, 2024</a:t>
            </a:r>
          </a:p>
          <a:p>
            <a:pPr>
              <a:buNone/>
            </a:pPr>
            <a:r>
              <a:rPr lang="en-US" sz="900" b="1" dirty="0">
                <a:solidFill>
                  <a:srgbClr val="595959"/>
                </a:solidFill>
                <a:latin typeface="FS PF BeauSans Pro"/>
                <a:ea typeface="FS PF BeauSans Pro"/>
                <a:cs typeface="FS PF BeauSans Pro"/>
              </a:rPr>
              <a:t xml:space="preserve">OmniVoice: </a:t>
            </a:r>
            <a:r>
              <a:rPr lang="en-US" sz="900" dirty="0">
                <a:solidFill>
                  <a:srgbClr val="595959"/>
                </a:solidFill>
                <a:latin typeface="FS PF BeauSans Pro"/>
                <a:ea typeface="FS PF BeauSans Pro"/>
                <a:cs typeface="FS PF BeauSans Pro"/>
              </a:rPr>
              <a:t>Zhu et al., arXiv:2604.00688, 2026</a:t>
            </a:r>
          </a:p>
        </p:txBody>
      </p:sp>
    </p:spTree>
    <p:extLst>
      <p:ext uri="{BB962C8B-B14F-4D97-AF65-F5344CB8AC3E}">
        <p14:creationId xmlns:p14="http://schemas.microsoft.com/office/powerpoint/2010/main" val="584723571"/>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Shape 145"/>
        <p:cNvGrpSpPr/>
        <p:nvPr/>
      </p:nvGrpSpPr>
      <p:grpSpPr>
        <a:xfrm>
          <a:off x="0" y="0"/>
          <a:ext cx="0" cy="0"/>
          <a:chOff x="0" y="0"/>
          <a:chExt cx="0" cy="0"/>
        </a:xfrm>
      </p:grpSpPr>
      <p:sp>
        <p:nvSpPr>
          <p:cNvPr id="146" name="Google Shape;146;p10"/>
          <p:cNvSpPr txBox="1">
            <a:spLocks noGrp="1"/>
          </p:cNvSpPr>
          <p:nvPr>
            <p:ph type="ctrTitle"/>
          </p:nvPr>
        </p:nvSpPr>
        <p:spPr>
          <a:xfrm>
            <a:off x="822960" y="466344"/>
            <a:ext cx="10543032" cy="731520"/>
          </a:xfrm>
          <a:prstGeom prst="rect">
            <a:avLst/>
          </a:prstGeom>
          <a:noFill/>
          <a:ln>
            <a:noFill/>
          </a:ln>
        </p:spPr>
        <p:txBody>
          <a:bodyPr spcFirstLastPara="1" wrap="square" lIns="91425" tIns="91425" rIns="91425" bIns="91425" anchor="t" anchorCtr="0">
            <a:noAutofit/>
          </a:bodyPr>
          <a:lstStyle/>
          <a:p>
            <a:pPr algn="ctr">
              <a:buNone/>
            </a:pPr>
            <a:r>
              <a:rPr lang="en-US" dirty="0"/>
              <a:t>Appendix: NVV clip pool</a:t>
            </a:r>
          </a:p>
        </p:txBody>
      </p:sp>
      <p:sp>
        <p:nvSpPr>
          <p:cNvPr id="148" name="Google Shape;148;p10"/>
          <p:cNvSpPr txBox="1">
            <a:spLocks noGrp="1"/>
          </p:cNvSpPr>
          <p:nvPr>
            <p:ph type="body" idx="1"/>
          </p:nvPr>
        </p:nvSpPr>
        <p:spPr>
          <a:xfrm>
            <a:off x="548640" y="1280160"/>
            <a:ext cx="7040880" cy="4526280"/>
          </a:xfrm>
          <a:prstGeom prst="rect">
            <a:avLst/>
          </a:prstGeom>
          <a:noFill/>
          <a:ln>
            <a:noFill/>
          </a:ln>
        </p:spPr>
        <p:txBody>
          <a:bodyPr spcFirstLastPara="1" wrap="square" lIns="91425" tIns="91425" rIns="91425" bIns="91425" anchor="t" anchorCtr="0">
            <a:noAutofit/>
          </a:bodyPr>
          <a:lstStyle/>
          <a:p>
            <a:pPr marL="495300" indent="-342900">
              <a:lnSpc>
                <a:spcPct val="110000"/>
              </a:lnSpc>
              <a:spcAft>
                <a:spcPts val="500"/>
              </a:spcAft>
              <a:buFont typeface="Wingdings" panose="05000000000000000000" pitchFamily="2" charset="2"/>
              <a:buChar char="Ø"/>
            </a:pPr>
            <a:r>
              <a:rPr lang="en-US" sz="1300" b="1" dirty="0">
                <a:latin typeface="FS PF BeauSans Pro"/>
                <a:ea typeface="FS PF BeauSans Pro"/>
                <a:cs typeface="FS PF BeauSans Pro"/>
              </a:rPr>
              <a:t>Sources</a:t>
            </a:r>
            <a:r>
              <a:rPr lang="en-US" sz="1300" dirty="0">
                <a:latin typeface="FS PF BeauSans Pro"/>
                <a:ea typeface="FS PF BeauSans Pro"/>
                <a:cs typeface="FS PF BeauSans Pro"/>
              </a:rPr>
              <a:t>: VocalSound (test + validation splits only, so a classifier trained on its train split can still score our output), Nonspeech7k (breathing, crying, screaming, yawn), FSD50K and events cut from the tagged NVS-38K corpus</a:t>
            </a:r>
          </a:p>
          <a:p>
            <a:pPr marL="495300" indent="-342900">
              <a:lnSpc>
                <a:spcPct val="110000"/>
              </a:lnSpc>
              <a:spcAft>
                <a:spcPts val="500"/>
              </a:spcAft>
              <a:buFont typeface="Wingdings" panose="05000000000000000000" pitchFamily="2" charset="2"/>
              <a:buChar char="Ø"/>
            </a:pPr>
            <a:r>
              <a:rPr lang="en-US" sz="1300" b="1" dirty="0">
                <a:latin typeface="FS PF BeauSans Pro"/>
                <a:ea typeface="FS PF BeauSans Pro"/>
                <a:cs typeface="FS PF BeauSans Pro"/>
              </a:rPr>
              <a:t>Locating events</a:t>
            </a:r>
            <a:r>
              <a:rPr lang="en-US" sz="1300" dirty="0">
                <a:latin typeface="FS PF BeauSans Pro"/>
                <a:ea typeface="FS PF BeauSans Pro"/>
                <a:cs typeface="FS PF BeauSans Pro"/>
              </a:rPr>
              <a:t>: NVS-38K captions are force-aligned (Qwen3-ForcedAligner) only to confirm the tag lies within 1 s of the dataset's own non-verbal region, which is what we cut; FSD50K clip labels are localised with FlexSED frame posteriors (≥ 0.5, gaps ≤ 0.3 s merged)</a:t>
            </a:r>
          </a:p>
          <a:p>
            <a:pPr marL="495300" indent="-342900">
              <a:lnSpc>
                <a:spcPct val="110000"/>
              </a:lnSpc>
              <a:spcAft>
                <a:spcPts val="500"/>
              </a:spcAft>
              <a:buFont typeface="Wingdings" panose="05000000000000000000" pitchFamily="2" charset="2"/>
              <a:buChar char="Ø"/>
            </a:pPr>
            <a:r>
              <a:rPr lang="en-US" sz="1300" b="1" dirty="0">
                <a:latin typeface="FS PF BeauSans Pro"/>
                <a:ea typeface="FS PF BeauSans Pro"/>
                <a:cs typeface="FS PF BeauSans Pro"/>
              </a:rPr>
              <a:t>Trimming</a:t>
            </a:r>
            <a:r>
              <a:rPr lang="en-US" sz="1300" dirty="0">
                <a:latin typeface="FS PF BeauSans Pro"/>
                <a:ea typeface="FS PF BeauSans Pro"/>
                <a:cs typeface="FS PF BeauSans Pro"/>
              </a:rPr>
              <a:t>: edges tightened to the frame energy within ±0.2 s, then padded by 75 ms and faded by 10 ms</a:t>
            </a:r>
          </a:p>
          <a:p>
            <a:pPr marL="495300" indent="-342900">
              <a:lnSpc>
                <a:spcPct val="110000"/>
              </a:lnSpc>
              <a:spcAft>
                <a:spcPts val="500"/>
              </a:spcAft>
              <a:buFont typeface="Wingdings" panose="05000000000000000000" pitchFamily="2" charset="2"/>
              <a:buChar char="Ø"/>
            </a:pPr>
            <a:r>
              <a:rPr lang="en-US" sz="1300" b="1" dirty="0">
                <a:latin typeface="FS PF BeauSans Pro"/>
                <a:ea typeface="FS PF BeauSans Pro"/>
                <a:cs typeface="FS PF BeauSans Pro"/>
              </a:rPr>
              <a:t>Kept only if</a:t>
            </a:r>
            <a:r>
              <a:rPr lang="en-US" sz="1300" dirty="0">
                <a:latin typeface="FS PF BeauSans Pro"/>
                <a:ea typeface="FS PF BeauSans Pro"/>
                <a:cs typeface="FS PF BeauSans Pro"/>
              </a:rPr>
              <a:t>: FlexSED scores its class ≥ 0.5 and no VocalSound class higher; no other labelled sound ≥ 0.5 over it; Qwen3-ASR hears no word; length is plausible for the class (e.g. 0.2–2.5 s breathing, 0.8–4.0 s yawn); SNR ≥ 6 dB; ≤ 0.1% clipped samples</a:t>
            </a:r>
          </a:p>
          <a:p>
            <a:pPr marL="495300" indent="-342900">
              <a:lnSpc>
                <a:spcPct val="110000"/>
              </a:lnSpc>
              <a:spcAft>
                <a:spcPts val="500"/>
              </a:spcAft>
              <a:buFont typeface="Wingdings" panose="05000000000000000000" pitchFamily="2" charset="2"/>
              <a:buChar char="Ø"/>
            </a:pPr>
            <a:r>
              <a:rPr lang="en-US" sz="1300" b="1" dirty="0">
                <a:latin typeface="FS PF BeauSans Pro"/>
                <a:ea typeface="FS PF BeauSans Pro"/>
                <a:cs typeface="FS PF BeauSans Pro"/>
              </a:rPr>
              <a:t>Result</a:t>
            </a:r>
            <a:r>
              <a:rPr lang="en-US" sz="1300" dirty="0">
                <a:latin typeface="FS PF BeauSans Pro"/>
                <a:ea typeface="FS PF BeauSans Pro"/>
                <a:cs typeface="FS PF BeauSans Pro"/>
              </a:rPr>
              <a:t>: 17 classes, 6 from VocalSound and 11 added from the other sources (13,165 clips, 12.0 h)</a:t>
            </a:r>
          </a:p>
        </p:txBody>
      </p:sp>
      <p:sp>
        <p:nvSpPr>
          <p:cNvPr id="2" name="Slide Number Placeholder 1">
            <a:extLst>
              <a:ext uri="{FF2B5EF4-FFF2-40B4-BE49-F238E27FC236}">
                <a16:creationId xmlns:a16="http://schemas.microsoft.com/office/drawing/2014/main" id="{249CE59B-DD91-4B3A-8ACA-10EA59D7C3EE}"/>
              </a:ext>
            </a:extLst>
          </p:cNvPr>
          <p:cNvSpPr>
            <a:spLocks noGrp="1"/>
          </p:cNvSpPr>
          <p:nvPr>
            <p:ph type="sldNum" idx="12"/>
          </p:nvPr>
        </p:nvSpPr>
        <p:spPr/>
        <p:txBody>
          <a:bodyPr/>
          <a:lstStyle/>
          <a:p>
            <a:pPr marL="0" lvl="0" indent="0" algn="ctr" rtl="0">
              <a:spcBef>
                <a:spcPts val="0"/>
              </a:spcBef>
              <a:spcAft>
                <a:spcPts val="0"/>
              </a:spcAft>
              <a:buNone/>
            </a:pPr>
            <a:fld id="{00000000-1234-1234-1234-123412341234}" type="slidenum">
              <a:rPr lang="en-US" smtClean="0"/>
              <a:t>28</a:t>
            </a:fld>
            <a:endParaRPr lang="en-US" dirty="0"/>
          </a:p>
        </p:txBody>
      </p:sp>
      <p:sp>
        <p:nvSpPr>
          <p:cNvPr id="149" name="Footnote citations"/>
          <p:cNvSpPr txBox="1"/>
          <p:nvPr/>
        </p:nvSpPr>
        <p:spPr>
          <a:xfrm>
            <a:off x="411480" y="5669280"/>
            <a:ext cx="8869680" cy="1097280"/>
          </a:xfrm>
          <a:prstGeom prst="rect">
            <a:avLst/>
          </a:prstGeom>
          <a:noFill/>
          <a:ln>
            <a:noFill/>
          </a:ln>
        </p:spPr>
        <p:txBody>
          <a:bodyPr wrap="square" lIns="45720" tIns="45720" rIns="45720" bIns="45720" anchor="b">
            <a:noAutofit/>
          </a:bodyPr>
          <a:lstStyle/>
          <a:p>
            <a:pPr>
              <a:buNone/>
            </a:pPr>
            <a:r>
              <a:rPr lang="en-US" sz="900" b="1" dirty="0">
                <a:solidFill>
                  <a:srgbClr val="595959"/>
                </a:solidFill>
                <a:latin typeface="FS PF BeauSans Pro"/>
                <a:ea typeface="FS PF BeauSans Pro"/>
                <a:cs typeface="FS PF BeauSans Pro"/>
              </a:rPr>
              <a:t>FlexSED: </a:t>
            </a:r>
            <a:r>
              <a:rPr lang="en-US" sz="900" dirty="0">
                <a:solidFill>
                  <a:srgbClr val="595959"/>
                </a:solidFill>
                <a:latin typeface="FS PF BeauSans Pro"/>
                <a:ea typeface="FS PF BeauSans Pro"/>
                <a:cs typeface="FS PF BeauSans Pro"/>
              </a:rPr>
              <a:t>Hai et al., arXiv:2509.18606, 2025</a:t>
            </a:r>
          </a:p>
          <a:p>
            <a:pPr>
              <a:buNone/>
            </a:pPr>
            <a:r>
              <a:rPr lang="en-US" sz="900" b="1" dirty="0">
                <a:solidFill>
                  <a:srgbClr val="595959"/>
                </a:solidFill>
                <a:latin typeface="FS PF BeauSans Pro"/>
                <a:ea typeface="FS PF BeauSans Pro"/>
                <a:cs typeface="FS PF BeauSans Pro"/>
              </a:rPr>
              <a:t>Qwen3-ASR / Qwen3-ForcedAligner: </a:t>
            </a:r>
            <a:r>
              <a:rPr lang="en-US" sz="900" dirty="0">
                <a:solidFill>
                  <a:srgbClr val="595959"/>
                </a:solidFill>
                <a:latin typeface="FS PF BeauSans Pro"/>
                <a:ea typeface="FS PF BeauSans Pro"/>
                <a:cs typeface="FS PF BeauSans Pro"/>
              </a:rPr>
              <a:t>Qwen Team, arXiv:2601.21337, 2026</a:t>
            </a:r>
          </a:p>
          <a:p>
            <a:pPr>
              <a:buNone/>
            </a:pPr>
            <a:r>
              <a:rPr lang="en-US" sz="900" b="1" dirty="0">
                <a:solidFill>
                  <a:srgbClr val="595959"/>
                </a:solidFill>
                <a:latin typeface="FS PF BeauSans Pro"/>
                <a:ea typeface="FS PF BeauSans Pro"/>
                <a:cs typeface="FS PF BeauSans Pro"/>
              </a:rPr>
              <a:t>VocalSound: </a:t>
            </a:r>
            <a:r>
              <a:rPr lang="en-US" sz="900" dirty="0">
                <a:solidFill>
                  <a:srgbClr val="595959"/>
                </a:solidFill>
                <a:latin typeface="FS PF BeauSans Pro"/>
                <a:ea typeface="FS PF BeauSans Pro"/>
                <a:cs typeface="FS PF BeauSans Pro"/>
              </a:rPr>
              <a:t>Gong et al., ICASSP 2022</a:t>
            </a:r>
          </a:p>
          <a:p>
            <a:pPr>
              <a:buNone/>
            </a:pPr>
            <a:r>
              <a:rPr lang="en-US" sz="900" b="1" dirty="0">
                <a:solidFill>
                  <a:srgbClr val="595959"/>
                </a:solidFill>
                <a:latin typeface="FS PF BeauSans Pro"/>
                <a:ea typeface="FS PF BeauSans Pro"/>
                <a:cs typeface="FS PF BeauSans Pro"/>
              </a:rPr>
              <a:t>FSD50K: </a:t>
            </a:r>
            <a:r>
              <a:rPr lang="en-US" sz="900" dirty="0">
                <a:solidFill>
                  <a:srgbClr val="595959"/>
                </a:solidFill>
                <a:latin typeface="FS PF BeauSans Pro"/>
                <a:ea typeface="FS PF BeauSans Pro"/>
                <a:cs typeface="FS PF BeauSans Pro"/>
              </a:rPr>
              <a:t>Fonseca et al., IEEE/ACM TASLP 2022</a:t>
            </a:r>
          </a:p>
          <a:p>
            <a:pPr>
              <a:buNone/>
            </a:pPr>
            <a:r>
              <a:rPr lang="en-US" sz="900" b="1" dirty="0">
                <a:solidFill>
                  <a:srgbClr val="595959"/>
                </a:solidFill>
                <a:latin typeface="FS PF BeauSans Pro"/>
                <a:ea typeface="FS PF BeauSans Pro"/>
                <a:cs typeface="FS PF BeauSans Pro"/>
              </a:rPr>
              <a:t>Nonspeech7k: </a:t>
            </a:r>
            <a:r>
              <a:rPr lang="en-US" sz="900" dirty="0">
                <a:solidFill>
                  <a:srgbClr val="595959"/>
                </a:solidFill>
                <a:latin typeface="FS PF BeauSans Pro"/>
                <a:ea typeface="FS PF BeauSans Pro"/>
                <a:cs typeface="FS PF BeauSans Pro"/>
              </a:rPr>
              <a:t>IET Signal Processing; zenodo.org/records/6967442</a:t>
            </a:r>
          </a:p>
          <a:p>
            <a:pPr>
              <a:buNone/>
            </a:pPr>
            <a:r>
              <a:rPr lang="en-US" sz="900" b="1" dirty="0">
                <a:solidFill>
                  <a:srgbClr val="595959"/>
                </a:solidFill>
                <a:latin typeface="FS PF BeauSans Pro"/>
                <a:ea typeface="FS PF BeauSans Pro"/>
                <a:cs typeface="FS PF BeauSans Pro"/>
              </a:rPr>
              <a:t>NVS-38K: </a:t>
            </a:r>
            <a:r>
              <a:rPr lang="en-US" sz="900" dirty="0">
                <a:solidFill>
                  <a:srgbClr val="595959"/>
                </a:solidFill>
                <a:latin typeface="FS PF BeauSans Pro"/>
                <a:ea typeface="FS PF BeauSans Pro"/>
                <a:cs typeface="FS PF BeauSans Pro"/>
              </a:rPr>
              <a:t>Ye et al., arXiv:2508.05385, 2025</a:t>
            </a:r>
          </a:p>
        </p:txBody>
      </p:sp>
      <p:sp>
        <p:nvSpPr>
          <p:cNvPr id="150" name="Why these choices"/>
          <p:cNvSpPr/>
          <p:nvPr/>
        </p:nvSpPr>
        <p:spPr>
          <a:xfrm>
            <a:off x="7726679" y="1325880"/>
            <a:ext cx="3931920" cy="4343400"/>
          </a:xfrm>
          <a:prstGeom prst="roundRect">
            <a:avLst>
              <a:gd name="adj" fmla="val 5000"/>
            </a:avLst>
          </a:prstGeom>
          <a:solidFill>
            <a:srgbClr val="FFFFFF"/>
          </a:solidFill>
          <a:ln w="12700">
            <a:solidFill>
              <a:srgbClr val="E0E0E0"/>
            </a:solidFill>
          </a:ln>
        </p:spPr>
        <p:txBody>
          <a:bodyPr wrap="square" lIns="137160" tIns="118872" rIns="137160" bIns="91440" anchor="t">
            <a:noAutofit/>
          </a:bodyPr>
          <a:lstStyle/>
          <a:p>
            <a:pPr>
              <a:lnSpc>
                <a:spcPct val="100000"/>
              </a:lnSpc>
              <a:spcAft>
                <a:spcPts val="700"/>
              </a:spcAft>
              <a:buNone/>
            </a:pPr>
            <a:r>
              <a:rPr lang="en-US" sz="1500" b="1" dirty="0">
                <a:solidFill>
                  <a:srgbClr val="262626"/>
                </a:solidFill>
                <a:latin typeface="FS PF BeauSans Pro"/>
                <a:ea typeface="FS PF BeauSans Pro"/>
                <a:cs typeface="FS PF BeauSans Pro"/>
              </a:rPr>
              <a:t>Why these choices</a:t>
            </a:r>
          </a:p>
          <a:p>
            <a:pPr>
              <a:lnSpc>
                <a:spcPct val="100000"/>
              </a:lnSpc>
              <a:buNone/>
            </a:pPr>
            <a:r>
              <a:rPr lang="en-US" sz="2200" b="1" dirty="0">
                <a:solidFill>
                  <a:srgbClr val="EE0033"/>
                </a:solidFill>
                <a:latin typeface="FS PF BeauSans Pro"/>
                <a:ea typeface="FS PF BeauSans Pro"/>
                <a:cs typeface="FS PF BeauSans Pro"/>
              </a:rPr>
              <a:t>6 → 17</a:t>
            </a:r>
          </a:p>
          <a:p>
            <a:pPr>
              <a:lnSpc>
                <a:spcPct val="105000"/>
              </a:lnSpc>
              <a:buNone/>
            </a:pPr>
            <a:r>
              <a:rPr lang="en-US" sz="1150" dirty="0">
                <a:solidFill>
                  <a:srgbClr val="262626"/>
                </a:solidFill>
                <a:latin typeface="FS PF BeauSans Pro"/>
                <a:ea typeface="FS PF BeauSans Pro"/>
                <a:cs typeface="FS PF BeauSans Pro"/>
              </a:rPr>
              <a:t>classes: VocalSound alone has 6; three more sources add 11 (13,165 clips, 12.0 h)</a:t>
            </a:r>
          </a:p>
          <a:p>
            <a:pPr>
              <a:lnSpc>
                <a:spcPct val="100000"/>
              </a:lnSpc>
              <a:spcAft>
                <a:spcPts val="1000"/>
              </a:spcAft>
              <a:buNone/>
            </a:pPr>
            <a:r>
              <a:rPr lang="en-US" sz="950" dirty="0">
                <a:solidFill>
                  <a:srgbClr val="595959"/>
                </a:solidFill>
                <a:latin typeface="FS PF BeauSans Pro"/>
                <a:ea typeface="FS PF BeauSans Pro"/>
                <a:cs typeface="FS PF BeauSans Pro"/>
              </a:rPr>
              <a:t>Gong et al., 2022; our clip pool</a:t>
            </a:r>
          </a:p>
          <a:p>
            <a:pPr>
              <a:lnSpc>
                <a:spcPct val="100000"/>
              </a:lnSpc>
              <a:buNone/>
            </a:pPr>
            <a:r>
              <a:rPr lang="en-US" sz="2200" b="1" dirty="0">
                <a:solidFill>
                  <a:srgbClr val="EE0033"/>
                </a:solidFill>
                <a:latin typeface="FS PF BeauSans Pro"/>
                <a:ea typeface="FS PF BeauSans Pro"/>
                <a:cs typeface="FS PF BeauSans Pro"/>
              </a:rPr>
              <a:t>0.45</a:t>
            </a:r>
          </a:p>
          <a:p>
            <a:pPr>
              <a:lnSpc>
                <a:spcPct val="105000"/>
              </a:lnSpc>
              <a:buNone/>
            </a:pPr>
            <a:r>
              <a:rPr lang="en-US" sz="1150" dirty="0">
                <a:solidFill>
                  <a:srgbClr val="262626"/>
                </a:solidFill>
                <a:latin typeface="FS PF BeauSans Pro"/>
                <a:ea typeface="FS PF BeauSans Pro"/>
                <a:cs typeface="FS PF BeauSans Pro"/>
              </a:rPr>
              <a:t>PSDS1 of FlexSED on AudioSet-Strong, vs 0.40 Dasheng-SED and 0.38 ATST-SED; any class by text prompt</a:t>
            </a:r>
          </a:p>
          <a:p>
            <a:pPr>
              <a:lnSpc>
                <a:spcPct val="100000"/>
              </a:lnSpc>
              <a:spcAft>
                <a:spcPts val="1000"/>
              </a:spcAft>
              <a:buNone/>
            </a:pPr>
            <a:r>
              <a:rPr lang="en-US" sz="950" dirty="0">
                <a:solidFill>
                  <a:srgbClr val="595959"/>
                </a:solidFill>
                <a:latin typeface="FS PF BeauSans Pro"/>
                <a:ea typeface="FS PF BeauSans Pro"/>
                <a:cs typeface="FS PF BeauSans Pro"/>
              </a:rPr>
              <a:t>Hai et al., 2025</a:t>
            </a:r>
          </a:p>
          <a:p>
            <a:pPr>
              <a:lnSpc>
                <a:spcPct val="100000"/>
              </a:lnSpc>
              <a:buNone/>
            </a:pPr>
            <a:r>
              <a:rPr lang="en-US" sz="2200" b="1" dirty="0">
                <a:solidFill>
                  <a:srgbClr val="EE0033"/>
                </a:solidFill>
                <a:latin typeface="FS PF BeauSans Pro"/>
                <a:ea typeface="FS PF BeauSans Pro"/>
                <a:cs typeface="FS PF BeauSans Pro"/>
              </a:rPr>
              <a:t>5,446</a:t>
            </a:r>
          </a:p>
          <a:p>
            <a:pPr>
              <a:lnSpc>
                <a:spcPct val="105000"/>
              </a:lnSpc>
              <a:buNone/>
            </a:pPr>
            <a:r>
              <a:rPr lang="en-US" sz="1150" dirty="0">
                <a:solidFill>
                  <a:srgbClr val="262626"/>
                </a:solidFill>
                <a:latin typeface="FS PF BeauSans Pro"/>
                <a:ea typeface="FS PF BeauSans Pro"/>
                <a:cs typeface="FS PF BeauSans Pro"/>
              </a:rPr>
              <a:t>VocalSound clips, test + val only: a classifier trained on its train split can still judge our output</a:t>
            </a:r>
          </a:p>
          <a:p>
            <a:pPr>
              <a:lnSpc>
                <a:spcPct val="100000"/>
              </a:lnSpc>
              <a:buNone/>
            </a:pPr>
            <a:r>
              <a:rPr lang="en-US" sz="950" dirty="0">
                <a:solidFill>
                  <a:srgbClr val="595959"/>
                </a:solidFill>
                <a:latin typeface="FS PF BeauSans Pro"/>
                <a:ea typeface="FS PF BeauSans Pro"/>
                <a:cs typeface="FS PF BeauSans Pro"/>
              </a:rPr>
              <a:t>our clip pool</a:t>
            </a:r>
          </a:p>
        </p:txBody>
      </p:sp>
    </p:spTree>
    <p:extLst>
      <p:ext uri="{BB962C8B-B14F-4D97-AF65-F5344CB8AC3E}">
        <p14:creationId xmlns:p14="http://schemas.microsoft.com/office/powerpoint/2010/main" val="584723571"/>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Shape 145"/>
        <p:cNvGrpSpPr/>
        <p:nvPr/>
      </p:nvGrpSpPr>
      <p:grpSpPr>
        <a:xfrm>
          <a:off x="0" y="0"/>
          <a:ext cx="0" cy="0"/>
          <a:chOff x="0" y="0"/>
          <a:chExt cx="0" cy="0"/>
        </a:xfrm>
      </p:grpSpPr>
      <p:sp>
        <p:nvSpPr>
          <p:cNvPr id="146" name="Google Shape;146;p10"/>
          <p:cNvSpPr txBox="1">
            <a:spLocks noGrp="1"/>
          </p:cNvSpPr>
          <p:nvPr>
            <p:ph type="ctrTitle"/>
          </p:nvPr>
        </p:nvSpPr>
        <p:spPr>
          <a:xfrm>
            <a:off x="822960" y="466344"/>
            <a:ext cx="10543032" cy="731520"/>
          </a:xfrm>
          <a:prstGeom prst="rect">
            <a:avLst/>
          </a:prstGeom>
          <a:noFill/>
          <a:ln>
            <a:noFill/>
          </a:ln>
        </p:spPr>
        <p:txBody>
          <a:bodyPr spcFirstLastPara="1" wrap="square" lIns="91425" tIns="91425" rIns="91425" bIns="91425" anchor="t" anchorCtr="0">
            <a:noAutofit/>
          </a:bodyPr>
          <a:lstStyle/>
          <a:p>
            <a:pPr algn="ctr">
              <a:buNone/>
            </a:pPr>
            <a:r>
              <a:rPr lang="en-US" dirty="0"/>
              <a:t>Appendix: Pause detection</a:t>
            </a:r>
          </a:p>
        </p:txBody>
      </p:sp>
      <p:sp>
        <p:nvSpPr>
          <p:cNvPr id="148" name="Google Shape;148;p10"/>
          <p:cNvSpPr txBox="1">
            <a:spLocks noGrp="1"/>
          </p:cNvSpPr>
          <p:nvPr>
            <p:ph type="body" idx="1"/>
          </p:nvPr>
        </p:nvSpPr>
        <p:spPr>
          <a:xfrm>
            <a:off x="548640" y="1280160"/>
            <a:ext cx="7040880" cy="4526280"/>
          </a:xfrm>
          <a:prstGeom prst="rect">
            <a:avLst/>
          </a:prstGeom>
          <a:noFill/>
          <a:ln>
            <a:noFill/>
          </a:ln>
        </p:spPr>
        <p:txBody>
          <a:bodyPr spcFirstLastPara="1" wrap="square" lIns="91425" tIns="91425" rIns="91425" bIns="91425" anchor="t" anchorCtr="0">
            <a:noAutofit/>
          </a:bodyPr>
          <a:lstStyle/>
          <a:p>
            <a:pPr marL="495300" indent="-342900">
              <a:lnSpc>
                <a:spcPct val="110000"/>
              </a:lnSpc>
              <a:spcAft>
                <a:spcPts val="500"/>
              </a:spcAft>
              <a:buFont typeface="Wingdings" panose="05000000000000000000" pitchFamily="2" charset="2"/>
              <a:buChar char="Ø"/>
            </a:pPr>
            <a:r>
              <a:rPr lang="en-US" sz="1300" b="1" dirty="0">
                <a:latin typeface="FS PF BeauSans Pro"/>
                <a:ea typeface="FS PF BeauSans Pro"/>
                <a:cs typeface="FS PF BeauSans Pro"/>
              </a:rPr>
              <a:t>Why pauses first</a:t>
            </a:r>
            <a:r>
              <a:rPr lang="en-US" sz="1300" dirty="0">
                <a:latin typeface="FS PF BeauSans Pro"/>
                <a:ea typeface="FS PF BeauSans Pro"/>
                <a:cs typeface="FS PF BeauSans Pro"/>
              </a:rPr>
              <a:t>: following SynParaSpeech, find where an NVV could go before choosing; placing a tag first and aligning it later put the nearest real pause a median 2.02 s away on a 20-utterance pilot</a:t>
            </a:r>
          </a:p>
          <a:p>
            <a:pPr marL="495300" indent="-342900">
              <a:lnSpc>
                <a:spcPct val="110000"/>
              </a:lnSpc>
              <a:spcAft>
                <a:spcPts val="500"/>
              </a:spcAft>
              <a:buFont typeface="Wingdings" panose="05000000000000000000" pitchFamily="2" charset="2"/>
              <a:buChar char="Ø"/>
            </a:pPr>
            <a:r>
              <a:rPr lang="en-US" sz="1300" b="1" dirty="0">
                <a:latin typeface="FS PF BeauSans Pro"/>
                <a:ea typeface="FS PF BeauSans Pro"/>
                <a:cs typeface="FS PF BeauSans Pro"/>
              </a:rPr>
              <a:t>Pauses</a:t>
            </a:r>
            <a:r>
              <a:rPr lang="en-US" sz="1300" dirty="0">
                <a:latin typeface="FS PF BeauSans Pro"/>
                <a:ea typeface="FS PF BeauSans Pro"/>
                <a:cs typeface="FS PF BeauSans Pro"/>
              </a:rPr>
              <a:t>: Silero VAD finds speech regions; regions &lt; 0.10 s apart are merged (stop closures and glottal breaks are not pauses); gaps are trimmed by 0.05 s each side and kept if ≥ 0.12 s; silence before the first and after the last word is ignored</a:t>
            </a:r>
          </a:p>
          <a:p>
            <a:pPr marL="495300" indent="-342900">
              <a:lnSpc>
                <a:spcPct val="110000"/>
              </a:lnSpc>
              <a:spcAft>
                <a:spcPts val="500"/>
              </a:spcAft>
              <a:buFont typeface="Wingdings" panose="05000000000000000000" pitchFamily="2" charset="2"/>
              <a:buChar char="Ø"/>
            </a:pPr>
            <a:r>
              <a:rPr lang="en-US" sz="1300" b="1" dirty="0">
                <a:latin typeface="FS PF BeauSans Pro"/>
                <a:ea typeface="FS PF BeauSans Pro"/>
                <a:cs typeface="FS PF BeauSans Pro"/>
              </a:rPr>
              <a:t>Word boundaries</a:t>
            </a:r>
            <a:r>
              <a:rPr lang="en-US" sz="1300" dirty="0">
                <a:latin typeface="FS PF BeauSans Pro"/>
                <a:ea typeface="FS PF BeauSans Pro"/>
                <a:cs typeface="FS PF BeauSans Pro"/>
              </a:rPr>
              <a:t>: ViVoice transcripts have no timing, so Qwen3-ForcedAligner aligns the untagged transcript to the audio</a:t>
            </a:r>
          </a:p>
          <a:p>
            <a:pPr marL="495300" indent="-342900">
              <a:lnSpc>
                <a:spcPct val="110000"/>
              </a:lnSpc>
              <a:spcAft>
                <a:spcPts val="500"/>
              </a:spcAft>
              <a:buFont typeface="Wingdings" panose="05000000000000000000" pitchFamily="2" charset="2"/>
              <a:buChar char="Ø"/>
            </a:pPr>
            <a:r>
              <a:rPr lang="en-US" sz="1300" b="1" dirty="0">
                <a:latin typeface="FS PF BeauSans Pro"/>
                <a:ea typeface="FS PF BeauSans Pro"/>
                <a:cs typeface="FS PF BeauSans Pro"/>
              </a:rPr>
              <a:t>Slots</a:t>
            </a:r>
            <a:r>
              <a:rPr lang="en-US" sz="1300" dirty="0">
                <a:latin typeface="FS PF BeauSans Pro"/>
                <a:ea typeface="FS PF BeauSans Pro"/>
                <a:cs typeface="FS PF BeauSans Pro"/>
              </a:rPr>
              <a:t>: a pause overlapping the gap between two aligned words becomes a slot (the longer one if two share a gap); each slot stores its midpoint and the character offset of the next word</a:t>
            </a:r>
          </a:p>
          <a:p>
            <a:pPr marL="495300" indent="-342900">
              <a:lnSpc>
                <a:spcPct val="110000"/>
              </a:lnSpc>
              <a:spcAft>
                <a:spcPts val="500"/>
              </a:spcAft>
              <a:buFont typeface="Wingdings" panose="05000000000000000000" pitchFamily="2" charset="2"/>
              <a:buChar char="Ø"/>
            </a:pPr>
            <a:r>
              <a:rPr lang="en-US" sz="1300" b="1" dirty="0">
                <a:latin typeface="FS PF BeauSans Pro"/>
                <a:ea typeface="FS PF BeauSans Pro"/>
                <a:cs typeface="FS PF BeauSans Pro"/>
              </a:rPr>
              <a:t>Safety</a:t>
            </a:r>
            <a:r>
              <a:rPr lang="en-US" sz="1300" dirty="0">
                <a:latin typeface="FS PF BeauSans Pro"/>
                <a:ea typeface="FS PF BeauSans Pro"/>
                <a:cs typeface="FS PF BeauSans Pro"/>
              </a:rPr>
              <a:t>: if any word cannot be matched back to the transcript in order, the utterance gets no slots and is skipped</a:t>
            </a:r>
          </a:p>
        </p:txBody>
      </p:sp>
      <p:sp>
        <p:nvSpPr>
          <p:cNvPr id="2" name="Slide Number Placeholder 1">
            <a:extLst>
              <a:ext uri="{FF2B5EF4-FFF2-40B4-BE49-F238E27FC236}">
                <a16:creationId xmlns:a16="http://schemas.microsoft.com/office/drawing/2014/main" id="{249CE59B-DD91-4B3A-8ACA-10EA59D7C3EE}"/>
              </a:ext>
            </a:extLst>
          </p:cNvPr>
          <p:cNvSpPr>
            <a:spLocks noGrp="1"/>
          </p:cNvSpPr>
          <p:nvPr>
            <p:ph type="sldNum" idx="12"/>
          </p:nvPr>
        </p:nvSpPr>
        <p:spPr/>
        <p:txBody>
          <a:bodyPr/>
          <a:lstStyle/>
          <a:p>
            <a:pPr marL="0" lvl="0" indent="0" algn="ctr" rtl="0">
              <a:spcBef>
                <a:spcPts val="0"/>
              </a:spcBef>
              <a:spcAft>
                <a:spcPts val="0"/>
              </a:spcAft>
              <a:buNone/>
            </a:pPr>
            <a:fld id="{00000000-1234-1234-1234-123412341234}" type="slidenum">
              <a:rPr lang="en-US" smtClean="0"/>
              <a:t>29</a:t>
            </a:fld>
            <a:endParaRPr lang="en-US" dirty="0"/>
          </a:p>
        </p:txBody>
      </p:sp>
      <p:sp>
        <p:nvSpPr>
          <p:cNvPr id="149" name="Footnote citations"/>
          <p:cNvSpPr txBox="1"/>
          <p:nvPr/>
        </p:nvSpPr>
        <p:spPr>
          <a:xfrm>
            <a:off x="411480" y="5852160"/>
            <a:ext cx="8869680" cy="914400"/>
          </a:xfrm>
          <a:prstGeom prst="rect">
            <a:avLst/>
          </a:prstGeom>
          <a:noFill/>
          <a:ln>
            <a:noFill/>
          </a:ln>
        </p:spPr>
        <p:txBody>
          <a:bodyPr wrap="square" lIns="45720" tIns="45720" rIns="45720" bIns="45720" anchor="b">
            <a:noAutofit/>
          </a:bodyPr>
          <a:lstStyle/>
          <a:p>
            <a:pPr>
              <a:buNone/>
            </a:pPr>
            <a:r>
              <a:rPr lang="en-US" sz="900" b="1" dirty="0">
                <a:solidFill>
                  <a:srgbClr val="595959"/>
                </a:solidFill>
                <a:latin typeface="FS PF BeauSans Pro"/>
                <a:ea typeface="FS PF BeauSans Pro"/>
                <a:cs typeface="FS PF BeauSans Pro"/>
              </a:rPr>
              <a:t>SynParaSpeech: </a:t>
            </a:r>
            <a:r>
              <a:rPr lang="en-US" sz="900" dirty="0">
                <a:solidFill>
                  <a:srgbClr val="595959"/>
                </a:solidFill>
                <a:latin typeface="FS PF BeauSans Pro"/>
                <a:ea typeface="FS PF BeauSans Pro"/>
                <a:cs typeface="FS PF BeauSans Pro"/>
              </a:rPr>
              <a:t>Bai et al., arXiv:2509.14946, 2025</a:t>
            </a:r>
          </a:p>
          <a:p>
            <a:pPr>
              <a:buNone/>
            </a:pPr>
            <a:r>
              <a:rPr lang="en-US" sz="900" b="1" dirty="0">
                <a:solidFill>
                  <a:srgbClr val="595959"/>
                </a:solidFill>
                <a:latin typeface="FS PF BeauSans Pro"/>
                <a:ea typeface="FS PF BeauSans Pro"/>
                <a:cs typeface="FS PF BeauSans Pro"/>
              </a:rPr>
              <a:t>Silero VAD: </a:t>
            </a:r>
            <a:r>
              <a:rPr lang="en-US" sz="900" dirty="0">
                <a:solidFill>
                  <a:srgbClr val="595959"/>
                </a:solidFill>
                <a:latin typeface="FS PF BeauSans Pro"/>
                <a:ea typeface="FS PF BeauSans Pro"/>
                <a:cs typeface="FS PF BeauSans Pro"/>
              </a:rPr>
              <a:t>Silero Team, github.com/snakers4/silero-vad, 2024</a:t>
            </a:r>
          </a:p>
          <a:p>
            <a:pPr>
              <a:buNone/>
            </a:pPr>
            <a:r>
              <a:rPr lang="en-US" sz="900" b="1" dirty="0">
                <a:solidFill>
                  <a:srgbClr val="595959"/>
                </a:solidFill>
                <a:latin typeface="FS PF BeauSans Pro"/>
                <a:ea typeface="FS PF BeauSans Pro"/>
                <a:cs typeface="FS PF BeauSans Pro"/>
              </a:rPr>
              <a:t>Qwen3-ASR / Qwen3-ForcedAligner: </a:t>
            </a:r>
            <a:r>
              <a:rPr lang="en-US" sz="900" dirty="0">
                <a:solidFill>
                  <a:srgbClr val="595959"/>
                </a:solidFill>
                <a:latin typeface="FS PF BeauSans Pro"/>
                <a:ea typeface="FS PF BeauSans Pro"/>
                <a:cs typeface="FS PF BeauSans Pro"/>
              </a:rPr>
              <a:t>Qwen Team, arXiv:2601.21337, 2026</a:t>
            </a:r>
          </a:p>
        </p:txBody>
      </p:sp>
      <p:sp>
        <p:nvSpPr>
          <p:cNvPr id="150" name="Why these choices"/>
          <p:cNvSpPr/>
          <p:nvPr/>
        </p:nvSpPr>
        <p:spPr>
          <a:xfrm>
            <a:off x="7726679" y="1325880"/>
            <a:ext cx="3931920" cy="4343400"/>
          </a:xfrm>
          <a:prstGeom prst="roundRect">
            <a:avLst>
              <a:gd name="adj" fmla="val 5000"/>
            </a:avLst>
          </a:prstGeom>
          <a:solidFill>
            <a:srgbClr val="FFFFFF"/>
          </a:solidFill>
          <a:ln w="12700">
            <a:solidFill>
              <a:srgbClr val="E0E0E0"/>
            </a:solidFill>
          </a:ln>
        </p:spPr>
        <p:txBody>
          <a:bodyPr wrap="square" lIns="137160" tIns="118872" rIns="137160" bIns="91440" anchor="t">
            <a:noAutofit/>
          </a:bodyPr>
          <a:lstStyle/>
          <a:p>
            <a:pPr>
              <a:lnSpc>
                <a:spcPct val="100000"/>
              </a:lnSpc>
              <a:spcAft>
                <a:spcPts val="700"/>
              </a:spcAft>
              <a:buNone/>
            </a:pPr>
            <a:r>
              <a:rPr lang="en-US" sz="1500" b="1" dirty="0">
                <a:solidFill>
                  <a:srgbClr val="262626"/>
                </a:solidFill>
                <a:latin typeface="FS PF BeauSans Pro"/>
                <a:ea typeface="FS PF BeauSans Pro"/>
                <a:cs typeface="FS PF BeauSans Pro"/>
              </a:rPr>
              <a:t>Why these choices</a:t>
            </a:r>
          </a:p>
          <a:p>
            <a:pPr>
              <a:lnSpc>
                <a:spcPct val="100000"/>
              </a:lnSpc>
              <a:buNone/>
            </a:pPr>
            <a:r>
              <a:rPr lang="en-US" sz="2200" b="1" dirty="0">
                <a:solidFill>
                  <a:srgbClr val="EE0033"/>
                </a:solidFill>
                <a:latin typeface="FS PF BeauSans Pro"/>
                <a:ea typeface="FS PF BeauSans Pro"/>
                <a:cs typeface="FS PF BeauSans Pro"/>
              </a:rPr>
              <a:t>2.02 s</a:t>
            </a:r>
          </a:p>
          <a:p>
            <a:pPr>
              <a:lnSpc>
                <a:spcPct val="105000"/>
              </a:lnSpc>
              <a:buNone/>
            </a:pPr>
            <a:r>
              <a:rPr lang="en-US" sz="1150" dirty="0">
                <a:solidFill>
                  <a:srgbClr val="262626"/>
                </a:solidFill>
                <a:latin typeface="FS PF BeauSans Pro"/>
                <a:ea typeface="FS PF BeauSans Pro"/>
                <a:cs typeface="FS PF BeauSans Pro"/>
              </a:rPr>
              <a:t>median gap from a text-placed tag to the nearest real pause; 3 of 20 rows had no pause at all</a:t>
            </a:r>
          </a:p>
          <a:p>
            <a:pPr>
              <a:lnSpc>
                <a:spcPct val="100000"/>
              </a:lnSpc>
              <a:spcAft>
                <a:spcPts val="1000"/>
              </a:spcAft>
              <a:buNone/>
            </a:pPr>
            <a:r>
              <a:rPr lang="en-US" sz="950" dirty="0">
                <a:solidFill>
                  <a:srgbClr val="595959"/>
                </a:solidFill>
                <a:latin typeface="FS PF BeauSans Pro"/>
                <a:ea typeface="FS PF BeauSans Pro"/>
                <a:cs typeface="FS PF BeauSans Pro"/>
              </a:rPr>
              <a:t>our 20-utterance pilot</a:t>
            </a:r>
          </a:p>
          <a:p>
            <a:pPr>
              <a:lnSpc>
                <a:spcPct val="100000"/>
              </a:lnSpc>
              <a:buNone/>
            </a:pPr>
            <a:r>
              <a:rPr lang="en-US" sz="2200" b="1" dirty="0">
                <a:solidFill>
                  <a:srgbClr val="EE0033"/>
                </a:solidFill>
                <a:latin typeface="FS PF BeauSans Pro"/>
                <a:ea typeface="FS PF BeauSans Pro"/>
                <a:cs typeface="FS PF BeauSans Pro"/>
              </a:rPr>
              <a:t>32 ms</a:t>
            </a:r>
          </a:p>
          <a:p>
            <a:pPr>
              <a:lnSpc>
                <a:spcPct val="105000"/>
              </a:lnSpc>
              <a:buNone/>
            </a:pPr>
            <a:r>
              <a:rPr lang="en-US" sz="1150" dirty="0">
                <a:solidFill>
                  <a:srgbClr val="262626"/>
                </a:solidFill>
                <a:latin typeface="FS PF BeauSans Pro"/>
                <a:ea typeface="FS PF BeauSans Pro"/>
                <a:cs typeface="FS PF BeauSans Pro"/>
              </a:rPr>
              <a:t>timestamp error of Qwen3-ForcedAligner, vs 101 ms NFA and 141 ms Monotonic-Aligner; aligned 20/20 pilot rows</a:t>
            </a:r>
          </a:p>
          <a:p>
            <a:pPr>
              <a:lnSpc>
                <a:spcPct val="100000"/>
              </a:lnSpc>
              <a:spcAft>
                <a:spcPts val="1000"/>
              </a:spcAft>
              <a:buNone/>
            </a:pPr>
            <a:r>
              <a:rPr lang="en-US" sz="950" dirty="0">
                <a:solidFill>
                  <a:srgbClr val="595959"/>
                </a:solidFill>
                <a:latin typeface="FS PF BeauSans Pro"/>
                <a:ea typeface="FS PF BeauSans Pro"/>
                <a:cs typeface="FS PF BeauSans Pro"/>
              </a:rPr>
              <a:t>Qwen Team, 2026 (human-labelled sets); our 20-utterance pilot</a:t>
            </a:r>
          </a:p>
          <a:p>
            <a:pPr>
              <a:lnSpc>
                <a:spcPct val="100000"/>
              </a:lnSpc>
              <a:buNone/>
            </a:pPr>
            <a:r>
              <a:rPr lang="en-US" sz="2200" b="1" dirty="0">
                <a:solidFill>
                  <a:srgbClr val="EE0033"/>
                </a:solidFill>
                <a:latin typeface="FS PF BeauSans Pro"/>
                <a:ea typeface="FS PF BeauSans Pro"/>
                <a:cs typeface="FS PF BeauSans Pro"/>
              </a:rPr>
              <a:t>6,000+</a:t>
            </a:r>
          </a:p>
          <a:p>
            <a:pPr>
              <a:lnSpc>
                <a:spcPct val="105000"/>
              </a:lnSpc>
              <a:buNone/>
            </a:pPr>
            <a:r>
              <a:rPr lang="en-US" sz="1150" dirty="0">
                <a:solidFill>
                  <a:srgbClr val="262626"/>
                </a:solidFill>
                <a:latin typeface="FS PF BeauSans Pro"/>
                <a:ea typeface="FS PF BeauSans Pro"/>
                <a:cs typeface="FS PF BeauSans Pro"/>
              </a:rPr>
              <a:t>languages in Silero VAD's training data; &lt; 1 ms per 30 ms chunk on one CPU thread</a:t>
            </a:r>
          </a:p>
          <a:p>
            <a:pPr>
              <a:lnSpc>
                <a:spcPct val="100000"/>
              </a:lnSpc>
              <a:buNone/>
            </a:pPr>
            <a:r>
              <a:rPr lang="en-US" sz="950" dirty="0">
                <a:solidFill>
                  <a:srgbClr val="595959"/>
                </a:solidFill>
                <a:latin typeface="FS PF BeauSans Pro"/>
                <a:ea typeface="FS PF BeauSans Pro"/>
                <a:cs typeface="FS PF BeauSans Pro"/>
              </a:rPr>
              <a:t>Silero Team, 2024</a:t>
            </a:r>
          </a:p>
        </p:txBody>
      </p:sp>
    </p:spTree>
    <p:extLst>
      <p:ext uri="{BB962C8B-B14F-4D97-AF65-F5344CB8AC3E}">
        <p14:creationId xmlns:p14="http://schemas.microsoft.com/office/powerpoint/2010/main" val="584723571"/>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Shape 145"/>
        <p:cNvGrpSpPr/>
        <p:nvPr/>
      </p:nvGrpSpPr>
      <p:grpSpPr>
        <a:xfrm>
          <a:off x="0" y="0"/>
          <a:ext cx="0" cy="0"/>
          <a:chOff x="0" y="0"/>
          <a:chExt cx="0" cy="0"/>
        </a:xfrm>
      </p:grpSpPr>
      <p:sp>
        <p:nvSpPr>
          <p:cNvPr id="146" name="Google Shape;146;p10"/>
          <p:cNvSpPr txBox="1">
            <a:spLocks noGrp="1"/>
          </p:cNvSpPr>
          <p:nvPr>
            <p:ph type="ctrTitle"/>
          </p:nvPr>
        </p:nvSpPr>
        <p:spPr>
          <a:xfrm>
            <a:off x="822960" y="466344"/>
            <a:ext cx="10543032" cy="731520"/>
          </a:xfrm>
          <a:prstGeom prst="rect">
            <a:avLst/>
          </a:prstGeom>
          <a:noFill/>
          <a:ln>
            <a:noFill/>
          </a:ln>
        </p:spPr>
        <p:txBody>
          <a:bodyPr spcFirstLastPara="1" wrap="square" lIns="91425" tIns="91425" rIns="91425" bIns="91425" anchor="t" anchorCtr="0">
            <a:noAutofit/>
          </a:bodyPr>
          <a:lstStyle/>
          <a:p>
            <a:pPr algn="ctr">
              <a:buNone/>
            </a:pPr>
            <a:r>
              <a:rPr lang="en-US" dirty="0"/>
              <a:t>Appendix: Tag selection</a:t>
            </a:r>
          </a:p>
        </p:txBody>
      </p:sp>
      <p:sp>
        <p:nvSpPr>
          <p:cNvPr id="148" name="Google Shape;148;p10"/>
          <p:cNvSpPr txBox="1">
            <a:spLocks noGrp="1"/>
          </p:cNvSpPr>
          <p:nvPr>
            <p:ph type="body" idx="1"/>
          </p:nvPr>
        </p:nvSpPr>
        <p:spPr>
          <a:xfrm>
            <a:off x="548640" y="1280160"/>
            <a:ext cx="7040880" cy="4526280"/>
          </a:xfrm>
          <a:prstGeom prst="rect">
            <a:avLst/>
          </a:prstGeom>
          <a:noFill/>
          <a:ln>
            <a:noFill/>
          </a:ln>
        </p:spPr>
        <p:txBody>
          <a:bodyPr spcFirstLastPara="1" wrap="square" lIns="91425" tIns="91425" rIns="91425" bIns="91425" anchor="t" anchorCtr="0">
            <a:noAutofit/>
          </a:bodyPr>
          <a:lstStyle/>
          <a:p>
            <a:pPr marL="495300" indent="-342900">
              <a:lnSpc>
                <a:spcPct val="110000"/>
              </a:lnSpc>
              <a:spcAft>
                <a:spcPts val="500"/>
              </a:spcAft>
              <a:buFont typeface="Wingdings" panose="05000000000000000000" pitchFamily="2" charset="2"/>
              <a:buChar char="Ø"/>
            </a:pPr>
            <a:r>
              <a:rPr lang="en-US" sz="1300" b="1" dirty="0">
                <a:latin typeface="FS PF BeauSans Pro"/>
                <a:ea typeface="FS PF BeauSans Pro"/>
                <a:cs typeface="FS PF BeauSans Pro"/>
              </a:rPr>
              <a:t>Model</a:t>
            </a:r>
            <a:r>
              <a:rPr lang="en-US" sz="1300" dirty="0">
                <a:latin typeface="FS PF BeauSans Pro"/>
                <a:ea typeface="FS PF BeauSans Pro"/>
                <a:cs typeface="FS PF BeauSans Pro"/>
              </a:rPr>
              <a:t>: Qwen3-Omni-30B-A3B-Instruct, served locally with vLLM; it receives the recording and the transcript with numbered slot markers</a:t>
            </a:r>
          </a:p>
          <a:p>
            <a:pPr marL="495300" indent="-342900">
              <a:lnSpc>
                <a:spcPct val="110000"/>
              </a:lnSpc>
              <a:spcAft>
                <a:spcPts val="500"/>
              </a:spcAft>
              <a:buFont typeface="Wingdings" panose="05000000000000000000" pitchFamily="2" charset="2"/>
              <a:buChar char="Ø"/>
            </a:pPr>
            <a:r>
              <a:rPr lang="en-US" sz="1300" b="1" dirty="0">
                <a:latin typeface="FS PF BeauSans Pro"/>
                <a:ea typeface="FS PF BeauSans Pro"/>
                <a:cs typeface="FS PF BeauSans Pro"/>
              </a:rPr>
              <a:t>Task</a:t>
            </a:r>
            <a:r>
              <a:rPr lang="en-US" sz="1300" dirty="0">
                <a:latin typeface="FS PF BeauSans Pro"/>
                <a:ea typeface="FS PF BeauSans Pro"/>
                <a:cs typeface="FS PF BeauSans Pro"/>
              </a:rPr>
              <a:t>: listen to the delivery and answer in JSON with the one slot where a non-verbal sound is most plausible and the one tag that fits, or {"slot": null} if none suits</a:t>
            </a:r>
          </a:p>
          <a:p>
            <a:pPr marL="495300" indent="-342900">
              <a:lnSpc>
                <a:spcPct val="110000"/>
              </a:lnSpc>
              <a:spcAft>
                <a:spcPts val="500"/>
              </a:spcAft>
              <a:buFont typeface="Wingdings" panose="05000000000000000000" pitchFamily="2" charset="2"/>
              <a:buChar char="Ø"/>
            </a:pPr>
            <a:r>
              <a:rPr lang="en-US" sz="1300" b="1" dirty="0">
                <a:latin typeface="FS PF BeauSans Pro"/>
                <a:ea typeface="FS PF BeauSans Pro"/>
                <a:cs typeface="FS PF BeauSans Pro"/>
              </a:rPr>
              <a:t>Decoding</a:t>
            </a:r>
            <a:r>
              <a:rPr lang="en-US" sz="1300" dirty="0">
                <a:latin typeface="FS PF BeauSans Pro"/>
                <a:ea typeface="FS PF BeauSans Pro"/>
                <a:cs typeface="FS PF BeauSans Pro"/>
              </a:rPr>
              <a:t>: temperature 0.2, top-p 0.95; an invalid reply is retried (up to 3 attempts); a null answer skips the utterance</a:t>
            </a:r>
          </a:p>
          <a:p>
            <a:pPr marL="495300" indent="-342900">
              <a:lnSpc>
                <a:spcPct val="110000"/>
              </a:lnSpc>
              <a:spcAft>
                <a:spcPts val="500"/>
              </a:spcAft>
              <a:buFont typeface="Wingdings" panose="05000000000000000000" pitchFamily="2" charset="2"/>
              <a:buChar char="Ø"/>
            </a:pPr>
            <a:r>
              <a:rPr lang="en-US" sz="1300" b="1" dirty="0">
                <a:latin typeface="FS PF BeauSans Pro"/>
                <a:ea typeface="FS PF BeauSans Pro"/>
                <a:cs typeface="FS PF BeauSans Pro"/>
              </a:rPr>
              <a:t>Alignment by construction</a:t>
            </a:r>
            <a:r>
              <a:rPr lang="en-US" sz="1300" dirty="0">
                <a:latin typeface="FS PF BeauSans Pro"/>
                <a:ea typeface="FS PF BeauSans Pro"/>
                <a:cs typeface="FS PF BeauSans Pro"/>
              </a:rPr>
              <a:t>: the LLM never writes transcript text; the tag is inserted in code at the chosen slot and the audio is spliced at the same slot</a:t>
            </a:r>
          </a:p>
          <a:p>
            <a:pPr marL="495300" indent="-342900">
              <a:lnSpc>
                <a:spcPct val="110000"/>
              </a:lnSpc>
              <a:spcAft>
                <a:spcPts val="500"/>
              </a:spcAft>
              <a:buFont typeface="Wingdings" panose="05000000000000000000" pitchFamily="2" charset="2"/>
              <a:buChar char="Ø"/>
            </a:pPr>
            <a:r>
              <a:rPr lang="en-US" sz="1300" b="1" dirty="0">
                <a:latin typeface="FS PF BeauSans Pro"/>
                <a:ea typeface="FS PF BeauSans Pro"/>
                <a:cs typeface="FS PF BeauSans Pro"/>
              </a:rPr>
              <a:t>Tag balancer</a:t>
            </a:r>
            <a:r>
              <a:rPr lang="en-US" sz="1300" dirty="0">
                <a:latin typeface="FS PF BeauSans Pro"/>
                <a:ea typeface="FS PF BeauSans Pro"/>
                <a:cs typeface="FS PF BeauSans Pro"/>
              </a:rPr>
              <a:t>: on the pilot the model chose only laughter and sigh; the balancer withholds any tag holding too large a share until the others catch up, giving 10,190–13,522 utterances per tag</a:t>
            </a:r>
          </a:p>
        </p:txBody>
      </p:sp>
      <p:sp>
        <p:nvSpPr>
          <p:cNvPr id="2" name="Slide Number Placeholder 1">
            <a:extLst>
              <a:ext uri="{FF2B5EF4-FFF2-40B4-BE49-F238E27FC236}">
                <a16:creationId xmlns:a16="http://schemas.microsoft.com/office/drawing/2014/main" id="{249CE59B-DD91-4B3A-8ACA-10EA59D7C3EE}"/>
              </a:ext>
            </a:extLst>
          </p:cNvPr>
          <p:cNvSpPr>
            <a:spLocks noGrp="1"/>
          </p:cNvSpPr>
          <p:nvPr>
            <p:ph type="sldNum" idx="12"/>
          </p:nvPr>
        </p:nvSpPr>
        <p:spPr/>
        <p:txBody>
          <a:bodyPr/>
          <a:lstStyle/>
          <a:p>
            <a:pPr marL="0" lvl="0" indent="0" algn="ctr" rtl="0">
              <a:spcBef>
                <a:spcPts val="0"/>
              </a:spcBef>
              <a:spcAft>
                <a:spcPts val="0"/>
              </a:spcAft>
              <a:buNone/>
            </a:pPr>
            <a:fld id="{00000000-1234-1234-1234-123412341234}" type="slidenum">
              <a:rPr lang="en-US" smtClean="0"/>
              <a:t>30</a:t>
            </a:fld>
            <a:endParaRPr lang="en-US" dirty="0"/>
          </a:p>
        </p:txBody>
      </p:sp>
      <p:sp>
        <p:nvSpPr>
          <p:cNvPr id="149" name="Footnote citations"/>
          <p:cNvSpPr txBox="1"/>
          <p:nvPr/>
        </p:nvSpPr>
        <p:spPr>
          <a:xfrm>
            <a:off x="411480" y="5852160"/>
            <a:ext cx="8869680" cy="914400"/>
          </a:xfrm>
          <a:prstGeom prst="rect">
            <a:avLst/>
          </a:prstGeom>
          <a:noFill/>
          <a:ln>
            <a:noFill/>
          </a:ln>
        </p:spPr>
        <p:txBody>
          <a:bodyPr wrap="square" lIns="45720" tIns="45720" rIns="45720" bIns="45720" anchor="b">
            <a:noAutofit/>
          </a:bodyPr>
          <a:lstStyle/>
          <a:p>
            <a:pPr>
              <a:buNone/>
            </a:pPr>
            <a:r>
              <a:rPr lang="en-US" sz="900" b="1" dirty="0">
                <a:solidFill>
                  <a:srgbClr val="595959"/>
                </a:solidFill>
                <a:latin typeface="FS PF BeauSans Pro"/>
                <a:ea typeface="FS PF BeauSans Pro"/>
                <a:cs typeface="FS PF BeauSans Pro"/>
              </a:rPr>
              <a:t>Qwen3-Omni: </a:t>
            </a:r>
            <a:r>
              <a:rPr lang="en-US" sz="900" dirty="0">
                <a:solidFill>
                  <a:srgbClr val="595959"/>
                </a:solidFill>
                <a:latin typeface="FS PF BeauSans Pro"/>
                <a:ea typeface="FS PF BeauSans Pro"/>
                <a:cs typeface="FS PF BeauSans Pro"/>
              </a:rPr>
              <a:t>Qwen Team, arXiv:2509.17765, 2025</a:t>
            </a:r>
          </a:p>
        </p:txBody>
      </p:sp>
      <p:sp>
        <p:nvSpPr>
          <p:cNvPr id="150" name="Why these choices"/>
          <p:cNvSpPr/>
          <p:nvPr/>
        </p:nvSpPr>
        <p:spPr>
          <a:xfrm>
            <a:off x="7726679" y="1325880"/>
            <a:ext cx="3931920" cy="4343400"/>
          </a:xfrm>
          <a:prstGeom prst="roundRect">
            <a:avLst>
              <a:gd name="adj" fmla="val 5000"/>
            </a:avLst>
          </a:prstGeom>
          <a:solidFill>
            <a:srgbClr val="FFFFFF"/>
          </a:solidFill>
          <a:ln w="12700">
            <a:solidFill>
              <a:srgbClr val="E0E0E0"/>
            </a:solidFill>
          </a:ln>
        </p:spPr>
        <p:txBody>
          <a:bodyPr wrap="square" lIns="137160" tIns="118872" rIns="137160" bIns="91440" anchor="t">
            <a:noAutofit/>
          </a:bodyPr>
          <a:lstStyle/>
          <a:p>
            <a:pPr>
              <a:lnSpc>
                <a:spcPct val="100000"/>
              </a:lnSpc>
              <a:spcAft>
                <a:spcPts val="700"/>
              </a:spcAft>
              <a:buNone/>
            </a:pPr>
            <a:r>
              <a:rPr lang="en-US" sz="1500" b="1" dirty="0">
                <a:solidFill>
                  <a:srgbClr val="262626"/>
                </a:solidFill>
                <a:latin typeface="FS PF BeauSans Pro"/>
                <a:ea typeface="FS PF BeauSans Pro"/>
                <a:cs typeface="FS PF BeauSans Pro"/>
              </a:rPr>
              <a:t>Why these choices</a:t>
            </a:r>
          </a:p>
          <a:p>
            <a:pPr>
              <a:lnSpc>
                <a:spcPct val="100000"/>
              </a:lnSpc>
              <a:buNone/>
            </a:pPr>
            <a:r>
              <a:rPr lang="en-US" sz="2200" b="1" dirty="0">
                <a:solidFill>
                  <a:srgbClr val="EE0033"/>
                </a:solidFill>
                <a:latin typeface="FS PF BeauSans Pro"/>
                <a:ea typeface="FS PF BeauSans Pro"/>
                <a:cs typeface="FS PF BeauSans Pro"/>
              </a:rPr>
              <a:t>32 / 36</a:t>
            </a:r>
          </a:p>
          <a:p>
            <a:pPr>
              <a:lnSpc>
                <a:spcPct val="105000"/>
              </a:lnSpc>
              <a:buNone/>
            </a:pPr>
            <a:r>
              <a:rPr lang="en-US" sz="1150" dirty="0">
                <a:solidFill>
                  <a:srgbClr val="262626"/>
                </a:solidFill>
                <a:latin typeface="FS PF BeauSans Pro"/>
                <a:ea typeface="FS PF BeauSans Pro"/>
                <a:cs typeface="FS PF BeauSans Pro"/>
              </a:rPr>
              <a:t>audio benchmarks where Qwen3-Omni is open-source SOTA; Vietnamese is one of its 19 speech-input languages</a:t>
            </a:r>
          </a:p>
          <a:p>
            <a:pPr>
              <a:lnSpc>
                <a:spcPct val="100000"/>
              </a:lnSpc>
              <a:spcAft>
                <a:spcPts val="1000"/>
              </a:spcAft>
              <a:buNone/>
            </a:pPr>
            <a:r>
              <a:rPr lang="en-US" sz="950" dirty="0">
                <a:solidFill>
                  <a:srgbClr val="595959"/>
                </a:solidFill>
                <a:latin typeface="FS PF BeauSans Pro"/>
                <a:ea typeface="FS PF BeauSans Pro"/>
                <a:cs typeface="FS PF BeauSans Pro"/>
              </a:rPr>
              <a:t>Qwen Team, 2025</a:t>
            </a:r>
          </a:p>
          <a:p>
            <a:pPr>
              <a:lnSpc>
                <a:spcPct val="100000"/>
              </a:lnSpc>
              <a:buNone/>
            </a:pPr>
            <a:r>
              <a:rPr lang="en-US" sz="2200" b="1" dirty="0">
                <a:solidFill>
                  <a:srgbClr val="EE0033"/>
                </a:solidFill>
                <a:latin typeface="FS PF BeauSans Pro"/>
                <a:ea typeface="FS PF BeauSans Pro"/>
                <a:cs typeface="FS PF BeauSans Pro"/>
              </a:rPr>
              <a:t>2 of 17</a:t>
            </a:r>
          </a:p>
          <a:p>
            <a:pPr>
              <a:lnSpc>
                <a:spcPct val="105000"/>
              </a:lnSpc>
              <a:buNone/>
            </a:pPr>
            <a:r>
              <a:rPr lang="en-US" sz="1150" dirty="0">
                <a:solidFill>
                  <a:srgbClr val="262626"/>
                </a:solidFill>
                <a:latin typeface="FS PF BeauSans Pro"/>
                <a:ea typeface="FS PF BeauSans Pro"/>
                <a:cs typeface="FS PF BeauSans Pro"/>
              </a:rPr>
              <a:t>tags the model used on the pilot without balancing (laughter and sigh only)</a:t>
            </a:r>
          </a:p>
          <a:p>
            <a:pPr>
              <a:lnSpc>
                <a:spcPct val="100000"/>
              </a:lnSpc>
              <a:spcAft>
                <a:spcPts val="1000"/>
              </a:spcAft>
              <a:buNone/>
            </a:pPr>
            <a:r>
              <a:rPr lang="en-US" sz="950" dirty="0">
                <a:solidFill>
                  <a:srgbClr val="595959"/>
                </a:solidFill>
                <a:latin typeface="FS PF BeauSans Pro"/>
                <a:ea typeface="FS PF BeauSans Pro"/>
                <a:cs typeface="FS PF BeauSans Pro"/>
              </a:rPr>
              <a:t>our 20-utterance pilot</a:t>
            </a:r>
          </a:p>
          <a:p>
            <a:pPr>
              <a:lnSpc>
                <a:spcPct val="100000"/>
              </a:lnSpc>
              <a:buNone/>
            </a:pPr>
            <a:r>
              <a:rPr lang="en-US" sz="2200" b="1" dirty="0">
                <a:solidFill>
                  <a:srgbClr val="EE0033"/>
                </a:solidFill>
                <a:latin typeface="FS PF BeauSans Pro"/>
                <a:ea typeface="FS PF BeauSans Pro"/>
                <a:cs typeface="FS PF BeauSans Pro"/>
              </a:rPr>
              <a:t>10,190–13,522</a:t>
            </a:r>
          </a:p>
          <a:p>
            <a:pPr>
              <a:lnSpc>
                <a:spcPct val="105000"/>
              </a:lnSpc>
              <a:buNone/>
            </a:pPr>
            <a:r>
              <a:rPr lang="en-US" sz="1150" dirty="0">
                <a:solidFill>
                  <a:srgbClr val="262626"/>
                </a:solidFill>
                <a:latin typeface="FS PF BeauSans Pro"/>
                <a:ea typeface="FS PF BeauSans Pro"/>
                <a:cs typeface="FS PF BeauSans Pro"/>
              </a:rPr>
              <a:t>utterances per tag after balancing, across all 17 tags</a:t>
            </a:r>
          </a:p>
          <a:p>
            <a:pPr>
              <a:lnSpc>
                <a:spcPct val="100000"/>
              </a:lnSpc>
              <a:buNone/>
            </a:pPr>
            <a:r>
              <a:rPr lang="en-US" sz="950" dirty="0">
                <a:solidFill>
                  <a:srgbClr val="595959"/>
                </a:solidFill>
                <a:latin typeface="FS PF BeauSans Pro"/>
                <a:ea typeface="FS PF BeauSans Pro"/>
                <a:cs typeface="FS PF BeauSans Pro"/>
              </a:rPr>
              <a:t>our training set</a:t>
            </a:r>
          </a:p>
        </p:txBody>
      </p:sp>
    </p:spTree>
    <p:extLst>
      <p:ext uri="{BB962C8B-B14F-4D97-AF65-F5344CB8AC3E}">
        <p14:creationId xmlns:p14="http://schemas.microsoft.com/office/powerpoint/2010/main" val="584723571"/>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Shape 145"/>
        <p:cNvGrpSpPr/>
        <p:nvPr/>
      </p:nvGrpSpPr>
      <p:grpSpPr>
        <a:xfrm>
          <a:off x="0" y="0"/>
          <a:ext cx="0" cy="0"/>
          <a:chOff x="0" y="0"/>
          <a:chExt cx="0" cy="0"/>
        </a:xfrm>
      </p:grpSpPr>
      <p:sp>
        <p:nvSpPr>
          <p:cNvPr id="146" name="Google Shape;146;p10"/>
          <p:cNvSpPr txBox="1">
            <a:spLocks noGrp="1"/>
          </p:cNvSpPr>
          <p:nvPr>
            <p:ph type="ctrTitle"/>
          </p:nvPr>
        </p:nvSpPr>
        <p:spPr>
          <a:xfrm>
            <a:off x="822960" y="466344"/>
            <a:ext cx="10543032" cy="731520"/>
          </a:xfrm>
          <a:prstGeom prst="rect">
            <a:avLst/>
          </a:prstGeom>
          <a:noFill/>
          <a:ln>
            <a:noFill/>
          </a:ln>
        </p:spPr>
        <p:txBody>
          <a:bodyPr spcFirstLastPara="1" wrap="square" lIns="91425" tIns="91425" rIns="91425" bIns="91425" anchor="t" anchorCtr="0">
            <a:noAutofit/>
          </a:bodyPr>
          <a:lstStyle/>
          <a:p>
            <a:pPr algn="ctr">
              <a:buNone/>
            </a:pPr>
            <a:r>
              <a:rPr lang="en-US" dirty="0"/>
              <a:t>Appendix: Clip selection</a:t>
            </a:r>
          </a:p>
        </p:txBody>
      </p:sp>
      <p:sp>
        <p:nvSpPr>
          <p:cNvPr id="148" name="Google Shape;148;p10"/>
          <p:cNvSpPr txBox="1">
            <a:spLocks noGrp="1"/>
          </p:cNvSpPr>
          <p:nvPr>
            <p:ph type="body" idx="1"/>
          </p:nvPr>
        </p:nvSpPr>
        <p:spPr>
          <a:xfrm>
            <a:off x="548640" y="1280160"/>
            <a:ext cx="7040880" cy="4526280"/>
          </a:xfrm>
          <a:prstGeom prst="rect">
            <a:avLst/>
          </a:prstGeom>
          <a:noFill/>
          <a:ln>
            <a:noFill/>
          </a:ln>
        </p:spPr>
        <p:txBody>
          <a:bodyPr spcFirstLastPara="1" wrap="square" lIns="91425" tIns="91425" rIns="91425" bIns="91425" anchor="t" anchorCtr="0">
            <a:noAutofit/>
          </a:bodyPr>
          <a:lstStyle/>
          <a:p>
            <a:pPr marL="495300" indent="-342900">
              <a:lnSpc>
                <a:spcPct val="110000"/>
              </a:lnSpc>
              <a:spcAft>
                <a:spcPts val="500"/>
              </a:spcAft>
              <a:buFont typeface="Wingdings" panose="05000000000000000000" pitchFamily="2" charset="2"/>
              <a:buChar char="Ø"/>
            </a:pPr>
            <a:r>
              <a:rPr lang="en-US" sz="1300" b="1" dirty="0">
                <a:latin typeface="FS PF BeauSans Pro"/>
                <a:ea typeface="FS PF BeauSans Pro"/>
                <a:cs typeface="FS PF BeauSans Pro"/>
              </a:rPr>
              <a:t>Pre-filter</a:t>
            </a:r>
            <a:r>
              <a:rPr lang="en-US" sz="1300" dirty="0">
                <a:latin typeface="FS PF BeauSans Pro"/>
                <a:ea typeface="FS PF BeauSans Pro"/>
                <a:cs typeface="FS PF BeauSans Pro"/>
              </a:rPr>
              <a:t>: clips with peak &lt; 0.05, shorter than 0.35 s after trimming, or &gt; 1% samples at full scale are excluded</a:t>
            </a:r>
          </a:p>
          <a:p>
            <a:pPr marL="495300" indent="-342900">
              <a:lnSpc>
                <a:spcPct val="110000"/>
              </a:lnSpc>
              <a:spcAft>
                <a:spcPts val="500"/>
              </a:spcAft>
              <a:buFont typeface="Wingdings" panose="05000000000000000000" pitchFamily="2" charset="2"/>
              <a:buChar char="Ø"/>
            </a:pPr>
            <a:r>
              <a:rPr lang="en-US" sz="1300" b="1" dirty="0">
                <a:latin typeface="FS PF BeauSans Pro"/>
                <a:ea typeface="FS PF BeauSans Pro"/>
                <a:cs typeface="FS PF BeauSans Pro"/>
              </a:rPr>
              <a:t>Four measures</a:t>
            </a:r>
            <a:r>
              <a:rPr lang="en-US" sz="1300" dirty="0">
                <a:latin typeface="FS PF BeauSans Pro"/>
                <a:ea typeface="FS PF BeauSans Pro"/>
                <a:cs typeface="FS PF BeauSans Pro"/>
              </a:rPr>
              <a:t>, on the clip and on the 2.5 s of speech before the cut: intensity (crest-factor and duration rank vs. the speaker's loudness rank), clarity (SNR from the 90th/10th percentile of 20 ms frame RMS), tempo (envelope peaks per second, laughter only), tilt (slope of the log envelope)</a:t>
            </a:r>
          </a:p>
          <a:p>
            <a:pPr marL="495300" indent="-342900">
              <a:lnSpc>
                <a:spcPct val="110000"/>
              </a:lnSpc>
              <a:spcAft>
                <a:spcPts val="500"/>
              </a:spcAft>
              <a:buFont typeface="Wingdings" panose="05000000000000000000" pitchFamily="2" charset="2"/>
              <a:buChar char="Ø"/>
            </a:pPr>
            <a:r>
              <a:rPr lang="en-US" sz="1300" b="1" dirty="0">
                <a:latin typeface="FS PF BeauSans Pro"/>
                <a:ea typeface="FS PF BeauSans Pro"/>
                <a:cs typeface="FS PF BeauSans Pro"/>
              </a:rPr>
              <a:t>Not matched</a:t>
            </a:r>
            <a:r>
              <a:rPr lang="en-US" sz="1300" dirty="0">
                <a:latin typeface="FS PF BeauSans Pro"/>
                <a:ea typeface="FS PF BeauSans Pro"/>
                <a:cs typeface="FS PF BeauSans Pro"/>
              </a:rPr>
              <a:t>: timbre and pitch, because voice conversion rebuilds them</a:t>
            </a:r>
          </a:p>
          <a:p>
            <a:pPr marL="495300" indent="-342900">
              <a:lnSpc>
                <a:spcPct val="110000"/>
              </a:lnSpc>
              <a:spcAft>
                <a:spcPts val="500"/>
              </a:spcAft>
              <a:buFont typeface="Wingdings" panose="05000000000000000000" pitchFamily="2" charset="2"/>
              <a:buChar char="Ø"/>
            </a:pPr>
            <a:r>
              <a:rPr lang="en-US" sz="1300" b="1" dirty="0">
                <a:latin typeface="FS PF BeauSans Pro"/>
                <a:ea typeface="FS PF BeauSans Pro"/>
                <a:cs typeface="FS PF BeauSans Pro"/>
              </a:rPr>
              <a:t>Weighting</a:t>
            </a:r>
            <a:r>
              <a:rPr lang="en-US" sz="1300" dirty="0">
                <a:latin typeface="FS PF BeauSans Pro"/>
                <a:ea typeface="FS PF BeauSans Pro"/>
                <a:cs typeface="FS PF BeauSans Pro"/>
              </a:rPr>
              <a:t>: each distance d is divided by a tolerance (0.35 rank, 12 dB, 1 octave, 18 dB) and weighted by w = 1.0, 1.5, 1.0, 0.5; a clip is drawn with probability proportional to exp(−Σ w·d)</a:t>
            </a:r>
          </a:p>
          <a:p>
            <a:pPr marL="495300" indent="-342900">
              <a:lnSpc>
                <a:spcPct val="110000"/>
              </a:lnSpc>
              <a:spcAft>
                <a:spcPts val="500"/>
              </a:spcAft>
              <a:buFont typeface="Wingdings" panose="05000000000000000000" pitchFamily="2" charset="2"/>
              <a:buChar char="Ø"/>
            </a:pPr>
            <a:r>
              <a:rPr lang="en-US" sz="1300" b="1" dirty="0">
                <a:latin typeface="FS PF BeauSans Pro"/>
                <a:ea typeface="FS PF BeauSans Pro"/>
                <a:cs typeface="FS PF BeauSans Pro"/>
              </a:rPr>
              <a:t>Sampling, not nearest</a:t>
            </a:r>
            <a:r>
              <a:rPr lang="en-US" sz="1300" dirty="0">
                <a:latin typeface="FS PF BeauSans Pro"/>
                <a:ea typeface="FS PF BeauSans Pro"/>
                <a:cs typeface="FS PF BeauSans Pro"/>
              </a:rPr>
              <a:t>: every usable clip stays in play, and the intensity target is drawn around the speaker's own rank, so a soft-spoken speaker still sometimes gets a loud laugh</a:t>
            </a:r>
          </a:p>
        </p:txBody>
      </p:sp>
      <p:sp>
        <p:nvSpPr>
          <p:cNvPr id="2" name="Slide Number Placeholder 1">
            <a:extLst>
              <a:ext uri="{FF2B5EF4-FFF2-40B4-BE49-F238E27FC236}">
                <a16:creationId xmlns:a16="http://schemas.microsoft.com/office/drawing/2014/main" id="{249CE59B-DD91-4B3A-8ACA-10EA59D7C3EE}"/>
              </a:ext>
            </a:extLst>
          </p:cNvPr>
          <p:cNvSpPr>
            <a:spLocks noGrp="1"/>
          </p:cNvSpPr>
          <p:nvPr>
            <p:ph type="sldNum" idx="12"/>
          </p:nvPr>
        </p:nvSpPr>
        <p:spPr/>
        <p:txBody>
          <a:bodyPr/>
          <a:lstStyle/>
          <a:p>
            <a:pPr marL="0" lvl="0" indent="0" algn="ctr" rtl="0">
              <a:spcBef>
                <a:spcPts val="0"/>
              </a:spcBef>
              <a:spcAft>
                <a:spcPts val="0"/>
              </a:spcAft>
              <a:buNone/>
            </a:pPr>
            <a:fld id="{00000000-1234-1234-1234-123412341234}" type="slidenum">
              <a:rPr lang="en-US" smtClean="0"/>
              <a:t>31</a:t>
            </a:fld>
            <a:endParaRPr lang="en-US" dirty="0"/>
          </a:p>
        </p:txBody>
      </p:sp>
      <p:sp>
        <p:nvSpPr>
          <p:cNvPr id="149" name="Why these choices"/>
          <p:cNvSpPr/>
          <p:nvPr/>
        </p:nvSpPr>
        <p:spPr>
          <a:xfrm>
            <a:off x="7726679" y="1325880"/>
            <a:ext cx="3931920" cy="4343400"/>
          </a:xfrm>
          <a:prstGeom prst="roundRect">
            <a:avLst>
              <a:gd name="adj" fmla="val 5000"/>
            </a:avLst>
          </a:prstGeom>
          <a:solidFill>
            <a:srgbClr val="FFFFFF"/>
          </a:solidFill>
          <a:ln w="12700">
            <a:solidFill>
              <a:srgbClr val="E0E0E0"/>
            </a:solidFill>
          </a:ln>
        </p:spPr>
        <p:txBody>
          <a:bodyPr wrap="square" lIns="137160" tIns="118872" rIns="137160" bIns="91440" anchor="t">
            <a:noAutofit/>
          </a:bodyPr>
          <a:lstStyle/>
          <a:p>
            <a:pPr>
              <a:lnSpc>
                <a:spcPct val="100000"/>
              </a:lnSpc>
              <a:spcAft>
                <a:spcPts val="700"/>
              </a:spcAft>
              <a:buNone/>
            </a:pPr>
            <a:r>
              <a:rPr lang="en-US" sz="1500" b="1" dirty="0">
                <a:solidFill>
                  <a:srgbClr val="262626"/>
                </a:solidFill>
                <a:latin typeface="FS PF BeauSans Pro"/>
                <a:ea typeface="FS PF BeauSans Pro"/>
                <a:cs typeface="FS PF BeauSans Pro"/>
              </a:rPr>
              <a:t>Why these choices</a:t>
            </a:r>
          </a:p>
          <a:p>
            <a:pPr>
              <a:lnSpc>
                <a:spcPct val="100000"/>
              </a:lnSpc>
              <a:buNone/>
            </a:pPr>
            <a:r>
              <a:rPr lang="en-US" sz="2200" b="1" dirty="0">
                <a:solidFill>
                  <a:srgbClr val="EE0033"/>
                </a:solidFill>
                <a:latin typeface="FS PF BeauSans Pro"/>
                <a:ea typeface="FS PF BeauSans Pro"/>
                <a:cs typeface="FS PF BeauSans Pro"/>
              </a:rPr>
              <a:t>+0.04</a:t>
            </a:r>
          </a:p>
          <a:p>
            <a:pPr>
              <a:lnSpc>
                <a:spcPct val="105000"/>
              </a:lnSpc>
              <a:buNone/>
            </a:pPr>
            <a:r>
              <a:rPr lang="en-US" sz="1150" dirty="0">
                <a:solidFill>
                  <a:srgbClr val="262626"/>
                </a:solidFill>
                <a:latin typeface="FS PF BeauSans Pro"/>
                <a:ea typeface="FS PF BeauSans Pro"/>
                <a:cs typeface="FS PF BeauSans Pro"/>
              </a:rPr>
              <a:t>weight of the clip's own pitch in the converted pitch (contour corr. +0.14): Seed-VC rebuilds it, so no pitch matching</a:t>
            </a:r>
          </a:p>
          <a:p>
            <a:pPr>
              <a:lnSpc>
                <a:spcPct val="100000"/>
              </a:lnSpc>
              <a:spcAft>
                <a:spcPts val="1000"/>
              </a:spcAft>
              <a:buNone/>
            </a:pPr>
            <a:r>
              <a:rPr lang="en-US" sz="950" dirty="0">
                <a:solidFill>
                  <a:srgbClr val="595959"/>
                </a:solidFill>
                <a:latin typeface="FS PF BeauSans Pro"/>
                <a:ea typeface="FS PF BeauSans Pro"/>
                <a:cs typeface="FS PF BeauSans Pro"/>
              </a:rPr>
              <a:t>our measurement, clip vs converted clip</a:t>
            </a:r>
          </a:p>
          <a:p>
            <a:pPr>
              <a:lnSpc>
                <a:spcPct val="100000"/>
              </a:lnSpc>
              <a:buNone/>
            </a:pPr>
            <a:r>
              <a:rPr lang="en-US" sz="2200" b="1" dirty="0">
                <a:solidFill>
                  <a:srgbClr val="EE0033"/>
                </a:solidFill>
                <a:latin typeface="FS PF BeauSans Pro"/>
                <a:ea typeface="FS PF BeauSans Pro"/>
                <a:cs typeface="FS PF BeauSans Pro"/>
              </a:rPr>
              <a:t>0.06 oct</a:t>
            </a:r>
          </a:p>
          <a:p>
            <a:pPr>
              <a:lnSpc>
                <a:spcPct val="105000"/>
              </a:lnSpc>
              <a:buNone/>
            </a:pPr>
            <a:r>
              <a:rPr lang="en-US" sz="1150" dirty="0">
                <a:solidFill>
                  <a:srgbClr val="262626"/>
                </a:solidFill>
                <a:latin typeface="FS PF BeauSans Pro"/>
                <a:ea typeface="FS PF BeauSans Pro"/>
                <a:cs typeface="FS PF BeauSans Pro"/>
              </a:rPr>
              <a:t>median crest-factor change through conversion: intensity survives, so it is matched (tempo: 0.15 oct)</a:t>
            </a:r>
          </a:p>
          <a:p>
            <a:pPr>
              <a:lnSpc>
                <a:spcPct val="100000"/>
              </a:lnSpc>
              <a:spcAft>
                <a:spcPts val="1000"/>
              </a:spcAft>
              <a:buNone/>
            </a:pPr>
            <a:r>
              <a:rPr lang="en-US" sz="950" dirty="0">
                <a:solidFill>
                  <a:srgbClr val="595959"/>
                </a:solidFill>
                <a:latin typeface="FS PF BeauSans Pro"/>
                <a:ea typeface="FS PF BeauSans Pro"/>
                <a:cs typeface="FS PF BeauSans Pro"/>
              </a:rPr>
              <a:t>our measurement, clip vs converted clip</a:t>
            </a:r>
          </a:p>
          <a:p>
            <a:pPr>
              <a:lnSpc>
                <a:spcPct val="100000"/>
              </a:lnSpc>
              <a:buNone/>
            </a:pPr>
            <a:r>
              <a:rPr lang="en-US" sz="2200" b="1" dirty="0">
                <a:solidFill>
                  <a:srgbClr val="EE0033"/>
                </a:solidFill>
                <a:latin typeface="FS PF BeauSans Pro"/>
                <a:ea typeface="FS PF BeauSans Pro"/>
                <a:cs typeface="FS PF BeauSans Pro"/>
              </a:rPr>
              <a:t>−38%</a:t>
            </a:r>
          </a:p>
          <a:p>
            <a:pPr>
              <a:lnSpc>
                <a:spcPct val="105000"/>
              </a:lnSpc>
              <a:buNone/>
            </a:pPr>
            <a:r>
              <a:rPr lang="en-US" sz="1150" dirty="0">
                <a:solidFill>
                  <a:srgbClr val="262626"/>
                </a:solidFill>
                <a:latin typeface="FS PF BeauSans Pro"/>
                <a:ea typeface="FS PF BeauSans Pro"/>
                <a:cs typeface="FS PF BeauSans Pro"/>
              </a:rPr>
              <a:t>clarity mismatch vs a uniform random pick (tempo −35%), 400 draws × 20 rows</a:t>
            </a:r>
          </a:p>
          <a:p>
            <a:pPr>
              <a:lnSpc>
                <a:spcPct val="100000"/>
              </a:lnSpc>
              <a:buNone/>
            </a:pPr>
            <a:r>
              <a:rPr lang="en-US" sz="950" dirty="0">
                <a:solidFill>
                  <a:srgbClr val="595959"/>
                </a:solidFill>
                <a:latin typeface="FS PF BeauSans Pro"/>
                <a:ea typeface="FS PF BeauSans Pro"/>
                <a:cs typeface="FS PF BeauSans Pro"/>
              </a:rPr>
              <a:t>our 20-utterance pilot</a:t>
            </a:r>
          </a:p>
        </p:txBody>
      </p:sp>
    </p:spTree>
    <p:extLst>
      <p:ext uri="{BB962C8B-B14F-4D97-AF65-F5344CB8AC3E}">
        <p14:creationId xmlns:p14="http://schemas.microsoft.com/office/powerpoint/2010/main" val="584723571"/>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Shape 145"/>
        <p:cNvGrpSpPr/>
        <p:nvPr/>
      </p:nvGrpSpPr>
      <p:grpSpPr>
        <a:xfrm>
          <a:off x="0" y="0"/>
          <a:ext cx="0" cy="0"/>
          <a:chOff x="0" y="0"/>
          <a:chExt cx="0" cy="0"/>
        </a:xfrm>
      </p:grpSpPr>
      <p:sp>
        <p:nvSpPr>
          <p:cNvPr id="146" name="Google Shape;146;p10"/>
          <p:cNvSpPr txBox="1">
            <a:spLocks noGrp="1"/>
          </p:cNvSpPr>
          <p:nvPr>
            <p:ph type="ctrTitle"/>
          </p:nvPr>
        </p:nvSpPr>
        <p:spPr>
          <a:xfrm>
            <a:off x="822960" y="466344"/>
            <a:ext cx="10543032" cy="731520"/>
          </a:xfrm>
          <a:prstGeom prst="rect">
            <a:avLst/>
          </a:prstGeom>
          <a:noFill/>
          <a:ln>
            <a:noFill/>
          </a:ln>
        </p:spPr>
        <p:txBody>
          <a:bodyPr spcFirstLastPara="1" wrap="square" lIns="91425" tIns="91425" rIns="91425" bIns="91425" anchor="t" anchorCtr="0">
            <a:noAutofit/>
          </a:bodyPr>
          <a:lstStyle/>
          <a:p>
            <a:pPr algn="ctr">
              <a:buNone/>
            </a:pPr>
            <a:r>
              <a:rPr lang="en-US" dirty="0"/>
              <a:t>Appendix: Voice conversion</a:t>
            </a:r>
          </a:p>
        </p:txBody>
      </p:sp>
      <p:sp>
        <p:nvSpPr>
          <p:cNvPr id="148" name="Google Shape;148;p10"/>
          <p:cNvSpPr txBox="1">
            <a:spLocks noGrp="1"/>
          </p:cNvSpPr>
          <p:nvPr>
            <p:ph type="body" idx="1"/>
          </p:nvPr>
        </p:nvSpPr>
        <p:spPr>
          <a:xfrm>
            <a:off x="548640" y="1280160"/>
            <a:ext cx="7040880" cy="4526280"/>
          </a:xfrm>
          <a:prstGeom prst="rect">
            <a:avLst/>
          </a:prstGeom>
          <a:noFill/>
          <a:ln>
            <a:noFill/>
          </a:ln>
        </p:spPr>
        <p:txBody>
          <a:bodyPr spcFirstLastPara="1" wrap="square" lIns="91425" tIns="91425" rIns="91425" bIns="91425" anchor="t" anchorCtr="0">
            <a:noAutofit/>
          </a:bodyPr>
          <a:lstStyle/>
          <a:p>
            <a:pPr marL="495300" indent="-342900">
              <a:lnSpc>
                <a:spcPct val="110000"/>
              </a:lnSpc>
              <a:spcAft>
                <a:spcPts val="500"/>
              </a:spcAft>
              <a:buFont typeface="Wingdings" panose="05000000000000000000" pitchFamily="2" charset="2"/>
              <a:buChar char="Ø"/>
            </a:pPr>
            <a:r>
              <a:rPr lang="en-US" sz="1300" b="1" dirty="0">
                <a:latin typeface="FS PF BeauSans Pro"/>
                <a:ea typeface="FS PF BeauSans Pro"/>
                <a:cs typeface="FS PF BeauSans Pro"/>
              </a:rPr>
              <a:t>Pre-processing</a:t>
            </a:r>
            <a:r>
              <a:rPr lang="en-US" sz="1300" dirty="0">
                <a:latin typeface="FS PF BeauSans Pro"/>
                <a:ea typeface="FS PF BeauSans Pro"/>
                <a:cs typeface="FS PF BeauSans Pro"/>
              </a:rPr>
              <a:t>: the clip is trimmed of silence, peak-normalised to 0.95 and zero-padded to at least 1 s, as Seed-VC's input chunking requires</a:t>
            </a:r>
          </a:p>
          <a:p>
            <a:pPr marL="495300" indent="-342900">
              <a:lnSpc>
                <a:spcPct val="110000"/>
              </a:lnSpc>
              <a:spcAft>
                <a:spcPts val="500"/>
              </a:spcAft>
              <a:buFont typeface="Wingdings" panose="05000000000000000000" pitchFamily="2" charset="2"/>
              <a:buChar char="Ø"/>
            </a:pPr>
            <a:r>
              <a:rPr lang="en-US" sz="1300" b="1" dirty="0">
                <a:latin typeface="FS PF BeauSans Pro"/>
                <a:ea typeface="FS PF BeauSans Pro"/>
                <a:cs typeface="FS PF BeauSans Pro"/>
              </a:rPr>
              <a:t>Conversion</a:t>
            </a:r>
            <a:r>
              <a:rPr lang="en-US" sz="1300" dirty="0">
                <a:latin typeface="FS PF BeauSans Pro"/>
                <a:ea typeface="FS PF BeauSans Pro"/>
                <a:cs typeface="FS PF BeauSans Pro"/>
              </a:rPr>
              <a:t>: Seed-VC v1, 50 diffusion steps, classifier-free guidance 0.7, length adjustment 1.0, at 22.05 kHz; the output is trimmed again</a:t>
            </a:r>
          </a:p>
          <a:p>
            <a:pPr marL="495300" indent="-342900">
              <a:lnSpc>
                <a:spcPct val="110000"/>
              </a:lnSpc>
              <a:spcAft>
                <a:spcPts val="500"/>
              </a:spcAft>
              <a:buFont typeface="Wingdings" panose="05000000000000000000" pitchFamily="2" charset="2"/>
              <a:buChar char="Ø"/>
            </a:pPr>
            <a:r>
              <a:rPr lang="en-US" sz="1300" b="1" dirty="0">
                <a:latin typeface="FS PF BeauSans Pro"/>
                <a:ea typeface="FS PF BeauSans Pro"/>
                <a:cs typeface="FS PF BeauSans Pro"/>
              </a:rPr>
              <a:t>Voice reference</a:t>
            </a:r>
            <a:r>
              <a:rPr lang="en-US" sz="1300" dirty="0">
                <a:latin typeface="FS PF BeauSans Pro"/>
                <a:ea typeface="FS PF BeauSans Pro"/>
                <a:cs typeface="FS PF BeauSans Pro"/>
              </a:rPr>
              <a:t>: the host utterance itself, so the event takes on the host speaker's timbre</a:t>
            </a:r>
          </a:p>
          <a:p>
            <a:pPr marL="495300" indent="-342900">
              <a:lnSpc>
                <a:spcPct val="110000"/>
              </a:lnSpc>
              <a:spcAft>
                <a:spcPts val="500"/>
              </a:spcAft>
              <a:buFont typeface="Wingdings" panose="05000000000000000000" pitchFamily="2" charset="2"/>
              <a:buChar char="Ø"/>
            </a:pPr>
            <a:r>
              <a:rPr lang="en-US" sz="1300" b="1" dirty="0">
                <a:latin typeface="FS PF BeauSans Pro"/>
                <a:ea typeface="FS PF BeauSans Pro"/>
                <a:cs typeface="FS PF BeauSans Pro"/>
              </a:rPr>
              <a:t>Pitch conditioning off</a:t>
            </a:r>
            <a:r>
              <a:rPr lang="en-US" sz="1300" dirty="0">
                <a:latin typeface="FS PF BeauSans Pro"/>
                <a:ea typeface="FS PF BeauSans Pro"/>
                <a:cs typeface="FS PF BeauSans Pro"/>
              </a:rPr>
              <a:t>: its pitch tracker (RMVPE) is built for speech and singing and fails on coughs, sniffs and throat clearing</a:t>
            </a:r>
          </a:p>
          <a:p>
            <a:pPr marL="495300" indent="-342900">
              <a:lnSpc>
                <a:spcPct val="110000"/>
              </a:lnSpc>
              <a:spcAft>
                <a:spcPts val="500"/>
              </a:spcAft>
              <a:buFont typeface="Wingdings" panose="05000000000000000000" pitchFamily="2" charset="2"/>
              <a:buChar char="Ø"/>
            </a:pPr>
            <a:r>
              <a:rPr lang="en-US" sz="1300" b="1" dirty="0">
                <a:latin typeface="FS PF BeauSans Pro"/>
                <a:ea typeface="FS PF BeauSans Pro"/>
                <a:cs typeface="FS PF BeauSans Pro"/>
              </a:rPr>
              <a:t>Not seeded</a:t>
            </a:r>
            <a:r>
              <a:rPr lang="en-US" sz="1300" dirty="0">
                <a:latin typeface="FS PF BeauSans Pro"/>
                <a:ea typeface="FS PF BeauSans Pro"/>
                <a:cs typeface="FS PF BeauSans Pro"/>
              </a:rPr>
              <a:t>: diffusion is random, so a take rejected by the filter can simply be re-rendered</a:t>
            </a:r>
          </a:p>
        </p:txBody>
      </p:sp>
      <p:sp>
        <p:nvSpPr>
          <p:cNvPr id="2" name="Slide Number Placeholder 1">
            <a:extLst>
              <a:ext uri="{FF2B5EF4-FFF2-40B4-BE49-F238E27FC236}">
                <a16:creationId xmlns:a16="http://schemas.microsoft.com/office/drawing/2014/main" id="{249CE59B-DD91-4B3A-8ACA-10EA59D7C3EE}"/>
              </a:ext>
            </a:extLst>
          </p:cNvPr>
          <p:cNvSpPr>
            <a:spLocks noGrp="1"/>
          </p:cNvSpPr>
          <p:nvPr>
            <p:ph type="sldNum" idx="12"/>
          </p:nvPr>
        </p:nvSpPr>
        <p:spPr/>
        <p:txBody>
          <a:bodyPr/>
          <a:lstStyle/>
          <a:p>
            <a:pPr marL="0" lvl="0" indent="0" algn="ctr" rtl="0">
              <a:spcBef>
                <a:spcPts val="0"/>
              </a:spcBef>
              <a:spcAft>
                <a:spcPts val="0"/>
              </a:spcAft>
              <a:buNone/>
            </a:pPr>
            <a:fld id="{00000000-1234-1234-1234-123412341234}" type="slidenum">
              <a:rPr lang="en-US" smtClean="0"/>
              <a:t>32</a:t>
            </a:fld>
            <a:endParaRPr lang="en-US" dirty="0"/>
          </a:p>
        </p:txBody>
      </p:sp>
      <p:sp>
        <p:nvSpPr>
          <p:cNvPr id="149" name="Footnote citations"/>
          <p:cNvSpPr txBox="1"/>
          <p:nvPr/>
        </p:nvSpPr>
        <p:spPr>
          <a:xfrm>
            <a:off x="411480" y="5852160"/>
            <a:ext cx="8869680" cy="914400"/>
          </a:xfrm>
          <a:prstGeom prst="rect">
            <a:avLst/>
          </a:prstGeom>
          <a:noFill/>
          <a:ln>
            <a:noFill/>
          </a:ln>
        </p:spPr>
        <p:txBody>
          <a:bodyPr wrap="square" lIns="45720" tIns="45720" rIns="45720" bIns="45720" anchor="b">
            <a:noAutofit/>
          </a:bodyPr>
          <a:lstStyle/>
          <a:p>
            <a:pPr>
              <a:buNone/>
            </a:pPr>
            <a:r>
              <a:rPr lang="en-US" sz="900" b="1" dirty="0">
                <a:solidFill>
                  <a:srgbClr val="595959"/>
                </a:solidFill>
                <a:latin typeface="FS PF BeauSans Pro"/>
                <a:ea typeface="FS PF BeauSans Pro"/>
                <a:cs typeface="FS PF BeauSans Pro"/>
              </a:rPr>
              <a:t>Seed-VC: </a:t>
            </a:r>
            <a:r>
              <a:rPr lang="en-US" sz="900" dirty="0">
                <a:solidFill>
                  <a:srgbClr val="595959"/>
                </a:solidFill>
                <a:latin typeface="FS PF BeauSans Pro"/>
                <a:ea typeface="FS PF BeauSans Pro"/>
                <a:cs typeface="FS PF BeauSans Pro"/>
              </a:rPr>
              <a:t>Liu, arXiv:2411.09943, 2024</a:t>
            </a:r>
          </a:p>
        </p:txBody>
      </p:sp>
      <p:sp>
        <p:nvSpPr>
          <p:cNvPr id="150" name="Why these choices"/>
          <p:cNvSpPr/>
          <p:nvPr/>
        </p:nvSpPr>
        <p:spPr>
          <a:xfrm>
            <a:off x="7726679" y="1325880"/>
            <a:ext cx="3931920" cy="3108960"/>
          </a:xfrm>
          <a:prstGeom prst="roundRect">
            <a:avLst>
              <a:gd name="adj" fmla="val 5000"/>
            </a:avLst>
          </a:prstGeom>
          <a:solidFill>
            <a:srgbClr val="FFFFFF"/>
          </a:solidFill>
          <a:ln w="12700">
            <a:solidFill>
              <a:srgbClr val="E0E0E0"/>
            </a:solidFill>
          </a:ln>
        </p:spPr>
        <p:txBody>
          <a:bodyPr wrap="square" lIns="137160" tIns="118872" rIns="137160" bIns="91440" anchor="t">
            <a:noAutofit/>
          </a:bodyPr>
          <a:lstStyle/>
          <a:p>
            <a:pPr>
              <a:lnSpc>
                <a:spcPct val="100000"/>
              </a:lnSpc>
              <a:spcAft>
                <a:spcPts val="700"/>
              </a:spcAft>
              <a:buNone/>
            </a:pPr>
            <a:r>
              <a:rPr lang="en-US" sz="1500" b="1" dirty="0">
                <a:solidFill>
                  <a:srgbClr val="262626"/>
                </a:solidFill>
                <a:latin typeface="FS PF BeauSans Pro"/>
                <a:ea typeface="FS PF BeauSans Pro"/>
                <a:cs typeface="FS PF BeauSans Pro"/>
              </a:rPr>
              <a:t>Why these choices</a:t>
            </a:r>
          </a:p>
          <a:p>
            <a:pPr>
              <a:lnSpc>
                <a:spcPct val="100000"/>
              </a:lnSpc>
              <a:buNone/>
            </a:pPr>
            <a:r>
              <a:rPr lang="en-US" sz="2200" b="1" dirty="0">
                <a:solidFill>
                  <a:srgbClr val="EE0033"/>
                </a:solidFill>
                <a:latin typeface="FS PF BeauSans Pro"/>
                <a:ea typeface="FS PF BeauSans Pro"/>
                <a:cs typeface="FS PF BeauSans Pro"/>
              </a:rPr>
              <a:t>0.868</a:t>
            </a:r>
          </a:p>
          <a:p>
            <a:pPr>
              <a:lnSpc>
                <a:spcPct val="105000"/>
              </a:lnSpc>
              <a:buNone/>
            </a:pPr>
            <a:r>
              <a:rPr lang="en-US" sz="1150" dirty="0">
                <a:solidFill>
                  <a:srgbClr val="262626"/>
                </a:solidFill>
                <a:latin typeface="FS PF BeauSans Pro"/>
                <a:ea typeface="FS PF BeauSans Pro"/>
                <a:cs typeface="FS PF BeauSans Pro"/>
              </a:rPr>
              <a:t>speaker similarity of Seed-VC, vs 0.755 OpenVoice and 0.844 CosyVoice; WER 12.0% vs 15.5% and 19.0%</a:t>
            </a:r>
          </a:p>
          <a:p>
            <a:pPr>
              <a:lnSpc>
                <a:spcPct val="100000"/>
              </a:lnSpc>
              <a:spcAft>
                <a:spcPts val="1000"/>
              </a:spcAft>
              <a:buNone/>
            </a:pPr>
            <a:r>
              <a:rPr lang="en-US" sz="950" dirty="0">
                <a:solidFill>
                  <a:srgbClr val="595959"/>
                </a:solidFill>
                <a:latin typeface="FS PF BeauSans Pro"/>
                <a:ea typeface="FS PF BeauSans Pro"/>
                <a:cs typeface="FS PF BeauSans Pro"/>
              </a:rPr>
              <a:t>Liu, 2024 (zero-shot VC on LibriTTS)</a:t>
            </a:r>
          </a:p>
          <a:p>
            <a:pPr>
              <a:lnSpc>
                <a:spcPct val="100000"/>
              </a:lnSpc>
              <a:buNone/>
            </a:pPr>
            <a:r>
              <a:rPr lang="en-US" sz="2200" b="1" dirty="0">
                <a:solidFill>
                  <a:srgbClr val="EE0033"/>
                </a:solidFill>
                <a:latin typeface="FS PF BeauSans Pro"/>
                <a:ea typeface="FS PF BeauSans Pro"/>
                <a:cs typeface="FS PF BeauSans Pro"/>
              </a:rPr>
              <a:t>0.41 vs 0.07</a:t>
            </a:r>
          </a:p>
          <a:p>
            <a:pPr>
              <a:lnSpc>
                <a:spcPct val="105000"/>
              </a:lnSpc>
              <a:buNone/>
            </a:pPr>
            <a:r>
              <a:rPr lang="en-US" sz="1150" dirty="0">
                <a:solidFill>
                  <a:srgbClr val="262626"/>
                </a:solidFill>
                <a:latin typeface="FS PF BeauSans Pro"/>
                <a:ea typeface="FS PF BeauSans Pro"/>
                <a:cs typeface="FS PF BeauSans Pro"/>
              </a:rPr>
              <a:t>median similarity to the host speaker, converted event vs original clip; conversion wins on 20/20 rows</a:t>
            </a:r>
          </a:p>
          <a:p>
            <a:pPr>
              <a:lnSpc>
                <a:spcPct val="100000"/>
              </a:lnSpc>
              <a:buNone/>
            </a:pPr>
            <a:r>
              <a:rPr lang="en-US" sz="950" dirty="0">
                <a:solidFill>
                  <a:srgbClr val="595959"/>
                </a:solidFill>
                <a:latin typeface="FS PF BeauSans Pro"/>
                <a:ea typeface="FS PF BeauSans Pro"/>
                <a:cs typeface="FS PF BeauSans Pro"/>
              </a:rPr>
              <a:t>our 20-utterance pilot (CAM++)</a:t>
            </a:r>
          </a:p>
        </p:txBody>
      </p:sp>
    </p:spTree>
    <p:extLst>
      <p:ext uri="{BB962C8B-B14F-4D97-AF65-F5344CB8AC3E}">
        <p14:creationId xmlns:p14="http://schemas.microsoft.com/office/powerpoint/2010/main" val="584723571"/>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Shape 145"/>
        <p:cNvGrpSpPr/>
        <p:nvPr/>
      </p:nvGrpSpPr>
      <p:grpSpPr>
        <a:xfrm>
          <a:off x="0" y="0"/>
          <a:ext cx="0" cy="0"/>
          <a:chOff x="0" y="0"/>
          <a:chExt cx="0" cy="0"/>
        </a:xfrm>
      </p:grpSpPr>
      <p:sp>
        <p:nvSpPr>
          <p:cNvPr id="146" name="Google Shape;146;p10"/>
          <p:cNvSpPr txBox="1">
            <a:spLocks noGrp="1"/>
          </p:cNvSpPr>
          <p:nvPr>
            <p:ph type="ctrTitle"/>
          </p:nvPr>
        </p:nvSpPr>
        <p:spPr>
          <a:xfrm>
            <a:off x="822960" y="466344"/>
            <a:ext cx="10543032" cy="731520"/>
          </a:xfrm>
          <a:prstGeom prst="rect">
            <a:avLst/>
          </a:prstGeom>
          <a:noFill/>
          <a:ln>
            <a:noFill/>
          </a:ln>
        </p:spPr>
        <p:txBody>
          <a:bodyPr spcFirstLastPara="1" wrap="square" lIns="91425" tIns="91425" rIns="91425" bIns="91425" anchor="t" anchorCtr="0">
            <a:noAutofit/>
          </a:bodyPr>
          <a:lstStyle/>
          <a:p>
            <a:pPr algn="ctr">
              <a:buNone/>
            </a:pPr>
            <a:r>
              <a:rPr lang="en-US" dirty="0"/>
              <a:t>Appendix: Splicing</a:t>
            </a:r>
          </a:p>
        </p:txBody>
      </p:sp>
      <p:sp>
        <p:nvSpPr>
          <p:cNvPr id="148" name="Google Shape;148;p10"/>
          <p:cNvSpPr txBox="1">
            <a:spLocks noGrp="1"/>
          </p:cNvSpPr>
          <p:nvPr>
            <p:ph type="body" idx="1"/>
          </p:nvPr>
        </p:nvSpPr>
        <p:spPr>
          <a:xfrm>
            <a:off x="548640" y="1280160"/>
            <a:ext cx="7040880" cy="4526280"/>
          </a:xfrm>
          <a:prstGeom prst="rect">
            <a:avLst/>
          </a:prstGeom>
          <a:noFill/>
          <a:ln>
            <a:noFill/>
          </a:ln>
        </p:spPr>
        <p:txBody>
          <a:bodyPr spcFirstLastPara="1" wrap="square" lIns="91425" tIns="91425" rIns="91425" bIns="91425" anchor="t" anchorCtr="0">
            <a:noAutofit/>
          </a:bodyPr>
          <a:lstStyle/>
          <a:p>
            <a:pPr marL="495300" indent="-342900">
              <a:lnSpc>
                <a:spcPct val="110000"/>
              </a:lnSpc>
              <a:spcAft>
                <a:spcPts val="500"/>
              </a:spcAft>
              <a:buFont typeface="Wingdings" panose="05000000000000000000" pitchFamily="2" charset="2"/>
              <a:buChar char="Ø"/>
            </a:pPr>
            <a:r>
              <a:rPr lang="en-US" sz="1300" b="1" dirty="0">
                <a:latin typeface="FS PF BeauSans Pro"/>
                <a:ea typeface="FS PF BeauSans Pro"/>
                <a:cs typeface="FS PF BeauSans Pro"/>
              </a:rPr>
              <a:t>Loudness</a:t>
            </a:r>
            <a:r>
              <a:rPr lang="en-US" sz="1300" dirty="0">
                <a:latin typeface="FS PF BeauSans Pro"/>
                <a:ea typeface="FS PF BeauSans Pro"/>
                <a:cs typeface="FS PF BeauSans Pro"/>
              </a:rPr>
              <a:t>: event RMS set to that of the 2.5 s of speech before the cut plus a per-class offset (laughter +3 dB, sneeze +4, cough +2, throat clearing −2, sigh −4, sniff −5); peak capped at 1.5× the speech's 99.9th percentile</a:t>
            </a:r>
          </a:p>
          <a:p>
            <a:pPr marL="495300" indent="-342900">
              <a:lnSpc>
                <a:spcPct val="110000"/>
              </a:lnSpc>
              <a:spcAft>
                <a:spcPts val="500"/>
              </a:spcAft>
              <a:buFont typeface="Wingdings" panose="05000000000000000000" pitchFamily="2" charset="2"/>
              <a:buChar char="Ø"/>
            </a:pPr>
            <a:r>
              <a:rPr lang="en-US" sz="1300" b="1" dirty="0">
                <a:latin typeface="FS PF BeauSans Pro"/>
                <a:ea typeface="FS PF BeauSans Pro"/>
                <a:cs typeface="FS PF BeauSans Pro"/>
              </a:rPr>
              <a:t>Cut and fades</a:t>
            </a:r>
            <a:r>
              <a:rPr lang="en-US" sz="1300" dirty="0">
                <a:latin typeface="FS PF BeauSans Pro"/>
                <a:ea typeface="FS PF BeauSans Pro"/>
                <a:cs typeface="FS PF BeauSans Pro"/>
              </a:rPr>
              <a:t>: the recording is cut at the slot midpoint; 50 ms exponential fades on all four edges keep the sharp onset of a laugh or cough that a cosine fade would soften</a:t>
            </a:r>
          </a:p>
          <a:p>
            <a:pPr marL="495300" indent="-342900">
              <a:lnSpc>
                <a:spcPct val="110000"/>
              </a:lnSpc>
              <a:spcAft>
                <a:spcPts val="500"/>
              </a:spcAft>
              <a:buFont typeface="Wingdings" panose="05000000000000000000" pitchFamily="2" charset="2"/>
              <a:buChar char="Ø"/>
            </a:pPr>
            <a:r>
              <a:rPr lang="en-US" sz="1300" b="1" dirty="0">
                <a:latin typeface="FS PF BeauSans Pro"/>
                <a:ea typeface="FS PF BeauSans Pro"/>
                <a:cs typeface="FS PF BeauSans Pro"/>
              </a:rPr>
              <a:t>Pause targets</a:t>
            </a:r>
            <a:r>
              <a:rPr lang="en-US" sz="1300" dirty="0">
                <a:latin typeface="FS PF BeauSans Pro"/>
                <a:ea typeface="FS PF BeauSans Pro"/>
                <a:cs typeface="FS PF BeauSans Pro"/>
              </a:rPr>
              <a:t>: target pause T = Tp · s_g on each side of the event, with Tp the speaker's median pause (0.04–0.40 s) and s_g = 1</a:t>
            </a:r>
          </a:p>
          <a:p>
            <a:pPr marL="495300" indent="-342900">
              <a:lnSpc>
                <a:spcPct val="110000"/>
              </a:lnSpc>
              <a:spcAft>
                <a:spcPts val="500"/>
              </a:spcAft>
              <a:buFont typeface="Wingdings" panose="05000000000000000000" pitchFamily="2" charset="2"/>
              <a:buChar char="Ø"/>
            </a:pPr>
            <a:r>
              <a:rPr lang="en-US" sz="1300" b="1" dirty="0">
                <a:latin typeface="FS PF BeauSans Pro"/>
                <a:ea typeface="FS PF BeauSans Pro"/>
                <a:cs typeface="FS PF BeauSans Pro"/>
              </a:rPr>
              <a:t>Never shorten</a:t>
            </a:r>
            <a:r>
              <a:rPr lang="en-US" sz="1300" dirty="0">
                <a:latin typeface="FS PF BeauSans Pro"/>
                <a:ea typeface="FS PF BeauSans Pro"/>
                <a:cs typeface="FS PF BeauSans Pro"/>
              </a:rPr>
              <a:t>: only max(0, T − T_existing) of silence is added, filled with the recording's own quietest 100 ms (generated white noise audibly hissed)</a:t>
            </a:r>
          </a:p>
          <a:p>
            <a:pPr marL="495300" indent="-342900">
              <a:lnSpc>
                <a:spcPct val="110000"/>
              </a:lnSpc>
              <a:spcAft>
                <a:spcPts val="500"/>
              </a:spcAft>
              <a:buFont typeface="Wingdings" panose="05000000000000000000" pitchFamily="2" charset="2"/>
              <a:buChar char="Ø"/>
            </a:pPr>
            <a:r>
              <a:rPr lang="en-US" sz="1300" b="1" dirty="0">
                <a:latin typeface="FS PF BeauSans Pro"/>
                <a:ea typeface="FS PF BeauSans Pro"/>
                <a:cs typeface="FS PF BeauSans Pro"/>
              </a:rPr>
              <a:t>Output</a:t>
            </a:r>
            <a:r>
              <a:rPr lang="en-US" sz="1300" dirty="0">
                <a:latin typeface="FS PF BeauSans Pro"/>
                <a:ea typeface="FS PF BeauSans Pro"/>
                <a:cs typeface="FS PF BeauSans Pro"/>
              </a:rPr>
              <a:t>: peak-normalised to 0.95, 16-bit PCM at 22.05 kHz, with the tag inserted at the same slot in the transcript</a:t>
            </a:r>
          </a:p>
        </p:txBody>
      </p:sp>
      <p:sp>
        <p:nvSpPr>
          <p:cNvPr id="2" name="Slide Number Placeholder 1">
            <a:extLst>
              <a:ext uri="{FF2B5EF4-FFF2-40B4-BE49-F238E27FC236}">
                <a16:creationId xmlns:a16="http://schemas.microsoft.com/office/drawing/2014/main" id="{249CE59B-DD91-4B3A-8ACA-10EA59D7C3EE}"/>
              </a:ext>
            </a:extLst>
          </p:cNvPr>
          <p:cNvSpPr>
            <a:spLocks noGrp="1"/>
          </p:cNvSpPr>
          <p:nvPr>
            <p:ph type="sldNum" idx="12"/>
          </p:nvPr>
        </p:nvSpPr>
        <p:spPr/>
        <p:txBody>
          <a:bodyPr/>
          <a:lstStyle/>
          <a:p>
            <a:pPr marL="0" lvl="0" indent="0" algn="ctr" rtl="0">
              <a:spcBef>
                <a:spcPts val="0"/>
              </a:spcBef>
              <a:spcAft>
                <a:spcPts val="0"/>
              </a:spcAft>
              <a:buNone/>
            </a:pPr>
            <a:fld id="{00000000-1234-1234-1234-123412341234}" type="slidenum">
              <a:rPr lang="en-US" smtClean="0"/>
              <a:t>33</a:t>
            </a:fld>
            <a:endParaRPr lang="en-US" dirty="0"/>
          </a:p>
        </p:txBody>
      </p:sp>
      <p:sp>
        <p:nvSpPr>
          <p:cNvPr id="149" name="Why these choices"/>
          <p:cNvSpPr/>
          <p:nvPr/>
        </p:nvSpPr>
        <p:spPr>
          <a:xfrm>
            <a:off x="7726679" y="1325880"/>
            <a:ext cx="3931920" cy="4343400"/>
          </a:xfrm>
          <a:prstGeom prst="roundRect">
            <a:avLst>
              <a:gd name="adj" fmla="val 5000"/>
            </a:avLst>
          </a:prstGeom>
          <a:solidFill>
            <a:srgbClr val="FFFFFF"/>
          </a:solidFill>
          <a:ln w="12700">
            <a:solidFill>
              <a:srgbClr val="E0E0E0"/>
            </a:solidFill>
          </a:ln>
        </p:spPr>
        <p:txBody>
          <a:bodyPr wrap="square" lIns="137160" tIns="118872" rIns="137160" bIns="91440" anchor="t">
            <a:noAutofit/>
          </a:bodyPr>
          <a:lstStyle/>
          <a:p>
            <a:pPr>
              <a:lnSpc>
                <a:spcPct val="100000"/>
              </a:lnSpc>
              <a:spcAft>
                <a:spcPts val="700"/>
              </a:spcAft>
              <a:buNone/>
            </a:pPr>
            <a:r>
              <a:rPr lang="en-US" sz="1500" b="1" dirty="0">
                <a:solidFill>
                  <a:srgbClr val="262626"/>
                </a:solidFill>
                <a:latin typeface="FS PF BeauSans Pro"/>
                <a:ea typeface="FS PF BeauSans Pro"/>
                <a:cs typeface="FS PF BeauSans Pro"/>
              </a:rPr>
              <a:t>Why these choices</a:t>
            </a:r>
          </a:p>
          <a:p>
            <a:pPr>
              <a:lnSpc>
                <a:spcPct val="100000"/>
              </a:lnSpc>
              <a:buNone/>
            </a:pPr>
            <a:r>
              <a:rPr lang="en-US" sz="2200" b="1" dirty="0">
                <a:solidFill>
                  <a:srgbClr val="EE0033"/>
                </a:solidFill>
                <a:latin typeface="FS PF BeauSans Pro"/>
                <a:ea typeface="FS PF BeauSans Pro"/>
                <a:cs typeface="FS PF BeauSans Pro"/>
              </a:rPr>
              <a:t>13.7×</a:t>
            </a:r>
          </a:p>
          <a:p>
            <a:pPr>
              <a:lnSpc>
                <a:spcPct val="105000"/>
              </a:lnSpc>
              <a:buNone/>
            </a:pPr>
            <a:r>
              <a:rPr lang="en-US" sz="1150" dirty="0">
                <a:solidFill>
                  <a:srgbClr val="262626"/>
                </a:solidFill>
                <a:latin typeface="FS PF BeauSans Pro"/>
                <a:ea typeface="FS PF BeauSans Pro"/>
                <a:cs typeface="FS PF BeauSans Pro"/>
              </a:rPr>
              <a:t>smaller sample jump across the cut than a plain cut (0.00163 → 0.00012); smaller on 15/16 rows</a:t>
            </a:r>
          </a:p>
          <a:p>
            <a:pPr>
              <a:lnSpc>
                <a:spcPct val="100000"/>
              </a:lnSpc>
              <a:spcAft>
                <a:spcPts val="1000"/>
              </a:spcAft>
              <a:buNone/>
            </a:pPr>
            <a:r>
              <a:rPr lang="en-US" sz="950" dirty="0">
                <a:solidFill>
                  <a:srgbClr val="595959"/>
                </a:solidFill>
                <a:latin typeface="FS PF BeauSans Pro"/>
                <a:ea typeface="FS PF BeauSans Pro"/>
                <a:cs typeface="FS PF BeauSans Pro"/>
              </a:rPr>
              <a:t>our 20-utterance pilot</a:t>
            </a:r>
          </a:p>
          <a:p>
            <a:pPr>
              <a:lnSpc>
                <a:spcPct val="100000"/>
              </a:lnSpc>
              <a:buNone/>
            </a:pPr>
            <a:r>
              <a:rPr lang="en-US" sz="2200" b="1" dirty="0">
                <a:solidFill>
                  <a:srgbClr val="EE0033"/>
                </a:solidFill>
                <a:latin typeface="FS PF BeauSans Pro"/>
                <a:ea typeface="FS PF BeauSans Pro"/>
                <a:cs typeface="FS PF BeauSans Pro"/>
              </a:rPr>
              <a:t>40–400 ms</a:t>
            </a:r>
          </a:p>
          <a:p>
            <a:pPr>
              <a:lnSpc>
                <a:spcPct val="105000"/>
              </a:lnSpc>
              <a:buNone/>
            </a:pPr>
            <a:r>
              <a:rPr lang="en-US" sz="1150" dirty="0">
                <a:solidFill>
                  <a:srgbClr val="262626"/>
                </a:solidFill>
                <a:latin typeface="FS PF BeauSans Pro"/>
                <a:ea typeface="FS PF BeauSans Pro"/>
                <a:cs typeface="FS PF BeauSans Pro"/>
              </a:rPr>
              <a:t>range of speakers' median pause (median ≈ 130 ms): no single fixed gap fits, so ours scales with the speaker</a:t>
            </a:r>
          </a:p>
          <a:p>
            <a:pPr>
              <a:lnSpc>
                <a:spcPct val="100000"/>
              </a:lnSpc>
              <a:spcAft>
                <a:spcPts val="1000"/>
              </a:spcAft>
              <a:buNone/>
            </a:pPr>
            <a:r>
              <a:rPr lang="en-US" sz="950" dirty="0">
                <a:solidFill>
                  <a:srgbClr val="595959"/>
                </a:solidFill>
                <a:latin typeface="FS PF BeauSans Pro"/>
                <a:ea typeface="FS PF BeauSans Pro"/>
                <a:cs typeface="FS PF BeauSans Pro"/>
              </a:rPr>
              <a:t>our 20-utterance pilot</a:t>
            </a:r>
          </a:p>
          <a:p>
            <a:pPr>
              <a:lnSpc>
                <a:spcPct val="100000"/>
              </a:lnSpc>
              <a:buNone/>
            </a:pPr>
            <a:r>
              <a:rPr lang="en-US" sz="2200" b="1" dirty="0">
                <a:solidFill>
                  <a:srgbClr val="EE0033"/>
                </a:solidFill>
                <a:latin typeface="FS PF BeauSans Pro"/>
                <a:ea typeface="FS PF BeauSans Pro"/>
                <a:cs typeface="FS PF BeauSans Pro"/>
              </a:rPr>
              <a:t>82% → 1.3%</a:t>
            </a:r>
          </a:p>
          <a:p>
            <a:pPr>
              <a:lnSpc>
                <a:spcPct val="105000"/>
              </a:lnSpc>
              <a:buNone/>
            </a:pPr>
            <a:r>
              <a:rPr lang="en-US" sz="1150" dirty="0">
                <a:solidFill>
                  <a:srgbClr val="262626"/>
                </a:solidFill>
                <a:latin typeface="FS PF BeauSans Pro"/>
                <a:ea typeface="FS PF BeauSans Pro"/>
                <a:cs typeface="FS PF BeauSans Pro"/>
              </a:rPr>
              <a:t>high-frequency share of the added silence (true floor 1.5%): white noise hissed, the recording's own floor does not</a:t>
            </a:r>
          </a:p>
          <a:p>
            <a:pPr>
              <a:lnSpc>
                <a:spcPct val="100000"/>
              </a:lnSpc>
              <a:buNone/>
            </a:pPr>
            <a:r>
              <a:rPr lang="en-US" sz="950" dirty="0">
                <a:solidFill>
                  <a:srgbClr val="595959"/>
                </a:solidFill>
                <a:latin typeface="FS PF BeauSans Pro"/>
                <a:ea typeface="FS PF BeauSans Pro"/>
                <a:cs typeface="FS PF BeauSans Pro"/>
              </a:rPr>
              <a:t>our test on a synthetic take</a:t>
            </a:r>
          </a:p>
        </p:txBody>
      </p:sp>
    </p:spTree>
    <p:extLst>
      <p:ext uri="{BB962C8B-B14F-4D97-AF65-F5344CB8AC3E}">
        <p14:creationId xmlns:p14="http://schemas.microsoft.com/office/powerpoint/2010/main" val="584723571"/>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Shape 145"/>
        <p:cNvGrpSpPr/>
        <p:nvPr/>
      </p:nvGrpSpPr>
      <p:grpSpPr>
        <a:xfrm>
          <a:off x="0" y="0"/>
          <a:ext cx="0" cy="0"/>
          <a:chOff x="0" y="0"/>
          <a:chExt cx="0" cy="0"/>
        </a:xfrm>
      </p:grpSpPr>
      <p:sp>
        <p:nvSpPr>
          <p:cNvPr id="146" name="Google Shape;146;p10"/>
          <p:cNvSpPr txBox="1">
            <a:spLocks noGrp="1"/>
          </p:cNvSpPr>
          <p:nvPr>
            <p:ph type="ctrTitle"/>
          </p:nvPr>
        </p:nvSpPr>
        <p:spPr>
          <a:xfrm>
            <a:off x="822960" y="466344"/>
            <a:ext cx="10543032" cy="731520"/>
          </a:xfrm>
          <a:prstGeom prst="rect">
            <a:avLst/>
          </a:prstGeom>
          <a:noFill/>
          <a:ln>
            <a:noFill/>
          </a:ln>
        </p:spPr>
        <p:txBody>
          <a:bodyPr spcFirstLastPara="1" wrap="square" lIns="91425" tIns="91425" rIns="91425" bIns="91425" anchor="t" anchorCtr="0">
            <a:noAutofit/>
          </a:bodyPr>
          <a:lstStyle/>
          <a:p>
            <a:pPr algn="ctr">
              <a:buNone/>
            </a:pPr>
            <a:r>
              <a:rPr lang="en-US" dirty="0"/>
              <a:t>Appendix: Filter</a:t>
            </a:r>
          </a:p>
        </p:txBody>
      </p:sp>
      <p:sp>
        <p:nvSpPr>
          <p:cNvPr id="148" name="Google Shape;148;p10"/>
          <p:cNvSpPr txBox="1">
            <a:spLocks noGrp="1"/>
          </p:cNvSpPr>
          <p:nvPr>
            <p:ph type="body" idx="1"/>
          </p:nvPr>
        </p:nvSpPr>
        <p:spPr>
          <a:xfrm>
            <a:off x="548640" y="1280160"/>
            <a:ext cx="7040880" cy="4526280"/>
          </a:xfrm>
          <a:prstGeom prst="rect">
            <a:avLst/>
          </a:prstGeom>
          <a:noFill/>
          <a:ln>
            <a:noFill/>
          </a:ln>
        </p:spPr>
        <p:txBody>
          <a:bodyPr spcFirstLastPara="1" wrap="square" lIns="91425" tIns="91425" rIns="91425" bIns="91425" anchor="t" anchorCtr="0">
            <a:noAutofit/>
          </a:bodyPr>
          <a:lstStyle/>
          <a:p>
            <a:pPr marL="495300" indent="-342900">
              <a:lnSpc>
                <a:spcPct val="110000"/>
              </a:lnSpc>
              <a:spcAft>
                <a:spcPts val="500"/>
              </a:spcAft>
              <a:buFont typeface="Wingdings" panose="05000000000000000000" pitchFamily="2" charset="2"/>
              <a:buChar char="Ø"/>
            </a:pPr>
            <a:r>
              <a:rPr lang="en-US" sz="1300" b="1" dirty="0">
                <a:latin typeface="FS PF BeauSans Pro"/>
                <a:ea typeface="FS PF BeauSans Pro"/>
                <a:cs typeface="FS PF BeauSans Pro"/>
              </a:rPr>
              <a:t>Scorer</a:t>
            </a:r>
            <a:r>
              <a:rPr lang="en-US" sz="1300" dirty="0">
                <a:latin typeface="FS PF BeauSans Pro"/>
                <a:ea typeface="FS PF BeauSans Pro"/>
                <a:cs typeface="FS PF BeauSans Pro"/>
              </a:rPr>
              <a:t>: NISQA v2.0, a no-reference predictor of MOS and four quality dimensions, run on both the source and the spliced recording</a:t>
            </a:r>
          </a:p>
          <a:p>
            <a:pPr marL="495300" indent="-342900">
              <a:lnSpc>
                <a:spcPct val="110000"/>
              </a:lnSpc>
              <a:spcAft>
                <a:spcPts val="500"/>
              </a:spcAft>
              <a:buFont typeface="Wingdings" panose="05000000000000000000" pitchFamily="2" charset="2"/>
              <a:buChar char="Ø"/>
            </a:pPr>
            <a:r>
              <a:rPr lang="en-US" sz="1300" b="1" dirty="0">
                <a:latin typeface="FS PF BeauSans Pro"/>
                <a:ea typeface="FS PF BeauSans Pro"/>
                <a:cs typeface="FS PF BeauSans Pro"/>
              </a:rPr>
              <a:t>Kept if</a:t>
            </a:r>
            <a:r>
              <a:rPr lang="en-US" sz="1300" dirty="0">
                <a:latin typeface="FS PF BeauSans Pro"/>
                <a:ea typeface="FS PF BeauSans Pro"/>
                <a:cs typeface="FS PF BeauSans Pro"/>
              </a:rPr>
              <a:t>: MOS drops by ≤ 0.5, discontinuity drops by ≤ 0.22 (an audible seam at the splice), and boundary activity at the cut is ≤ 1.2</a:t>
            </a:r>
          </a:p>
          <a:p>
            <a:pPr marL="495300" indent="-342900">
              <a:lnSpc>
                <a:spcPct val="110000"/>
              </a:lnSpc>
              <a:spcAft>
                <a:spcPts val="500"/>
              </a:spcAft>
              <a:buFont typeface="Wingdings" panose="05000000000000000000" pitchFamily="2" charset="2"/>
              <a:buChar char="Ø"/>
            </a:pPr>
            <a:r>
              <a:rPr lang="en-US" sz="1300" b="1" dirty="0">
                <a:latin typeface="FS PF BeauSans Pro"/>
                <a:ea typeface="FS PF BeauSans Pro"/>
                <a:cs typeface="FS PF BeauSans Pro"/>
              </a:rPr>
              <a:t>Boundary activity</a:t>
            </a:r>
            <a:r>
              <a:rPr lang="en-US" sz="1300" dirty="0">
                <a:latin typeface="FS PF BeauSans Pro"/>
                <a:ea typeface="FS PF BeauSans Pro"/>
                <a:cs typeface="FS PF BeauSans Pro"/>
              </a:rPr>
              <a:t>: RMS of the 50 ms on each side of the cut ÷ RMS of that whole side, on the source (0 = cut in silence, ≈ 1 = cut in speech); catches cuts inside loud speech that the fades hide from NISQA</a:t>
            </a:r>
          </a:p>
          <a:p>
            <a:pPr marL="495300" indent="-342900">
              <a:lnSpc>
                <a:spcPct val="110000"/>
              </a:lnSpc>
              <a:spcAft>
                <a:spcPts val="500"/>
              </a:spcAft>
              <a:buFont typeface="Wingdings" panose="05000000000000000000" pitchFamily="2" charset="2"/>
              <a:buChar char="Ø"/>
            </a:pPr>
            <a:r>
              <a:rPr lang="en-US" sz="1300" b="1" dirty="0">
                <a:latin typeface="FS PF BeauSans Pro"/>
                <a:ea typeface="FS PF BeauSans Pro"/>
                <a:cs typeface="FS PF BeauSans Pro"/>
              </a:rPr>
              <a:t>Drops, not absolute scores</a:t>
            </a:r>
            <a:r>
              <a:rPr lang="en-US" sz="1300" dirty="0">
                <a:latin typeface="FS PF BeauSans Pro"/>
                <a:ea typeface="FS PF BeauSans Pro"/>
                <a:cs typeface="FS PF BeauSans Pro"/>
              </a:rPr>
              <a:t>: an absolute floor would mostly measure how clean the source corpus was</a:t>
            </a:r>
          </a:p>
          <a:p>
            <a:pPr marL="495300" indent="-342900">
              <a:lnSpc>
                <a:spcPct val="110000"/>
              </a:lnSpc>
              <a:spcAft>
                <a:spcPts val="500"/>
              </a:spcAft>
              <a:buFont typeface="Wingdings" panose="05000000000000000000" pitchFamily="2" charset="2"/>
              <a:buChar char="Ø"/>
            </a:pPr>
            <a:r>
              <a:rPr lang="en-US" sz="1300" b="1" dirty="0">
                <a:latin typeface="FS PF BeauSans Pro"/>
                <a:ea typeface="FS PF BeauSans Pro"/>
                <a:cs typeface="FS PF BeauSans Pro"/>
              </a:rPr>
              <a:t>Calibration</a:t>
            </a:r>
            <a:r>
              <a:rPr lang="en-US" sz="1300" dirty="0">
                <a:latin typeface="FS PF BeauSans Pro"/>
                <a:ea typeface="FS PF BeauSans Pro"/>
                <a:cs typeface="FS PF BeauSans Pro"/>
              </a:rPr>
              <a:t>: thresholds set on a 20-utterance pilot (MOS threshold removes one clear outlier; the others chosen by listening)</a:t>
            </a:r>
          </a:p>
        </p:txBody>
      </p:sp>
      <p:sp>
        <p:nvSpPr>
          <p:cNvPr id="2" name="Slide Number Placeholder 1">
            <a:extLst>
              <a:ext uri="{FF2B5EF4-FFF2-40B4-BE49-F238E27FC236}">
                <a16:creationId xmlns:a16="http://schemas.microsoft.com/office/drawing/2014/main" id="{249CE59B-DD91-4B3A-8ACA-10EA59D7C3EE}"/>
              </a:ext>
            </a:extLst>
          </p:cNvPr>
          <p:cNvSpPr>
            <a:spLocks noGrp="1"/>
          </p:cNvSpPr>
          <p:nvPr>
            <p:ph type="sldNum" idx="12"/>
          </p:nvPr>
        </p:nvSpPr>
        <p:spPr/>
        <p:txBody>
          <a:bodyPr/>
          <a:lstStyle/>
          <a:p>
            <a:pPr marL="0" lvl="0" indent="0" algn="ctr" rtl="0">
              <a:spcBef>
                <a:spcPts val="0"/>
              </a:spcBef>
              <a:spcAft>
                <a:spcPts val="0"/>
              </a:spcAft>
              <a:buNone/>
            </a:pPr>
            <a:fld id="{00000000-1234-1234-1234-123412341234}" type="slidenum">
              <a:rPr lang="en-US" smtClean="0"/>
              <a:t>34</a:t>
            </a:fld>
            <a:endParaRPr lang="en-US" dirty="0"/>
          </a:p>
        </p:txBody>
      </p:sp>
      <p:sp>
        <p:nvSpPr>
          <p:cNvPr id="149" name="Footnote citations"/>
          <p:cNvSpPr txBox="1"/>
          <p:nvPr/>
        </p:nvSpPr>
        <p:spPr>
          <a:xfrm>
            <a:off x="411480" y="5852160"/>
            <a:ext cx="8869680" cy="914400"/>
          </a:xfrm>
          <a:prstGeom prst="rect">
            <a:avLst/>
          </a:prstGeom>
          <a:noFill/>
          <a:ln>
            <a:noFill/>
          </a:ln>
        </p:spPr>
        <p:txBody>
          <a:bodyPr wrap="square" lIns="45720" tIns="45720" rIns="45720" bIns="45720" anchor="b">
            <a:noAutofit/>
          </a:bodyPr>
          <a:lstStyle/>
          <a:p>
            <a:pPr>
              <a:buNone/>
            </a:pPr>
            <a:r>
              <a:rPr lang="en-US" sz="900" b="1" dirty="0">
                <a:solidFill>
                  <a:srgbClr val="595959"/>
                </a:solidFill>
                <a:latin typeface="FS PF BeauSans Pro"/>
                <a:ea typeface="FS PF BeauSans Pro"/>
                <a:cs typeface="FS PF BeauSans Pro"/>
              </a:rPr>
              <a:t>NISQA: </a:t>
            </a:r>
            <a:r>
              <a:rPr lang="en-US" sz="900" dirty="0">
                <a:solidFill>
                  <a:srgbClr val="595959"/>
                </a:solidFill>
                <a:latin typeface="FS PF BeauSans Pro"/>
                <a:ea typeface="FS PF BeauSans Pro"/>
                <a:cs typeface="FS PF BeauSans Pro"/>
              </a:rPr>
              <a:t>Mittag et al., Interspeech 2021</a:t>
            </a:r>
          </a:p>
        </p:txBody>
      </p:sp>
      <p:sp>
        <p:nvSpPr>
          <p:cNvPr id="150" name="Why these choices"/>
          <p:cNvSpPr/>
          <p:nvPr/>
        </p:nvSpPr>
        <p:spPr>
          <a:xfrm>
            <a:off x="7726679" y="1325880"/>
            <a:ext cx="3931920" cy="4343400"/>
          </a:xfrm>
          <a:prstGeom prst="roundRect">
            <a:avLst>
              <a:gd name="adj" fmla="val 5000"/>
            </a:avLst>
          </a:prstGeom>
          <a:solidFill>
            <a:srgbClr val="FFFFFF"/>
          </a:solidFill>
          <a:ln w="12700">
            <a:solidFill>
              <a:srgbClr val="E0E0E0"/>
            </a:solidFill>
          </a:ln>
        </p:spPr>
        <p:txBody>
          <a:bodyPr wrap="square" lIns="137160" tIns="118872" rIns="137160" bIns="91440" anchor="t">
            <a:noAutofit/>
          </a:bodyPr>
          <a:lstStyle/>
          <a:p>
            <a:pPr>
              <a:lnSpc>
                <a:spcPct val="100000"/>
              </a:lnSpc>
              <a:spcAft>
                <a:spcPts val="700"/>
              </a:spcAft>
              <a:buNone/>
            </a:pPr>
            <a:r>
              <a:rPr lang="en-US" sz="1500" b="1" dirty="0">
                <a:solidFill>
                  <a:srgbClr val="262626"/>
                </a:solidFill>
                <a:latin typeface="FS PF BeauSans Pro"/>
                <a:ea typeface="FS PF BeauSans Pro"/>
                <a:cs typeface="FS PF BeauSans Pro"/>
              </a:rPr>
              <a:t>Why these choices</a:t>
            </a:r>
          </a:p>
          <a:p>
            <a:pPr>
              <a:lnSpc>
                <a:spcPct val="100000"/>
              </a:lnSpc>
              <a:buNone/>
            </a:pPr>
            <a:r>
              <a:rPr lang="en-US" sz="2200" b="1" dirty="0">
                <a:solidFill>
                  <a:srgbClr val="EE0033"/>
                </a:solidFill>
                <a:latin typeface="FS PF BeauSans Pro"/>
                <a:ea typeface="FS PF BeauSans Pro"/>
                <a:cs typeface="FS PF BeauSans Pro"/>
              </a:rPr>
              <a:t>r = 0.90</a:t>
            </a:r>
          </a:p>
          <a:p>
            <a:pPr>
              <a:lnSpc>
                <a:spcPct val="105000"/>
              </a:lnSpc>
              <a:buNone/>
            </a:pPr>
            <a:r>
              <a:rPr lang="en-US" sz="1150" dirty="0">
                <a:solidFill>
                  <a:srgbClr val="262626"/>
                </a:solidFill>
                <a:latin typeface="FS PF BeauSans Pro"/>
                <a:ea typeface="FS PF BeauSans Pro"/>
                <a:cs typeface="FS PF BeauSans Pro"/>
              </a:rPr>
              <a:t>NISQA vs listener MOS on real phone calls, vs 0.70 for ITU-T P.563; discontinuity r = 0.83</a:t>
            </a:r>
          </a:p>
          <a:p>
            <a:pPr>
              <a:lnSpc>
                <a:spcPct val="100000"/>
              </a:lnSpc>
              <a:spcAft>
                <a:spcPts val="1000"/>
              </a:spcAft>
              <a:buNone/>
            </a:pPr>
            <a:r>
              <a:rPr lang="en-US" sz="950" dirty="0">
                <a:solidFill>
                  <a:srgbClr val="595959"/>
                </a:solidFill>
                <a:latin typeface="FS PF BeauSans Pro"/>
                <a:ea typeface="FS PF BeauSans Pro"/>
                <a:cs typeface="FS PF BeauSans Pro"/>
              </a:rPr>
              <a:t>Mittag et al., 2021</a:t>
            </a:r>
          </a:p>
          <a:p>
            <a:pPr>
              <a:lnSpc>
                <a:spcPct val="100000"/>
              </a:lnSpc>
              <a:buNone/>
            </a:pPr>
            <a:r>
              <a:rPr lang="en-US" sz="2200" b="1" dirty="0">
                <a:solidFill>
                  <a:srgbClr val="EE0033"/>
                </a:solidFill>
                <a:latin typeface="FS PF BeauSans Pro"/>
                <a:ea typeface="FS PF BeauSans Pro"/>
                <a:cs typeface="FS PF BeauSans Pro"/>
              </a:rPr>
              <a:t>13 / 16</a:t>
            </a:r>
          </a:p>
          <a:p>
            <a:pPr>
              <a:lnSpc>
                <a:spcPct val="105000"/>
              </a:lnSpc>
              <a:buNone/>
            </a:pPr>
            <a:r>
              <a:rPr lang="en-US" sz="1150" dirty="0">
                <a:solidFill>
                  <a:srgbClr val="262626"/>
                </a:solidFill>
                <a:latin typeface="FS PF BeauSans Pro"/>
                <a:ea typeface="FS PF BeauSans Pro"/>
                <a:cs typeface="FS PF BeauSans Pro"/>
              </a:rPr>
              <a:t>spliced pilot rows kept: 2 cut by discontinuity drop, 1 by MOS drop; boundary activity cut none</a:t>
            </a:r>
          </a:p>
          <a:p>
            <a:pPr>
              <a:lnSpc>
                <a:spcPct val="100000"/>
              </a:lnSpc>
              <a:spcAft>
                <a:spcPts val="1000"/>
              </a:spcAft>
              <a:buNone/>
            </a:pPr>
            <a:r>
              <a:rPr lang="en-US" sz="950" dirty="0">
                <a:solidFill>
                  <a:srgbClr val="595959"/>
                </a:solidFill>
                <a:latin typeface="FS PF BeauSans Pro"/>
                <a:ea typeface="FS PF BeauSans Pro"/>
                <a:cs typeface="FS PF BeauSans Pro"/>
              </a:rPr>
              <a:t>our 20-utterance pilot</a:t>
            </a:r>
          </a:p>
          <a:p>
            <a:pPr>
              <a:lnSpc>
                <a:spcPct val="100000"/>
              </a:lnSpc>
              <a:buNone/>
            </a:pPr>
            <a:r>
              <a:rPr lang="en-US" sz="2200" b="1" dirty="0">
                <a:solidFill>
                  <a:srgbClr val="EE0033"/>
                </a:solidFill>
                <a:latin typeface="FS PF BeauSans Pro"/>
                <a:ea typeface="FS PF BeauSans Pro"/>
                <a:cs typeface="FS PF BeauSans Pro"/>
              </a:rPr>
              <a:t>2 of 3</a:t>
            </a:r>
          </a:p>
          <a:p>
            <a:pPr>
              <a:lnSpc>
                <a:spcPct val="105000"/>
              </a:lnSpc>
              <a:buNone/>
            </a:pPr>
            <a:r>
              <a:rPr lang="en-US" sz="1150" dirty="0">
                <a:solidFill>
                  <a:srgbClr val="262626"/>
                </a:solidFill>
                <a:latin typeface="FS PF BeauSans Pro"/>
                <a:ea typeface="FS PF BeauSans Pro"/>
                <a:cs typeface="FS PF BeauSans Pro"/>
              </a:rPr>
              <a:t>boundary-activity rejects pass every NISQA check: the cut-in-speech test catches what NISQA cannot hear</a:t>
            </a:r>
          </a:p>
          <a:p>
            <a:pPr>
              <a:lnSpc>
                <a:spcPct val="100000"/>
              </a:lnSpc>
              <a:buNone/>
            </a:pPr>
            <a:r>
              <a:rPr lang="en-US" sz="950" dirty="0">
                <a:solidFill>
                  <a:srgbClr val="595959"/>
                </a:solidFill>
                <a:latin typeface="FS PF BeauSans Pro"/>
                <a:ea typeface="FS PF BeauSans Pro"/>
                <a:cs typeface="FS PF BeauSans Pro"/>
              </a:rPr>
              <a:t>our 20-utterance pilot</a:t>
            </a:r>
          </a:p>
        </p:txBody>
      </p:sp>
    </p:spTree>
    <p:extLst>
      <p:ext uri="{BB962C8B-B14F-4D97-AF65-F5344CB8AC3E}">
        <p14:creationId xmlns:p14="http://schemas.microsoft.com/office/powerpoint/2010/main" val="584723571"/>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Shape 145"/>
        <p:cNvGrpSpPr/>
        <p:nvPr/>
      </p:nvGrpSpPr>
      <p:grpSpPr>
        <a:xfrm>
          <a:off x="0" y="0"/>
          <a:ext cx="0" cy="0"/>
          <a:chOff x="0" y="0"/>
          <a:chExt cx="0" cy="0"/>
        </a:xfrm>
      </p:grpSpPr>
      <p:sp>
        <p:nvSpPr>
          <p:cNvPr id="146" name="Google Shape;146;p10"/>
          <p:cNvSpPr txBox="1">
            <a:spLocks noGrp="1"/>
          </p:cNvSpPr>
          <p:nvPr>
            <p:ph type="ctrTitle"/>
          </p:nvPr>
        </p:nvSpPr>
        <p:spPr>
          <a:xfrm>
            <a:off x="822960" y="466344"/>
            <a:ext cx="10543032" cy="731520"/>
          </a:xfrm>
          <a:prstGeom prst="rect">
            <a:avLst/>
          </a:prstGeom>
          <a:noFill/>
          <a:ln>
            <a:noFill/>
          </a:ln>
        </p:spPr>
        <p:txBody>
          <a:bodyPr spcFirstLastPara="1" wrap="square" lIns="91425" tIns="91425" rIns="91425" bIns="91425" anchor="t" anchorCtr="0">
            <a:noAutofit/>
          </a:bodyPr>
          <a:lstStyle/>
          <a:p>
            <a:pPr algn="ctr">
              <a:buNone/>
            </a:pPr>
            <a:r>
              <a:rPr lang="en-US" dirty="0"/>
              <a:t>References</a:t>
            </a:r>
          </a:p>
        </p:txBody>
      </p:sp>
      <p:sp>
        <p:nvSpPr>
          <p:cNvPr id="148" name="Google Shape;148;p10"/>
          <p:cNvSpPr txBox="1">
            <a:spLocks noGrp="1"/>
          </p:cNvSpPr>
          <p:nvPr>
            <p:ph type="body" idx="1"/>
          </p:nvPr>
        </p:nvSpPr>
        <p:spPr>
          <a:xfrm>
            <a:off x="411480" y="1234440"/>
            <a:ext cx="5577840" cy="5029200"/>
          </a:xfrm>
          <a:prstGeom prst="rect">
            <a:avLst/>
          </a:prstGeom>
          <a:noFill/>
          <a:ln>
            <a:noFill/>
          </a:ln>
        </p:spPr>
        <p:txBody>
          <a:bodyPr spcFirstLastPara="1" wrap="square" lIns="91425" tIns="91425" rIns="91425" bIns="91425" anchor="t" anchorCtr="0">
            <a:noAutofit/>
          </a:bodyPr>
          <a:lstStyle/>
          <a:p>
            <a:pPr marL="365760" indent="-365760">
              <a:spcAft>
                <a:spcPts val="400"/>
              </a:spcAft>
              <a:buNone/>
            </a:pPr>
            <a:r>
              <a:rPr lang="en-US" sz="950" b="1" dirty="0">
                <a:solidFill>
                  <a:srgbClr val="EE0033"/>
                </a:solidFill>
                <a:latin typeface="FS PF BeauSans Pro"/>
                <a:ea typeface="FS PF BeauSans Pro"/>
                <a:cs typeface="FS PF BeauSans Pro"/>
              </a:rPr>
              <a:t>[1]	</a:t>
            </a:r>
            <a:r>
              <a:rPr lang="en-US" sz="950" dirty="0">
                <a:solidFill>
                  <a:srgbClr val="262626"/>
                </a:solidFill>
                <a:latin typeface="FS PF BeauSans Pro"/>
                <a:ea typeface="FS PF BeauSans Pro"/>
                <a:cs typeface="FS PF BeauSans Pro"/>
              </a:rPr>
              <a:t>H. Zhu, L. Ye, W. Kang, Z. Yao, L. Guo, F. Kuang, Z. Han, W. Zhuang, L. Lin, D. Povey. OmniVoice: Towards Omnilingual Zero-Shot Text-to-Speech with Diffusion Language Models. arXiv:2604.00688, 2026.</a:t>
            </a:r>
          </a:p>
          <a:p>
            <a:pPr marL="365760" indent="-365760">
              <a:spcAft>
                <a:spcPts val="400"/>
              </a:spcAft>
              <a:buNone/>
            </a:pPr>
            <a:r>
              <a:rPr lang="en-US" sz="950" b="1" dirty="0">
                <a:solidFill>
                  <a:srgbClr val="EE0033"/>
                </a:solidFill>
                <a:latin typeface="FS PF BeauSans Pro"/>
                <a:ea typeface="FS PF BeauSans Pro"/>
                <a:cs typeface="FS PF BeauSans Pro"/>
              </a:rPr>
              <a:t>[2]	</a:t>
            </a:r>
            <a:r>
              <a:rPr lang="en-US" sz="950" dirty="0">
                <a:solidFill>
                  <a:srgbClr val="262626"/>
                </a:solidFill>
                <a:latin typeface="FS PF BeauSans Pro"/>
                <a:ea typeface="FS PF BeauSans Pro"/>
                <a:cs typeface="FS PF BeauSans Pro"/>
              </a:rPr>
              <a:t>Qwen Team. Qwen3-Omni Technical Report. arXiv:2509.17765, 2025.</a:t>
            </a:r>
          </a:p>
          <a:p>
            <a:pPr marL="365760" indent="-365760">
              <a:spcAft>
                <a:spcPts val="400"/>
              </a:spcAft>
              <a:buNone/>
            </a:pPr>
            <a:r>
              <a:rPr lang="en-US" sz="950" b="1" dirty="0">
                <a:solidFill>
                  <a:srgbClr val="EE0033"/>
                </a:solidFill>
                <a:latin typeface="FS PF BeauSans Pro"/>
                <a:ea typeface="FS PF BeauSans Pro"/>
                <a:cs typeface="FS PF BeauSans Pro"/>
              </a:rPr>
              <a:t>[3]	</a:t>
            </a:r>
            <a:r>
              <a:rPr lang="en-US" sz="950" dirty="0">
                <a:solidFill>
                  <a:srgbClr val="262626"/>
                </a:solidFill>
                <a:latin typeface="FS PF BeauSans Pro"/>
                <a:ea typeface="FS PF BeauSans Pro"/>
                <a:cs typeface="FS PF BeauSans Pro"/>
              </a:rPr>
              <a:t>Qwen Team. Qwen3-ASR Technical Report (incl. Qwen3-ForcedAligner). arXiv:2601.21337, 2026.</a:t>
            </a:r>
          </a:p>
          <a:p>
            <a:pPr marL="365760" indent="-365760">
              <a:spcAft>
                <a:spcPts val="400"/>
              </a:spcAft>
              <a:buNone/>
            </a:pPr>
            <a:r>
              <a:rPr lang="en-US" sz="950" b="1" dirty="0">
                <a:solidFill>
                  <a:srgbClr val="EE0033"/>
                </a:solidFill>
                <a:latin typeface="FS PF BeauSans Pro"/>
                <a:ea typeface="FS PF BeauSans Pro"/>
                <a:cs typeface="FS PF BeauSans Pro"/>
              </a:rPr>
              <a:t>[4]	</a:t>
            </a:r>
            <a:r>
              <a:rPr lang="en-US" sz="950" dirty="0">
                <a:solidFill>
                  <a:srgbClr val="262626"/>
                </a:solidFill>
                <a:latin typeface="FS PF BeauSans Pro"/>
                <a:ea typeface="FS PF BeauSans Pro"/>
                <a:cs typeface="FS PF BeauSans Pro"/>
              </a:rPr>
              <a:t>Silero Team. Silero VAD: pre-trained enterprise-grade Voice Activity Detector. github.com/snakers4/silero-vad, 2024.</a:t>
            </a:r>
          </a:p>
          <a:p>
            <a:pPr marL="365760" indent="-365760">
              <a:spcAft>
                <a:spcPts val="400"/>
              </a:spcAft>
              <a:buNone/>
            </a:pPr>
            <a:r>
              <a:rPr lang="en-US" sz="950" b="1" dirty="0">
                <a:solidFill>
                  <a:srgbClr val="EE0033"/>
                </a:solidFill>
                <a:latin typeface="FS PF BeauSans Pro"/>
                <a:ea typeface="FS PF BeauSans Pro"/>
                <a:cs typeface="FS PF BeauSans Pro"/>
              </a:rPr>
              <a:t>[5]	</a:t>
            </a:r>
            <a:r>
              <a:rPr lang="en-US" sz="950" dirty="0">
                <a:solidFill>
                  <a:srgbClr val="262626"/>
                </a:solidFill>
                <a:latin typeface="FS PF BeauSans Pro"/>
                <a:ea typeface="FS PF BeauSans Pro"/>
                <a:cs typeface="FS PF BeauSans Pro"/>
              </a:rPr>
              <a:t>J. Hai, H. Wang, W. Guo, M. Elhilali. FlexSED: Towards Open-Vocabulary Sound Event Detection. arXiv:2509.18606, 2025.</a:t>
            </a:r>
          </a:p>
          <a:p>
            <a:pPr marL="365760" indent="-365760">
              <a:spcAft>
                <a:spcPts val="400"/>
              </a:spcAft>
              <a:buNone/>
            </a:pPr>
            <a:r>
              <a:rPr lang="en-US" sz="950" b="1" dirty="0">
                <a:solidFill>
                  <a:srgbClr val="EE0033"/>
                </a:solidFill>
                <a:latin typeface="FS PF BeauSans Pro"/>
                <a:ea typeface="FS PF BeauSans Pro"/>
                <a:cs typeface="FS PF BeauSans Pro"/>
              </a:rPr>
              <a:t>[6]	</a:t>
            </a:r>
            <a:r>
              <a:rPr lang="en-US" sz="950" dirty="0">
                <a:solidFill>
                  <a:srgbClr val="262626"/>
                </a:solidFill>
                <a:latin typeface="FS PF BeauSans Pro"/>
                <a:ea typeface="FS PF BeauSans Pro"/>
                <a:cs typeface="FS PF BeauSans Pro"/>
              </a:rPr>
              <a:t>S. Liu. Zero-shot Voice Conversion with Diffusion Transformers (Seed-VC). arXiv:2411.09943, 2024.</a:t>
            </a:r>
          </a:p>
          <a:p>
            <a:pPr marL="365760" indent="-365760">
              <a:spcAft>
                <a:spcPts val="400"/>
              </a:spcAft>
              <a:buNone/>
            </a:pPr>
            <a:r>
              <a:rPr lang="en-US" sz="950" b="1" dirty="0">
                <a:solidFill>
                  <a:srgbClr val="EE0033"/>
                </a:solidFill>
                <a:latin typeface="FS PF BeauSans Pro"/>
                <a:ea typeface="FS PF BeauSans Pro"/>
                <a:cs typeface="FS PF BeauSans Pro"/>
              </a:rPr>
              <a:t>[7]	</a:t>
            </a:r>
            <a:r>
              <a:rPr lang="en-US" sz="950" dirty="0">
                <a:solidFill>
                  <a:srgbClr val="262626"/>
                </a:solidFill>
                <a:latin typeface="FS PF BeauSans Pro"/>
                <a:ea typeface="FS PF BeauSans Pro"/>
                <a:cs typeface="FS PF BeauSans Pro"/>
              </a:rPr>
              <a:t>G. Mittag, B. Naderi, A. Chehadi, S. Möller. NISQA: A Deep CNN-Self-Attention Model for Multidimensional Speech Quality Prediction with Crowdsourced Datasets. Proc. Interspeech, 2021.</a:t>
            </a:r>
          </a:p>
          <a:p>
            <a:pPr marL="365760" indent="-365760">
              <a:spcAft>
                <a:spcPts val="400"/>
              </a:spcAft>
              <a:buNone/>
            </a:pPr>
            <a:r>
              <a:rPr lang="en-US" sz="950" b="1" dirty="0">
                <a:solidFill>
                  <a:srgbClr val="EE0033"/>
                </a:solidFill>
                <a:latin typeface="FS PF BeauSans Pro"/>
                <a:ea typeface="FS PF BeauSans Pro"/>
                <a:cs typeface="FS PF BeauSans Pro"/>
              </a:rPr>
              <a:t>[8]	</a:t>
            </a:r>
            <a:r>
              <a:rPr lang="en-US" sz="950" dirty="0">
                <a:solidFill>
                  <a:srgbClr val="262626"/>
                </a:solidFill>
                <a:latin typeface="FS PF BeauSans Pro"/>
                <a:ea typeface="FS PF BeauSans Pro"/>
                <a:cs typeface="FS PF BeauSans Pro"/>
              </a:rPr>
              <a:t>B. Bai, Q. Lu, et al. SynParaSpeech: Automated Synthesis of Paralinguistic Datasets for Speech Generation and Understanding. arXiv:2509.14946, 2025.</a:t>
            </a:r>
          </a:p>
          <a:p>
            <a:pPr marL="365760" indent="-365760">
              <a:spcAft>
                <a:spcPts val="400"/>
              </a:spcAft>
              <a:buNone/>
            </a:pPr>
            <a:r>
              <a:rPr lang="en-US" sz="950" b="1" dirty="0">
                <a:solidFill>
                  <a:srgbClr val="EE0033"/>
                </a:solidFill>
                <a:latin typeface="FS PF BeauSans Pro"/>
                <a:ea typeface="FS PF BeauSans Pro"/>
                <a:cs typeface="FS PF BeauSans Pro"/>
              </a:rPr>
              <a:t>[9]	</a:t>
            </a:r>
            <a:r>
              <a:rPr lang="en-US" sz="950" dirty="0">
                <a:solidFill>
                  <a:srgbClr val="262626"/>
                </a:solidFill>
                <a:latin typeface="FS PF BeauSans Pro"/>
                <a:ea typeface="FS PF BeauSans Pro"/>
                <a:cs typeface="FS PF BeauSans Pro"/>
              </a:rPr>
              <a:t>capleaf. viVoice: Enabling Vietnamese Multi-Speaker Speech Synthesis. huggingface.co/datasets/capleaf/viVoice, 2024.</a:t>
            </a:r>
          </a:p>
          <a:p>
            <a:pPr marL="365760" indent="-365760">
              <a:spcAft>
                <a:spcPts val="400"/>
              </a:spcAft>
              <a:buNone/>
            </a:pPr>
            <a:r>
              <a:rPr lang="en-US" sz="950" b="1" dirty="0">
                <a:solidFill>
                  <a:srgbClr val="EE0033"/>
                </a:solidFill>
                <a:latin typeface="FS PF BeauSans Pro"/>
                <a:ea typeface="FS PF BeauSans Pro"/>
                <a:cs typeface="FS PF BeauSans Pro"/>
              </a:rPr>
              <a:t>[10]	</a:t>
            </a:r>
            <a:r>
              <a:rPr lang="en-US" sz="950" dirty="0">
                <a:solidFill>
                  <a:srgbClr val="262626"/>
                </a:solidFill>
                <a:latin typeface="FS PF BeauSans Pro"/>
                <a:ea typeface="FS PF BeauSans Pro"/>
                <a:cs typeface="FS PF BeauSans Pro"/>
              </a:rPr>
              <a:t>Y. Gong, J. Yu, J. Glass. VocalSound: A Dataset for Improving Human Vocal Sounds Recognition. Proc. ICASSP, 2022.</a:t>
            </a:r>
          </a:p>
        </p:txBody>
      </p:sp>
      <p:sp>
        <p:nvSpPr>
          <p:cNvPr id="2" name="Slide Number Placeholder 1">
            <a:extLst>
              <a:ext uri="{FF2B5EF4-FFF2-40B4-BE49-F238E27FC236}">
                <a16:creationId xmlns:a16="http://schemas.microsoft.com/office/drawing/2014/main" id="{249CE59B-DD91-4B3A-8ACA-10EA59D7C3EE}"/>
              </a:ext>
            </a:extLst>
          </p:cNvPr>
          <p:cNvSpPr>
            <a:spLocks noGrp="1"/>
          </p:cNvSpPr>
          <p:nvPr>
            <p:ph type="sldNum" idx="12"/>
          </p:nvPr>
        </p:nvSpPr>
        <p:spPr/>
        <p:txBody>
          <a:bodyPr/>
          <a:lstStyle/>
          <a:p>
            <a:pPr marL="0" lvl="0" indent="0" algn="ctr" rtl="0">
              <a:spcBef>
                <a:spcPts val="0"/>
              </a:spcBef>
              <a:spcAft>
                <a:spcPts val="0"/>
              </a:spcAft>
              <a:buNone/>
            </a:pPr>
            <a:fld id="{00000000-1234-1234-1234-123412341234}" type="slidenum">
              <a:rPr lang="en-US" smtClean="0"/>
              <a:t>35</a:t>
            </a:fld>
            <a:endParaRPr lang="en-US" dirty="0"/>
          </a:p>
        </p:txBody>
      </p:sp>
      <p:sp>
        <p:nvSpPr>
          <p:cNvPr id="149" name="References (continued)"/>
          <p:cNvSpPr txBox="1"/>
          <p:nvPr/>
        </p:nvSpPr>
        <p:spPr>
          <a:xfrm>
            <a:off x="6172200" y="1234440"/>
            <a:ext cx="5577840" cy="5029200"/>
          </a:xfrm>
          <a:prstGeom prst="rect">
            <a:avLst/>
          </a:prstGeom>
          <a:noFill/>
          <a:ln>
            <a:noFill/>
          </a:ln>
        </p:spPr>
        <p:txBody>
          <a:bodyPr wrap="square" lIns="45720" tIns="45720" rIns="45720" bIns="45720" anchor="t">
            <a:noAutofit/>
          </a:bodyPr>
          <a:lstStyle/>
          <a:p>
            <a:pPr marL="365760" indent="-365760">
              <a:spcAft>
                <a:spcPts val="400"/>
              </a:spcAft>
              <a:buNone/>
            </a:pPr>
            <a:r>
              <a:rPr lang="en-US" sz="950" b="1" dirty="0">
                <a:solidFill>
                  <a:srgbClr val="EE0033"/>
                </a:solidFill>
                <a:latin typeface="FS PF BeauSans Pro"/>
                <a:ea typeface="FS PF BeauSans Pro"/>
                <a:cs typeface="FS PF BeauSans Pro"/>
              </a:rPr>
              <a:t>[11]	</a:t>
            </a:r>
            <a:r>
              <a:rPr lang="en-US" sz="950" dirty="0">
                <a:solidFill>
                  <a:srgbClr val="262626"/>
                </a:solidFill>
                <a:latin typeface="FS PF BeauSans Pro"/>
                <a:ea typeface="FS PF BeauSans Pro"/>
                <a:cs typeface="FS PF BeauSans Pro"/>
              </a:rPr>
              <a:t>E. Fonseca, X. Favory, J. Pons, F. Font, X. Serra. FSD50K: An Open Dataset of Human-Labeled Sound Events. IEEE/ACM TASLP 30:829–852, 2022.</a:t>
            </a:r>
          </a:p>
          <a:p>
            <a:pPr marL="365760" indent="-365760">
              <a:spcAft>
                <a:spcPts val="400"/>
              </a:spcAft>
              <a:buNone/>
            </a:pPr>
            <a:r>
              <a:rPr lang="en-US" sz="950" b="1" dirty="0">
                <a:solidFill>
                  <a:srgbClr val="EE0033"/>
                </a:solidFill>
                <a:latin typeface="FS PF BeauSans Pro"/>
                <a:ea typeface="FS PF BeauSans Pro"/>
                <a:cs typeface="FS PF BeauSans Pro"/>
              </a:rPr>
              <a:t>[12]	</a:t>
            </a:r>
            <a:r>
              <a:rPr lang="en-US" sz="950" dirty="0">
                <a:solidFill>
                  <a:srgbClr val="262626"/>
                </a:solidFill>
                <a:latin typeface="FS PF BeauSans Pro"/>
                <a:ea typeface="FS PF BeauSans Pro"/>
                <a:cs typeface="FS PF BeauSans Pro"/>
              </a:rPr>
              <a:t>Nonspeech7k dataset: Classification and analysis of human non-speech sound. IET Signal Processing; data: zenodo.org/records/6967442.</a:t>
            </a:r>
          </a:p>
          <a:p>
            <a:pPr marL="365760" indent="-365760">
              <a:spcAft>
                <a:spcPts val="400"/>
              </a:spcAft>
              <a:buNone/>
            </a:pPr>
            <a:r>
              <a:rPr lang="en-US" sz="950" b="1" dirty="0">
                <a:solidFill>
                  <a:srgbClr val="EE0033"/>
                </a:solidFill>
                <a:latin typeface="FS PF BeauSans Pro"/>
                <a:ea typeface="FS PF BeauSans Pro"/>
                <a:cs typeface="FS PF BeauSans Pro"/>
              </a:rPr>
              <a:t>[13]	</a:t>
            </a:r>
            <a:r>
              <a:rPr lang="en-US" sz="950" dirty="0">
                <a:solidFill>
                  <a:srgbClr val="262626"/>
                </a:solidFill>
                <a:latin typeface="FS PF BeauSans Pro"/>
                <a:ea typeface="FS PF BeauSans Pro"/>
                <a:cs typeface="FS PF BeauSans Pro"/>
              </a:rPr>
              <a:t>R. Ye, Y. Zhou, R. Yu, Z. Lin, K. Li, X. Li, X. Liu, G. Zeng, Z. Wu. A Scalable Pipeline for Enabling Non-Verbal Speech Generation and Understanding (NonVerbalSpeech-38K). arXiv:2508.05385, 2025.</a:t>
            </a:r>
          </a:p>
          <a:p>
            <a:pPr marL="365760" indent="-365760">
              <a:spcAft>
                <a:spcPts val="400"/>
              </a:spcAft>
              <a:buNone/>
            </a:pPr>
            <a:r>
              <a:rPr lang="en-US" sz="950" b="1" dirty="0">
                <a:solidFill>
                  <a:srgbClr val="EE0033"/>
                </a:solidFill>
                <a:latin typeface="FS PF BeauSans Pro"/>
                <a:ea typeface="FS PF BeauSans Pro"/>
                <a:cs typeface="FS PF BeauSans Pro"/>
              </a:rPr>
              <a:t>[14]	</a:t>
            </a:r>
            <a:r>
              <a:rPr lang="en-US" sz="950" dirty="0">
                <a:solidFill>
                  <a:srgbClr val="262626"/>
                </a:solidFill>
                <a:latin typeface="FS PF BeauSans Pro"/>
                <a:ea typeface="FS PF BeauSans Pro"/>
                <a:cs typeface="FS PF BeauSans Pro"/>
              </a:rPr>
              <a:t>capleaf. viXTTS (XTTS-v2 fine-tuned on viVoice). huggingface.co/capleaf/viXTTS, 2024; base model: E. Casanova et al. XTTS: a Massively Multilingual Zero-Shot Text-to-Speech Model. Proc. Interspeech, 2024.</a:t>
            </a:r>
          </a:p>
          <a:p>
            <a:pPr marL="365760" indent="-365760">
              <a:spcAft>
                <a:spcPts val="400"/>
              </a:spcAft>
              <a:buNone/>
            </a:pPr>
            <a:r>
              <a:rPr lang="en-US" sz="950" b="1" dirty="0">
                <a:solidFill>
                  <a:srgbClr val="EE0033"/>
                </a:solidFill>
                <a:latin typeface="FS PF BeauSans Pro"/>
                <a:ea typeface="FS PF BeauSans Pro"/>
                <a:cs typeface="FS PF BeauSans Pro"/>
              </a:rPr>
              <a:t>[15]	</a:t>
            </a:r>
            <a:r>
              <a:rPr lang="en-US" sz="950" dirty="0">
                <a:solidFill>
                  <a:srgbClr val="262626"/>
                </a:solidFill>
                <a:latin typeface="FS PF BeauSans Pro"/>
                <a:ea typeface="FS PF BeauSans Pro"/>
                <a:cs typeface="FS PF BeauSans Pro"/>
              </a:rPr>
              <a:t>Y. Chen et al. F5-TTS: A Fairytaler that Fakes Fluent and Faithful Speech with Flow Matching. arXiv:2410.06885, 2024.</a:t>
            </a:r>
          </a:p>
          <a:p>
            <a:pPr marL="365760" indent="-365760">
              <a:spcAft>
                <a:spcPts val="400"/>
              </a:spcAft>
              <a:buNone/>
            </a:pPr>
            <a:r>
              <a:rPr lang="en-US" sz="950" b="1" dirty="0">
                <a:solidFill>
                  <a:srgbClr val="EE0033"/>
                </a:solidFill>
                <a:latin typeface="FS PF BeauSans Pro"/>
                <a:ea typeface="FS PF BeauSans Pro"/>
                <a:cs typeface="FS PF BeauSans Pro"/>
              </a:rPr>
              <a:t>[16]	</a:t>
            </a:r>
            <a:r>
              <a:rPr lang="en-US" sz="950" dirty="0">
                <a:solidFill>
                  <a:srgbClr val="262626"/>
                </a:solidFill>
                <a:latin typeface="FS PF BeauSans Pro"/>
                <a:ea typeface="FS PF BeauSans Pro"/>
                <a:cs typeface="FS PF BeauSans Pro"/>
              </a:rPr>
              <a:t>VietVoice-TTS. [source to add]</a:t>
            </a:r>
          </a:p>
          <a:p>
            <a:pPr marL="365760" indent="-365760">
              <a:spcAft>
                <a:spcPts val="400"/>
              </a:spcAft>
              <a:buNone/>
            </a:pPr>
            <a:r>
              <a:rPr lang="en-US" sz="950" b="1" dirty="0">
                <a:solidFill>
                  <a:srgbClr val="EE0033"/>
                </a:solidFill>
                <a:latin typeface="FS PF BeauSans Pro"/>
                <a:ea typeface="FS PF BeauSans Pro"/>
                <a:cs typeface="FS PF BeauSans Pro"/>
              </a:rPr>
              <a:t>[17]	</a:t>
            </a:r>
            <a:r>
              <a:rPr lang="en-US" sz="950" dirty="0">
                <a:solidFill>
                  <a:srgbClr val="262626"/>
                </a:solidFill>
                <a:latin typeface="FS PF BeauSans Pro"/>
                <a:ea typeface="FS PF BeauSans Pro"/>
                <a:cs typeface="FS PF BeauSans Pro"/>
              </a:rPr>
              <a:t>P. N. N. Bao. VieNeu-TTS: Vietnamese on-device TTS with voice cloning. github.com/pnnbao97/VieNeu-TTS.</a:t>
            </a:r>
          </a:p>
          <a:p>
            <a:pPr marL="365760" indent="-365760">
              <a:spcAft>
                <a:spcPts val="400"/>
              </a:spcAft>
              <a:buNone/>
            </a:pPr>
            <a:r>
              <a:rPr lang="en-US" sz="950" b="1" dirty="0">
                <a:solidFill>
                  <a:srgbClr val="EE0033"/>
                </a:solidFill>
                <a:latin typeface="FS PF BeauSans Pro"/>
                <a:ea typeface="FS PF BeauSans Pro"/>
                <a:cs typeface="FS PF BeauSans Pro"/>
              </a:rPr>
              <a:t>[18]	</a:t>
            </a:r>
            <a:r>
              <a:rPr lang="en-US" sz="950" dirty="0">
                <a:solidFill>
                  <a:srgbClr val="262626"/>
                </a:solidFill>
                <a:latin typeface="FS PF BeauSans Pro"/>
                <a:ea typeface="FS PF BeauSans Pro"/>
                <a:cs typeface="FS PF BeauSans Pro"/>
              </a:rPr>
              <a:t>Fish Audio. OpenAudio S1. huggingface.co/fishaudio/openaudio-s1-mini, 2025.</a:t>
            </a:r>
          </a:p>
          <a:p>
            <a:pPr marL="365760" indent="-365760">
              <a:spcAft>
                <a:spcPts val="400"/>
              </a:spcAft>
              <a:buNone/>
            </a:pPr>
            <a:r>
              <a:rPr lang="en-US" sz="950" b="1" dirty="0">
                <a:solidFill>
                  <a:srgbClr val="EE0033"/>
                </a:solidFill>
                <a:latin typeface="FS PF BeauSans Pro"/>
                <a:ea typeface="FS PF BeauSans Pro"/>
                <a:cs typeface="FS PF BeauSans Pro"/>
              </a:rPr>
              <a:t>[19]	</a:t>
            </a:r>
            <a:r>
              <a:rPr lang="en-US" sz="950" dirty="0">
                <a:solidFill>
                  <a:srgbClr val="262626"/>
                </a:solidFill>
                <a:latin typeface="FS PF BeauSans Pro"/>
                <a:ea typeface="FS PF BeauSans Pro"/>
                <a:cs typeface="FS PF BeauSans Pro"/>
              </a:rPr>
              <a:t>Z. Yao et al. Zipformer: A Faster and Better Encoder for Automatic Speech Recognition. Proc. ICLR, 2024.</a:t>
            </a:r>
          </a:p>
          <a:p>
            <a:pPr marL="365760" indent="-365760">
              <a:spcAft>
                <a:spcPts val="400"/>
              </a:spcAft>
              <a:buNone/>
            </a:pPr>
            <a:r>
              <a:rPr lang="en-US" sz="950" b="1" dirty="0">
                <a:solidFill>
                  <a:srgbClr val="EE0033"/>
                </a:solidFill>
                <a:latin typeface="FS PF BeauSans Pro"/>
                <a:ea typeface="FS PF BeauSans Pro"/>
                <a:cs typeface="FS PF BeauSans Pro"/>
              </a:rPr>
              <a:t>[20]	</a:t>
            </a:r>
            <a:r>
              <a:rPr lang="en-US" sz="950" dirty="0">
                <a:solidFill>
                  <a:srgbClr val="262626"/>
                </a:solidFill>
                <a:latin typeface="FS PF BeauSans Pro"/>
                <a:ea typeface="FS PF BeauSans Pro"/>
                <a:cs typeface="FS PF BeauSans Pro"/>
              </a:rPr>
              <a:t>B. Desplanques, J. Thienpondt, K. Demuynck. ECAPA-TDNN: Emphasized Channel Attention, Propagation and Aggregation in TDNN Based Speaker Verification. Proc. Interspeech, 2020.</a:t>
            </a:r>
          </a:p>
        </p:txBody>
      </p:sp>
    </p:spTree>
    <p:extLst>
      <p:ext uri="{BB962C8B-B14F-4D97-AF65-F5344CB8AC3E}">
        <p14:creationId xmlns:p14="http://schemas.microsoft.com/office/powerpoint/2010/main" val="584723571"/>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p:cNvSpPr txBox="1">
            <a:spLocks noGrp="1"/>
          </p:cNvSpPr>
          <p:nvPr>
            <p:ph type="ctrTitle"/>
          </p:nvPr>
        </p:nvSpPr>
        <p:spPr>
          <a:xfrm>
            <a:off x="822960" y="466344"/>
            <a:ext cx="10543032" cy="731520"/>
          </a:xfrm>
          <a:prstGeom prst="rect">
            <a:avLst/>
          </a:prstGeom>
          <a:noFill/>
          <a:ln>
            <a:noFill/>
          </a:ln>
        </p:spPr>
        <p:txBody>
          <a:bodyPr spcFirstLastPara="1" wrap="square" lIns="91425" tIns="91425" rIns="91425" bIns="91425" anchor="t" anchorCtr="0">
            <a:noAutofit/>
          </a:bodyPr>
          <a:lstStyle/>
          <a:p>
            <a:pPr algn="ctr">
              <a:buNone/>
            </a:pPr>
            <a:r>
              <a:rPr lang="en-US" dirty="0"/>
              <a:t>Why these values: NVV clip pool</a:t>
            </a:r>
          </a:p>
        </p:txBody>
      </p:sp>
      <p:sp>
        <p:nvSpPr>
          <p:cNvPr id="3" name="Slide Number Placeholder"/>
          <p:cNvSpPr>
            <a:spLocks noGrp="1"/>
          </p:cNvSpPr>
          <p:nvPr>
            <p:ph type="sldNum" idx="12"/>
          </p:nvPr>
        </p:nvSpPr>
        <p:spPr/>
        <p:txBody>
          <a:bodyPr/>
          <a:lstStyle/>
          <a:p>
            <a:pPr marL="0" lvl="0" indent="0" algn="ctr" rtl="0">
              <a:spcBef>
                <a:spcPts val="0"/>
              </a:spcBef>
              <a:spcAft>
                <a:spcPts val="0"/>
              </a:spcAft>
              <a:buNone/>
            </a:pPr>
            <a:fld id="{00000000-1234-1234-1234-123412341234}" type="slidenum">
              <a:rPr lang="en-US" smtClean="0"/>
              <a:t>29</a:t>
            </a:fld>
            <a:endParaRPr lang="en-US" dirty="0"/>
          </a:p>
        </p:txBody>
      </p:sp>
      <p:graphicFrame>
        <p:nvGraphicFramePr>
          <p:cNvPr id="4" name="Why table"/>
          <p:cNvGraphicFramePr>
            <a:graphicFrameLocks noGrp="1"/>
          </p:cNvGraphicFramePr>
          <p:nvPr/>
        </p:nvGraphicFramePr>
        <p:xfrm>
          <a:off x="548640" y="1325880"/>
          <a:ext cx="11091672" cy="2761488"/>
        </p:xfrm>
        <a:graphic>
          <a:graphicData uri="http://schemas.openxmlformats.org/drawingml/2006/table">
            <a:tbl>
              <a:tblPr firstRow="1"/>
              <a:tblGrid>
                <a:gridCol w="1691640"/>
                <a:gridCol w="2514600"/>
                <a:gridCol w="5715000"/>
                <a:gridCol w="1170432"/>
              </a:tblGrid>
              <a:tr h="292608">
                <a:tc>
                  <a:txBody>
                    <a:bodyPr/>
                    <a:lstStyle/>
                    <a:p>
                      <a:pPr algn="l">
                        <a:lnSpc>
                          <a:spcPct val="95000"/>
                        </a:lnSpc>
                      </a:pPr>
                      <a:r>
                        <a:rPr lang="en-US" sz="1100" b="1" dirty="0">
                          <a:solidFill>
                            <a:srgbClr val="262626"/>
                          </a:solidFill>
                          <a:latin typeface="FS PF BeauSans Pro"/>
                          <a:ea typeface="FS PF BeauSans Pro"/>
                          <a:cs typeface="FS PF BeauSans Pro"/>
                        </a:rPr>
                        <a:t>Choice</a:t>
                      </a:r>
                    </a:p>
                  </a:txBody>
                  <a:tcPr marL="68580" marR="68580" marT="36576" marB="36576" anchor="ctr">
                    <a:lnL w="0">
                      <a:noFill/>
                    </a:lnL>
                    <a:lnR w="0">
                      <a:noFill/>
                    </a:lnR>
                    <a:lnT w="19050">
                      <a:solidFill>
                        <a:srgbClr val="262626"/>
                      </a:solidFill>
                    </a:lnT>
                    <a:lnB w="9525">
                      <a:solidFill>
                        <a:srgbClr val="262626"/>
                      </a:solidFill>
                    </a:lnB>
                    <a:noFill/>
                  </a:tcPr>
                </a:tc>
                <a:tc>
                  <a:txBody>
                    <a:bodyPr/>
                    <a:lstStyle/>
                    <a:p>
                      <a:pPr algn="l">
                        <a:lnSpc>
                          <a:spcPct val="95000"/>
                        </a:lnSpc>
                      </a:pPr>
                      <a:r>
                        <a:rPr lang="en-US" sz="1100" b="1" dirty="0">
                          <a:solidFill>
                            <a:srgbClr val="262626"/>
                          </a:solidFill>
                          <a:latin typeface="FS PF BeauSans Pro"/>
                          <a:ea typeface="FS PF BeauSans Pro"/>
                          <a:cs typeface="FS PF BeauSans Pro"/>
                        </a:rPr>
                        <a:t>Value</a:t>
                      </a:r>
                    </a:p>
                  </a:txBody>
                  <a:tcPr marL="68580" marR="68580" marT="36576" marB="36576" anchor="ctr">
                    <a:lnL w="0">
                      <a:noFill/>
                    </a:lnL>
                    <a:lnR w="0">
                      <a:noFill/>
                    </a:lnR>
                    <a:lnT w="19050">
                      <a:solidFill>
                        <a:srgbClr val="262626"/>
                      </a:solidFill>
                    </a:lnT>
                    <a:lnB w="9525">
                      <a:solidFill>
                        <a:srgbClr val="262626"/>
                      </a:solidFill>
                    </a:lnB>
                    <a:noFill/>
                  </a:tcPr>
                </a:tc>
                <a:tc>
                  <a:txBody>
                    <a:bodyPr/>
                    <a:lstStyle/>
                    <a:p>
                      <a:pPr algn="l">
                        <a:lnSpc>
                          <a:spcPct val="95000"/>
                        </a:lnSpc>
                      </a:pPr>
                      <a:r>
                        <a:rPr lang="en-US" sz="1100" b="1" dirty="0">
                          <a:solidFill>
                            <a:srgbClr val="262626"/>
                          </a:solidFill>
                          <a:latin typeface="FS PF BeauSans Pro"/>
                          <a:ea typeface="FS PF BeauSans Pro"/>
                          <a:cs typeface="FS PF BeauSans Pro"/>
                        </a:rPr>
                        <a:t>Why</a:t>
                      </a:r>
                    </a:p>
                  </a:txBody>
                  <a:tcPr marL="68580" marR="68580" marT="36576" marB="36576" anchor="ctr">
                    <a:lnL w="0">
                      <a:noFill/>
                    </a:lnL>
                    <a:lnR w="0">
                      <a:noFill/>
                    </a:lnR>
                    <a:lnT w="19050">
                      <a:solidFill>
                        <a:srgbClr val="262626"/>
                      </a:solidFill>
                    </a:lnT>
                    <a:lnB w="9525">
                      <a:solidFill>
                        <a:srgbClr val="262626"/>
                      </a:solidFill>
                    </a:lnB>
                    <a:noFill/>
                  </a:tcPr>
                </a:tc>
                <a:tc>
                  <a:txBody>
                    <a:bodyPr/>
                    <a:lstStyle/>
                    <a:p>
                      <a:pPr algn="l">
                        <a:lnSpc>
                          <a:spcPct val="95000"/>
                        </a:lnSpc>
                      </a:pPr>
                      <a:r>
                        <a:rPr lang="en-US" sz="1100" b="1" dirty="0">
                          <a:solidFill>
                            <a:srgbClr val="262626"/>
                          </a:solidFill>
                          <a:latin typeface="FS PF BeauSans Pro"/>
                          <a:ea typeface="FS PF BeauSans Pro"/>
                          <a:cs typeface="FS PF BeauSans Pro"/>
                        </a:rPr>
                        <a:t>Basis</a:t>
                      </a:r>
                    </a:p>
                  </a:txBody>
                  <a:tcPr marL="68580" marR="68580" marT="36576" marB="36576" anchor="ctr">
                    <a:lnL w="0">
                      <a:noFill/>
                    </a:lnL>
                    <a:lnR w="0">
                      <a:noFill/>
                    </a:lnR>
                    <a:lnT w="19050">
                      <a:solidFill>
                        <a:srgbClr val="262626"/>
                      </a:solidFill>
                    </a:lnT>
                    <a:lnB w="9525">
                      <a:solidFill>
                        <a:srgbClr val="262626"/>
                      </a:solidFill>
                    </a:lnB>
                    <a:noFill/>
                  </a:tcPr>
                </a:tc>
              </a:tr>
              <a:tr h="274320">
                <a:tc>
                  <a:txBody>
                    <a:bodyPr/>
                    <a:lstStyle/>
                    <a:p>
                      <a:pPr algn="l">
                        <a:lnSpc>
                          <a:spcPct val="95000"/>
                        </a:lnSpc>
                      </a:pPr>
                      <a:r>
                        <a:rPr lang="en-US" sz="1100" b="1" dirty="0">
                          <a:solidFill>
                            <a:srgbClr val="262626"/>
                          </a:solidFill>
                          <a:latin typeface="FS PF BeauSans Pro"/>
                          <a:ea typeface="FS PF BeauSans Pro"/>
                          <a:cs typeface="FS PF BeauSans Pro"/>
                        </a:rPr>
                        <a:t>VocalSound split</a:t>
                      </a:r>
                    </a:p>
                  </a:txBody>
                  <a:tcPr marL="68580" marR="68580" marT="36576" marB="36576" anchor="ctr">
                    <a:lnL w="0">
                      <a:noFill/>
                    </a:lnL>
                    <a:lnR w="0">
                      <a:noFill/>
                    </a:lnR>
                    <a:lnT w="9525">
                      <a:solidFill>
                        <a:srgbClr val="262626"/>
                      </a:solidFill>
                    </a:lnT>
                    <a:lnB w="6350">
                      <a:solidFill>
                        <a:srgbClr val="D9D9D9"/>
                      </a:solidFill>
                    </a:lnB>
                    <a:noFill/>
                  </a:tcPr>
                </a:tc>
                <a:tc>
                  <a:txBody>
                    <a:bodyPr/>
                    <a:lstStyle/>
                    <a:p>
                      <a:pPr algn="l">
                        <a:lnSpc>
                          <a:spcPct val="95000"/>
                        </a:lnSpc>
                      </a:pPr>
                      <a:r>
                        <a:rPr lang="en-US" sz="1100" b="1" dirty="0">
                          <a:solidFill>
                            <a:srgbClr val="EE0033"/>
                          </a:solidFill>
                          <a:latin typeface="FS PF BeauSans Pro"/>
                          <a:ea typeface="FS PF BeauSans Pro"/>
                          <a:cs typeface="FS PF BeauSans Pro"/>
                        </a:rPr>
                        <a:t>test + validation only (5,446 clips)</a:t>
                      </a:r>
                    </a:p>
                  </a:txBody>
                  <a:tcPr marL="68580" marR="68580" marT="36576" marB="36576" anchor="ctr">
                    <a:lnL w="0">
                      <a:noFill/>
                    </a:lnL>
                    <a:lnR w="0">
                      <a:noFill/>
                    </a:lnR>
                    <a:lnT w="9525">
                      <a:solidFill>
                        <a:srgbClr val="262626"/>
                      </a:solidFill>
                    </a:lnT>
                    <a:lnB w="6350">
                      <a:solidFill>
                        <a:srgbClr val="D9D9D9"/>
                      </a:solidFill>
                    </a:lnB>
                    <a:noFill/>
                  </a:tcPr>
                </a:tc>
                <a:tc>
                  <a:txBody>
                    <a:bodyPr/>
                    <a:lstStyle/>
                    <a:p>
                      <a:pPr algn="l">
                        <a:lnSpc>
                          <a:spcPct val="95000"/>
                        </a:lnSpc>
                      </a:pPr>
                      <a:r>
                        <a:rPr lang="en-US" sz="1100" dirty="0">
                          <a:solidFill>
                            <a:srgbClr val="262626"/>
                          </a:solidFill>
                          <a:latin typeface="FS PF BeauSans Pro"/>
                          <a:ea typeface="FS PF BeauSans Pro"/>
                          <a:cs typeface="FS PF BeauSans Pro"/>
                        </a:rPr>
                        <a:t>Its train split stays unseen, so a classifier trained on it can still judge our output fairly; about 907 clips per class remain, speakers disjoint</a:t>
                      </a:r>
                    </a:p>
                  </a:txBody>
                  <a:tcPr marL="68580" marR="68580" marT="36576" marB="36576" anchor="ctr">
                    <a:lnL w="0">
                      <a:noFill/>
                    </a:lnL>
                    <a:lnR w="0">
                      <a:noFill/>
                    </a:lnR>
                    <a:lnT w="9525">
                      <a:solidFill>
                        <a:srgbClr val="262626"/>
                      </a:solidFill>
                    </a:lnT>
                    <a:lnB w="6350">
                      <a:solidFill>
                        <a:srgbClr val="D9D9D9"/>
                      </a:solidFill>
                    </a:lnB>
                    <a:noFill/>
                  </a:tcPr>
                </a:tc>
                <a:tc>
                  <a:txBody>
                    <a:bodyPr/>
                    <a:lstStyle/>
                    <a:p>
                      <a:pPr algn="l">
                        <a:lnSpc>
                          <a:spcPct val="95000"/>
                        </a:lnSpc>
                      </a:pPr>
                      <a:r>
                        <a:rPr lang="en-US" sz="950" dirty="0">
                          <a:solidFill>
                            <a:srgbClr val="595959"/>
                          </a:solidFill>
                          <a:latin typeface="FS PF BeauSans Pro"/>
                          <a:ea typeface="FS PF BeauSans Pro"/>
                          <a:cs typeface="FS PF BeauSans Pro"/>
                        </a:rPr>
                        <a:t>design</a:t>
                      </a:r>
                    </a:p>
                  </a:txBody>
                  <a:tcPr marL="68580" marR="68580" marT="36576" marB="36576" anchor="ctr">
                    <a:lnL w="0">
                      <a:noFill/>
                    </a:lnL>
                    <a:lnR w="0">
                      <a:noFill/>
                    </a:lnR>
                    <a:lnT w="9525">
                      <a:solidFill>
                        <a:srgbClr val="262626"/>
                      </a:solidFill>
                    </a:lnT>
                    <a:lnB w="6350">
                      <a:solidFill>
                        <a:srgbClr val="D9D9D9"/>
                      </a:solidFill>
                    </a:lnB>
                    <a:noFill/>
                  </a:tcPr>
                </a:tc>
              </a:tr>
              <a:tr h="274320">
                <a:tc>
                  <a:txBody>
                    <a:bodyPr/>
                    <a:lstStyle/>
                    <a:p>
                      <a:pPr algn="l">
                        <a:lnSpc>
                          <a:spcPct val="95000"/>
                        </a:lnSpc>
                      </a:pPr>
                      <a:r>
                        <a:rPr lang="en-US" sz="1100" b="1" dirty="0">
                          <a:solidFill>
                            <a:srgbClr val="262626"/>
                          </a:solidFill>
                          <a:latin typeface="FS PF BeauSans Pro"/>
                          <a:ea typeface="FS PF BeauSans Pro"/>
                          <a:cs typeface="FS PF BeauSans Pro"/>
                        </a:rPr>
                        <a:t>Event detector</a:t>
                      </a:r>
                    </a:p>
                  </a:txBody>
                  <a:tcPr marL="68580" marR="68580" marT="36576" marB="36576" anchor="ctr">
                    <a:lnL w="0">
                      <a:noFill/>
                    </a:lnL>
                    <a:lnR w="0">
                      <a:noFill/>
                    </a:lnR>
                    <a:lnT w="6350">
                      <a:solidFill>
                        <a:srgbClr val="D9D9D9"/>
                      </a:solidFill>
                    </a:lnT>
                    <a:lnB w="6350">
                      <a:solidFill>
                        <a:srgbClr val="D9D9D9"/>
                      </a:solidFill>
                    </a:lnB>
                    <a:noFill/>
                  </a:tcPr>
                </a:tc>
                <a:tc>
                  <a:txBody>
                    <a:bodyPr/>
                    <a:lstStyle/>
                    <a:p>
                      <a:pPr algn="l">
                        <a:lnSpc>
                          <a:spcPct val="95000"/>
                        </a:lnSpc>
                      </a:pPr>
                      <a:r>
                        <a:rPr lang="en-US" sz="1100" b="1" dirty="0">
                          <a:solidFill>
                            <a:srgbClr val="EE0033"/>
                          </a:solidFill>
                          <a:latin typeface="FS PF BeauSans Pro"/>
                          <a:ea typeface="FS PF BeauSans Pro"/>
                          <a:cs typeface="FS PF BeauSans Pro"/>
                        </a:rPr>
                        <a:t>FlexSED</a:t>
                      </a:r>
                    </a:p>
                  </a:txBody>
                  <a:tcPr marL="68580" marR="68580" marT="36576" marB="36576" anchor="ctr">
                    <a:lnL w="0">
                      <a:noFill/>
                    </a:lnL>
                    <a:lnR w="0">
                      <a:noFill/>
                    </a:lnR>
                    <a:lnT w="6350">
                      <a:solidFill>
                        <a:srgbClr val="D9D9D9"/>
                      </a:solidFill>
                    </a:lnT>
                    <a:lnB w="6350">
                      <a:solidFill>
                        <a:srgbClr val="D9D9D9"/>
                      </a:solidFill>
                    </a:lnB>
                    <a:noFill/>
                  </a:tcPr>
                </a:tc>
                <a:tc>
                  <a:txBody>
                    <a:bodyPr/>
                    <a:lstStyle/>
                    <a:p>
                      <a:pPr algn="l">
                        <a:lnSpc>
                          <a:spcPct val="95000"/>
                        </a:lnSpc>
                      </a:pPr>
                      <a:r>
                        <a:rPr lang="en-US" sz="1100" dirty="0">
                          <a:solidFill>
                            <a:srgbClr val="262626"/>
                          </a:solidFill>
                          <a:latin typeface="FS PF BeauSans Pro"/>
                          <a:ea typeface="FS PF BeauSans Pro"/>
                          <a:cs typeface="FS PF BeauSans Pro"/>
                        </a:rPr>
                        <a:t>Open vocabulary: any class by text prompt, so one model locates and checks all 17 classes, also those outside fixed label sets; PSDS1 0.45 vs 0.40 Dasheng-SED</a:t>
                      </a:r>
                    </a:p>
                  </a:txBody>
                  <a:tcPr marL="68580" marR="68580" marT="36576" marB="36576" anchor="ctr">
                    <a:lnL w="0">
                      <a:noFill/>
                    </a:lnL>
                    <a:lnR w="0">
                      <a:noFill/>
                    </a:lnR>
                    <a:lnT w="6350">
                      <a:solidFill>
                        <a:srgbClr val="D9D9D9"/>
                      </a:solidFill>
                    </a:lnT>
                    <a:lnB w="6350">
                      <a:solidFill>
                        <a:srgbClr val="D9D9D9"/>
                      </a:solidFill>
                    </a:lnB>
                    <a:noFill/>
                  </a:tcPr>
                </a:tc>
                <a:tc>
                  <a:txBody>
                    <a:bodyPr/>
                    <a:lstStyle/>
                    <a:p>
                      <a:pPr algn="l">
                        <a:lnSpc>
                          <a:spcPct val="95000"/>
                        </a:lnSpc>
                      </a:pPr>
                      <a:r>
                        <a:rPr lang="en-US" sz="950" dirty="0">
                          <a:solidFill>
                            <a:srgbClr val="595959"/>
                          </a:solidFill>
                          <a:latin typeface="FS PF BeauSans Pro"/>
                          <a:ea typeface="FS PF BeauSans Pro"/>
                          <a:cs typeface="FS PF BeauSans Pro"/>
                        </a:rPr>
                        <a:t>Hai et al., 2025</a:t>
                      </a:r>
                    </a:p>
                  </a:txBody>
                  <a:tcPr marL="68580" marR="68580" marT="36576" marB="36576" anchor="ctr">
                    <a:lnL w="0">
                      <a:noFill/>
                    </a:lnL>
                    <a:lnR w="0">
                      <a:noFill/>
                    </a:lnR>
                    <a:lnT w="6350">
                      <a:solidFill>
                        <a:srgbClr val="D9D9D9"/>
                      </a:solidFill>
                    </a:lnT>
                    <a:lnB w="6350">
                      <a:solidFill>
                        <a:srgbClr val="D9D9D9"/>
                      </a:solidFill>
                    </a:lnB>
                    <a:noFill/>
                  </a:tcPr>
                </a:tc>
              </a:tr>
              <a:tr h="274320">
                <a:tc>
                  <a:txBody>
                    <a:bodyPr/>
                    <a:lstStyle/>
                    <a:p>
                      <a:pPr algn="l">
                        <a:lnSpc>
                          <a:spcPct val="95000"/>
                        </a:lnSpc>
                      </a:pPr>
                      <a:r>
                        <a:rPr lang="en-US" sz="1100" b="1" dirty="0">
                          <a:solidFill>
                            <a:srgbClr val="262626"/>
                          </a:solidFill>
                          <a:latin typeface="FS PF BeauSans Pro"/>
                          <a:ea typeface="FS PF BeauSans Pro"/>
                          <a:cs typeface="FS PF BeauSans Pro"/>
                        </a:rPr>
                        <a:t>Speech check</a:t>
                      </a:r>
                    </a:p>
                  </a:txBody>
                  <a:tcPr marL="68580" marR="68580" marT="36576" marB="36576" anchor="ctr">
                    <a:lnL w="0">
                      <a:noFill/>
                    </a:lnL>
                    <a:lnR w="0">
                      <a:noFill/>
                    </a:lnR>
                    <a:lnT w="6350">
                      <a:solidFill>
                        <a:srgbClr val="D9D9D9"/>
                      </a:solidFill>
                    </a:lnT>
                    <a:lnB w="6350">
                      <a:solidFill>
                        <a:srgbClr val="D9D9D9"/>
                      </a:solidFill>
                    </a:lnB>
                    <a:noFill/>
                  </a:tcPr>
                </a:tc>
                <a:tc>
                  <a:txBody>
                    <a:bodyPr/>
                    <a:lstStyle/>
                    <a:p>
                      <a:pPr algn="l">
                        <a:lnSpc>
                          <a:spcPct val="95000"/>
                        </a:lnSpc>
                      </a:pPr>
                      <a:r>
                        <a:rPr lang="en-US" sz="1100" b="1" dirty="0">
                          <a:solidFill>
                            <a:srgbClr val="EE0033"/>
                          </a:solidFill>
                          <a:latin typeface="FS PF BeauSans Pro"/>
                          <a:ea typeface="FS PF BeauSans Pro"/>
                          <a:cs typeface="FS PF BeauSans Pro"/>
                        </a:rPr>
                        <a:t>Qwen3-ASR</a:t>
                      </a:r>
                    </a:p>
                  </a:txBody>
                  <a:tcPr marL="68580" marR="68580" marT="36576" marB="36576" anchor="ctr">
                    <a:lnL w="0">
                      <a:noFill/>
                    </a:lnL>
                    <a:lnR w="0">
                      <a:noFill/>
                    </a:lnR>
                    <a:lnT w="6350">
                      <a:solidFill>
                        <a:srgbClr val="D9D9D9"/>
                      </a:solidFill>
                    </a:lnT>
                    <a:lnB w="6350">
                      <a:solidFill>
                        <a:srgbClr val="D9D9D9"/>
                      </a:solidFill>
                    </a:lnB>
                    <a:noFill/>
                  </a:tcPr>
                </a:tc>
                <a:tc>
                  <a:txBody>
                    <a:bodyPr/>
                    <a:lstStyle/>
                    <a:p>
                      <a:pPr algn="l">
                        <a:lnSpc>
                          <a:spcPct val="95000"/>
                        </a:lnSpc>
                      </a:pPr>
                      <a:r>
                        <a:rPr lang="en-US" sz="1100" dirty="0">
                          <a:solidFill>
                            <a:srgbClr val="262626"/>
                          </a:solidFill>
                          <a:latin typeface="FS PF BeauSans Pro"/>
                          <a:ea typeface="FS PF BeauSans Pro"/>
                          <a:cs typeface="FS PF BeauSans Pro"/>
                        </a:rPr>
                        <a:t>Any recognised word means speech overlaps the event; it also reads the Chinese and English source recordings</a:t>
                      </a:r>
                    </a:p>
                  </a:txBody>
                  <a:tcPr marL="68580" marR="68580" marT="36576" marB="36576" anchor="ctr">
                    <a:lnL w="0">
                      <a:noFill/>
                    </a:lnL>
                    <a:lnR w="0">
                      <a:noFill/>
                    </a:lnR>
                    <a:lnT w="6350">
                      <a:solidFill>
                        <a:srgbClr val="D9D9D9"/>
                      </a:solidFill>
                    </a:lnT>
                    <a:lnB w="6350">
                      <a:solidFill>
                        <a:srgbClr val="D9D9D9"/>
                      </a:solidFill>
                    </a:lnB>
                    <a:noFill/>
                  </a:tcPr>
                </a:tc>
                <a:tc>
                  <a:txBody>
                    <a:bodyPr/>
                    <a:lstStyle/>
                    <a:p>
                      <a:pPr algn="l">
                        <a:lnSpc>
                          <a:spcPct val="95000"/>
                        </a:lnSpc>
                      </a:pPr>
                      <a:r>
                        <a:rPr lang="en-US" sz="950" dirty="0">
                          <a:solidFill>
                            <a:srgbClr val="595959"/>
                          </a:solidFill>
                          <a:latin typeface="FS PF BeauSans Pro"/>
                          <a:ea typeface="FS PF BeauSans Pro"/>
                          <a:cs typeface="FS PF BeauSans Pro"/>
                        </a:rPr>
                        <a:t>design</a:t>
                      </a:r>
                    </a:p>
                  </a:txBody>
                  <a:tcPr marL="68580" marR="68580" marT="36576" marB="36576" anchor="ctr">
                    <a:lnL w="0">
                      <a:noFill/>
                    </a:lnL>
                    <a:lnR w="0">
                      <a:noFill/>
                    </a:lnR>
                    <a:lnT w="6350">
                      <a:solidFill>
                        <a:srgbClr val="D9D9D9"/>
                      </a:solidFill>
                    </a:lnT>
                    <a:lnB w="6350">
                      <a:solidFill>
                        <a:srgbClr val="D9D9D9"/>
                      </a:solidFill>
                    </a:lnB>
                    <a:noFill/>
                  </a:tcPr>
                </a:tc>
              </a:tr>
              <a:tr h="274320">
                <a:tc>
                  <a:txBody>
                    <a:bodyPr/>
                    <a:lstStyle/>
                    <a:p>
                      <a:pPr algn="l">
                        <a:lnSpc>
                          <a:spcPct val="95000"/>
                        </a:lnSpc>
                      </a:pPr>
                      <a:r>
                        <a:rPr lang="en-US" sz="1100" b="1" dirty="0">
                          <a:solidFill>
                            <a:srgbClr val="262626"/>
                          </a:solidFill>
                          <a:latin typeface="FS PF BeauSans Pro"/>
                          <a:ea typeface="FS PF BeauSans Pro"/>
                          <a:cs typeface="FS PF BeauSans Pro"/>
                        </a:rPr>
                        <a:t>Class score</a:t>
                      </a:r>
                    </a:p>
                  </a:txBody>
                  <a:tcPr marL="68580" marR="68580" marT="36576" marB="36576" anchor="ctr">
                    <a:lnL w="0">
                      <a:noFill/>
                    </a:lnL>
                    <a:lnR w="0">
                      <a:noFill/>
                    </a:lnR>
                    <a:lnT w="6350">
                      <a:solidFill>
                        <a:srgbClr val="D9D9D9"/>
                      </a:solidFill>
                    </a:lnT>
                    <a:lnB w="6350">
                      <a:solidFill>
                        <a:srgbClr val="D9D9D9"/>
                      </a:solidFill>
                    </a:lnB>
                    <a:noFill/>
                  </a:tcPr>
                </a:tc>
                <a:tc>
                  <a:txBody>
                    <a:bodyPr/>
                    <a:lstStyle/>
                    <a:p>
                      <a:pPr algn="l">
                        <a:lnSpc>
                          <a:spcPct val="95000"/>
                        </a:lnSpc>
                      </a:pPr>
                      <a:r>
                        <a:rPr lang="en-US" sz="1100" b="1" dirty="0">
                          <a:solidFill>
                            <a:srgbClr val="EE0033"/>
                          </a:solidFill>
                          <a:latin typeface="FS PF BeauSans Pro"/>
                          <a:ea typeface="FS PF BeauSans Pro"/>
                          <a:cs typeface="FS PF BeauSans Pro"/>
                        </a:rPr>
                        <a:t>FlexSED ≥ 0.5</a:t>
                      </a:r>
                    </a:p>
                  </a:txBody>
                  <a:tcPr marL="68580" marR="68580" marT="36576" marB="36576" anchor="ctr">
                    <a:lnL w="0">
                      <a:noFill/>
                    </a:lnL>
                    <a:lnR w="0">
                      <a:noFill/>
                    </a:lnR>
                    <a:lnT w="6350">
                      <a:solidFill>
                        <a:srgbClr val="D9D9D9"/>
                      </a:solidFill>
                    </a:lnT>
                    <a:lnB w="6350">
                      <a:solidFill>
                        <a:srgbClr val="D9D9D9"/>
                      </a:solidFill>
                    </a:lnB>
                    <a:noFill/>
                  </a:tcPr>
                </a:tc>
                <a:tc>
                  <a:txBody>
                    <a:bodyPr/>
                    <a:lstStyle/>
                    <a:p>
                      <a:pPr algn="l">
                        <a:lnSpc>
                          <a:spcPct val="95000"/>
                        </a:lnSpc>
                      </a:pPr>
                      <a:r>
                        <a:rPr lang="en-US" sz="1100" dirty="0">
                          <a:solidFill>
                            <a:srgbClr val="262626"/>
                          </a:solidFill>
                          <a:latin typeface="FS PF BeauSans Pro"/>
                          <a:ea typeface="FS PF BeauSans Pro"/>
                          <a:cs typeface="FS PF BeauSans Pro"/>
                        </a:rPr>
                        <a:t>The posterior is a probability: ≥ 0.5 means the class is more likely present than not; the same value both locates and confirms an event</a:t>
                      </a:r>
                    </a:p>
                  </a:txBody>
                  <a:tcPr marL="68580" marR="68580" marT="36576" marB="36576" anchor="ctr">
                    <a:lnL w="0">
                      <a:noFill/>
                    </a:lnL>
                    <a:lnR w="0">
                      <a:noFill/>
                    </a:lnR>
                    <a:lnT w="6350">
                      <a:solidFill>
                        <a:srgbClr val="D9D9D9"/>
                      </a:solidFill>
                    </a:lnT>
                    <a:lnB w="6350">
                      <a:solidFill>
                        <a:srgbClr val="D9D9D9"/>
                      </a:solidFill>
                    </a:lnB>
                    <a:noFill/>
                  </a:tcPr>
                </a:tc>
                <a:tc>
                  <a:txBody>
                    <a:bodyPr/>
                    <a:lstStyle/>
                    <a:p>
                      <a:pPr algn="l">
                        <a:lnSpc>
                          <a:spcPct val="95000"/>
                        </a:lnSpc>
                      </a:pPr>
                      <a:r>
                        <a:rPr lang="en-US" sz="950" dirty="0">
                          <a:solidFill>
                            <a:srgbClr val="595959"/>
                          </a:solidFill>
                          <a:latin typeface="FS PF BeauSans Pro"/>
                          <a:ea typeface="FS PF BeauSans Pro"/>
                          <a:cs typeface="FS PF BeauSans Pro"/>
                        </a:rPr>
                        <a:t>design</a:t>
                      </a:r>
                    </a:p>
                  </a:txBody>
                  <a:tcPr marL="68580" marR="68580" marT="36576" marB="36576" anchor="ctr">
                    <a:lnL w="0">
                      <a:noFill/>
                    </a:lnL>
                    <a:lnR w="0">
                      <a:noFill/>
                    </a:lnR>
                    <a:lnT w="6350">
                      <a:solidFill>
                        <a:srgbClr val="D9D9D9"/>
                      </a:solidFill>
                    </a:lnT>
                    <a:lnB w="6350">
                      <a:solidFill>
                        <a:srgbClr val="D9D9D9"/>
                      </a:solidFill>
                    </a:lnB>
                    <a:noFill/>
                  </a:tcPr>
                </a:tc>
              </a:tr>
              <a:tr h="274320">
                <a:tc>
                  <a:txBody>
                    <a:bodyPr/>
                    <a:lstStyle/>
                    <a:p>
                      <a:pPr algn="l">
                        <a:lnSpc>
                          <a:spcPct val="95000"/>
                        </a:lnSpc>
                      </a:pPr>
                      <a:r>
                        <a:rPr lang="en-US" sz="1100" b="1" dirty="0">
                          <a:solidFill>
                            <a:srgbClr val="262626"/>
                          </a:solidFill>
                          <a:latin typeface="FS PF BeauSans Pro"/>
                          <a:ea typeface="FS PF BeauSans Pro"/>
                          <a:cs typeface="FS PF BeauSans Pro"/>
                        </a:rPr>
                        <a:t>Event merging</a:t>
                      </a:r>
                    </a:p>
                  </a:txBody>
                  <a:tcPr marL="68580" marR="68580" marT="36576" marB="36576" anchor="ctr">
                    <a:lnL w="0">
                      <a:noFill/>
                    </a:lnL>
                    <a:lnR w="0">
                      <a:noFill/>
                    </a:lnR>
                    <a:lnT w="6350">
                      <a:solidFill>
                        <a:srgbClr val="D9D9D9"/>
                      </a:solidFill>
                    </a:lnT>
                    <a:lnB w="6350">
                      <a:solidFill>
                        <a:srgbClr val="D9D9D9"/>
                      </a:solidFill>
                    </a:lnB>
                    <a:noFill/>
                  </a:tcPr>
                </a:tc>
                <a:tc>
                  <a:txBody>
                    <a:bodyPr/>
                    <a:lstStyle/>
                    <a:p>
                      <a:pPr algn="l">
                        <a:lnSpc>
                          <a:spcPct val="95000"/>
                        </a:lnSpc>
                      </a:pPr>
                      <a:r>
                        <a:rPr lang="en-US" sz="1100" b="1" dirty="0">
                          <a:solidFill>
                            <a:srgbClr val="EE0033"/>
                          </a:solidFill>
                          <a:latin typeface="FS PF BeauSans Pro"/>
                          <a:ea typeface="FS PF BeauSans Pro"/>
                          <a:cs typeface="FS PF BeauSans Pro"/>
                        </a:rPr>
                        <a:t>gaps ≤ 0.3 s bridged</a:t>
                      </a:r>
                    </a:p>
                  </a:txBody>
                  <a:tcPr marL="68580" marR="68580" marT="36576" marB="36576" anchor="ctr">
                    <a:lnL w="0">
                      <a:noFill/>
                    </a:lnL>
                    <a:lnR w="0">
                      <a:noFill/>
                    </a:lnR>
                    <a:lnT w="6350">
                      <a:solidFill>
                        <a:srgbClr val="D9D9D9"/>
                      </a:solidFill>
                    </a:lnT>
                    <a:lnB w="6350">
                      <a:solidFill>
                        <a:srgbClr val="D9D9D9"/>
                      </a:solidFill>
                    </a:lnB>
                    <a:noFill/>
                  </a:tcPr>
                </a:tc>
                <a:tc>
                  <a:txBody>
                    <a:bodyPr/>
                    <a:lstStyle/>
                    <a:p>
                      <a:pPr algn="l">
                        <a:lnSpc>
                          <a:spcPct val="95000"/>
                        </a:lnSpc>
                      </a:pPr>
                      <a:r>
                        <a:rPr lang="en-US" sz="1100" dirty="0">
                          <a:solidFill>
                            <a:srgbClr val="262626"/>
                          </a:solidFill>
                          <a:latin typeface="FS PF BeauSans Pro"/>
                          <a:ea typeface="FS PF BeauSans Pro"/>
                          <a:cs typeface="FS PF BeauSans Pro"/>
                        </a:rPr>
                        <a:t>A laugh, sob or pant has short internal breaks; bridging keeps it one event instead of several fragments</a:t>
                      </a:r>
                    </a:p>
                  </a:txBody>
                  <a:tcPr marL="68580" marR="68580" marT="36576" marB="36576" anchor="ctr">
                    <a:lnL w="0">
                      <a:noFill/>
                    </a:lnL>
                    <a:lnR w="0">
                      <a:noFill/>
                    </a:lnR>
                    <a:lnT w="6350">
                      <a:solidFill>
                        <a:srgbClr val="D9D9D9"/>
                      </a:solidFill>
                    </a:lnT>
                    <a:lnB w="6350">
                      <a:solidFill>
                        <a:srgbClr val="D9D9D9"/>
                      </a:solidFill>
                    </a:lnB>
                    <a:noFill/>
                  </a:tcPr>
                </a:tc>
                <a:tc>
                  <a:txBody>
                    <a:bodyPr/>
                    <a:lstStyle/>
                    <a:p>
                      <a:pPr algn="l">
                        <a:lnSpc>
                          <a:spcPct val="95000"/>
                        </a:lnSpc>
                      </a:pPr>
                      <a:r>
                        <a:rPr lang="en-US" sz="950" dirty="0">
                          <a:solidFill>
                            <a:srgbClr val="595959"/>
                          </a:solidFill>
                          <a:latin typeface="FS PF BeauSans Pro"/>
                          <a:ea typeface="FS PF BeauSans Pro"/>
                          <a:cs typeface="FS PF BeauSans Pro"/>
                        </a:rPr>
                        <a:t>design</a:t>
                      </a:r>
                    </a:p>
                  </a:txBody>
                  <a:tcPr marL="68580" marR="68580" marT="36576" marB="36576" anchor="ctr">
                    <a:lnL w="0">
                      <a:noFill/>
                    </a:lnL>
                    <a:lnR w="0">
                      <a:noFill/>
                    </a:lnR>
                    <a:lnT w="6350">
                      <a:solidFill>
                        <a:srgbClr val="D9D9D9"/>
                      </a:solidFill>
                    </a:lnT>
                    <a:lnB w="6350">
                      <a:solidFill>
                        <a:srgbClr val="D9D9D9"/>
                      </a:solidFill>
                    </a:lnB>
                    <a:noFill/>
                  </a:tcPr>
                </a:tc>
              </a:tr>
              <a:tr h="274320">
                <a:tc>
                  <a:txBody>
                    <a:bodyPr/>
                    <a:lstStyle/>
                    <a:p>
                      <a:pPr algn="l">
                        <a:lnSpc>
                          <a:spcPct val="95000"/>
                        </a:lnSpc>
                      </a:pPr>
                      <a:r>
                        <a:rPr lang="en-US" sz="1100" b="1" dirty="0">
                          <a:solidFill>
                            <a:srgbClr val="262626"/>
                          </a:solidFill>
                          <a:latin typeface="FS PF BeauSans Pro"/>
                          <a:ea typeface="FS PF BeauSans Pro"/>
                          <a:cs typeface="FS PF BeauSans Pro"/>
                        </a:rPr>
                        <a:t>NVS-38K tag check</a:t>
                      </a:r>
                    </a:p>
                  </a:txBody>
                  <a:tcPr marL="68580" marR="68580" marT="36576" marB="36576" anchor="ctr">
                    <a:lnL w="0">
                      <a:noFill/>
                    </a:lnL>
                    <a:lnR w="0">
                      <a:noFill/>
                    </a:lnR>
                    <a:lnT w="6350">
                      <a:solidFill>
                        <a:srgbClr val="D9D9D9"/>
                      </a:solidFill>
                    </a:lnT>
                    <a:lnB w="6350">
                      <a:solidFill>
                        <a:srgbClr val="D9D9D9"/>
                      </a:solidFill>
                    </a:lnB>
                    <a:noFill/>
                  </a:tcPr>
                </a:tc>
                <a:tc>
                  <a:txBody>
                    <a:bodyPr/>
                    <a:lstStyle/>
                    <a:p>
                      <a:pPr algn="l">
                        <a:lnSpc>
                          <a:spcPct val="95000"/>
                        </a:lnSpc>
                      </a:pPr>
                      <a:r>
                        <a:rPr lang="en-US" sz="1100" b="1" dirty="0">
                          <a:solidFill>
                            <a:srgbClr val="EE0033"/>
                          </a:solidFill>
                          <a:latin typeface="FS PF BeauSans Pro"/>
                          <a:ea typeface="FS PF BeauSans Pro"/>
                          <a:cs typeface="FS PF BeauSans Pro"/>
                        </a:rPr>
                        <a:t>tag within 1 s of the region</a:t>
                      </a:r>
                    </a:p>
                  </a:txBody>
                  <a:tcPr marL="68580" marR="68580" marT="36576" marB="36576" anchor="ctr">
                    <a:lnL w="0">
                      <a:noFill/>
                    </a:lnL>
                    <a:lnR w="0">
                      <a:noFill/>
                    </a:lnR>
                    <a:lnT w="6350">
                      <a:solidFill>
                        <a:srgbClr val="D9D9D9"/>
                      </a:solidFill>
                    </a:lnT>
                    <a:lnB w="6350">
                      <a:solidFill>
                        <a:srgbClr val="D9D9D9"/>
                      </a:solidFill>
                    </a:lnB>
                    <a:noFill/>
                  </a:tcPr>
                </a:tc>
                <a:tc>
                  <a:txBody>
                    <a:bodyPr/>
                    <a:lstStyle/>
                    <a:p>
                      <a:pPr algn="l">
                        <a:lnSpc>
                          <a:spcPct val="95000"/>
                        </a:lnSpc>
                      </a:pPr>
                      <a:r>
                        <a:rPr lang="en-US" sz="1100" dirty="0">
                          <a:solidFill>
                            <a:srgbClr val="262626"/>
                          </a:solidFill>
                          <a:latin typeface="FS PF BeauSans Pro"/>
                          <a:ea typeface="FS PF BeauSans Pro"/>
                          <a:cs typeface="FS PF BeauSans Pro"/>
                        </a:rPr>
                        <a:t>The aligner stretches the neighbouring words over the sound, so the tag only confirms which detected region the caption means; that region is cut</a:t>
                      </a:r>
                    </a:p>
                  </a:txBody>
                  <a:tcPr marL="68580" marR="68580" marT="36576" marB="36576" anchor="ctr">
                    <a:lnL w="0">
                      <a:noFill/>
                    </a:lnL>
                    <a:lnR w="0">
                      <a:noFill/>
                    </a:lnR>
                    <a:lnT w="6350">
                      <a:solidFill>
                        <a:srgbClr val="D9D9D9"/>
                      </a:solidFill>
                    </a:lnT>
                    <a:lnB w="6350">
                      <a:solidFill>
                        <a:srgbClr val="D9D9D9"/>
                      </a:solidFill>
                    </a:lnB>
                    <a:noFill/>
                  </a:tcPr>
                </a:tc>
                <a:tc>
                  <a:txBody>
                    <a:bodyPr/>
                    <a:lstStyle/>
                    <a:p>
                      <a:pPr algn="l">
                        <a:lnSpc>
                          <a:spcPct val="95000"/>
                        </a:lnSpc>
                      </a:pPr>
                      <a:r>
                        <a:rPr lang="en-US" sz="950" dirty="0">
                          <a:solidFill>
                            <a:srgbClr val="595959"/>
                          </a:solidFill>
                          <a:latin typeface="FS PF BeauSans Pro"/>
                          <a:ea typeface="FS PF BeauSans Pro"/>
                          <a:cs typeface="FS PF BeauSans Pro"/>
                        </a:rPr>
                        <a:t>design</a:t>
                      </a:r>
                    </a:p>
                  </a:txBody>
                  <a:tcPr marL="68580" marR="68580" marT="36576" marB="36576" anchor="ctr">
                    <a:lnL w="0">
                      <a:noFill/>
                    </a:lnL>
                    <a:lnR w="0">
                      <a:noFill/>
                    </a:lnR>
                    <a:lnT w="6350">
                      <a:solidFill>
                        <a:srgbClr val="D9D9D9"/>
                      </a:solidFill>
                    </a:lnT>
                    <a:lnB w="6350">
                      <a:solidFill>
                        <a:srgbClr val="D9D9D9"/>
                      </a:solidFill>
                    </a:lnB>
                    <a:noFill/>
                  </a:tcPr>
                </a:tc>
              </a:tr>
              <a:tr h="274320">
                <a:tc>
                  <a:txBody>
                    <a:bodyPr/>
                    <a:lstStyle/>
                    <a:p>
                      <a:pPr algn="l">
                        <a:lnSpc>
                          <a:spcPct val="95000"/>
                        </a:lnSpc>
                      </a:pPr>
                      <a:r>
                        <a:rPr lang="en-US" sz="1100" b="1" dirty="0">
                          <a:solidFill>
                            <a:srgbClr val="262626"/>
                          </a:solidFill>
                          <a:latin typeface="FS PF BeauSans Pro"/>
                          <a:ea typeface="FS PF BeauSans Pro"/>
                          <a:cs typeface="FS PF BeauSans Pro"/>
                        </a:rPr>
                        <a:t>Edges</a:t>
                      </a:r>
                    </a:p>
                  </a:txBody>
                  <a:tcPr marL="68580" marR="68580" marT="36576" marB="36576" anchor="ctr">
                    <a:lnL w="0">
                      <a:noFill/>
                    </a:lnL>
                    <a:lnR w="0">
                      <a:noFill/>
                    </a:lnR>
                    <a:lnT w="6350">
                      <a:solidFill>
                        <a:srgbClr val="D9D9D9"/>
                      </a:solidFill>
                    </a:lnT>
                    <a:lnB w="6350">
                      <a:solidFill>
                        <a:srgbClr val="D9D9D9"/>
                      </a:solidFill>
                    </a:lnB>
                    <a:noFill/>
                  </a:tcPr>
                </a:tc>
                <a:tc>
                  <a:txBody>
                    <a:bodyPr/>
                    <a:lstStyle/>
                    <a:p>
                      <a:pPr algn="l">
                        <a:lnSpc>
                          <a:spcPct val="95000"/>
                        </a:lnSpc>
                      </a:pPr>
                      <a:r>
                        <a:rPr lang="en-US" sz="1100" b="1" dirty="0">
                          <a:solidFill>
                            <a:srgbClr val="EE0033"/>
                          </a:solidFill>
                          <a:latin typeface="FS PF BeauSans Pro"/>
                          <a:ea typeface="FS PF BeauSans Pro"/>
                          <a:cs typeface="FS PF BeauSans Pro"/>
                        </a:rPr>
                        <a:t>±0.2 s search, 75 ms pad, 10 ms fade</a:t>
                      </a:r>
                    </a:p>
                  </a:txBody>
                  <a:tcPr marL="68580" marR="68580" marT="36576" marB="36576" anchor="ctr">
                    <a:lnL w="0">
                      <a:noFill/>
                    </a:lnL>
                    <a:lnR w="0">
                      <a:noFill/>
                    </a:lnR>
                    <a:lnT w="6350">
                      <a:solidFill>
                        <a:srgbClr val="D9D9D9"/>
                      </a:solidFill>
                    </a:lnT>
                    <a:lnB w="6350">
                      <a:solidFill>
                        <a:srgbClr val="D9D9D9"/>
                      </a:solidFill>
                    </a:lnB>
                    <a:noFill/>
                  </a:tcPr>
                </a:tc>
                <a:tc>
                  <a:txBody>
                    <a:bodyPr/>
                    <a:lstStyle/>
                    <a:p>
                      <a:pPr algn="l">
                        <a:lnSpc>
                          <a:spcPct val="95000"/>
                        </a:lnSpc>
                      </a:pPr>
                      <a:r>
                        <a:rPr lang="en-US" sz="1100" dirty="0">
                          <a:solidFill>
                            <a:srgbClr val="262626"/>
                          </a:solidFill>
                          <a:latin typeface="FS PF BeauSans Pro"/>
                          <a:ea typeface="FS PF BeauSans Pro"/>
                          <a:cs typeface="FS PF BeauSans Pro"/>
                        </a:rPr>
                        <a:t>Detector edges are coarse, so frame energy tightens them; the pad keeps the soft onset and tail; the fade removes the click at the cut</a:t>
                      </a:r>
                    </a:p>
                  </a:txBody>
                  <a:tcPr marL="68580" marR="68580" marT="36576" marB="36576" anchor="ctr">
                    <a:lnL w="0">
                      <a:noFill/>
                    </a:lnL>
                    <a:lnR w="0">
                      <a:noFill/>
                    </a:lnR>
                    <a:lnT w="6350">
                      <a:solidFill>
                        <a:srgbClr val="D9D9D9"/>
                      </a:solidFill>
                    </a:lnT>
                    <a:lnB w="6350">
                      <a:solidFill>
                        <a:srgbClr val="D9D9D9"/>
                      </a:solidFill>
                    </a:lnB>
                    <a:noFill/>
                  </a:tcPr>
                </a:tc>
                <a:tc>
                  <a:txBody>
                    <a:bodyPr/>
                    <a:lstStyle/>
                    <a:p>
                      <a:pPr algn="l">
                        <a:lnSpc>
                          <a:spcPct val="95000"/>
                        </a:lnSpc>
                      </a:pPr>
                      <a:r>
                        <a:rPr lang="en-US" sz="950" dirty="0">
                          <a:solidFill>
                            <a:srgbClr val="595959"/>
                          </a:solidFill>
                          <a:latin typeface="FS PF BeauSans Pro"/>
                          <a:ea typeface="FS PF BeauSans Pro"/>
                          <a:cs typeface="FS PF BeauSans Pro"/>
                        </a:rPr>
                        <a:t>design</a:t>
                      </a:r>
                    </a:p>
                  </a:txBody>
                  <a:tcPr marL="68580" marR="68580" marT="36576" marB="36576" anchor="ctr">
                    <a:lnL w="0">
                      <a:noFill/>
                    </a:lnL>
                    <a:lnR w="0">
                      <a:noFill/>
                    </a:lnR>
                    <a:lnT w="6350">
                      <a:solidFill>
                        <a:srgbClr val="D9D9D9"/>
                      </a:solidFill>
                    </a:lnT>
                    <a:lnB w="6350">
                      <a:solidFill>
                        <a:srgbClr val="D9D9D9"/>
                      </a:solidFill>
                    </a:lnB>
                    <a:noFill/>
                  </a:tcPr>
                </a:tc>
              </a:tr>
              <a:tr h="274320">
                <a:tc>
                  <a:txBody>
                    <a:bodyPr/>
                    <a:lstStyle/>
                    <a:p>
                      <a:pPr algn="l">
                        <a:lnSpc>
                          <a:spcPct val="95000"/>
                        </a:lnSpc>
                      </a:pPr>
                      <a:r>
                        <a:rPr lang="en-US" sz="1100" b="1" dirty="0">
                          <a:solidFill>
                            <a:srgbClr val="262626"/>
                          </a:solidFill>
                          <a:latin typeface="FS PF BeauSans Pro"/>
                          <a:ea typeface="FS PF BeauSans Pro"/>
                          <a:cs typeface="FS PF BeauSans Pro"/>
                        </a:rPr>
                        <a:t>Length</a:t>
                      </a:r>
                    </a:p>
                  </a:txBody>
                  <a:tcPr marL="68580" marR="68580" marT="36576" marB="36576" anchor="ctr">
                    <a:lnL w="0">
                      <a:noFill/>
                    </a:lnL>
                    <a:lnR w="0">
                      <a:noFill/>
                    </a:lnR>
                    <a:lnT w="6350">
                      <a:solidFill>
                        <a:srgbClr val="D9D9D9"/>
                      </a:solidFill>
                    </a:lnT>
                    <a:lnB w="6350">
                      <a:solidFill>
                        <a:srgbClr val="D9D9D9"/>
                      </a:solidFill>
                    </a:lnB>
                    <a:noFill/>
                  </a:tcPr>
                </a:tc>
                <a:tc>
                  <a:txBody>
                    <a:bodyPr/>
                    <a:lstStyle/>
                    <a:p>
                      <a:pPr algn="l">
                        <a:lnSpc>
                          <a:spcPct val="95000"/>
                        </a:lnSpc>
                      </a:pPr>
                      <a:r>
                        <a:rPr lang="en-US" sz="1100" b="1" dirty="0">
                          <a:solidFill>
                            <a:srgbClr val="EE0033"/>
                          </a:solidFill>
                          <a:latin typeface="FS PF BeauSans Pro"/>
                          <a:ea typeface="FS PF BeauSans Pro"/>
                          <a:cs typeface="FS PF BeauSans Pro"/>
                        </a:rPr>
                        <a:t>per class, e.g. breathing 0.2–2.5 s, yawn 0.8–4.0 s</a:t>
                      </a:r>
                    </a:p>
                  </a:txBody>
                  <a:tcPr marL="68580" marR="68580" marT="36576" marB="36576" anchor="ctr">
                    <a:lnL w="0">
                      <a:noFill/>
                    </a:lnL>
                    <a:lnR w="0">
                      <a:noFill/>
                    </a:lnR>
                    <a:lnT w="6350">
                      <a:solidFill>
                        <a:srgbClr val="D9D9D9"/>
                      </a:solidFill>
                    </a:lnT>
                    <a:lnB w="6350">
                      <a:solidFill>
                        <a:srgbClr val="D9D9D9"/>
                      </a:solidFill>
                    </a:lnB>
                    <a:noFill/>
                  </a:tcPr>
                </a:tc>
                <a:tc>
                  <a:txBody>
                    <a:bodyPr/>
                    <a:lstStyle/>
                    <a:p>
                      <a:pPr algn="l">
                        <a:lnSpc>
                          <a:spcPct val="95000"/>
                        </a:lnSpc>
                      </a:pPr>
                      <a:r>
                        <a:rPr lang="en-US" sz="1100" dirty="0">
                          <a:solidFill>
                            <a:srgbClr val="262626"/>
                          </a:solidFill>
                          <a:latin typeface="FS PF BeauSans Pro"/>
                          <a:ea typeface="FS PF BeauSans Pro"/>
                          <a:cs typeface="FS PF BeauSans Pro"/>
                        </a:rPr>
                        <a:t>Rejects detector fragments (too short) and merged runs of several events (too long)</a:t>
                      </a:r>
                    </a:p>
                  </a:txBody>
                  <a:tcPr marL="68580" marR="68580" marT="36576" marB="36576" anchor="ctr">
                    <a:lnL w="0">
                      <a:noFill/>
                    </a:lnL>
                    <a:lnR w="0">
                      <a:noFill/>
                    </a:lnR>
                    <a:lnT w="6350">
                      <a:solidFill>
                        <a:srgbClr val="D9D9D9"/>
                      </a:solidFill>
                    </a:lnT>
                    <a:lnB w="6350">
                      <a:solidFill>
                        <a:srgbClr val="D9D9D9"/>
                      </a:solidFill>
                    </a:lnB>
                    <a:noFill/>
                  </a:tcPr>
                </a:tc>
                <a:tc>
                  <a:txBody>
                    <a:bodyPr/>
                    <a:lstStyle/>
                    <a:p>
                      <a:pPr algn="l">
                        <a:lnSpc>
                          <a:spcPct val="95000"/>
                        </a:lnSpc>
                      </a:pPr>
                      <a:r>
                        <a:rPr lang="en-US" sz="950" dirty="0">
                          <a:solidFill>
                            <a:srgbClr val="595959"/>
                          </a:solidFill>
                          <a:latin typeface="FS PF BeauSans Pro"/>
                          <a:ea typeface="FS PF BeauSans Pro"/>
                          <a:cs typeface="FS PF BeauSans Pro"/>
                        </a:rPr>
                        <a:t>design</a:t>
                      </a:r>
                    </a:p>
                  </a:txBody>
                  <a:tcPr marL="68580" marR="68580" marT="36576" marB="36576" anchor="ctr">
                    <a:lnL w="0">
                      <a:noFill/>
                    </a:lnL>
                    <a:lnR w="0">
                      <a:noFill/>
                    </a:lnR>
                    <a:lnT w="6350">
                      <a:solidFill>
                        <a:srgbClr val="D9D9D9"/>
                      </a:solidFill>
                    </a:lnT>
                    <a:lnB w="6350">
                      <a:solidFill>
                        <a:srgbClr val="D9D9D9"/>
                      </a:solidFill>
                    </a:lnB>
                    <a:noFill/>
                  </a:tcPr>
                </a:tc>
              </a:tr>
              <a:tr h="274320">
                <a:tc>
                  <a:txBody>
                    <a:bodyPr/>
                    <a:lstStyle/>
                    <a:p>
                      <a:pPr algn="l">
                        <a:lnSpc>
                          <a:spcPct val="95000"/>
                        </a:lnSpc>
                      </a:pPr>
                      <a:r>
                        <a:rPr lang="en-US" sz="1100" b="1" dirty="0">
                          <a:solidFill>
                            <a:srgbClr val="262626"/>
                          </a:solidFill>
                          <a:latin typeface="FS PF BeauSans Pro"/>
                          <a:ea typeface="FS PF BeauSans Pro"/>
                          <a:cs typeface="FS PF BeauSans Pro"/>
                        </a:rPr>
                        <a:t>Level</a:t>
                      </a:r>
                    </a:p>
                  </a:txBody>
                  <a:tcPr marL="68580" marR="68580" marT="36576" marB="36576" anchor="ctr">
                    <a:lnL w="0">
                      <a:noFill/>
                    </a:lnL>
                    <a:lnR w="0">
                      <a:noFill/>
                    </a:lnR>
                    <a:lnT w="6350">
                      <a:solidFill>
                        <a:srgbClr val="D9D9D9"/>
                      </a:solidFill>
                    </a:lnT>
                    <a:lnB w="19050">
                      <a:solidFill>
                        <a:srgbClr val="262626"/>
                      </a:solidFill>
                    </a:lnB>
                    <a:noFill/>
                  </a:tcPr>
                </a:tc>
                <a:tc>
                  <a:txBody>
                    <a:bodyPr/>
                    <a:lstStyle/>
                    <a:p>
                      <a:pPr algn="l">
                        <a:lnSpc>
                          <a:spcPct val="95000"/>
                        </a:lnSpc>
                      </a:pPr>
                      <a:r>
                        <a:rPr lang="en-US" sz="1100" b="1" dirty="0">
                          <a:solidFill>
                            <a:srgbClr val="EE0033"/>
                          </a:solidFill>
                          <a:latin typeface="FS PF BeauSans Pro"/>
                          <a:ea typeface="FS PF BeauSans Pro"/>
                          <a:cs typeface="FS PF BeauSans Pro"/>
                        </a:rPr>
                        <a:t>SNR ≥ 6 dB, ≤ 0.1% clipped</a:t>
                      </a:r>
                    </a:p>
                  </a:txBody>
                  <a:tcPr marL="68580" marR="68580" marT="36576" marB="36576" anchor="ctr">
                    <a:lnL w="0">
                      <a:noFill/>
                    </a:lnL>
                    <a:lnR w="0">
                      <a:noFill/>
                    </a:lnR>
                    <a:lnT w="6350">
                      <a:solidFill>
                        <a:srgbClr val="D9D9D9"/>
                      </a:solidFill>
                    </a:lnT>
                    <a:lnB w="19050">
                      <a:solidFill>
                        <a:srgbClr val="262626"/>
                      </a:solidFill>
                    </a:lnB>
                    <a:noFill/>
                  </a:tcPr>
                </a:tc>
                <a:tc>
                  <a:txBody>
                    <a:bodyPr/>
                    <a:lstStyle/>
                    <a:p>
                      <a:pPr algn="l">
                        <a:lnSpc>
                          <a:spcPct val="95000"/>
                        </a:lnSpc>
                      </a:pPr>
                      <a:r>
                        <a:rPr lang="en-US" sz="1100" dirty="0">
                          <a:solidFill>
                            <a:srgbClr val="262626"/>
                          </a:solidFill>
                          <a:latin typeface="FS PF BeauSans Pro"/>
                          <a:ea typeface="FS PF BeauSans Pro"/>
                          <a:cs typeface="FS PF BeauSans Pro"/>
                        </a:rPr>
                        <a:t>6 dB = event power at least 4× the noise floor; Seed-VC reproduces source noise and clipping faithfully, so neither can be fixed later</a:t>
                      </a:r>
                    </a:p>
                  </a:txBody>
                  <a:tcPr marL="68580" marR="68580" marT="36576" marB="36576" anchor="ctr">
                    <a:lnL w="0">
                      <a:noFill/>
                    </a:lnL>
                    <a:lnR w="0">
                      <a:noFill/>
                    </a:lnR>
                    <a:lnT w="6350">
                      <a:solidFill>
                        <a:srgbClr val="D9D9D9"/>
                      </a:solidFill>
                    </a:lnT>
                    <a:lnB w="19050">
                      <a:solidFill>
                        <a:srgbClr val="262626"/>
                      </a:solidFill>
                    </a:lnB>
                    <a:noFill/>
                  </a:tcPr>
                </a:tc>
                <a:tc>
                  <a:txBody>
                    <a:bodyPr/>
                    <a:lstStyle/>
                    <a:p>
                      <a:pPr algn="l">
                        <a:lnSpc>
                          <a:spcPct val="95000"/>
                        </a:lnSpc>
                      </a:pPr>
                      <a:r>
                        <a:rPr lang="en-US" sz="950" dirty="0">
                          <a:solidFill>
                            <a:srgbClr val="595959"/>
                          </a:solidFill>
                          <a:latin typeface="FS PF BeauSans Pro"/>
                          <a:ea typeface="FS PF BeauSans Pro"/>
                          <a:cs typeface="FS PF BeauSans Pro"/>
                        </a:rPr>
                        <a:t>design</a:t>
                      </a:r>
                    </a:p>
                  </a:txBody>
                  <a:tcPr marL="68580" marR="68580" marT="36576" marB="36576" anchor="ctr">
                    <a:lnL w="0">
                      <a:noFill/>
                    </a:lnL>
                    <a:lnR w="0">
                      <a:noFill/>
                    </a:lnR>
                    <a:lnT w="6350">
                      <a:solidFill>
                        <a:srgbClr val="D9D9D9"/>
                      </a:solidFill>
                    </a:lnT>
                    <a:lnB w="19050">
                      <a:solidFill>
                        <a:srgbClr val="262626"/>
                      </a:solidFill>
                    </a:lnB>
                    <a:noFill/>
                  </a:tcPr>
                </a:tc>
              </a:tr>
            </a:tbl>
          </a:graphicData>
        </a:graphic>
      </p:graphicFrame>
      <p:sp>
        <p:nvSpPr>
          <p:cNvPr id="5" name="Footnote citations"/>
          <p:cNvSpPr txBox="1"/>
          <p:nvPr/>
        </p:nvSpPr>
        <p:spPr>
          <a:xfrm>
            <a:off x="411480" y="5852160"/>
            <a:ext cx="8778240" cy="960120"/>
          </a:xfrm>
          <a:prstGeom prst="rect">
            <a:avLst/>
          </a:prstGeom>
          <a:noFill/>
          <a:ln>
            <a:noFill/>
          </a:ln>
        </p:spPr>
        <p:txBody>
          <a:bodyPr wrap="square" lIns="45720" tIns="45720" rIns="45720" bIns="45720" anchor="b">
            <a:noAutofit/>
          </a:bodyPr>
          <a:lstStyle/>
          <a:p>
            <a:pPr>
              <a:buNone/>
            </a:pPr>
            <a:r>
              <a:rPr lang="en-US" sz="900" b="1" dirty="0">
                <a:solidFill>
                  <a:srgbClr val="595959"/>
                </a:solidFill>
                <a:latin typeface="FS PF BeauSans Pro"/>
                <a:ea typeface="FS PF BeauSans Pro"/>
                <a:cs typeface="FS PF BeauSans Pro"/>
              </a:rPr>
              <a:t>FlexSED: </a:t>
            </a:r>
            <a:r>
              <a:rPr lang="en-US" sz="900" dirty="0">
                <a:solidFill>
                  <a:srgbClr val="595959"/>
                </a:solidFill>
                <a:latin typeface="FS PF BeauSans Pro"/>
                <a:ea typeface="FS PF BeauSans Pro"/>
                <a:cs typeface="FS PF BeauSans Pro"/>
              </a:rPr>
              <a:t>Hai et al., arXiv:2509.18606, 2025</a:t>
            </a:r>
          </a:p>
          <a:p>
            <a:pPr>
              <a:buNone/>
            </a:pPr>
            <a:r>
              <a:rPr lang="en-US" sz="900" b="1" dirty="0">
                <a:solidFill>
                  <a:srgbClr val="595959"/>
                </a:solidFill>
                <a:latin typeface="FS PF BeauSans Pro"/>
                <a:ea typeface="FS PF BeauSans Pro"/>
                <a:cs typeface="FS PF BeauSans Pro"/>
              </a:rPr>
              <a:t>Qwen3-ASR / Qwen3-ForcedAligner: </a:t>
            </a:r>
            <a:r>
              <a:rPr lang="en-US" sz="900" dirty="0">
                <a:solidFill>
                  <a:srgbClr val="595959"/>
                </a:solidFill>
                <a:latin typeface="FS PF BeauSans Pro"/>
                <a:ea typeface="FS PF BeauSans Pro"/>
                <a:cs typeface="FS PF BeauSans Pro"/>
              </a:rPr>
              <a:t>Qwen Team, arXiv:2601.21337, 2026</a:t>
            </a:r>
          </a:p>
          <a:p>
            <a:pPr>
              <a:buNone/>
            </a:pPr>
            <a:r>
              <a:rPr lang="en-US" sz="900" dirty="0">
                <a:solidFill>
                  <a:srgbClr val="595959"/>
                </a:solidFill>
                <a:latin typeface="FS PF BeauSans Pro"/>
                <a:ea typeface="FS PF BeauSans Pro"/>
                <a:cs typeface="FS PF BeauSans Pro"/>
              </a:rPr>
              <a:t>Basis: design = follows from how the pipeline works</a:t>
            </a:r>
          </a:p>
        </p:txBody>
      </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p:cNvSpPr txBox="1">
            <a:spLocks noGrp="1"/>
          </p:cNvSpPr>
          <p:nvPr>
            <p:ph type="ctrTitle"/>
          </p:nvPr>
        </p:nvSpPr>
        <p:spPr>
          <a:xfrm>
            <a:off x="822960" y="466344"/>
            <a:ext cx="10543032" cy="731520"/>
          </a:xfrm>
          <a:prstGeom prst="rect">
            <a:avLst/>
          </a:prstGeom>
          <a:noFill/>
          <a:ln>
            <a:noFill/>
          </a:ln>
        </p:spPr>
        <p:txBody>
          <a:bodyPr spcFirstLastPara="1" wrap="square" lIns="91425" tIns="91425" rIns="91425" bIns="91425" anchor="t" anchorCtr="0">
            <a:noAutofit/>
          </a:bodyPr>
          <a:lstStyle/>
          <a:p>
            <a:pPr algn="ctr">
              <a:buNone/>
            </a:pPr>
            <a:r>
              <a:rPr lang="en-US" dirty="0"/>
              <a:t>Why these values: Pause detection</a:t>
            </a:r>
          </a:p>
        </p:txBody>
      </p:sp>
      <p:sp>
        <p:nvSpPr>
          <p:cNvPr id="3" name="Slide Number Placeholder"/>
          <p:cNvSpPr>
            <a:spLocks noGrp="1"/>
          </p:cNvSpPr>
          <p:nvPr>
            <p:ph type="sldNum" idx="12"/>
          </p:nvPr>
        </p:nvSpPr>
        <p:spPr/>
        <p:txBody>
          <a:bodyPr/>
          <a:lstStyle/>
          <a:p>
            <a:pPr marL="0" lvl="0" indent="0" algn="ctr" rtl="0">
              <a:spcBef>
                <a:spcPts val="0"/>
              </a:spcBef>
              <a:spcAft>
                <a:spcPts val="0"/>
              </a:spcAft>
              <a:buNone/>
            </a:pPr>
            <a:fld id="{00000000-1234-1234-1234-123412341234}" type="slidenum">
              <a:rPr lang="en-US" smtClean="0"/>
              <a:t>31</a:t>
            </a:fld>
            <a:endParaRPr lang="en-US" dirty="0"/>
          </a:p>
        </p:txBody>
      </p:sp>
      <p:graphicFrame>
        <p:nvGraphicFramePr>
          <p:cNvPr id="4" name="Why table"/>
          <p:cNvGraphicFramePr>
            <a:graphicFrameLocks noGrp="1"/>
          </p:cNvGraphicFramePr>
          <p:nvPr/>
        </p:nvGraphicFramePr>
        <p:xfrm>
          <a:off x="548640" y="1325880"/>
          <a:ext cx="11091672" cy="2761488"/>
        </p:xfrm>
        <a:graphic>
          <a:graphicData uri="http://schemas.openxmlformats.org/drawingml/2006/table">
            <a:tbl>
              <a:tblPr firstRow="1"/>
              <a:tblGrid>
                <a:gridCol w="1691640"/>
                <a:gridCol w="2514600"/>
                <a:gridCol w="5715000"/>
                <a:gridCol w="1170432"/>
              </a:tblGrid>
              <a:tr h="292608">
                <a:tc>
                  <a:txBody>
                    <a:bodyPr/>
                    <a:lstStyle/>
                    <a:p>
                      <a:pPr algn="l">
                        <a:lnSpc>
                          <a:spcPct val="95000"/>
                        </a:lnSpc>
                      </a:pPr>
                      <a:r>
                        <a:rPr lang="en-US" sz="1100" b="1" dirty="0">
                          <a:solidFill>
                            <a:srgbClr val="262626"/>
                          </a:solidFill>
                          <a:latin typeface="FS PF BeauSans Pro"/>
                          <a:ea typeface="FS PF BeauSans Pro"/>
                          <a:cs typeface="FS PF BeauSans Pro"/>
                        </a:rPr>
                        <a:t>Choice</a:t>
                      </a:r>
                    </a:p>
                  </a:txBody>
                  <a:tcPr marL="68580" marR="68580" marT="36576" marB="36576" anchor="ctr">
                    <a:lnL w="0">
                      <a:noFill/>
                    </a:lnL>
                    <a:lnR w="0">
                      <a:noFill/>
                    </a:lnR>
                    <a:lnT w="19050">
                      <a:solidFill>
                        <a:srgbClr val="262626"/>
                      </a:solidFill>
                    </a:lnT>
                    <a:lnB w="9525">
                      <a:solidFill>
                        <a:srgbClr val="262626"/>
                      </a:solidFill>
                    </a:lnB>
                    <a:noFill/>
                  </a:tcPr>
                </a:tc>
                <a:tc>
                  <a:txBody>
                    <a:bodyPr/>
                    <a:lstStyle/>
                    <a:p>
                      <a:pPr algn="l">
                        <a:lnSpc>
                          <a:spcPct val="95000"/>
                        </a:lnSpc>
                      </a:pPr>
                      <a:r>
                        <a:rPr lang="en-US" sz="1100" b="1" dirty="0">
                          <a:solidFill>
                            <a:srgbClr val="262626"/>
                          </a:solidFill>
                          <a:latin typeface="FS PF BeauSans Pro"/>
                          <a:ea typeface="FS PF BeauSans Pro"/>
                          <a:cs typeface="FS PF BeauSans Pro"/>
                        </a:rPr>
                        <a:t>Value</a:t>
                      </a:r>
                    </a:p>
                  </a:txBody>
                  <a:tcPr marL="68580" marR="68580" marT="36576" marB="36576" anchor="ctr">
                    <a:lnL w="0">
                      <a:noFill/>
                    </a:lnL>
                    <a:lnR w="0">
                      <a:noFill/>
                    </a:lnR>
                    <a:lnT w="19050">
                      <a:solidFill>
                        <a:srgbClr val="262626"/>
                      </a:solidFill>
                    </a:lnT>
                    <a:lnB w="9525">
                      <a:solidFill>
                        <a:srgbClr val="262626"/>
                      </a:solidFill>
                    </a:lnB>
                    <a:noFill/>
                  </a:tcPr>
                </a:tc>
                <a:tc>
                  <a:txBody>
                    <a:bodyPr/>
                    <a:lstStyle/>
                    <a:p>
                      <a:pPr algn="l">
                        <a:lnSpc>
                          <a:spcPct val="95000"/>
                        </a:lnSpc>
                      </a:pPr>
                      <a:r>
                        <a:rPr lang="en-US" sz="1100" b="1" dirty="0">
                          <a:solidFill>
                            <a:srgbClr val="262626"/>
                          </a:solidFill>
                          <a:latin typeface="FS PF BeauSans Pro"/>
                          <a:ea typeface="FS PF BeauSans Pro"/>
                          <a:cs typeface="FS PF BeauSans Pro"/>
                        </a:rPr>
                        <a:t>Why</a:t>
                      </a:r>
                    </a:p>
                  </a:txBody>
                  <a:tcPr marL="68580" marR="68580" marT="36576" marB="36576" anchor="ctr">
                    <a:lnL w="0">
                      <a:noFill/>
                    </a:lnL>
                    <a:lnR w="0">
                      <a:noFill/>
                    </a:lnR>
                    <a:lnT w="19050">
                      <a:solidFill>
                        <a:srgbClr val="262626"/>
                      </a:solidFill>
                    </a:lnT>
                    <a:lnB w="9525">
                      <a:solidFill>
                        <a:srgbClr val="262626"/>
                      </a:solidFill>
                    </a:lnB>
                    <a:noFill/>
                  </a:tcPr>
                </a:tc>
                <a:tc>
                  <a:txBody>
                    <a:bodyPr/>
                    <a:lstStyle/>
                    <a:p>
                      <a:pPr algn="l">
                        <a:lnSpc>
                          <a:spcPct val="95000"/>
                        </a:lnSpc>
                      </a:pPr>
                      <a:r>
                        <a:rPr lang="en-US" sz="1100" b="1" dirty="0">
                          <a:solidFill>
                            <a:srgbClr val="262626"/>
                          </a:solidFill>
                          <a:latin typeface="FS PF BeauSans Pro"/>
                          <a:ea typeface="FS PF BeauSans Pro"/>
                          <a:cs typeface="FS PF BeauSans Pro"/>
                        </a:rPr>
                        <a:t>Basis</a:t>
                      </a:r>
                    </a:p>
                  </a:txBody>
                  <a:tcPr marL="68580" marR="68580" marT="36576" marB="36576" anchor="ctr">
                    <a:lnL w="0">
                      <a:noFill/>
                    </a:lnL>
                    <a:lnR w="0">
                      <a:noFill/>
                    </a:lnR>
                    <a:lnT w="19050">
                      <a:solidFill>
                        <a:srgbClr val="262626"/>
                      </a:solidFill>
                    </a:lnT>
                    <a:lnB w="9525">
                      <a:solidFill>
                        <a:srgbClr val="262626"/>
                      </a:solidFill>
                    </a:lnB>
                    <a:noFill/>
                  </a:tcPr>
                </a:tc>
              </a:tr>
              <a:tr h="274320">
                <a:tc>
                  <a:txBody>
                    <a:bodyPr/>
                    <a:lstStyle/>
                    <a:p>
                      <a:pPr algn="l">
                        <a:lnSpc>
                          <a:spcPct val="95000"/>
                        </a:lnSpc>
                      </a:pPr>
                      <a:r>
                        <a:rPr lang="en-US" sz="1100" b="1" dirty="0">
                          <a:solidFill>
                            <a:srgbClr val="262626"/>
                          </a:solidFill>
                          <a:latin typeface="FS PF BeauSans Pro"/>
                          <a:ea typeface="FS PF BeauSans Pro"/>
                          <a:cs typeface="FS PF BeauSans Pro"/>
                        </a:rPr>
                        <a:t>Order</a:t>
                      </a:r>
                    </a:p>
                  </a:txBody>
                  <a:tcPr marL="68580" marR="68580" marT="36576" marB="36576" anchor="ctr">
                    <a:lnL w="0">
                      <a:noFill/>
                    </a:lnL>
                    <a:lnR w="0">
                      <a:noFill/>
                    </a:lnR>
                    <a:lnT w="9525">
                      <a:solidFill>
                        <a:srgbClr val="262626"/>
                      </a:solidFill>
                    </a:lnT>
                    <a:lnB w="6350">
                      <a:solidFill>
                        <a:srgbClr val="D9D9D9"/>
                      </a:solidFill>
                    </a:lnB>
                    <a:noFill/>
                  </a:tcPr>
                </a:tc>
                <a:tc>
                  <a:txBody>
                    <a:bodyPr/>
                    <a:lstStyle/>
                    <a:p>
                      <a:pPr algn="l">
                        <a:lnSpc>
                          <a:spcPct val="95000"/>
                        </a:lnSpc>
                      </a:pPr>
                      <a:r>
                        <a:rPr lang="en-US" sz="1100" b="1" dirty="0">
                          <a:solidFill>
                            <a:srgbClr val="EE0033"/>
                          </a:solidFill>
                          <a:latin typeface="FS PF BeauSans Pro"/>
                          <a:ea typeface="FS PF BeauSans Pro"/>
                          <a:cs typeface="FS PF BeauSans Pro"/>
                        </a:rPr>
                        <a:t>find pauses, then pick one</a:t>
                      </a:r>
                    </a:p>
                  </a:txBody>
                  <a:tcPr marL="68580" marR="68580" marT="36576" marB="36576" anchor="ctr">
                    <a:lnL w="0">
                      <a:noFill/>
                    </a:lnL>
                    <a:lnR w="0">
                      <a:noFill/>
                    </a:lnR>
                    <a:lnT w="9525">
                      <a:solidFill>
                        <a:srgbClr val="262626"/>
                      </a:solidFill>
                    </a:lnT>
                    <a:lnB w="6350">
                      <a:solidFill>
                        <a:srgbClr val="D9D9D9"/>
                      </a:solidFill>
                    </a:lnB>
                    <a:noFill/>
                  </a:tcPr>
                </a:tc>
                <a:tc>
                  <a:txBody>
                    <a:bodyPr/>
                    <a:lstStyle/>
                    <a:p>
                      <a:pPr algn="l">
                        <a:lnSpc>
                          <a:spcPct val="95000"/>
                        </a:lnSpc>
                      </a:pPr>
                      <a:r>
                        <a:rPr lang="en-US" sz="1100" dirty="0">
                          <a:solidFill>
                            <a:srgbClr val="262626"/>
                          </a:solidFill>
                          <a:latin typeface="FS PF BeauSans Pro"/>
                          <a:ea typeface="FS PF BeauSans Pro"/>
                          <a:cs typeface="FS PF BeauSans Pro"/>
                        </a:rPr>
                        <a:t>A tag placed from text lands on continuous voicing (boundary activity median 0.85); the nearest real pause was a median 2.02 s away</a:t>
                      </a:r>
                    </a:p>
                  </a:txBody>
                  <a:tcPr marL="68580" marR="68580" marT="36576" marB="36576" anchor="ctr">
                    <a:lnL w="0">
                      <a:noFill/>
                    </a:lnL>
                    <a:lnR w="0">
                      <a:noFill/>
                    </a:lnR>
                    <a:lnT w="9525">
                      <a:solidFill>
                        <a:srgbClr val="262626"/>
                      </a:solidFill>
                    </a:lnT>
                    <a:lnB w="6350">
                      <a:solidFill>
                        <a:srgbClr val="D9D9D9"/>
                      </a:solidFill>
                    </a:lnB>
                    <a:noFill/>
                  </a:tcPr>
                </a:tc>
                <a:tc>
                  <a:txBody>
                    <a:bodyPr/>
                    <a:lstStyle/>
                    <a:p>
                      <a:pPr algn="l">
                        <a:lnSpc>
                          <a:spcPct val="95000"/>
                        </a:lnSpc>
                      </a:pPr>
                      <a:r>
                        <a:rPr lang="en-US" sz="950" dirty="0">
                          <a:solidFill>
                            <a:srgbClr val="595959"/>
                          </a:solidFill>
                          <a:latin typeface="FS PF BeauSans Pro"/>
                          <a:ea typeface="FS PF BeauSans Pro"/>
                          <a:cs typeface="FS PF BeauSans Pro"/>
                        </a:rPr>
                        <a:t>pilot</a:t>
                      </a:r>
                    </a:p>
                  </a:txBody>
                  <a:tcPr marL="68580" marR="68580" marT="36576" marB="36576" anchor="ctr">
                    <a:lnL w="0">
                      <a:noFill/>
                    </a:lnL>
                    <a:lnR w="0">
                      <a:noFill/>
                    </a:lnR>
                    <a:lnT w="9525">
                      <a:solidFill>
                        <a:srgbClr val="262626"/>
                      </a:solidFill>
                    </a:lnT>
                    <a:lnB w="6350">
                      <a:solidFill>
                        <a:srgbClr val="D9D9D9"/>
                      </a:solidFill>
                    </a:lnB>
                    <a:noFill/>
                  </a:tcPr>
                </a:tc>
              </a:tr>
              <a:tr h="274320">
                <a:tc>
                  <a:txBody>
                    <a:bodyPr/>
                    <a:lstStyle/>
                    <a:p>
                      <a:pPr algn="l">
                        <a:lnSpc>
                          <a:spcPct val="95000"/>
                        </a:lnSpc>
                      </a:pPr>
                      <a:r>
                        <a:rPr lang="en-US" sz="1100" b="1" dirty="0">
                          <a:solidFill>
                            <a:srgbClr val="262626"/>
                          </a:solidFill>
                          <a:latin typeface="FS PF BeauSans Pro"/>
                          <a:ea typeface="FS PF BeauSans Pro"/>
                          <a:cs typeface="FS PF BeauSans Pro"/>
                        </a:rPr>
                        <a:t>Moving the cut later</a:t>
                      </a:r>
                    </a:p>
                  </a:txBody>
                  <a:tcPr marL="68580" marR="68580" marT="36576" marB="36576" anchor="ctr">
                    <a:lnL w="0">
                      <a:noFill/>
                    </a:lnL>
                    <a:lnR w="0">
                      <a:noFill/>
                    </a:lnR>
                    <a:lnT w="6350">
                      <a:solidFill>
                        <a:srgbClr val="D9D9D9"/>
                      </a:solidFill>
                    </a:lnT>
                    <a:lnB w="6350">
                      <a:solidFill>
                        <a:srgbClr val="D9D9D9"/>
                      </a:solidFill>
                    </a:lnB>
                    <a:noFill/>
                  </a:tcPr>
                </a:tc>
                <a:tc>
                  <a:txBody>
                    <a:bodyPr/>
                    <a:lstStyle/>
                    <a:p>
                      <a:pPr algn="l">
                        <a:lnSpc>
                          <a:spcPct val="95000"/>
                        </a:lnSpc>
                      </a:pPr>
                      <a:r>
                        <a:rPr lang="en-US" sz="1100" b="1" dirty="0">
                          <a:solidFill>
                            <a:srgbClr val="EE0033"/>
                          </a:solidFill>
                          <a:latin typeface="FS PF BeauSans Pro"/>
                          <a:ea typeface="FS PF BeauSans Pro"/>
                          <a:cs typeface="FS PF BeauSans Pro"/>
                        </a:rPr>
                        <a:t>rejected</a:t>
                      </a:r>
                    </a:p>
                  </a:txBody>
                  <a:tcPr marL="68580" marR="68580" marT="36576" marB="36576" anchor="ctr">
                    <a:lnL w="0">
                      <a:noFill/>
                    </a:lnL>
                    <a:lnR w="0">
                      <a:noFill/>
                    </a:lnR>
                    <a:lnT w="6350">
                      <a:solidFill>
                        <a:srgbClr val="D9D9D9"/>
                      </a:solidFill>
                    </a:lnT>
                    <a:lnB w="6350">
                      <a:solidFill>
                        <a:srgbClr val="D9D9D9"/>
                      </a:solidFill>
                    </a:lnB>
                    <a:noFill/>
                  </a:tcPr>
                </a:tc>
                <a:tc>
                  <a:txBody>
                    <a:bodyPr/>
                    <a:lstStyle/>
                    <a:p>
                      <a:pPr algn="l">
                        <a:lnSpc>
                          <a:spcPct val="95000"/>
                        </a:lnSpc>
                      </a:pPr>
                      <a:r>
                        <a:rPr lang="en-US" sz="1100" dirty="0">
                          <a:solidFill>
                            <a:srgbClr val="262626"/>
                          </a:solidFill>
                          <a:latin typeface="FS PF BeauSans Pro"/>
                          <a:ea typeface="FS PF BeauSans Pro"/>
                          <a:cs typeface="FS PF BeauSans Pro"/>
                        </a:rPr>
                        <a:t>Within 0.5 s it reached a pause for 1 of 17 utterances, within 2.0 s for 7 of 17, by which point the event no longer sits between the words the transcript says</a:t>
                      </a:r>
                    </a:p>
                  </a:txBody>
                  <a:tcPr marL="68580" marR="68580" marT="36576" marB="36576" anchor="ctr">
                    <a:lnL w="0">
                      <a:noFill/>
                    </a:lnL>
                    <a:lnR w="0">
                      <a:noFill/>
                    </a:lnR>
                    <a:lnT w="6350">
                      <a:solidFill>
                        <a:srgbClr val="D9D9D9"/>
                      </a:solidFill>
                    </a:lnT>
                    <a:lnB w="6350">
                      <a:solidFill>
                        <a:srgbClr val="D9D9D9"/>
                      </a:solidFill>
                    </a:lnB>
                    <a:noFill/>
                  </a:tcPr>
                </a:tc>
                <a:tc>
                  <a:txBody>
                    <a:bodyPr/>
                    <a:lstStyle/>
                    <a:p>
                      <a:pPr algn="l">
                        <a:lnSpc>
                          <a:spcPct val="95000"/>
                        </a:lnSpc>
                      </a:pPr>
                      <a:r>
                        <a:rPr lang="en-US" sz="950" dirty="0">
                          <a:solidFill>
                            <a:srgbClr val="595959"/>
                          </a:solidFill>
                          <a:latin typeface="FS PF BeauSans Pro"/>
                          <a:ea typeface="FS PF BeauSans Pro"/>
                          <a:cs typeface="FS PF BeauSans Pro"/>
                        </a:rPr>
                        <a:t>pilot</a:t>
                      </a:r>
                    </a:p>
                  </a:txBody>
                  <a:tcPr marL="68580" marR="68580" marT="36576" marB="36576" anchor="ctr">
                    <a:lnL w="0">
                      <a:noFill/>
                    </a:lnL>
                    <a:lnR w="0">
                      <a:noFill/>
                    </a:lnR>
                    <a:lnT w="6350">
                      <a:solidFill>
                        <a:srgbClr val="D9D9D9"/>
                      </a:solidFill>
                    </a:lnT>
                    <a:lnB w="6350">
                      <a:solidFill>
                        <a:srgbClr val="D9D9D9"/>
                      </a:solidFill>
                    </a:lnB>
                    <a:noFill/>
                  </a:tcPr>
                </a:tc>
              </a:tr>
              <a:tr h="274320">
                <a:tc>
                  <a:txBody>
                    <a:bodyPr/>
                    <a:lstStyle/>
                    <a:p>
                      <a:pPr algn="l">
                        <a:lnSpc>
                          <a:spcPct val="95000"/>
                        </a:lnSpc>
                      </a:pPr>
                      <a:r>
                        <a:rPr lang="en-US" sz="1100" b="1" dirty="0">
                          <a:solidFill>
                            <a:srgbClr val="262626"/>
                          </a:solidFill>
                          <a:latin typeface="FS PF BeauSans Pro"/>
                          <a:ea typeface="FS PF BeauSans Pro"/>
                          <a:cs typeface="FS PF BeauSans Pro"/>
                        </a:rPr>
                        <a:t>Voice activity</a:t>
                      </a:r>
                    </a:p>
                  </a:txBody>
                  <a:tcPr marL="68580" marR="68580" marT="36576" marB="36576" anchor="ctr">
                    <a:lnL w="0">
                      <a:noFill/>
                    </a:lnL>
                    <a:lnR w="0">
                      <a:noFill/>
                    </a:lnR>
                    <a:lnT w="6350">
                      <a:solidFill>
                        <a:srgbClr val="D9D9D9"/>
                      </a:solidFill>
                    </a:lnT>
                    <a:lnB w="6350">
                      <a:solidFill>
                        <a:srgbClr val="D9D9D9"/>
                      </a:solidFill>
                    </a:lnB>
                    <a:noFill/>
                  </a:tcPr>
                </a:tc>
                <a:tc>
                  <a:txBody>
                    <a:bodyPr/>
                    <a:lstStyle/>
                    <a:p>
                      <a:pPr algn="l">
                        <a:lnSpc>
                          <a:spcPct val="95000"/>
                        </a:lnSpc>
                      </a:pPr>
                      <a:r>
                        <a:rPr lang="en-US" sz="1100" b="1" dirty="0">
                          <a:solidFill>
                            <a:srgbClr val="EE0033"/>
                          </a:solidFill>
                          <a:latin typeface="FS PF BeauSans Pro"/>
                          <a:ea typeface="FS PF BeauSans Pro"/>
                          <a:cs typeface="FS PF BeauSans Pro"/>
                        </a:rPr>
                        <a:t>Silero VAD</a:t>
                      </a:r>
                    </a:p>
                  </a:txBody>
                  <a:tcPr marL="68580" marR="68580" marT="36576" marB="36576" anchor="ctr">
                    <a:lnL w="0">
                      <a:noFill/>
                    </a:lnL>
                    <a:lnR w="0">
                      <a:noFill/>
                    </a:lnR>
                    <a:lnT w="6350">
                      <a:solidFill>
                        <a:srgbClr val="D9D9D9"/>
                      </a:solidFill>
                    </a:lnT>
                    <a:lnB w="6350">
                      <a:solidFill>
                        <a:srgbClr val="D9D9D9"/>
                      </a:solidFill>
                    </a:lnB>
                    <a:noFill/>
                  </a:tcPr>
                </a:tc>
                <a:tc>
                  <a:txBody>
                    <a:bodyPr/>
                    <a:lstStyle/>
                    <a:p>
                      <a:pPr algn="l">
                        <a:lnSpc>
                          <a:spcPct val="95000"/>
                        </a:lnSpc>
                      </a:pPr>
                      <a:r>
                        <a:rPr lang="en-US" sz="1100" dirty="0">
                          <a:solidFill>
                            <a:srgbClr val="262626"/>
                          </a:solidFill>
                          <a:latin typeface="FS PF BeauSans Pro"/>
                          <a:ea typeface="FS PF BeauSans Pro"/>
                          <a:cs typeface="FS PF BeauSans Pro"/>
                        </a:rPr>
                        <a:t>A breath in a pause is not silent, but it is not speech: an energy threshold calls it speech and smears speech about one 128 ms frame into the pause</a:t>
                      </a:r>
                    </a:p>
                  </a:txBody>
                  <a:tcPr marL="68580" marR="68580" marT="36576" marB="36576" anchor="ctr">
                    <a:lnL w="0">
                      <a:noFill/>
                    </a:lnL>
                    <a:lnR w="0">
                      <a:noFill/>
                    </a:lnR>
                    <a:lnT w="6350">
                      <a:solidFill>
                        <a:srgbClr val="D9D9D9"/>
                      </a:solidFill>
                    </a:lnT>
                    <a:lnB w="6350">
                      <a:solidFill>
                        <a:srgbClr val="D9D9D9"/>
                      </a:solidFill>
                    </a:lnB>
                    <a:noFill/>
                  </a:tcPr>
                </a:tc>
                <a:tc>
                  <a:txBody>
                    <a:bodyPr/>
                    <a:lstStyle/>
                    <a:p>
                      <a:pPr algn="l">
                        <a:lnSpc>
                          <a:spcPct val="95000"/>
                        </a:lnSpc>
                      </a:pPr>
                      <a:r>
                        <a:rPr lang="en-US" sz="950" dirty="0">
                          <a:solidFill>
                            <a:srgbClr val="595959"/>
                          </a:solidFill>
                          <a:latin typeface="FS PF BeauSans Pro"/>
                          <a:ea typeface="FS PF BeauSans Pro"/>
                          <a:cs typeface="FS PF BeauSans Pro"/>
                        </a:rPr>
                        <a:t>design</a:t>
                      </a:r>
                    </a:p>
                  </a:txBody>
                  <a:tcPr marL="68580" marR="68580" marT="36576" marB="36576" anchor="ctr">
                    <a:lnL w="0">
                      <a:noFill/>
                    </a:lnL>
                    <a:lnR w="0">
                      <a:noFill/>
                    </a:lnR>
                    <a:lnT w="6350">
                      <a:solidFill>
                        <a:srgbClr val="D9D9D9"/>
                      </a:solidFill>
                    </a:lnT>
                    <a:lnB w="6350">
                      <a:solidFill>
                        <a:srgbClr val="D9D9D9"/>
                      </a:solidFill>
                    </a:lnB>
                    <a:noFill/>
                  </a:tcPr>
                </a:tc>
              </a:tr>
              <a:tr h="274320">
                <a:tc>
                  <a:txBody>
                    <a:bodyPr/>
                    <a:lstStyle/>
                    <a:p>
                      <a:pPr algn="l">
                        <a:lnSpc>
                          <a:spcPct val="95000"/>
                        </a:lnSpc>
                      </a:pPr>
                      <a:r>
                        <a:rPr lang="en-US" sz="1100" b="1" dirty="0">
                          <a:solidFill>
                            <a:srgbClr val="262626"/>
                          </a:solidFill>
                          <a:latin typeface="FS PF BeauSans Pro"/>
                          <a:ea typeface="FS PF BeauSans Pro"/>
                          <a:cs typeface="FS PF BeauSans Pro"/>
                        </a:rPr>
                        <a:t>Merge</a:t>
                      </a:r>
                    </a:p>
                  </a:txBody>
                  <a:tcPr marL="68580" marR="68580" marT="36576" marB="36576" anchor="ctr">
                    <a:lnL w="0">
                      <a:noFill/>
                    </a:lnL>
                    <a:lnR w="0">
                      <a:noFill/>
                    </a:lnR>
                    <a:lnT w="6350">
                      <a:solidFill>
                        <a:srgbClr val="D9D9D9"/>
                      </a:solidFill>
                    </a:lnT>
                    <a:lnB w="6350">
                      <a:solidFill>
                        <a:srgbClr val="D9D9D9"/>
                      </a:solidFill>
                    </a:lnB>
                    <a:noFill/>
                  </a:tcPr>
                </a:tc>
                <a:tc>
                  <a:txBody>
                    <a:bodyPr/>
                    <a:lstStyle/>
                    <a:p>
                      <a:pPr algn="l">
                        <a:lnSpc>
                          <a:spcPct val="95000"/>
                        </a:lnSpc>
                      </a:pPr>
                      <a:r>
                        <a:rPr lang="en-US" sz="1100" b="1" dirty="0">
                          <a:solidFill>
                            <a:srgbClr val="EE0033"/>
                          </a:solidFill>
                          <a:latin typeface="FS PF BeauSans Pro"/>
                          <a:ea typeface="FS PF BeauSans Pro"/>
                          <a:cs typeface="FS PF BeauSans Pro"/>
                        </a:rPr>
                        <a:t>regions &lt; 0.10 s apart</a:t>
                      </a:r>
                    </a:p>
                  </a:txBody>
                  <a:tcPr marL="68580" marR="68580" marT="36576" marB="36576" anchor="ctr">
                    <a:lnL w="0">
                      <a:noFill/>
                    </a:lnL>
                    <a:lnR w="0">
                      <a:noFill/>
                    </a:lnR>
                    <a:lnT w="6350">
                      <a:solidFill>
                        <a:srgbClr val="D9D9D9"/>
                      </a:solidFill>
                    </a:lnT>
                    <a:lnB w="6350">
                      <a:solidFill>
                        <a:srgbClr val="D9D9D9"/>
                      </a:solidFill>
                    </a:lnB>
                    <a:noFill/>
                  </a:tcPr>
                </a:tc>
                <a:tc>
                  <a:txBody>
                    <a:bodyPr/>
                    <a:lstStyle/>
                    <a:p>
                      <a:pPr algn="l">
                        <a:lnSpc>
                          <a:spcPct val="95000"/>
                        </a:lnSpc>
                      </a:pPr>
                      <a:r>
                        <a:rPr lang="en-US" sz="1100" dirty="0">
                          <a:solidFill>
                            <a:srgbClr val="262626"/>
                          </a:solidFill>
                          <a:latin typeface="FS PF BeauSans Pro"/>
                          <a:ea typeface="FS PF BeauSans Pro"/>
                          <a:cs typeface="FS PF BeauSans Pro"/>
                        </a:rPr>
                        <a:t>Stop closures and glottal breaks are not pauses</a:t>
                      </a:r>
                    </a:p>
                  </a:txBody>
                  <a:tcPr marL="68580" marR="68580" marT="36576" marB="36576" anchor="ctr">
                    <a:lnL w="0">
                      <a:noFill/>
                    </a:lnL>
                    <a:lnR w="0">
                      <a:noFill/>
                    </a:lnR>
                    <a:lnT w="6350">
                      <a:solidFill>
                        <a:srgbClr val="D9D9D9"/>
                      </a:solidFill>
                    </a:lnT>
                    <a:lnB w="6350">
                      <a:solidFill>
                        <a:srgbClr val="D9D9D9"/>
                      </a:solidFill>
                    </a:lnB>
                    <a:noFill/>
                  </a:tcPr>
                </a:tc>
                <a:tc>
                  <a:txBody>
                    <a:bodyPr/>
                    <a:lstStyle/>
                    <a:p>
                      <a:pPr algn="l">
                        <a:lnSpc>
                          <a:spcPct val="95000"/>
                        </a:lnSpc>
                      </a:pPr>
                      <a:r>
                        <a:rPr lang="en-US" sz="950" dirty="0">
                          <a:solidFill>
                            <a:srgbClr val="595959"/>
                          </a:solidFill>
                          <a:latin typeface="FS PF BeauSans Pro"/>
                          <a:ea typeface="FS PF BeauSans Pro"/>
                          <a:cs typeface="FS PF BeauSans Pro"/>
                        </a:rPr>
                        <a:t>design</a:t>
                      </a:r>
                    </a:p>
                  </a:txBody>
                  <a:tcPr marL="68580" marR="68580" marT="36576" marB="36576" anchor="ctr">
                    <a:lnL w="0">
                      <a:noFill/>
                    </a:lnL>
                    <a:lnR w="0">
                      <a:noFill/>
                    </a:lnR>
                    <a:lnT w="6350">
                      <a:solidFill>
                        <a:srgbClr val="D9D9D9"/>
                      </a:solidFill>
                    </a:lnT>
                    <a:lnB w="6350">
                      <a:solidFill>
                        <a:srgbClr val="D9D9D9"/>
                      </a:solidFill>
                    </a:lnB>
                    <a:noFill/>
                  </a:tcPr>
                </a:tc>
              </a:tr>
              <a:tr h="274320">
                <a:tc>
                  <a:txBody>
                    <a:bodyPr/>
                    <a:lstStyle/>
                    <a:p>
                      <a:pPr algn="l">
                        <a:lnSpc>
                          <a:spcPct val="95000"/>
                        </a:lnSpc>
                      </a:pPr>
                      <a:r>
                        <a:rPr lang="en-US" sz="1100" b="1" dirty="0">
                          <a:solidFill>
                            <a:srgbClr val="262626"/>
                          </a:solidFill>
                          <a:latin typeface="FS PF BeauSans Pro"/>
                          <a:ea typeface="FS PF BeauSans Pro"/>
                          <a:cs typeface="FS PF BeauSans Pro"/>
                        </a:rPr>
                        <a:t>Trim and minimum</a:t>
                      </a:r>
                    </a:p>
                  </a:txBody>
                  <a:tcPr marL="68580" marR="68580" marT="36576" marB="36576" anchor="ctr">
                    <a:lnL w="0">
                      <a:noFill/>
                    </a:lnL>
                    <a:lnR w="0">
                      <a:noFill/>
                    </a:lnR>
                    <a:lnT w="6350">
                      <a:solidFill>
                        <a:srgbClr val="D9D9D9"/>
                      </a:solidFill>
                    </a:lnT>
                    <a:lnB w="6350">
                      <a:solidFill>
                        <a:srgbClr val="D9D9D9"/>
                      </a:solidFill>
                    </a:lnB>
                    <a:noFill/>
                  </a:tcPr>
                </a:tc>
                <a:tc>
                  <a:txBody>
                    <a:bodyPr/>
                    <a:lstStyle/>
                    <a:p>
                      <a:pPr algn="l">
                        <a:lnSpc>
                          <a:spcPct val="95000"/>
                        </a:lnSpc>
                      </a:pPr>
                      <a:r>
                        <a:rPr lang="en-US" sz="1100" b="1" dirty="0">
                          <a:solidFill>
                            <a:srgbClr val="EE0033"/>
                          </a:solidFill>
                          <a:latin typeface="FS PF BeauSans Pro"/>
                          <a:ea typeface="FS PF BeauSans Pro"/>
                          <a:cs typeface="FS PF BeauSans Pro"/>
                        </a:rPr>
                        <a:t>0.05 s off each edge; keep ≥ 0.12 s</a:t>
                      </a:r>
                    </a:p>
                  </a:txBody>
                  <a:tcPr marL="68580" marR="68580" marT="36576" marB="36576" anchor="ctr">
                    <a:lnL w="0">
                      <a:noFill/>
                    </a:lnL>
                    <a:lnR w="0">
                      <a:noFill/>
                    </a:lnR>
                    <a:lnT w="6350">
                      <a:solidFill>
                        <a:srgbClr val="D9D9D9"/>
                      </a:solidFill>
                    </a:lnT>
                    <a:lnB w="6350">
                      <a:solidFill>
                        <a:srgbClr val="D9D9D9"/>
                      </a:solidFill>
                    </a:lnB>
                    <a:noFill/>
                  </a:tcPr>
                </a:tc>
                <a:tc>
                  <a:txBody>
                    <a:bodyPr/>
                    <a:lstStyle/>
                    <a:p>
                      <a:pPr algn="l">
                        <a:lnSpc>
                          <a:spcPct val="95000"/>
                        </a:lnSpc>
                      </a:pPr>
                      <a:r>
                        <a:rPr lang="en-US" sz="1100" dirty="0">
                          <a:solidFill>
                            <a:srgbClr val="262626"/>
                          </a:solidFill>
                          <a:latin typeface="FS PF BeauSans Pro"/>
                          <a:ea typeface="FS PF BeauSans Pro"/>
                          <a:cs typeface="FS PF BeauSans Pro"/>
                        </a:rPr>
                        <a:t>Pause edges still carry the neighbouring words' energy; a shorter gap is a stop closure, not room for an event</a:t>
                      </a:r>
                    </a:p>
                  </a:txBody>
                  <a:tcPr marL="68580" marR="68580" marT="36576" marB="36576" anchor="ctr">
                    <a:lnL w="0">
                      <a:noFill/>
                    </a:lnL>
                    <a:lnR w="0">
                      <a:noFill/>
                    </a:lnR>
                    <a:lnT w="6350">
                      <a:solidFill>
                        <a:srgbClr val="D9D9D9"/>
                      </a:solidFill>
                    </a:lnT>
                    <a:lnB w="6350">
                      <a:solidFill>
                        <a:srgbClr val="D9D9D9"/>
                      </a:solidFill>
                    </a:lnB>
                    <a:noFill/>
                  </a:tcPr>
                </a:tc>
                <a:tc>
                  <a:txBody>
                    <a:bodyPr/>
                    <a:lstStyle/>
                    <a:p>
                      <a:pPr algn="l">
                        <a:lnSpc>
                          <a:spcPct val="95000"/>
                        </a:lnSpc>
                      </a:pPr>
                      <a:r>
                        <a:rPr lang="en-US" sz="950" dirty="0">
                          <a:solidFill>
                            <a:srgbClr val="595959"/>
                          </a:solidFill>
                          <a:latin typeface="FS PF BeauSans Pro"/>
                          <a:ea typeface="FS PF BeauSans Pro"/>
                          <a:cs typeface="FS PF BeauSans Pro"/>
                        </a:rPr>
                        <a:t>design</a:t>
                      </a:r>
                    </a:p>
                  </a:txBody>
                  <a:tcPr marL="68580" marR="68580" marT="36576" marB="36576" anchor="ctr">
                    <a:lnL w="0">
                      <a:noFill/>
                    </a:lnL>
                    <a:lnR w="0">
                      <a:noFill/>
                    </a:lnR>
                    <a:lnT w="6350">
                      <a:solidFill>
                        <a:srgbClr val="D9D9D9"/>
                      </a:solidFill>
                    </a:lnT>
                    <a:lnB w="6350">
                      <a:solidFill>
                        <a:srgbClr val="D9D9D9"/>
                      </a:solidFill>
                    </a:lnB>
                    <a:noFill/>
                  </a:tcPr>
                </a:tc>
              </a:tr>
              <a:tr h="274320">
                <a:tc>
                  <a:txBody>
                    <a:bodyPr/>
                    <a:lstStyle/>
                    <a:p>
                      <a:pPr algn="l">
                        <a:lnSpc>
                          <a:spcPct val="95000"/>
                        </a:lnSpc>
                      </a:pPr>
                      <a:r>
                        <a:rPr lang="en-US" sz="1100" b="1" dirty="0">
                          <a:solidFill>
                            <a:srgbClr val="262626"/>
                          </a:solidFill>
                          <a:latin typeface="FS PF BeauSans Pro"/>
                          <a:ea typeface="FS PF BeauSans Pro"/>
                          <a:cs typeface="FS PF BeauSans Pro"/>
                        </a:rPr>
                        <a:t>Word timing</a:t>
                      </a:r>
                    </a:p>
                  </a:txBody>
                  <a:tcPr marL="68580" marR="68580" marT="36576" marB="36576" anchor="ctr">
                    <a:lnL w="0">
                      <a:noFill/>
                    </a:lnL>
                    <a:lnR w="0">
                      <a:noFill/>
                    </a:lnR>
                    <a:lnT w="6350">
                      <a:solidFill>
                        <a:srgbClr val="D9D9D9"/>
                      </a:solidFill>
                    </a:lnT>
                    <a:lnB w="6350">
                      <a:solidFill>
                        <a:srgbClr val="D9D9D9"/>
                      </a:solidFill>
                    </a:lnB>
                    <a:noFill/>
                  </a:tcPr>
                </a:tc>
                <a:tc>
                  <a:txBody>
                    <a:bodyPr/>
                    <a:lstStyle/>
                    <a:p>
                      <a:pPr algn="l">
                        <a:lnSpc>
                          <a:spcPct val="95000"/>
                        </a:lnSpc>
                      </a:pPr>
                      <a:r>
                        <a:rPr lang="en-US" sz="1100" b="1" dirty="0">
                          <a:solidFill>
                            <a:srgbClr val="EE0033"/>
                          </a:solidFill>
                          <a:latin typeface="FS PF BeauSans Pro"/>
                          <a:ea typeface="FS PF BeauSans Pro"/>
                          <a:cs typeface="FS PF BeauSans Pro"/>
                        </a:rPr>
                        <a:t>Qwen3-ForcedAligner</a:t>
                      </a:r>
                    </a:p>
                  </a:txBody>
                  <a:tcPr marL="68580" marR="68580" marT="36576" marB="36576" anchor="ctr">
                    <a:lnL w="0">
                      <a:noFill/>
                    </a:lnL>
                    <a:lnR w="0">
                      <a:noFill/>
                    </a:lnR>
                    <a:lnT w="6350">
                      <a:solidFill>
                        <a:srgbClr val="D9D9D9"/>
                      </a:solidFill>
                    </a:lnT>
                    <a:lnB w="6350">
                      <a:solidFill>
                        <a:srgbClr val="D9D9D9"/>
                      </a:solidFill>
                    </a:lnB>
                    <a:noFill/>
                  </a:tcPr>
                </a:tc>
                <a:tc>
                  <a:txBody>
                    <a:bodyPr/>
                    <a:lstStyle/>
                    <a:p>
                      <a:pPr algn="l">
                        <a:lnSpc>
                          <a:spcPct val="95000"/>
                        </a:lnSpc>
                      </a:pPr>
                      <a:r>
                        <a:rPr lang="en-US" sz="1100" dirty="0">
                          <a:solidFill>
                            <a:srgbClr val="262626"/>
                          </a:solidFill>
                          <a:latin typeface="FS PF BeauSans Pro"/>
                          <a:ea typeface="FS PF BeauSans Pro"/>
                          <a:cs typeface="FS PF BeauSans Pro"/>
                        </a:rPr>
                        <a:t>No pronunciation dictionary: MFA, which we also tried, marks fillers like “à”, “ha”, “thì” unknown and guesses their timing, the words a tag sits next to; 32 ms error vs 101 ms NFA</a:t>
                      </a:r>
                    </a:p>
                  </a:txBody>
                  <a:tcPr marL="68580" marR="68580" marT="36576" marB="36576" anchor="ctr">
                    <a:lnL w="0">
                      <a:noFill/>
                    </a:lnL>
                    <a:lnR w="0">
                      <a:noFill/>
                    </a:lnR>
                    <a:lnT w="6350">
                      <a:solidFill>
                        <a:srgbClr val="D9D9D9"/>
                      </a:solidFill>
                    </a:lnT>
                    <a:lnB w="6350">
                      <a:solidFill>
                        <a:srgbClr val="D9D9D9"/>
                      </a:solidFill>
                    </a:lnB>
                    <a:noFill/>
                  </a:tcPr>
                </a:tc>
                <a:tc>
                  <a:txBody>
                    <a:bodyPr/>
                    <a:lstStyle/>
                    <a:p>
                      <a:pPr algn="l">
                        <a:lnSpc>
                          <a:spcPct val="95000"/>
                        </a:lnSpc>
                      </a:pPr>
                      <a:r>
                        <a:rPr lang="en-US" sz="950" dirty="0">
                          <a:solidFill>
                            <a:srgbClr val="595959"/>
                          </a:solidFill>
                          <a:latin typeface="FS PF BeauSans Pro"/>
                          <a:ea typeface="FS PF BeauSans Pro"/>
                          <a:cs typeface="FS PF BeauSans Pro"/>
                        </a:rPr>
                        <a:t>pilot; Qwen Team, 2026</a:t>
                      </a:r>
                    </a:p>
                  </a:txBody>
                  <a:tcPr marL="68580" marR="68580" marT="36576" marB="36576" anchor="ctr">
                    <a:lnL w="0">
                      <a:noFill/>
                    </a:lnL>
                    <a:lnR w="0">
                      <a:noFill/>
                    </a:lnR>
                    <a:lnT w="6350">
                      <a:solidFill>
                        <a:srgbClr val="D9D9D9"/>
                      </a:solidFill>
                    </a:lnT>
                    <a:lnB w="6350">
                      <a:solidFill>
                        <a:srgbClr val="D9D9D9"/>
                      </a:solidFill>
                    </a:lnB>
                    <a:noFill/>
                  </a:tcPr>
                </a:tc>
              </a:tr>
              <a:tr h="274320">
                <a:tc>
                  <a:txBody>
                    <a:bodyPr/>
                    <a:lstStyle/>
                    <a:p>
                      <a:pPr algn="l">
                        <a:lnSpc>
                          <a:spcPct val="95000"/>
                        </a:lnSpc>
                      </a:pPr>
                      <a:r>
                        <a:rPr lang="en-US" sz="1100" b="1" dirty="0">
                          <a:solidFill>
                            <a:srgbClr val="262626"/>
                          </a:solidFill>
                          <a:latin typeface="FS PF BeauSans Pro"/>
                          <a:ea typeface="FS PF BeauSans Pro"/>
                          <a:cs typeface="FS PF BeauSans Pro"/>
                        </a:rPr>
                        <a:t>Two pauses in one gap</a:t>
                      </a:r>
                    </a:p>
                  </a:txBody>
                  <a:tcPr marL="68580" marR="68580" marT="36576" marB="36576" anchor="ctr">
                    <a:lnL w="0">
                      <a:noFill/>
                    </a:lnL>
                    <a:lnR w="0">
                      <a:noFill/>
                    </a:lnR>
                    <a:lnT w="6350">
                      <a:solidFill>
                        <a:srgbClr val="D9D9D9"/>
                      </a:solidFill>
                    </a:lnT>
                    <a:lnB w="6350">
                      <a:solidFill>
                        <a:srgbClr val="D9D9D9"/>
                      </a:solidFill>
                    </a:lnB>
                    <a:noFill/>
                  </a:tcPr>
                </a:tc>
                <a:tc>
                  <a:txBody>
                    <a:bodyPr/>
                    <a:lstStyle/>
                    <a:p>
                      <a:pPr algn="l">
                        <a:lnSpc>
                          <a:spcPct val="95000"/>
                        </a:lnSpc>
                      </a:pPr>
                      <a:r>
                        <a:rPr lang="en-US" sz="1100" b="1" dirty="0">
                          <a:solidFill>
                            <a:srgbClr val="EE0033"/>
                          </a:solidFill>
                          <a:latin typeface="FS PF BeauSans Pro"/>
                          <a:ea typeface="FS PF BeauSans Pro"/>
                          <a:cs typeface="FS PF BeauSans Pro"/>
                        </a:rPr>
                        <a:t>keep the longer</a:t>
                      </a:r>
                    </a:p>
                  </a:txBody>
                  <a:tcPr marL="68580" marR="68580" marT="36576" marB="36576" anchor="ctr">
                    <a:lnL w="0">
                      <a:noFill/>
                    </a:lnL>
                    <a:lnR w="0">
                      <a:noFill/>
                    </a:lnR>
                    <a:lnT w="6350">
                      <a:solidFill>
                        <a:srgbClr val="D9D9D9"/>
                      </a:solidFill>
                    </a:lnT>
                    <a:lnB w="6350">
                      <a:solidFill>
                        <a:srgbClr val="D9D9D9"/>
                      </a:solidFill>
                    </a:lnB>
                    <a:noFill/>
                  </a:tcPr>
                </a:tc>
                <a:tc>
                  <a:txBody>
                    <a:bodyPr/>
                    <a:lstStyle/>
                    <a:p>
                      <a:pPr algn="l">
                        <a:lnSpc>
                          <a:spcPct val="95000"/>
                        </a:lnSpc>
                      </a:pPr>
                      <a:r>
                        <a:rPr lang="en-US" sz="1100" dirty="0">
                          <a:solidFill>
                            <a:srgbClr val="262626"/>
                          </a:solidFill>
                          <a:latin typeface="FS PF BeauSans Pro"/>
                          <a:ea typeface="FS PF BeauSans Pro"/>
                          <a:cs typeface="FS PF BeauSans Pro"/>
                        </a:rPr>
                        <a:t>More silence around the cut, which sits at the pause midpoint, furthest from either word</a:t>
                      </a:r>
                    </a:p>
                  </a:txBody>
                  <a:tcPr marL="68580" marR="68580" marT="36576" marB="36576" anchor="ctr">
                    <a:lnL w="0">
                      <a:noFill/>
                    </a:lnL>
                    <a:lnR w="0">
                      <a:noFill/>
                    </a:lnR>
                    <a:lnT w="6350">
                      <a:solidFill>
                        <a:srgbClr val="D9D9D9"/>
                      </a:solidFill>
                    </a:lnT>
                    <a:lnB w="6350">
                      <a:solidFill>
                        <a:srgbClr val="D9D9D9"/>
                      </a:solidFill>
                    </a:lnB>
                    <a:noFill/>
                  </a:tcPr>
                </a:tc>
                <a:tc>
                  <a:txBody>
                    <a:bodyPr/>
                    <a:lstStyle/>
                    <a:p>
                      <a:pPr algn="l">
                        <a:lnSpc>
                          <a:spcPct val="95000"/>
                        </a:lnSpc>
                      </a:pPr>
                      <a:r>
                        <a:rPr lang="en-US" sz="950" dirty="0">
                          <a:solidFill>
                            <a:srgbClr val="595959"/>
                          </a:solidFill>
                          <a:latin typeface="FS PF BeauSans Pro"/>
                          <a:ea typeface="FS PF BeauSans Pro"/>
                          <a:cs typeface="FS PF BeauSans Pro"/>
                        </a:rPr>
                        <a:t>design</a:t>
                      </a:r>
                    </a:p>
                  </a:txBody>
                  <a:tcPr marL="68580" marR="68580" marT="36576" marB="36576" anchor="ctr">
                    <a:lnL w="0">
                      <a:noFill/>
                    </a:lnL>
                    <a:lnR w="0">
                      <a:noFill/>
                    </a:lnR>
                    <a:lnT w="6350">
                      <a:solidFill>
                        <a:srgbClr val="D9D9D9"/>
                      </a:solidFill>
                    </a:lnT>
                    <a:lnB w="6350">
                      <a:solidFill>
                        <a:srgbClr val="D9D9D9"/>
                      </a:solidFill>
                    </a:lnB>
                    <a:noFill/>
                  </a:tcPr>
                </a:tc>
              </a:tr>
              <a:tr h="274320">
                <a:tc>
                  <a:txBody>
                    <a:bodyPr/>
                    <a:lstStyle/>
                    <a:p>
                      <a:pPr algn="l">
                        <a:lnSpc>
                          <a:spcPct val="95000"/>
                        </a:lnSpc>
                      </a:pPr>
                      <a:r>
                        <a:rPr lang="en-US" sz="1100" b="1" dirty="0">
                          <a:solidFill>
                            <a:srgbClr val="262626"/>
                          </a:solidFill>
                          <a:latin typeface="FS PF BeauSans Pro"/>
                          <a:ea typeface="FS PF BeauSans Pro"/>
                          <a:cs typeface="FS PF BeauSans Pro"/>
                        </a:rPr>
                        <a:t>Word not matched</a:t>
                      </a:r>
                    </a:p>
                  </a:txBody>
                  <a:tcPr marL="68580" marR="68580" marT="36576" marB="36576" anchor="ctr">
                    <a:lnL w="0">
                      <a:noFill/>
                    </a:lnL>
                    <a:lnR w="0">
                      <a:noFill/>
                    </a:lnR>
                    <a:lnT w="6350">
                      <a:solidFill>
                        <a:srgbClr val="D9D9D9"/>
                      </a:solidFill>
                    </a:lnT>
                    <a:lnB w="6350">
                      <a:solidFill>
                        <a:srgbClr val="D9D9D9"/>
                      </a:solidFill>
                    </a:lnB>
                    <a:noFill/>
                  </a:tcPr>
                </a:tc>
                <a:tc>
                  <a:txBody>
                    <a:bodyPr/>
                    <a:lstStyle/>
                    <a:p>
                      <a:pPr algn="l">
                        <a:lnSpc>
                          <a:spcPct val="95000"/>
                        </a:lnSpc>
                      </a:pPr>
                      <a:r>
                        <a:rPr lang="en-US" sz="1100" b="1" dirty="0">
                          <a:solidFill>
                            <a:srgbClr val="EE0033"/>
                          </a:solidFill>
                          <a:latin typeface="FS PF BeauSans Pro"/>
                          <a:ea typeface="FS PF BeauSans Pro"/>
                          <a:cs typeface="FS PF BeauSans Pro"/>
                        </a:rPr>
                        <a:t>skip the utterance</a:t>
                      </a:r>
                    </a:p>
                  </a:txBody>
                  <a:tcPr marL="68580" marR="68580" marT="36576" marB="36576" anchor="ctr">
                    <a:lnL w="0">
                      <a:noFill/>
                    </a:lnL>
                    <a:lnR w="0">
                      <a:noFill/>
                    </a:lnR>
                    <a:lnT w="6350">
                      <a:solidFill>
                        <a:srgbClr val="D9D9D9"/>
                      </a:solidFill>
                    </a:lnT>
                    <a:lnB w="6350">
                      <a:solidFill>
                        <a:srgbClr val="D9D9D9"/>
                      </a:solidFill>
                    </a:lnB>
                    <a:noFill/>
                  </a:tcPr>
                </a:tc>
                <a:tc>
                  <a:txBody>
                    <a:bodyPr/>
                    <a:lstStyle/>
                    <a:p>
                      <a:pPr algn="l">
                        <a:lnSpc>
                          <a:spcPct val="95000"/>
                        </a:lnSpc>
                      </a:pPr>
                      <a:r>
                        <a:rPr lang="en-US" sz="1100" dirty="0">
                          <a:solidFill>
                            <a:srgbClr val="262626"/>
                          </a:solidFill>
                          <a:latin typeface="FS PF BeauSans Pro"/>
                          <a:ea typeface="FS PF BeauSans Pro"/>
                          <a:cs typeface="FS PF BeauSans Pro"/>
                        </a:rPr>
                        <a:t>A wrong character offset would put the tag between different words than the audio cut</a:t>
                      </a:r>
                    </a:p>
                  </a:txBody>
                  <a:tcPr marL="68580" marR="68580" marT="36576" marB="36576" anchor="ctr">
                    <a:lnL w="0">
                      <a:noFill/>
                    </a:lnL>
                    <a:lnR w="0">
                      <a:noFill/>
                    </a:lnR>
                    <a:lnT w="6350">
                      <a:solidFill>
                        <a:srgbClr val="D9D9D9"/>
                      </a:solidFill>
                    </a:lnT>
                    <a:lnB w="6350">
                      <a:solidFill>
                        <a:srgbClr val="D9D9D9"/>
                      </a:solidFill>
                    </a:lnB>
                    <a:noFill/>
                  </a:tcPr>
                </a:tc>
                <a:tc>
                  <a:txBody>
                    <a:bodyPr/>
                    <a:lstStyle/>
                    <a:p>
                      <a:pPr algn="l">
                        <a:lnSpc>
                          <a:spcPct val="95000"/>
                        </a:lnSpc>
                      </a:pPr>
                      <a:r>
                        <a:rPr lang="en-US" sz="950" dirty="0">
                          <a:solidFill>
                            <a:srgbClr val="595959"/>
                          </a:solidFill>
                          <a:latin typeface="FS PF BeauSans Pro"/>
                          <a:ea typeface="FS PF BeauSans Pro"/>
                          <a:cs typeface="FS PF BeauSans Pro"/>
                        </a:rPr>
                        <a:t>design</a:t>
                      </a:r>
                    </a:p>
                  </a:txBody>
                  <a:tcPr marL="68580" marR="68580" marT="36576" marB="36576" anchor="ctr">
                    <a:lnL w="0">
                      <a:noFill/>
                    </a:lnL>
                    <a:lnR w="0">
                      <a:noFill/>
                    </a:lnR>
                    <a:lnT w="6350">
                      <a:solidFill>
                        <a:srgbClr val="D9D9D9"/>
                      </a:solidFill>
                    </a:lnT>
                    <a:lnB w="6350">
                      <a:solidFill>
                        <a:srgbClr val="D9D9D9"/>
                      </a:solidFill>
                    </a:lnB>
                    <a:noFill/>
                  </a:tcPr>
                </a:tc>
              </a:tr>
              <a:tr h="274320">
                <a:tc>
                  <a:txBody>
                    <a:bodyPr/>
                    <a:lstStyle/>
                    <a:p>
                      <a:pPr algn="l">
                        <a:lnSpc>
                          <a:spcPct val="95000"/>
                        </a:lnSpc>
                      </a:pPr>
                      <a:r>
                        <a:rPr lang="en-US" sz="1100" b="1" dirty="0">
                          <a:solidFill>
                            <a:srgbClr val="262626"/>
                          </a:solidFill>
                          <a:latin typeface="FS PF BeauSans Pro"/>
                          <a:ea typeface="FS PF BeauSans Pro"/>
                          <a:cs typeface="FS PF BeauSans Pro"/>
                        </a:rPr>
                        <a:t>Yield</a:t>
                      </a:r>
                    </a:p>
                  </a:txBody>
                  <a:tcPr marL="68580" marR="68580" marT="36576" marB="36576" anchor="ctr">
                    <a:lnL w="0">
                      <a:noFill/>
                    </a:lnL>
                    <a:lnR w="0">
                      <a:noFill/>
                    </a:lnR>
                    <a:lnT w="6350">
                      <a:solidFill>
                        <a:srgbClr val="D9D9D9"/>
                      </a:solidFill>
                    </a:lnT>
                    <a:lnB w="19050">
                      <a:solidFill>
                        <a:srgbClr val="262626"/>
                      </a:solidFill>
                    </a:lnB>
                    <a:noFill/>
                  </a:tcPr>
                </a:tc>
                <a:tc>
                  <a:txBody>
                    <a:bodyPr/>
                    <a:lstStyle/>
                    <a:p>
                      <a:pPr algn="l">
                        <a:lnSpc>
                          <a:spcPct val="95000"/>
                        </a:lnSpc>
                      </a:pPr>
                      <a:r>
                        <a:rPr lang="en-US" sz="1100" b="1" dirty="0">
                          <a:solidFill>
                            <a:srgbClr val="EE0033"/>
                          </a:solidFill>
                          <a:latin typeface="FS PF BeauSans Pro"/>
                          <a:ea typeface="FS PF BeauSans Pro"/>
                          <a:cs typeface="FS PF BeauSans Pro"/>
                        </a:rPr>
                        <a:t>16 of 20 kept, 47 slots</a:t>
                      </a:r>
                    </a:p>
                  </a:txBody>
                  <a:tcPr marL="68580" marR="68580" marT="36576" marB="36576" anchor="ctr">
                    <a:lnL w="0">
                      <a:noFill/>
                    </a:lnL>
                    <a:lnR w="0">
                      <a:noFill/>
                    </a:lnR>
                    <a:lnT w="6350">
                      <a:solidFill>
                        <a:srgbClr val="D9D9D9"/>
                      </a:solidFill>
                    </a:lnT>
                    <a:lnB w="19050">
                      <a:solidFill>
                        <a:srgbClr val="262626"/>
                      </a:solidFill>
                    </a:lnB>
                    <a:noFill/>
                  </a:tcPr>
                </a:tc>
                <a:tc>
                  <a:txBody>
                    <a:bodyPr/>
                    <a:lstStyle/>
                    <a:p>
                      <a:pPr algn="l">
                        <a:lnSpc>
                          <a:spcPct val="95000"/>
                        </a:lnSpc>
                      </a:pPr>
                      <a:r>
                        <a:rPr lang="en-US" sz="1100" dirty="0">
                          <a:solidFill>
                            <a:srgbClr val="262626"/>
                          </a:solidFill>
                          <a:latin typeface="FS PF BeauSans Pro"/>
                          <a:ea typeface="FS PF BeauSans Pro"/>
                          <a:cs typeface="FS PF BeauSans Pro"/>
                        </a:rPr>
                        <a:t>The 4 utterances with no qualifying pause are dropped (about 20%), so every kept example is spliced into real silence; slots were 0.20–1.20 s</a:t>
                      </a:r>
                    </a:p>
                  </a:txBody>
                  <a:tcPr marL="68580" marR="68580" marT="36576" marB="36576" anchor="ctr">
                    <a:lnL w="0">
                      <a:noFill/>
                    </a:lnL>
                    <a:lnR w="0">
                      <a:noFill/>
                    </a:lnR>
                    <a:lnT w="6350">
                      <a:solidFill>
                        <a:srgbClr val="D9D9D9"/>
                      </a:solidFill>
                    </a:lnT>
                    <a:lnB w="19050">
                      <a:solidFill>
                        <a:srgbClr val="262626"/>
                      </a:solidFill>
                    </a:lnB>
                    <a:noFill/>
                  </a:tcPr>
                </a:tc>
                <a:tc>
                  <a:txBody>
                    <a:bodyPr/>
                    <a:lstStyle/>
                    <a:p>
                      <a:pPr algn="l">
                        <a:lnSpc>
                          <a:spcPct val="95000"/>
                        </a:lnSpc>
                      </a:pPr>
                      <a:r>
                        <a:rPr lang="en-US" sz="950" dirty="0">
                          <a:solidFill>
                            <a:srgbClr val="595959"/>
                          </a:solidFill>
                          <a:latin typeface="FS PF BeauSans Pro"/>
                          <a:ea typeface="FS PF BeauSans Pro"/>
                          <a:cs typeface="FS PF BeauSans Pro"/>
                        </a:rPr>
                        <a:t>pilot</a:t>
                      </a:r>
                    </a:p>
                  </a:txBody>
                  <a:tcPr marL="68580" marR="68580" marT="36576" marB="36576" anchor="ctr">
                    <a:lnL w="0">
                      <a:noFill/>
                    </a:lnL>
                    <a:lnR w="0">
                      <a:noFill/>
                    </a:lnR>
                    <a:lnT w="6350">
                      <a:solidFill>
                        <a:srgbClr val="D9D9D9"/>
                      </a:solidFill>
                    </a:lnT>
                    <a:lnB w="19050">
                      <a:solidFill>
                        <a:srgbClr val="262626"/>
                      </a:solidFill>
                    </a:lnB>
                    <a:noFill/>
                  </a:tcPr>
                </a:tc>
              </a:tr>
            </a:tbl>
          </a:graphicData>
        </a:graphic>
      </p:graphicFrame>
      <p:sp>
        <p:nvSpPr>
          <p:cNvPr id="5" name="Footnote citations"/>
          <p:cNvSpPr txBox="1"/>
          <p:nvPr/>
        </p:nvSpPr>
        <p:spPr>
          <a:xfrm>
            <a:off x="411480" y="5852160"/>
            <a:ext cx="8778240" cy="960120"/>
          </a:xfrm>
          <a:prstGeom prst="rect">
            <a:avLst/>
          </a:prstGeom>
          <a:noFill/>
          <a:ln>
            <a:noFill/>
          </a:ln>
        </p:spPr>
        <p:txBody>
          <a:bodyPr wrap="square" lIns="45720" tIns="45720" rIns="45720" bIns="45720" anchor="b">
            <a:noAutofit/>
          </a:bodyPr>
          <a:lstStyle/>
          <a:p>
            <a:pPr>
              <a:buNone/>
            </a:pPr>
            <a:r>
              <a:rPr lang="en-US" sz="900" b="1" dirty="0">
                <a:solidFill>
                  <a:srgbClr val="595959"/>
                </a:solidFill>
                <a:latin typeface="FS PF BeauSans Pro"/>
                <a:ea typeface="FS PF BeauSans Pro"/>
                <a:cs typeface="FS PF BeauSans Pro"/>
              </a:rPr>
              <a:t>Silero VAD: </a:t>
            </a:r>
            <a:r>
              <a:rPr lang="en-US" sz="900" dirty="0">
                <a:solidFill>
                  <a:srgbClr val="595959"/>
                </a:solidFill>
                <a:latin typeface="FS PF BeauSans Pro"/>
                <a:ea typeface="FS PF BeauSans Pro"/>
                <a:cs typeface="FS PF BeauSans Pro"/>
              </a:rPr>
              <a:t>Silero Team, github.com/snakers4/silero-vad, 2024</a:t>
            </a:r>
          </a:p>
          <a:p>
            <a:pPr>
              <a:buNone/>
            </a:pPr>
            <a:r>
              <a:rPr lang="en-US" sz="900" b="1" dirty="0">
                <a:solidFill>
                  <a:srgbClr val="595959"/>
                </a:solidFill>
                <a:latin typeface="FS PF BeauSans Pro"/>
                <a:ea typeface="FS PF BeauSans Pro"/>
                <a:cs typeface="FS PF BeauSans Pro"/>
              </a:rPr>
              <a:t>Qwen3-ASR / Qwen3-ForcedAligner: </a:t>
            </a:r>
            <a:r>
              <a:rPr lang="en-US" sz="900" dirty="0">
                <a:solidFill>
                  <a:srgbClr val="595959"/>
                </a:solidFill>
                <a:latin typeface="FS PF BeauSans Pro"/>
                <a:ea typeface="FS PF BeauSans Pro"/>
                <a:cs typeface="FS PF BeauSans Pro"/>
              </a:rPr>
              <a:t>Qwen Team, arXiv:2601.21337, 2026</a:t>
            </a:r>
          </a:p>
          <a:p>
            <a:pPr>
              <a:buNone/>
            </a:pPr>
            <a:r>
              <a:rPr lang="en-US" sz="900" b="1" dirty="0">
                <a:solidFill>
                  <a:srgbClr val="595959"/>
                </a:solidFill>
                <a:latin typeface="FS PF BeauSans Pro"/>
                <a:ea typeface="FS PF BeauSans Pro"/>
                <a:cs typeface="FS PF BeauSans Pro"/>
              </a:rPr>
              <a:t>Montreal Forced Aligner: </a:t>
            </a:r>
            <a:r>
              <a:rPr lang="en-US" sz="900" dirty="0">
                <a:solidFill>
                  <a:srgbClr val="595959"/>
                </a:solidFill>
                <a:latin typeface="FS PF BeauSans Pro"/>
                <a:ea typeface="FS PF BeauSans Pro"/>
                <a:cs typeface="FS PF BeauSans Pro"/>
              </a:rPr>
              <a:t>McAuliffe et al., Interspeech 2017</a:t>
            </a:r>
          </a:p>
          <a:p>
            <a:pPr>
              <a:buNone/>
            </a:pPr>
            <a:r>
              <a:rPr lang="en-US" sz="900" dirty="0">
                <a:solidFill>
                  <a:srgbClr val="595959"/>
                </a:solidFill>
                <a:latin typeface="FS PF BeauSans Pro"/>
                <a:ea typeface="FS PF BeauSans Pro"/>
                <a:cs typeface="FS PF BeauSans Pro"/>
              </a:rPr>
              <a:t>Basis: pilot = measured on our 20-utterance pilot; design = follows from how the pipeline works</a:t>
            </a:r>
          </a:p>
        </p:txBody>
      </p:sp>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p:cNvSpPr txBox="1">
            <a:spLocks noGrp="1"/>
          </p:cNvSpPr>
          <p:nvPr>
            <p:ph type="ctrTitle"/>
          </p:nvPr>
        </p:nvSpPr>
        <p:spPr>
          <a:xfrm>
            <a:off x="822960" y="466344"/>
            <a:ext cx="10543032" cy="731520"/>
          </a:xfrm>
          <a:prstGeom prst="rect">
            <a:avLst/>
          </a:prstGeom>
          <a:noFill/>
          <a:ln>
            <a:noFill/>
          </a:ln>
        </p:spPr>
        <p:txBody>
          <a:bodyPr spcFirstLastPara="1" wrap="square" lIns="91425" tIns="91425" rIns="91425" bIns="91425" anchor="t" anchorCtr="0">
            <a:noAutofit/>
          </a:bodyPr>
          <a:lstStyle/>
          <a:p>
            <a:pPr algn="ctr">
              <a:buNone/>
            </a:pPr>
            <a:r>
              <a:rPr lang="en-US" dirty="0"/>
              <a:t>Why these values: Tag selection</a:t>
            </a:r>
          </a:p>
        </p:txBody>
      </p:sp>
      <p:sp>
        <p:nvSpPr>
          <p:cNvPr id="3" name="Slide Number Placeholder"/>
          <p:cNvSpPr>
            <a:spLocks noGrp="1"/>
          </p:cNvSpPr>
          <p:nvPr>
            <p:ph type="sldNum" idx="12"/>
          </p:nvPr>
        </p:nvSpPr>
        <p:spPr/>
        <p:txBody>
          <a:bodyPr/>
          <a:lstStyle/>
          <a:p>
            <a:pPr marL="0" lvl="0" indent="0" algn="ctr" rtl="0">
              <a:spcBef>
                <a:spcPts val="0"/>
              </a:spcBef>
              <a:spcAft>
                <a:spcPts val="0"/>
              </a:spcAft>
              <a:buNone/>
            </a:pPr>
            <a:fld id="{00000000-1234-1234-1234-123412341234}" type="slidenum">
              <a:rPr lang="en-US" smtClean="0"/>
              <a:t>33</a:t>
            </a:fld>
            <a:endParaRPr lang="en-US" dirty="0"/>
          </a:p>
        </p:txBody>
      </p:sp>
      <p:graphicFrame>
        <p:nvGraphicFramePr>
          <p:cNvPr id="4" name="Why table"/>
          <p:cNvGraphicFramePr>
            <a:graphicFrameLocks noGrp="1"/>
          </p:cNvGraphicFramePr>
          <p:nvPr/>
        </p:nvGraphicFramePr>
        <p:xfrm>
          <a:off x="548640" y="1325880"/>
          <a:ext cx="11091672" cy="2761488"/>
        </p:xfrm>
        <a:graphic>
          <a:graphicData uri="http://schemas.openxmlformats.org/drawingml/2006/table">
            <a:tbl>
              <a:tblPr firstRow="1"/>
              <a:tblGrid>
                <a:gridCol w="1691640"/>
                <a:gridCol w="2514600"/>
                <a:gridCol w="5715000"/>
                <a:gridCol w="1170432"/>
              </a:tblGrid>
              <a:tr h="292608">
                <a:tc>
                  <a:txBody>
                    <a:bodyPr/>
                    <a:lstStyle/>
                    <a:p>
                      <a:pPr algn="l">
                        <a:lnSpc>
                          <a:spcPct val="95000"/>
                        </a:lnSpc>
                      </a:pPr>
                      <a:r>
                        <a:rPr lang="en-US" sz="1100" b="1" dirty="0">
                          <a:solidFill>
                            <a:srgbClr val="262626"/>
                          </a:solidFill>
                          <a:latin typeface="FS PF BeauSans Pro"/>
                          <a:ea typeface="FS PF BeauSans Pro"/>
                          <a:cs typeface="FS PF BeauSans Pro"/>
                        </a:rPr>
                        <a:t>Choice</a:t>
                      </a:r>
                    </a:p>
                  </a:txBody>
                  <a:tcPr marL="68580" marR="68580" marT="36576" marB="36576" anchor="ctr">
                    <a:lnL w="0">
                      <a:noFill/>
                    </a:lnL>
                    <a:lnR w="0">
                      <a:noFill/>
                    </a:lnR>
                    <a:lnT w="19050">
                      <a:solidFill>
                        <a:srgbClr val="262626"/>
                      </a:solidFill>
                    </a:lnT>
                    <a:lnB w="9525">
                      <a:solidFill>
                        <a:srgbClr val="262626"/>
                      </a:solidFill>
                    </a:lnB>
                    <a:noFill/>
                  </a:tcPr>
                </a:tc>
                <a:tc>
                  <a:txBody>
                    <a:bodyPr/>
                    <a:lstStyle/>
                    <a:p>
                      <a:pPr algn="l">
                        <a:lnSpc>
                          <a:spcPct val="95000"/>
                        </a:lnSpc>
                      </a:pPr>
                      <a:r>
                        <a:rPr lang="en-US" sz="1100" b="1" dirty="0">
                          <a:solidFill>
                            <a:srgbClr val="262626"/>
                          </a:solidFill>
                          <a:latin typeface="FS PF BeauSans Pro"/>
                          <a:ea typeface="FS PF BeauSans Pro"/>
                          <a:cs typeface="FS PF BeauSans Pro"/>
                        </a:rPr>
                        <a:t>Value</a:t>
                      </a:r>
                    </a:p>
                  </a:txBody>
                  <a:tcPr marL="68580" marR="68580" marT="36576" marB="36576" anchor="ctr">
                    <a:lnL w="0">
                      <a:noFill/>
                    </a:lnL>
                    <a:lnR w="0">
                      <a:noFill/>
                    </a:lnR>
                    <a:lnT w="19050">
                      <a:solidFill>
                        <a:srgbClr val="262626"/>
                      </a:solidFill>
                    </a:lnT>
                    <a:lnB w="9525">
                      <a:solidFill>
                        <a:srgbClr val="262626"/>
                      </a:solidFill>
                    </a:lnB>
                    <a:noFill/>
                  </a:tcPr>
                </a:tc>
                <a:tc>
                  <a:txBody>
                    <a:bodyPr/>
                    <a:lstStyle/>
                    <a:p>
                      <a:pPr algn="l">
                        <a:lnSpc>
                          <a:spcPct val="95000"/>
                        </a:lnSpc>
                      </a:pPr>
                      <a:r>
                        <a:rPr lang="en-US" sz="1100" b="1" dirty="0">
                          <a:solidFill>
                            <a:srgbClr val="262626"/>
                          </a:solidFill>
                          <a:latin typeface="FS PF BeauSans Pro"/>
                          <a:ea typeface="FS PF BeauSans Pro"/>
                          <a:cs typeface="FS PF BeauSans Pro"/>
                        </a:rPr>
                        <a:t>Why</a:t>
                      </a:r>
                    </a:p>
                  </a:txBody>
                  <a:tcPr marL="68580" marR="68580" marT="36576" marB="36576" anchor="ctr">
                    <a:lnL w="0">
                      <a:noFill/>
                    </a:lnL>
                    <a:lnR w="0">
                      <a:noFill/>
                    </a:lnR>
                    <a:lnT w="19050">
                      <a:solidFill>
                        <a:srgbClr val="262626"/>
                      </a:solidFill>
                    </a:lnT>
                    <a:lnB w="9525">
                      <a:solidFill>
                        <a:srgbClr val="262626"/>
                      </a:solidFill>
                    </a:lnB>
                    <a:noFill/>
                  </a:tcPr>
                </a:tc>
                <a:tc>
                  <a:txBody>
                    <a:bodyPr/>
                    <a:lstStyle/>
                    <a:p>
                      <a:pPr algn="l">
                        <a:lnSpc>
                          <a:spcPct val="95000"/>
                        </a:lnSpc>
                      </a:pPr>
                      <a:r>
                        <a:rPr lang="en-US" sz="1100" b="1" dirty="0">
                          <a:solidFill>
                            <a:srgbClr val="262626"/>
                          </a:solidFill>
                          <a:latin typeface="FS PF BeauSans Pro"/>
                          <a:ea typeface="FS PF BeauSans Pro"/>
                          <a:cs typeface="FS PF BeauSans Pro"/>
                        </a:rPr>
                        <a:t>Basis</a:t>
                      </a:r>
                    </a:p>
                  </a:txBody>
                  <a:tcPr marL="68580" marR="68580" marT="36576" marB="36576" anchor="ctr">
                    <a:lnL w="0">
                      <a:noFill/>
                    </a:lnL>
                    <a:lnR w="0">
                      <a:noFill/>
                    </a:lnR>
                    <a:lnT w="19050">
                      <a:solidFill>
                        <a:srgbClr val="262626"/>
                      </a:solidFill>
                    </a:lnT>
                    <a:lnB w="9525">
                      <a:solidFill>
                        <a:srgbClr val="262626"/>
                      </a:solidFill>
                    </a:lnB>
                    <a:noFill/>
                  </a:tcPr>
                </a:tc>
              </a:tr>
              <a:tr h="274320">
                <a:tc>
                  <a:txBody>
                    <a:bodyPr/>
                    <a:lstStyle/>
                    <a:p>
                      <a:pPr algn="l">
                        <a:lnSpc>
                          <a:spcPct val="95000"/>
                        </a:lnSpc>
                      </a:pPr>
                      <a:r>
                        <a:rPr lang="en-US" sz="1100" b="1" dirty="0">
                          <a:solidFill>
                            <a:srgbClr val="262626"/>
                          </a:solidFill>
                          <a:latin typeface="FS PF BeauSans Pro"/>
                          <a:ea typeface="FS PF BeauSans Pro"/>
                          <a:cs typeface="FS PF BeauSans Pro"/>
                        </a:rPr>
                        <a:t>Model type</a:t>
                      </a:r>
                    </a:p>
                  </a:txBody>
                  <a:tcPr marL="68580" marR="68580" marT="36576" marB="36576" anchor="ctr">
                    <a:lnL w="0">
                      <a:noFill/>
                    </a:lnL>
                    <a:lnR w="0">
                      <a:noFill/>
                    </a:lnR>
                    <a:lnT w="9525">
                      <a:solidFill>
                        <a:srgbClr val="262626"/>
                      </a:solidFill>
                    </a:lnT>
                    <a:lnB w="6350">
                      <a:solidFill>
                        <a:srgbClr val="D9D9D9"/>
                      </a:solidFill>
                    </a:lnB>
                    <a:noFill/>
                  </a:tcPr>
                </a:tc>
                <a:tc>
                  <a:txBody>
                    <a:bodyPr/>
                    <a:lstStyle/>
                    <a:p>
                      <a:pPr algn="l">
                        <a:lnSpc>
                          <a:spcPct val="95000"/>
                        </a:lnSpc>
                      </a:pPr>
                      <a:r>
                        <a:rPr lang="en-US" sz="1100" b="1" dirty="0">
                          <a:solidFill>
                            <a:srgbClr val="EE0033"/>
                          </a:solidFill>
                          <a:latin typeface="FS PF BeauSans Pro"/>
                          <a:ea typeface="FS PF BeauSans Pro"/>
                          <a:cs typeface="FS PF BeauSans Pro"/>
                        </a:rPr>
                        <a:t>audio LLM, not text-only</a:t>
                      </a:r>
                    </a:p>
                  </a:txBody>
                  <a:tcPr marL="68580" marR="68580" marT="36576" marB="36576" anchor="ctr">
                    <a:lnL w="0">
                      <a:noFill/>
                    </a:lnL>
                    <a:lnR w="0">
                      <a:noFill/>
                    </a:lnR>
                    <a:lnT w="9525">
                      <a:solidFill>
                        <a:srgbClr val="262626"/>
                      </a:solidFill>
                    </a:lnT>
                    <a:lnB w="6350">
                      <a:solidFill>
                        <a:srgbClr val="D9D9D9"/>
                      </a:solidFill>
                    </a:lnB>
                    <a:noFill/>
                  </a:tcPr>
                </a:tc>
                <a:tc>
                  <a:txBody>
                    <a:bodyPr/>
                    <a:lstStyle/>
                    <a:p>
                      <a:pPr algn="l">
                        <a:lnSpc>
                          <a:spcPct val="95000"/>
                        </a:lnSpc>
                      </a:pPr>
                      <a:r>
                        <a:rPr lang="en-US" sz="1100" dirty="0">
                          <a:solidFill>
                            <a:srgbClr val="262626"/>
                          </a:solidFill>
                          <a:latin typeface="FS PF BeauSans Pro"/>
                          <a:ea typeface="FS PF BeauSans Pro"/>
                          <a:cs typeface="FS PF BeauSans Pro"/>
                        </a:rPr>
                        <a:t>A numbered slot means little from text alone; listening tells a breath pause from a hesitation, and whether a laugh or a sigh fits (SynParaSpeech reads text only)</a:t>
                      </a:r>
                    </a:p>
                  </a:txBody>
                  <a:tcPr marL="68580" marR="68580" marT="36576" marB="36576" anchor="ctr">
                    <a:lnL w="0">
                      <a:noFill/>
                    </a:lnL>
                    <a:lnR w="0">
                      <a:noFill/>
                    </a:lnR>
                    <a:lnT w="9525">
                      <a:solidFill>
                        <a:srgbClr val="262626"/>
                      </a:solidFill>
                    </a:lnT>
                    <a:lnB w="6350">
                      <a:solidFill>
                        <a:srgbClr val="D9D9D9"/>
                      </a:solidFill>
                    </a:lnB>
                    <a:noFill/>
                  </a:tcPr>
                </a:tc>
                <a:tc>
                  <a:txBody>
                    <a:bodyPr/>
                    <a:lstStyle/>
                    <a:p>
                      <a:pPr algn="l">
                        <a:lnSpc>
                          <a:spcPct val="95000"/>
                        </a:lnSpc>
                      </a:pPr>
                      <a:r>
                        <a:rPr lang="en-US" sz="950" dirty="0">
                          <a:solidFill>
                            <a:srgbClr val="595959"/>
                          </a:solidFill>
                          <a:latin typeface="FS PF BeauSans Pro"/>
                          <a:ea typeface="FS PF BeauSans Pro"/>
                          <a:cs typeface="FS PF BeauSans Pro"/>
                        </a:rPr>
                        <a:t>design</a:t>
                      </a:r>
                    </a:p>
                  </a:txBody>
                  <a:tcPr marL="68580" marR="68580" marT="36576" marB="36576" anchor="ctr">
                    <a:lnL w="0">
                      <a:noFill/>
                    </a:lnL>
                    <a:lnR w="0">
                      <a:noFill/>
                    </a:lnR>
                    <a:lnT w="9525">
                      <a:solidFill>
                        <a:srgbClr val="262626"/>
                      </a:solidFill>
                    </a:lnT>
                    <a:lnB w="6350">
                      <a:solidFill>
                        <a:srgbClr val="D9D9D9"/>
                      </a:solidFill>
                    </a:lnB>
                    <a:noFill/>
                  </a:tcPr>
                </a:tc>
              </a:tr>
              <a:tr h="274320">
                <a:tc>
                  <a:txBody>
                    <a:bodyPr/>
                    <a:lstStyle/>
                    <a:p>
                      <a:pPr algn="l">
                        <a:lnSpc>
                          <a:spcPct val="95000"/>
                        </a:lnSpc>
                      </a:pPr>
                      <a:r>
                        <a:rPr lang="en-US" sz="1100" b="1" dirty="0">
                          <a:solidFill>
                            <a:srgbClr val="262626"/>
                          </a:solidFill>
                          <a:latin typeface="FS PF BeauSans Pro"/>
                          <a:ea typeface="FS PF BeauSans Pro"/>
                          <a:cs typeface="FS PF BeauSans Pro"/>
                        </a:rPr>
                        <a:t>Model</a:t>
                      </a:r>
                    </a:p>
                  </a:txBody>
                  <a:tcPr marL="68580" marR="68580" marT="36576" marB="36576" anchor="ctr">
                    <a:lnL w="0">
                      <a:noFill/>
                    </a:lnL>
                    <a:lnR w="0">
                      <a:noFill/>
                    </a:lnR>
                    <a:lnT w="6350">
                      <a:solidFill>
                        <a:srgbClr val="D9D9D9"/>
                      </a:solidFill>
                    </a:lnT>
                    <a:lnB w="6350">
                      <a:solidFill>
                        <a:srgbClr val="D9D9D9"/>
                      </a:solidFill>
                    </a:lnB>
                    <a:noFill/>
                  </a:tcPr>
                </a:tc>
                <a:tc>
                  <a:txBody>
                    <a:bodyPr/>
                    <a:lstStyle/>
                    <a:p>
                      <a:pPr algn="l">
                        <a:lnSpc>
                          <a:spcPct val="95000"/>
                        </a:lnSpc>
                      </a:pPr>
                      <a:r>
                        <a:rPr lang="en-US" sz="1100" b="1" dirty="0">
                          <a:solidFill>
                            <a:srgbClr val="EE0033"/>
                          </a:solidFill>
                          <a:latin typeface="FS PF BeauSans Pro"/>
                          <a:ea typeface="FS PF BeauSans Pro"/>
                          <a:cs typeface="FS PF BeauSans Pro"/>
                        </a:rPr>
                        <a:t>Qwen3-Omni-30B-A3B-Instruct</a:t>
                      </a:r>
                    </a:p>
                  </a:txBody>
                  <a:tcPr marL="68580" marR="68580" marT="36576" marB="36576" anchor="ctr">
                    <a:lnL w="0">
                      <a:noFill/>
                    </a:lnL>
                    <a:lnR w="0">
                      <a:noFill/>
                    </a:lnR>
                    <a:lnT w="6350">
                      <a:solidFill>
                        <a:srgbClr val="D9D9D9"/>
                      </a:solidFill>
                    </a:lnT>
                    <a:lnB w="6350">
                      <a:solidFill>
                        <a:srgbClr val="D9D9D9"/>
                      </a:solidFill>
                    </a:lnB>
                    <a:noFill/>
                  </a:tcPr>
                </a:tc>
                <a:tc>
                  <a:txBody>
                    <a:bodyPr/>
                    <a:lstStyle/>
                    <a:p>
                      <a:pPr algn="l">
                        <a:lnSpc>
                          <a:spcPct val="95000"/>
                        </a:lnSpc>
                      </a:pPr>
                      <a:r>
                        <a:rPr lang="en-US" sz="1100" dirty="0">
                          <a:solidFill>
                            <a:srgbClr val="262626"/>
                          </a:solidFill>
                          <a:latin typeface="FS PF BeauSans Pro"/>
                          <a:ea typeface="FS PF BeauSans Pro"/>
                          <a:cs typeface="FS PF BeauSans Pro"/>
                        </a:rPr>
                        <a:t>Open-source SOTA on 32 of 36 audio and audio-visual benchmarks; Vietnamese is one of its 19 speech-input languages; only 3B of its 30B parameters active per token</a:t>
                      </a:r>
                    </a:p>
                  </a:txBody>
                  <a:tcPr marL="68580" marR="68580" marT="36576" marB="36576" anchor="ctr">
                    <a:lnL w="0">
                      <a:noFill/>
                    </a:lnL>
                    <a:lnR w="0">
                      <a:noFill/>
                    </a:lnR>
                    <a:lnT w="6350">
                      <a:solidFill>
                        <a:srgbClr val="D9D9D9"/>
                      </a:solidFill>
                    </a:lnT>
                    <a:lnB w="6350">
                      <a:solidFill>
                        <a:srgbClr val="D9D9D9"/>
                      </a:solidFill>
                    </a:lnB>
                    <a:noFill/>
                  </a:tcPr>
                </a:tc>
                <a:tc>
                  <a:txBody>
                    <a:bodyPr/>
                    <a:lstStyle/>
                    <a:p>
                      <a:pPr algn="l">
                        <a:lnSpc>
                          <a:spcPct val="95000"/>
                        </a:lnSpc>
                      </a:pPr>
                      <a:r>
                        <a:rPr lang="en-US" sz="950" dirty="0">
                          <a:solidFill>
                            <a:srgbClr val="595959"/>
                          </a:solidFill>
                          <a:latin typeface="FS PF BeauSans Pro"/>
                          <a:ea typeface="FS PF BeauSans Pro"/>
                          <a:cs typeface="FS PF BeauSans Pro"/>
                        </a:rPr>
                        <a:t>Qwen Team, 2025</a:t>
                      </a:r>
                    </a:p>
                  </a:txBody>
                  <a:tcPr marL="68580" marR="68580" marT="36576" marB="36576" anchor="ctr">
                    <a:lnL w="0">
                      <a:noFill/>
                    </a:lnL>
                    <a:lnR w="0">
                      <a:noFill/>
                    </a:lnR>
                    <a:lnT w="6350">
                      <a:solidFill>
                        <a:srgbClr val="D9D9D9"/>
                      </a:solidFill>
                    </a:lnT>
                    <a:lnB w="6350">
                      <a:solidFill>
                        <a:srgbClr val="D9D9D9"/>
                      </a:solidFill>
                    </a:lnB>
                    <a:noFill/>
                  </a:tcPr>
                </a:tc>
              </a:tr>
              <a:tr h="274320">
                <a:tc>
                  <a:txBody>
                    <a:bodyPr/>
                    <a:lstStyle/>
                    <a:p>
                      <a:pPr algn="l">
                        <a:lnSpc>
                          <a:spcPct val="95000"/>
                        </a:lnSpc>
                      </a:pPr>
                      <a:r>
                        <a:rPr lang="en-US" sz="1100" b="1" dirty="0">
                          <a:solidFill>
                            <a:srgbClr val="262626"/>
                          </a:solidFill>
                          <a:latin typeface="FS PF BeauSans Pro"/>
                          <a:ea typeface="FS PF BeauSans Pro"/>
                          <a:cs typeface="FS PF BeauSans Pro"/>
                        </a:rPr>
                        <a:t>Serving</a:t>
                      </a:r>
                    </a:p>
                  </a:txBody>
                  <a:tcPr marL="68580" marR="68580" marT="36576" marB="36576" anchor="ctr">
                    <a:lnL w="0">
                      <a:noFill/>
                    </a:lnL>
                    <a:lnR w="0">
                      <a:noFill/>
                    </a:lnR>
                    <a:lnT w="6350">
                      <a:solidFill>
                        <a:srgbClr val="D9D9D9"/>
                      </a:solidFill>
                    </a:lnT>
                    <a:lnB w="6350">
                      <a:solidFill>
                        <a:srgbClr val="D9D9D9"/>
                      </a:solidFill>
                    </a:lnB>
                    <a:noFill/>
                  </a:tcPr>
                </a:tc>
                <a:tc>
                  <a:txBody>
                    <a:bodyPr/>
                    <a:lstStyle/>
                    <a:p>
                      <a:pPr algn="l">
                        <a:lnSpc>
                          <a:spcPct val="95000"/>
                        </a:lnSpc>
                      </a:pPr>
                      <a:r>
                        <a:rPr lang="en-US" sz="1100" b="1" dirty="0">
                          <a:solidFill>
                            <a:srgbClr val="EE0033"/>
                          </a:solidFill>
                          <a:latin typeface="FS PF BeauSans Pro"/>
                          <a:ea typeface="FS PF BeauSans Pro"/>
                          <a:cs typeface="FS PF BeauSans Pro"/>
                        </a:rPr>
                        <a:t>local, through vLLM</a:t>
                      </a:r>
                    </a:p>
                  </a:txBody>
                  <a:tcPr marL="68580" marR="68580" marT="36576" marB="36576" anchor="ctr">
                    <a:lnL w="0">
                      <a:noFill/>
                    </a:lnL>
                    <a:lnR w="0">
                      <a:noFill/>
                    </a:lnR>
                    <a:lnT w="6350">
                      <a:solidFill>
                        <a:srgbClr val="D9D9D9"/>
                      </a:solidFill>
                    </a:lnT>
                    <a:lnB w="6350">
                      <a:solidFill>
                        <a:srgbClr val="D9D9D9"/>
                      </a:solidFill>
                    </a:lnB>
                    <a:noFill/>
                  </a:tcPr>
                </a:tc>
                <a:tc>
                  <a:txBody>
                    <a:bodyPr/>
                    <a:lstStyle/>
                    <a:p>
                      <a:pPr algn="l">
                        <a:lnSpc>
                          <a:spcPct val="95000"/>
                        </a:lnSpc>
                      </a:pPr>
                      <a:r>
                        <a:rPr lang="en-US" sz="1100" dirty="0">
                          <a:solidFill>
                            <a:srgbClr val="262626"/>
                          </a:solidFill>
                          <a:latin typeface="FS PF BeauSans Pro"/>
                          <a:ea typeface="FS PF BeauSans Pro"/>
                          <a:cs typeface="FS PF BeauSans Pro"/>
                        </a:rPr>
                        <a:t>Recordings stay on our own servers: no external API and no key</a:t>
                      </a:r>
                    </a:p>
                  </a:txBody>
                  <a:tcPr marL="68580" marR="68580" marT="36576" marB="36576" anchor="ctr">
                    <a:lnL w="0">
                      <a:noFill/>
                    </a:lnL>
                    <a:lnR w="0">
                      <a:noFill/>
                    </a:lnR>
                    <a:lnT w="6350">
                      <a:solidFill>
                        <a:srgbClr val="D9D9D9"/>
                      </a:solidFill>
                    </a:lnT>
                    <a:lnB w="6350">
                      <a:solidFill>
                        <a:srgbClr val="D9D9D9"/>
                      </a:solidFill>
                    </a:lnB>
                    <a:noFill/>
                  </a:tcPr>
                </a:tc>
                <a:tc>
                  <a:txBody>
                    <a:bodyPr/>
                    <a:lstStyle/>
                    <a:p>
                      <a:pPr algn="l">
                        <a:lnSpc>
                          <a:spcPct val="95000"/>
                        </a:lnSpc>
                      </a:pPr>
                      <a:r>
                        <a:rPr lang="en-US" sz="950" dirty="0">
                          <a:solidFill>
                            <a:srgbClr val="595959"/>
                          </a:solidFill>
                          <a:latin typeface="FS PF BeauSans Pro"/>
                          <a:ea typeface="FS PF BeauSans Pro"/>
                          <a:cs typeface="FS PF BeauSans Pro"/>
                        </a:rPr>
                        <a:t>design</a:t>
                      </a:r>
                    </a:p>
                  </a:txBody>
                  <a:tcPr marL="68580" marR="68580" marT="36576" marB="36576" anchor="ctr">
                    <a:lnL w="0">
                      <a:noFill/>
                    </a:lnL>
                    <a:lnR w="0">
                      <a:noFill/>
                    </a:lnR>
                    <a:lnT w="6350">
                      <a:solidFill>
                        <a:srgbClr val="D9D9D9"/>
                      </a:solidFill>
                    </a:lnT>
                    <a:lnB w="6350">
                      <a:solidFill>
                        <a:srgbClr val="D9D9D9"/>
                      </a:solidFill>
                    </a:lnB>
                    <a:noFill/>
                  </a:tcPr>
                </a:tc>
              </a:tr>
              <a:tr h="274320">
                <a:tc>
                  <a:txBody>
                    <a:bodyPr/>
                    <a:lstStyle/>
                    <a:p>
                      <a:pPr algn="l">
                        <a:lnSpc>
                          <a:spcPct val="95000"/>
                        </a:lnSpc>
                      </a:pPr>
                      <a:r>
                        <a:rPr lang="en-US" sz="1100" b="1" dirty="0">
                          <a:solidFill>
                            <a:srgbClr val="262626"/>
                          </a:solidFill>
                          <a:latin typeface="FS PF BeauSans Pro"/>
                          <a:ea typeface="FS PF BeauSans Pro"/>
                          <a:cs typeface="FS PF BeauSans Pro"/>
                        </a:rPr>
                        <a:t>Answer</a:t>
                      </a:r>
                    </a:p>
                  </a:txBody>
                  <a:tcPr marL="68580" marR="68580" marT="36576" marB="36576" anchor="ctr">
                    <a:lnL w="0">
                      <a:noFill/>
                    </a:lnL>
                    <a:lnR w="0">
                      <a:noFill/>
                    </a:lnR>
                    <a:lnT w="6350">
                      <a:solidFill>
                        <a:srgbClr val="D9D9D9"/>
                      </a:solidFill>
                    </a:lnT>
                    <a:lnB w="6350">
                      <a:solidFill>
                        <a:srgbClr val="D9D9D9"/>
                      </a:solidFill>
                    </a:lnB>
                    <a:noFill/>
                  </a:tcPr>
                </a:tc>
                <a:tc>
                  <a:txBody>
                    <a:bodyPr/>
                    <a:lstStyle/>
                    <a:p>
                      <a:pPr algn="l">
                        <a:lnSpc>
                          <a:spcPct val="95000"/>
                        </a:lnSpc>
                      </a:pPr>
                      <a:r>
                        <a:rPr lang="en-US" sz="1100" b="1" dirty="0">
                          <a:solidFill>
                            <a:srgbClr val="EE0033"/>
                          </a:solidFill>
                          <a:latin typeface="FS PF BeauSans Pro"/>
                          <a:ea typeface="FS PF BeauSans Pro"/>
                          <a:cs typeface="FS PF BeauSans Pro"/>
                        </a:rPr>
                        <a:t>JSON {slot, tag}, never transcript text</a:t>
                      </a:r>
                    </a:p>
                  </a:txBody>
                  <a:tcPr marL="68580" marR="68580" marT="36576" marB="36576" anchor="ctr">
                    <a:lnL w="0">
                      <a:noFill/>
                    </a:lnL>
                    <a:lnR w="0">
                      <a:noFill/>
                    </a:lnR>
                    <a:lnT w="6350">
                      <a:solidFill>
                        <a:srgbClr val="D9D9D9"/>
                      </a:solidFill>
                    </a:lnT>
                    <a:lnB w="6350">
                      <a:solidFill>
                        <a:srgbClr val="D9D9D9"/>
                      </a:solidFill>
                    </a:lnB>
                    <a:noFill/>
                  </a:tcPr>
                </a:tc>
                <a:tc>
                  <a:txBody>
                    <a:bodyPr/>
                    <a:lstStyle/>
                    <a:p>
                      <a:pPr algn="l">
                        <a:lnSpc>
                          <a:spcPct val="95000"/>
                        </a:lnSpc>
                      </a:pPr>
                      <a:r>
                        <a:rPr lang="en-US" sz="1100" dirty="0">
                          <a:solidFill>
                            <a:srgbClr val="262626"/>
                          </a:solidFill>
                          <a:latin typeface="FS PF BeauSans Pro"/>
                          <a:ea typeface="FS PF BeauSans Pro"/>
                          <a:cs typeface="FS PF BeauSans Pro"/>
                        </a:rPr>
                        <a:t>The tag is inserted in code at the chosen slot and the audio is cut at the same slot, so text and audio agree by construction</a:t>
                      </a:r>
                    </a:p>
                  </a:txBody>
                  <a:tcPr marL="68580" marR="68580" marT="36576" marB="36576" anchor="ctr">
                    <a:lnL w="0">
                      <a:noFill/>
                    </a:lnL>
                    <a:lnR w="0">
                      <a:noFill/>
                    </a:lnR>
                    <a:lnT w="6350">
                      <a:solidFill>
                        <a:srgbClr val="D9D9D9"/>
                      </a:solidFill>
                    </a:lnT>
                    <a:lnB w="6350">
                      <a:solidFill>
                        <a:srgbClr val="D9D9D9"/>
                      </a:solidFill>
                    </a:lnB>
                    <a:noFill/>
                  </a:tcPr>
                </a:tc>
                <a:tc>
                  <a:txBody>
                    <a:bodyPr/>
                    <a:lstStyle/>
                    <a:p>
                      <a:pPr algn="l">
                        <a:lnSpc>
                          <a:spcPct val="95000"/>
                        </a:lnSpc>
                      </a:pPr>
                      <a:r>
                        <a:rPr lang="en-US" sz="950" dirty="0">
                          <a:solidFill>
                            <a:srgbClr val="595959"/>
                          </a:solidFill>
                          <a:latin typeface="FS PF BeauSans Pro"/>
                          <a:ea typeface="FS PF BeauSans Pro"/>
                          <a:cs typeface="FS PF BeauSans Pro"/>
                        </a:rPr>
                        <a:t>design</a:t>
                      </a:r>
                    </a:p>
                  </a:txBody>
                  <a:tcPr marL="68580" marR="68580" marT="36576" marB="36576" anchor="ctr">
                    <a:lnL w="0">
                      <a:noFill/>
                    </a:lnL>
                    <a:lnR w="0">
                      <a:noFill/>
                    </a:lnR>
                    <a:lnT w="6350">
                      <a:solidFill>
                        <a:srgbClr val="D9D9D9"/>
                      </a:solidFill>
                    </a:lnT>
                    <a:lnB w="6350">
                      <a:solidFill>
                        <a:srgbClr val="D9D9D9"/>
                      </a:solidFill>
                    </a:lnB>
                    <a:noFill/>
                  </a:tcPr>
                </a:tc>
              </a:tr>
              <a:tr h="274320">
                <a:tc>
                  <a:txBody>
                    <a:bodyPr/>
                    <a:lstStyle/>
                    <a:p>
                      <a:pPr algn="l">
                        <a:lnSpc>
                          <a:spcPct val="95000"/>
                        </a:lnSpc>
                      </a:pPr>
                      <a:r>
                        <a:rPr lang="en-US" sz="1100" b="1" dirty="0">
                          <a:solidFill>
                            <a:srgbClr val="262626"/>
                          </a:solidFill>
                          <a:latin typeface="FS PF BeauSans Pro"/>
                          <a:ea typeface="FS PF BeauSans Pro"/>
                          <a:cs typeface="FS PF BeauSans Pro"/>
                        </a:rPr>
                        <a:t>Decoding</a:t>
                      </a:r>
                    </a:p>
                  </a:txBody>
                  <a:tcPr marL="68580" marR="68580" marT="36576" marB="36576" anchor="ctr">
                    <a:lnL w="0">
                      <a:noFill/>
                    </a:lnL>
                    <a:lnR w="0">
                      <a:noFill/>
                    </a:lnR>
                    <a:lnT w="6350">
                      <a:solidFill>
                        <a:srgbClr val="D9D9D9"/>
                      </a:solidFill>
                    </a:lnT>
                    <a:lnB w="6350">
                      <a:solidFill>
                        <a:srgbClr val="D9D9D9"/>
                      </a:solidFill>
                    </a:lnB>
                    <a:noFill/>
                  </a:tcPr>
                </a:tc>
                <a:tc>
                  <a:txBody>
                    <a:bodyPr/>
                    <a:lstStyle/>
                    <a:p>
                      <a:pPr algn="l">
                        <a:lnSpc>
                          <a:spcPct val="95000"/>
                        </a:lnSpc>
                      </a:pPr>
                      <a:r>
                        <a:rPr lang="en-US" sz="1100" b="1" dirty="0">
                          <a:solidFill>
                            <a:srgbClr val="EE0033"/>
                          </a:solidFill>
                          <a:latin typeface="FS PF BeauSans Pro"/>
                          <a:ea typeface="FS PF BeauSans Pro"/>
                          <a:cs typeface="FS PF BeauSans Pro"/>
                        </a:rPr>
                        <a:t>temperature 0.2, top-p 0.95</a:t>
                      </a:r>
                    </a:p>
                  </a:txBody>
                  <a:tcPr marL="68580" marR="68580" marT="36576" marB="36576" anchor="ctr">
                    <a:lnL w="0">
                      <a:noFill/>
                    </a:lnL>
                    <a:lnR w="0">
                      <a:noFill/>
                    </a:lnR>
                    <a:lnT w="6350">
                      <a:solidFill>
                        <a:srgbClr val="D9D9D9"/>
                      </a:solidFill>
                    </a:lnT>
                    <a:lnB w="6350">
                      <a:solidFill>
                        <a:srgbClr val="D9D9D9"/>
                      </a:solidFill>
                    </a:lnB>
                    <a:noFill/>
                  </a:tcPr>
                </a:tc>
                <a:tc>
                  <a:txBody>
                    <a:bodyPr/>
                    <a:lstStyle/>
                    <a:p>
                      <a:pPr algn="l">
                        <a:lnSpc>
                          <a:spcPct val="95000"/>
                        </a:lnSpc>
                      </a:pPr>
                      <a:r>
                        <a:rPr lang="en-US" sz="1100" dirty="0">
                          <a:solidFill>
                            <a:srgbClr val="262626"/>
                          </a:solidFill>
                          <a:latin typeface="FS PF BeauSans Pro"/>
                          <a:ea typeface="FS PF BeauSans Pro"/>
                          <a:cs typeface="FS PF BeauSans Pro"/>
                        </a:rPr>
                        <a:t>A constrained choice, not free writing: low randomness keeps replies valid JSON and stable across runs</a:t>
                      </a:r>
                    </a:p>
                  </a:txBody>
                  <a:tcPr marL="68580" marR="68580" marT="36576" marB="36576" anchor="ctr">
                    <a:lnL w="0">
                      <a:noFill/>
                    </a:lnL>
                    <a:lnR w="0">
                      <a:noFill/>
                    </a:lnR>
                    <a:lnT w="6350">
                      <a:solidFill>
                        <a:srgbClr val="D9D9D9"/>
                      </a:solidFill>
                    </a:lnT>
                    <a:lnB w="6350">
                      <a:solidFill>
                        <a:srgbClr val="D9D9D9"/>
                      </a:solidFill>
                    </a:lnB>
                    <a:noFill/>
                  </a:tcPr>
                </a:tc>
                <a:tc>
                  <a:txBody>
                    <a:bodyPr/>
                    <a:lstStyle/>
                    <a:p>
                      <a:pPr algn="l">
                        <a:lnSpc>
                          <a:spcPct val="95000"/>
                        </a:lnSpc>
                      </a:pPr>
                      <a:r>
                        <a:rPr lang="en-US" sz="950" dirty="0">
                          <a:solidFill>
                            <a:srgbClr val="595959"/>
                          </a:solidFill>
                          <a:latin typeface="FS PF BeauSans Pro"/>
                          <a:ea typeface="FS PF BeauSans Pro"/>
                          <a:cs typeface="FS PF BeauSans Pro"/>
                        </a:rPr>
                        <a:t>design</a:t>
                      </a:r>
                    </a:p>
                  </a:txBody>
                  <a:tcPr marL="68580" marR="68580" marT="36576" marB="36576" anchor="ctr">
                    <a:lnL w="0">
                      <a:noFill/>
                    </a:lnL>
                    <a:lnR w="0">
                      <a:noFill/>
                    </a:lnR>
                    <a:lnT w="6350">
                      <a:solidFill>
                        <a:srgbClr val="D9D9D9"/>
                      </a:solidFill>
                    </a:lnT>
                    <a:lnB w="6350">
                      <a:solidFill>
                        <a:srgbClr val="D9D9D9"/>
                      </a:solidFill>
                    </a:lnB>
                    <a:noFill/>
                  </a:tcPr>
                </a:tc>
              </a:tr>
              <a:tr h="274320">
                <a:tc>
                  <a:txBody>
                    <a:bodyPr/>
                    <a:lstStyle/>
                    <a:p>
                      <a:pPr algn="l">
                        <a:lnSpc>
                          <a:spcPct val="95000"/>
                        </a:lnSpc>
                      </a:pPr>
                      <a:r>
                        <a:rPr lang="en-US" sz="1100" b="1" dirty="0">
                          <a:solidFill>
                            <a:srgbClr val="262626"/>
                          </a:solidFill>
                          <a:latin typeface="FS PF BeauSans Pro"/>
                          <a:ea typeface="FS PF BeauSans Pro"/>
                          <a:cs typeface="FS PF BeauSans Pro"/>
                        </a:rPr>
                        <a:t>Retries</a:t>
                      </a:r>
                    </a:p>
                  </a:txBody>
                  <a:tcPr marL="68580" marR="68580" marT="36576" marB="36576" anchor="ctr">
                    <a:lnL w="0">
                      <a:noFill/>
                    </a:lnL>
                    <a:lnR w="0">
                      <a:noFill/>
                    </a:lnR>
                    <a:lnT w="6350">
                      <a:solidFill>
                        <a:srgbClr val="D9D9D9"/>
                      </a:solidFill>
                    </a:lnT>
                    <a:lnB w="6350">
                      <a:solidFill>
                        <a:srgbClr val="D9D9D9"/>
                      </a:solidFill>
                    </a:lnB>
                    <a:noFill/>
                  </a:tcPr>
                </a:tc>
                <a:tc>
                  <a:txBody>
                    <a:bodyPr/>
                    <a:lstStyle/>
                    <a:p>
                      <a:pPr algn="l">
                        <a:lnSpc>
                          <a:spcPct val="95000"/>
                        </a:lnSpc>
                      </a:pPr>
                      <a:r>
                        <a:rPr lang="en-US" sz="1100" b="1" dirty="0">
                          <a:solidFill>
                            <a:srgbClr val="EE0033"/>
                          </a:solidFill>
                          <a:latin typeface="FS PF BeauSans Pro"/>
                          <a:ea typeface="FS PF BeauSans Pro"/>
                          <a:cs typeface="FS PF BeauSans Pro"/>
                        </a:rPr>
                        <a:t>up to 3 attempts</a:t>
                      </a:r>
                    </a:p>
                  </a:txBody>
                  <a:tcPr marL="68580" marR="68580" marT="36576" marB="36576" anchor="ctr">
                    <a:lnL w="0">
                      <a:noFill/>
                    </a:lnL>
                    <a:lnR w="0">
                      <a:noFill/>
                    </a:lnR>
                    <a:lnT w="6350">
                      <a:solidFill>
                        <a:srgbClr val="D9D9D9"/>
                      </a:solidFill>
                    </a:lnT>
                    <a:lnB w="6350">
                      <a:solidFill>
                        <a:srgbClr val="D9D9D9"/>
                      </a:solidFill>
                    </a:lnB>
                    <a:noFill/>
                  </a:tcPr>
                </a:tc>
                <a:tc>
                  <a:txBody>
                    <a:bodyPr/>
                    <a:lstStyle/>
                    <a:p>
                      <a:pPr algn="l">
                        <a:lnSpc>
                          <a:spcPct val="95000"/>
                        </a:lnSpc>
                      </a:pPr>
                      <a:r>
                        <a:rPr lang="en-US" sz="1100" dirty="0">
                          <a:solidFill>
                            <a:srgbClr val="262626"/>
                          </a:solidFill>
                          <a:latin typeface="FS PF BeauSans Pro"/>
                          <a:ea typeface="FS PF BeauSans Pro"/>
                          <a:cs typeface="FS PF BeauSans Pro"/>
                        </a:rPr>
                        <a:t>At this temperature the same prompt mostly returns the same answer, so each retry states what was wrong (unreadable reply, unknown or withheld tag)</a:t>
                      </a:r>
                    </a:p>
                  </a:txBody>
                  <a:tcPr marL="68580" marR="68580" marT="36576" marB="36576" anchor="ctr">
                    <a:lnL w="0">
                      <a:noFill/>
                    </a:lnL>
                    <a:lnR w="0">
                      <a:noFill/>
                    </a:lnR>
                    <a:lnT w="6350">
                      <a:solidFill>
                        <a:srgbClr val="D9D9D9"/>
                      </a:solidFill>
                    </a:lnT>
                    <a:lnB w="6350">
                      <a:solidFill>
                        <a:srgbClr val="D9D9D9"/>
                      </a:solidFill>
                    </a:lnB>
                    <a:noFill/>
                  </a:tcPr>
                </a:tc>
                <a:tc>
                  <a:txBody>
                    <a:bodyPr/>
                    <a:lstStyle/>
                    <a:p>
                      <a:pPr algn="l">
                        <a:lnSpc>
                          <a:spcPct val="95000"/>
                        </a:lnSpc>
                      </a:pPr>
                      <a:r>
                        <a:rPr lang="en-US" sz="950" dirty="0">
                          <a:solidFill>
                            <a:srgbClr val="595959"/>
                          </a:solidFill>
                          <a:latin typeface="FS PF BeauSans Pro"/>
                          <a:ea typeface="FS PF BeauSans Pro"/>
                          <a:cs typeface="FS PF BeauSans Pro"/>
                        </a:rPr>
                        <a:t>design</a:t>
                      </a:r>
                    </a:p>
                  </a:txBody>
                  <a:tcPr marL="68580" marR="68580" marT="36576" marB="36576" anchor="ctr">
                    <a:lnL w="0">
                      <a:noFill/>
                    </a:lnL>
                    <a:lnR w="0">
                      <a:noFill/>
                    </a:lnR>
                    <a:lnT w="6350">
                      <a:solidFill>
                        <a:srgbClr val="D9D9D9"/>
                      </a:solidFill>
                    </a:lnT>
                    <a:lnB w="6350">
                      <a:solidFill>
                        <a:srgbClr val="D9D9D9"/>
                      </a:solidFill>
                    </a:lnB>
                    <a:noFill/>
                  </a:tcPr>
                </a:tc>
              </a:tr>
              <a:tr h="274320">
                <a:tc>
                  <a:txBody>
                    <a:bodyPr/>
                    <a:lstStyle/>
                    <a:p>
                      <a:pPr algn="l">
                        <a:lnSpc>
                          <a:spcPct val="95000"/>
                        </a:lnSpc>
                      </a:pPr>
                      <a:r>
                        <a:rPr lang="en-US" sz="1100" b="1" dirty="0">
                          <a:solidFill>
                            <a:srgbClr val="262626"/>
                          </a:solidFill>
                          <a:latin typeface="FS PF BeauSans Pro"/>
                          <a:ea typeface="FS PF BeauSans Pro"/>
                          <a:cs typeface="FS PF BeauSans Pro"/>
                        </a:rPr>
                        <a:t>Option to decline</a:t>
                      </a:r>
                    </a:p>
                  </a:txBody>
                  <a:tcPr marL="68580" marR="68580" marT="36576" marB="36576" anchor="ctr">
                    <a:lnL w="0">
                      <a:noFill/>
                    </a:lnL>
                    <a:lnR w="0">
                      <a:noFill/>
                    </a:lnR>
                    <a:lnT w="6350">
                      <a:solidFill>
                        <a:srgbClr val="D9D9D9"/>
                      </a:solidFill>
                    </a:lnT>
                    <a:lnB w="6350">
                      <a:solidFill>
                        <a:srgbClr val="D9D9D9"/>
                      </a:solidFill>
                    </a:lnB>
                    <a:noFill/>
                  </a:tcPr>
                </a:tc>
                <a:tc>
                  <a:txBody>
                    <a:bodyPr/>
                    <a:lstStyle/>
                    <a:p>
                      <a:pPr algn="l">
                        <a:lnSpc>
                          <a:spcPct val="95000"/>
                        </a:lnSpc>
                      </a:pPr>
                      <a:r>
                        <a:rPr lang="en-US" sz="1100" b="1" dirty="0">
                          <a:solidFill>
                            <a:srgbClr val="EE0033"/>
                          </a:solidFill>
                          <a:latin typeface="FS PF BeauSans Pro"/>
                          <a:ea typeface="FS PF BeauSans Pro"/>
                          <a:cs typeface="FS PF BeauSans Pro"/>
                        </a:rPr>
                        <a:t>{"slot": null} skips</a:t>
                      </a:r>
                    </a:p>
                  </a:txBody>
                  <a:tcPr marL="68580" marR="68580" marT="36576" marB="36576" anchor="ctr">
                    <a:lnL w="0">
                      <a:noFill/>
                    </a:lnL>
                    <a:lnR w="0">
                      <a:noFill/>
                    </a:lnR>
                    <a:lnT w="6350">
                      <a:solidFill>
                        <a:srgbClr val="D9D9D9"/>
                      </a:solidFill>
                    </a:lnT>
                    <a:lnB w="6350">
                      <a:solidFill>
                        <a:srgbClr val="D9D9D9"/>
                      </a:solidFill>
                    </a:lnB>
                    <a:noFill/>
                  </a:tcPr>
                </a:tc>
                <a:tc>
                  <a:txBody>
                    <a:bodyPr/>
                    <a:lstStyle/>
                    <a:p>
                      <a:pPr algn="l">
                        <a:lnSpc>
                          <a:spcPct val="95000"/>
                        </a:lnSpc>
                      </a:pPr>
                      <a:r>
                        <a:rPr lang="en-US" sz="1100" dirty="0">
                          <a:solidFill>
                            <a:srgbClr val="262626"/>
                          </a:solidFill>
                          <a:latin typeface="FS PF BeauSans Pro"/>
                          <a:ea typeface="FS PF BeauSans Pro"/>
                          <a:cs typeface="FS PF BeauSans Pro"/>
                        </a:rPr>
                        <a:t>Forcing a tag on every utterance would put a sound where none fits</a:t>
                      </a:r>
                    </a:p>
                  </a:txBody>
                  <a:tcPr marL="68580" marR="68580" marT="36576" marB="36576" anchor="ctr">
                    <a:lnL w="0">
                      <a:noFill/>
                    </a:lnL>
                    <a:lnR w="0">
                      <a:noFill/>
                    </a:lnR>
                    <a:lnT w="6350">
                      <a:solidFill>
                        <a:srgbClr val="D9D9D9"/>
                      </a:solidFill>
                    </a:lnT>
                    <a:lnB w="6350">
                      <a:solidFill>
                        <a:srgbClr val="D9D9D9"/>
                      </a:solidFill>
                    </a:lnB>
                    <a:noFill/>
                  </a:tcPr>
                </a:tc>
                <a:tc>
                  <a:txBody>
                    <a:bodyPr/>
                    <a:lstStyle/>
                    <a:p>
                      <a:pPr algn="l">
                        <a:lnSpc>
                          <a:spcPct val="95000"/>
                        </a:lnSpc>
                      </a:pPr>
                      <a:r>
                        <a:rPr lang="en-US" sz="950" dirty="0">
                          <a:solidFill>
                            <a:srgbClr val="595959"/>
                          </a:solidFill>
                          <a:latin typeface="FS PF BeauSans Pro"/>
                          <a:ea typeface="FS PF BeauSans Pro"/>
                          <a:cs typeface="FS PF BeauSans Pro"/>
                        </a:rPr>
                        <a:t>design</a:t>
                      </a:r>
                    </a:p>
                  </a:txBody>
                  <a:tcPr marL="68580" marR="68580" marT="36576" marB="36576" anchor="ctr">
                    <a:lnL w="0">
                      <a:noFill/>
                    </a:lnL>
                    <a:lnR w="0">
                      <a:noFill/>
                    </a:lnR>
                    <a:lnT w="6350">
                      <a:solidFill>
                        <a:srgbClr val="D9D9D9"/>
                      </a:solidFill>
                    </a:lnT>
                    <a:lnB w="6350">
                      <a:solidFill>
                        <a:srgbClr val="D9D9D9"/>
                      </a:solidFill>
                    </a:lnB>
                    <a:noFill/>
                  </a:tcPr>
                </a:tc>
              </a:tr>
              <a:tr h="274320">
                <a:tc>
                  <a:txBody>
                    <a:bodyPr/>
                    <a:lstStyle/>
                    <a:p>
                      <a:pPr algn="l">
                        <a:lnSpc>
                          <a:spcPct val="95000"/>
                        </a:lnSpc>
                      </a:pPr>
                      <a:r>
                        <a:rPr lang="en-US" sz="1100" b="1" dirty="0">
                          <a:solidFill>
                            <a:srgbClr val="262626"/>
                          </a:solidFill>
                          <a:latin typeface="FS PF BeauSans Pro"/>
                          <a:ea typeface="FS PF BeauSans Pro"/>
                          <a:cs typeface="FS PF BeauSans Pro"/>
                        </a:rPr>
                        <a:t>Balancer cap</a:t>
                      </a:r>
                    </a:p>
                  </a:txBody>
                  <a:tcPr marL="68580" marR="68580" marT="36576" marB="36576" anchor="ctr">
                    <a:lnL w="0">
                      <a:noFill/>
                    </a:lnL>
                    <a:lnR w="0">
                      <a:noFill/>
                    </a:lnR>
                    <a:lnT w="6350">
                      <a:solidFill>
                        <a:srgbClr val="D9D9D9"/>
                      </a:solidFill>
                    </a:lnT>
                    <a:lnB w="6350">
                      <a:solidFill>
                        <a:srgbClr val="D9D9D9"/>
                      </a:solidFill>
                    </a:lnB>
                    <a:noFill/>
                  </a:tcPr>
                </a:tc>
                <a:tc>
                  <a:txBody>
                    <a:bodyPr/>
                    <a:lstStyle/>
                    <a:p>
                      <a:pPr algn="l">
                        <a:lnSpc>
                          <a:spcPct val="95000"/>
                        </a:lnSpc>
                      </a:pPr>
                      <a:r>
                        <a:rPr lang="en-US" sz="1100" b="1" dirty="0">
                          <a:solidFill>
                            <a:srgbClr val="EE0033"/>
                          </a:solidFill>
                          <a:latin typeface="FS PF BeauSans Pro"/>
                          <a:ea typeface="FS PF BeauSans Pro"/>
                          <a:cs typeface="FS PF BeauSans Pro"/>
                        </a:rPr>
                        <a:t>25% share</a:t>
                      </a:r>
                    </a:p>
                  </a:txBody>
                  <a:tcPr marL="68580" marR="68580" marT="36576" marB="36576" anchor="ctr">
                    <a:lnL w="0">
                      <a:noFill/>
                    </a:lnL>
                    <a:lnR w="0">
                      <a:noFill/>
                    </a:lnR>
                    <a:lnT w="6350">
                      <a:solidFill>
                        <a:srgbClr val="D9D9D9"/>
                      </a:solidFill>
                    </a:lnT>
                    <a:lnB w="6350">
                      <a:solidFill>
                        <a:srgbClr val="D9D9D9"/>
                      </a:solidFill>
                    </a:lnB>
                    <a:noFill/>
                  </a:tcPr>
                </a:tc>
                <a:tc>
                  <a:txBody>
                    <a:bodyPr/>
                    <a:lstStyle/>
                    <a:p>
                      <a:pPr algn="l">
                        <a:lnSpc>
                          <a:spcPct val="95000"/>
                        </a:lnSpc>
                      </a:pPr>
                      <a:r>
                        <a:rPr lang="en-US" sz="1100" dirty="0">
                          <a:solidFill>
                            <a:srgbClr val="262626"/>
                          </a:solidFill>
                          <a:latin typeface="FS PF BeauSans Pro"/>
                          <a:ea typeface="FS PF BeauSans Pro"/>
                          <a:cs typeface="FS PF BeauSans Pro"/>
                        </a:rPr>
                        <a:t>Unbalanced, the pilot's 16 tags were all laughter (9) or sigh (7); a tag above the cap is withheld until the others catch up</a:t>
                      </a:r>
                    </a:p>
                  </a:txBody>
                  <a:tcPr marL="68580" marR="68580" marT="36576" marB="36576" anchor="ctr">
                    <a:lnL w="0">
                      <a:noFill/>
                    </a:lnL>
                    <a:lnR w="0">
                      <a:noFill/>
                    </a:lnR>
                    <a:lnT w="6350">
                      <a:solidFill>
                        <a:srgbClr val="D9D9D9"/>
                      </a:solidFill>
                    </a:lnT>
                    <a:lnB w="6350">
                      <a:solidFill>
                        <a:srgbClr val="D9D9D9"/>
                      </a:solidFill>
                    </a:lnB>
                    <a:noFill/>
                  </a:tcPr>
                </a:tc>
                <a:tc>
                  <a:txBody>
                    <a:bodyPr/>
                    <a:lstStyle/>
                    <a:p>
                      <a:pPr algn="l">
                        <a:lnSpc>
                          <a:spcPct val="95000"/>
                        </a:lnSpc>
                      </a:pPr>
                      <a:r>
                        <a:rPr lang="en-US" sz="950" dirty="0">
                          <a:solidFill>
                            <a:srgbClr val="595959"/>
                          </a:solidFill>
                          <a:latin typeface="FS PF BeauSans Pro"/>
                          <a:ea typeface="FS PF BeauSans Pro"/>
                          <a:cs typeface="FS PF BeauSans Pro"/>
                        </a:rPr>
                        <a:t>pilot</a:t>
                      </a:r>
                    </a:p>
                  </a:txBody>
                  <a:tcPr marL="68580" marR="68580" marT="36576" marB="36576" anchor="ctr">
                    <a:lnL w="0">
                      <a:noFill/>
                    </a:lnL>
                    <a:lnR w="0">
                      <a:noFill/>
                    </a:lnR>
                    <a:lnT w="6350">
                      <a:solidFill>
                        <a:srgbClr val="D9D9D9"/>
                      </a:solidFill>
                    </a:lnT>
                    <a:lnB w="6350">
                      <a:solidFill>
                        <a:srgbClr val="D9D9D9"/>
                      </a:solidFill>
                    </a:lnB>
                    <a:noFill/>
                  </a:tcPr>
                </a:tc>
              </a:tr>
              <a:tr h="274320">
                <a:tc>
                  <a:txBody>
                    <a:bodyPr/>
                    <a:lstStyle/>
                    <a:p>
                      <a:pPr algn="l">
                        <a:lnSpc>
                          <a:spcPct val="95000"/>
                        </a:lnSpc>
                      </a:pPr>
                      <a:r>
                        <a:rPr lang="en-US" sz="1100" b="1" dirty="0">
                          <a:solidFill>
                            <a:srgbClr val="262626"/>
                          </a:solidFill>
                          <a:latin typeface="FS PF BeauSans Pro"/>
                          <a:ea typeface="FS PF BeauSans Pro"/>
                          <a:cs typeface="FS PF BeauSans Pro"/>
                        </a:rPr>
                        <a:t>Warm-up</a:t>
                      </a:r>
                    </a:p>
                  </a:txBody>
                  <a:tcPr marL="68580" marR="68580" marT="36576" marB="36576" anchor="ctr">
                    <a:lnL w="0">
                      <a:noFill/>
                    </a:lnL>
                    <a:lnR w="0">
                      <a:noFill/>
                    </a:lnR>
                    <a:lnT w="6350">
                      <a:solidFill>
                        <a:srgbClr val="D9D9D9"/>
                      </a:solidFill>
                    </a:lnT>
                    <a:lnB w="19050">
                      <a:solidFill>
                        <a:srgbClr val="262626"/>
                      </a:solidFill>
                    </a:lnB>
                    <a:noFill/>
                  </a:tcPr>
                </a:tc>
                <a:tc>
                  <a:txBody>
                    <a:bodyPr/>
                    <a:lstStyle/>
                    <a:p>
                      <a:pPr algn="l">
                        <a:lnSpc>
                          <a:spcPct val="95000"/>
                        </a:lnSpc>
                      </a:pPr>
                      <a:r>
                        <a:rPr lang="en-US" sz="1100" b="1" dirty="0">
                          <a:solidFill>
                            <a:srgbClr val="EE0033"/>
                          </a:solidFill>
                          <a:latin typeface="FS PF BeauSans Pro"/>
                          <a:ea typeface="FS PF BeauSans Pro"/>
                          <a:cs typeface="FS PF BeauSans Pro"/>
                        </a:rPr>
                        <a:t>share over ≥ 20 tags</a:t>
                      </a:r>
                    </a:p>
                  </a:txBody>
                  <a:tcPr marL="68580" marR="68580" marT="36576" marB="36576" anchor="ctr">
                    <a:lnL w="0">
                      <a:noFill/>
                    </a:lnL>
                    <a:lnR w="0">
                      <a:noFill/>
                    </a:lnR>
                    <a:lnT w="6350">
                      <a:solidFill>
                        <a:srgbClr val="D9D9D9"/>
                      </a:solidFill>
                    </a:lnT>
                    <a:lnB w="19050">
                      <a:solidFill>
                        <a:srgbClr val="262626"/>
                      </a:solidFill>
                    </a:lnB>
                    <a:noFill/>
                  </a:tcPr>
                </a:tc>
                <a:tc>
                  <a:txBody>
                    <a:bodyPr/>
                    <a:lstStyle/>
                    <a:p>
                      <a:pPr algn="l">
                        <a:lnSpc>
                          <a:spcPct val="95000"/>
                        </a:lnSpc>
                      </a:pPr>
                      <a:r>
                        <a:rPr lang="en-US" sz="1100" dirty="0">
                          <a:solidFill>
                            <a:srgbClr val="262626"/>
                          </a:solidFill>
                          <a:latin typeface="FS PF BeauSans Pro"/>
                          <a:ea typeface="FS PF BeauSans Pro"/>
                          <a:cs typeface="FS PF BeauSans Pro"/>
                        </a:rPr>
                        <a:t>The first tag is 100% of picks; with a 20-tag warm-up a tag is first withheld on its 6th pick within the first 20</a:t>
                      </a:r>
                    </a:p>
                  </a:txBody>
                  <a:tcPr marL="68580" marR="68580" marT="36576" marB="36576" anchor="ctr">
                    <a:lnL w="0">
                      <a:noFill/>
                    </a:lnL>
                    <a:lnR w="0">
                      <a:noFill/>
                    </a:lnR>
                    <a:lnT w="6350">
                      <a:solidFill>
                        <a:srgbClr val="D9D9D9"/>
                      </a:solidFill>
                    </a:lnT>
                    <a:lnB w="19050">
                      <a:solidFill>
                        <a:srgbClr val="262626"/>
                      </a:solidFill>
                    </a:lnB>
                    <a:noFill/>
                  </a:tcPr>
                </a:tc>
                <a:tc>
                  <a:txBody>
                    <a:bodyPr/>
                    <a:lstStyle/>
                    <a:p>
                      <a:pPr algn="l">
                        <a:lnSpc>
                          <a:spcPct val="95000"/>
                        </a:lnSpc>
                      </a:pPr>
                      <a:r>
                        <a:rPr lang="en-US" sz="950" dirty="0">
                          <a:solidFill>
                            <a:srgbClr val="595959"/>
                          </a:solidFill>
                          <a:latin typeface="FS PF BeauSans Pro"/>
                          <a:ea typeface="FS PF BeauSans Pro"/>
                          <a:cs typeface="FS PF BeauSans Pro"/>
                        </a:rPr>
                        <a:t>design</a:t>
                      </a:r>
                    </a:p>
                  </a:txBody>
                  <a:tcPr marL="68580" marR="68580" marT="36576" marB="36576" anchor="ctr">
                    <a:lnL w="0">
                      <a:noFill/>
                    </a:lnL>
                    <a:lnR w="0">
                      <a:noFill/>
                    </a:lnR>
                    <a:lnT w="6350">
                      <a:solidFill>
                        <a:srgbClr val="D9D9D9"/>
                      </a:solidFill>
                    </a:lnT>
                    <a:lnB w="19050">
                      <a:solidFill>
                        <a:srgbClr val="262626"/>
                      </a:solidFill>
                    </a:lnB>
                    <a:noFill/>
                  </a:tcPr>
                </a:tc>
              </a:tr>
            </a:tbl>
          </a:graphicData>
        </a:graphic>
      </p:graphicFrame>
      <p:sp>
        <p:nvSpPr>
          <p:cNvPr id="5" name="Footnote citations"/>
          <p:cNvSpPr txBox="1"/>
          <p:nvPr/>
        </p:nvSpPr>
        <p:spPr>
          <a:xfrm>
            <a:off x="411480" y="5852160"/>
            <a:ext cx="8778240" cy="960120"/>
          </a:xfrm>
          <a:prstGeom prst="rect">
            <a:avLst/>
          </a:prstGeom>
          <a:noFill/>
          <a:ln>
            <a:noFill/>
          </a:ln>
        </p:spPr>
        <p:txBody>
          <a:bodyPr wrap="square" lIns="45720" tIns="45720" rIns="45720" bIns="45720" anchor="b">
            <a:noAutofit/>
          </a:bodyPr>
          <a:lstStyle/>
          <a:p>
            <a:pPr>
              <a:buNone/>
            </a:pPr>
            <a:r>
              <a:rPr lang="en-US" sz="900" b="1" dirty="0">
                <a:solidFill>
                  <a:srgbClr val="595959"/>
                </a:solidFill>
                <a:latin typeface="FS PF BeauSans Pro"/>
                <a:ea typeface="FS PF BeauSans Pro"/>
                <a:cs typeface="FS PF BeauSans Pro"/>
              </a:rPr>
              <a:t>Qwen3-Omni: </a:t>
            </a:r>
            <a:r>
              <a:rPr lang="en-US" sz="900" dirty="0">
                <a:solidFill>
                  <a:srgbClr val="595959"/>
                </a:solidFill>
                <a:latin typeface="FS PF BeauSans Pro"/>
                <a:ea typeface="FS PF BeauSans Pro"/>
                <a:cs typeface="FS PF BeauSans Pro"/>
              </a:rPr>
              <a:t>Qwen Team, arXiv:2509.17765, 2025</a:t>
            </a:r>
          </a:p>
          <a:p>
            <a:pPr>
              <a:buNone/>
            </a:pPr>
            <a:r>
              <a:rPr lang="en-US" sz="900" b="1" dirty="0">
                <a:solidFill>
                  <a:srgbClr val="595959"/>
                </a:solidFill>
                <a:latin typeface="FS PF BeauSans Pro"/>
                <a:ea typeface="FS PF BeauSans Pro"/>
                <a:cs typeface="FS PF BeauSans Pro"/>
              </a:rPr>
              <a:t>SynParaSpeech: </a:t>
            </a:r>
            <a:r>
              <a:rPr lang="en-US" sz="900" dirty="0">
                <a:solidFill>
                  <a:srgbClr val="595959"/>
                </a:solidFill>
                <a:latin typeface="FS PF BeauSans Pro"/>
                <a:ea typeface="FS PF BeauSans Pro"/>
                <a:cs typeface="FS PF BeauSans Pro"/>
              </a:rPr>
              <a:t>Bai et al., arXiv:2509.14946, 2025</a:t>
            </a:r>
          </a:p>
          <a:p>
            <a:pPr>
              <a:buNone/>
            </a:pPr>
            <a:r>
              <a:rPr lang="en-US" sz="900" dirty="0">
                <a:solidFill>
                  <a:srgbClr val="595959"/>
                </a:solidFill>
                <a:latin typeface="FS PF BeauSans Pro"/>
                <a:ea typeface="FS PF BeauSans Pro"/>
                <a:cs typeface="FS PF BeauSans Pro"/>
              </a:rPr>
              <a:t>Basis: pilot = measured on our 20-utterance pilot; design = follows from how the pipeline works</a:t>
            </a:r>
          </a:p>
        </p:txBody>
      </p:sp>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p:cNvSpPr txBox="1">
            <a:spLocks noGrp="1"/>
          </p:cNvSpPr>
          <p:nvPr>
            <p:ph type="ctrTitle"/>
          </p:nvPr>
        </p:nvSpPr>
        <p:spPr>
          <a:xfrm>
            <a:off x="822960" y="466344"/>
            <a:ext cx="10543032" cy="731520"/>
          </a:xfrm>
          <a:prstGeom prst="rect">
            <a:avLst/>
          </a:prstGeom>
          <a:noFill/>
          <a:ln>
            <a:noFill/>
          </a:ln>
        </p:spPr>
        <p:txBody>
          <a:bodyPr spcFirstLastPara="1" wrap="square" lIns="91425" tIns="91425" rIns="91425" bIns="91425" anchor="t" anchorCtr="0">
            <a:noAutofit/>
          </a:bodyPr>
          <a:lstStyle/>
          <a:p>
            <a:pPr algn="ctr">
              <a:buNone/>
            </a:pPr>
            <a:r>
              <a:rPr lang="en-US" dirty="0"/>
              <a:t>Why these values: Clip selection</a:t>
            </a:r>
          </a:p>
        </p:txBody>
      </p:sp>
      <p:sp>
        <p:nvSpPr>
          <p:cNvPr id="3" name="Slide Number Placeholder"/>
          <p:cNvSpPr>
            <a:spLocks noGrp="1"/>
          </p:cNvSpPr>
          <p:nvPr>
            <p:ph type="sldNum" idx="12"/>
          </p:nvPr>
        </p:nvSpPr>
        <p:spPr/>
        <p:txBody>
          <a:bodyPr/>
          <a:lstStyle/>
          <a:p>
            <a:pPr marL="0" lvl="0" indent="0" algn="ctr" rtl="0">
              <a:spcBef>
                <a:spcPts val="0"/>
              </a:spcBef>
              <a:spcAft>
                <a:spcPts val="0"/>
              </a:spcAft>
              <a:buNone/>
            </a:pPr>
            <a:fld id="{00000000-1234-1234-1234-123412341234}" type="slidenum">
              <a:rPr lang="en-US" smtClean="0"/>
              <a:t>35</a:t>
            </a:fld>
            <a:endParaRPr lang="en-US" dirty="0"/>
          </a:p>
        </p:txBody>
      </p:sp>
      <p:graphicFrame>
        <p:nvGraphicFramePr>
          <p:cNvPr id="4" name="Why table"/>
          <p:cNvGraphicFramePr>
            <a:graphicFrameLocks noGrp="1"/>
          </p:cNvGraphicFramePr>
          <p:nvPr/>
        </p:nvGraphicFramePr>
        <p:xfrm>
          <a:off x="548640" y="1325880"/>
          <a:ext cx="11091672" cy="2761488"/>
        </p:xfrm>
        <a:graphic>
          <a:graphicData uri="http://schemas.openxmlformats.org/drawingml/2006/table">
            <a:tbl>
              <a:tblPr firstRow="1"/>
              <a:tblGrid>
                <a:gridCol w="1691640"/>
                <a:gridCol w="2514600"/>
                <a:gridCol w="5715000"/>
                <a:gridCol w="1170432"/>
              </a:tblGrid>
              <a:tr h="292608">
                <a:tc>
                  <a:txBody>
                    <a:bodyPr/>
                    <a:lstStyle/>
                    <a:p>
                      <a:pPr algn="l">
                        <a:lnSpc>
                          <a:spcPct val="95000"/>
                        </a:lnSpc>
                      </a:pPr>
                      <a:r>
                        <a:rPr lang="en-US" sz="1100" b="1" dirty="0">
                          <a:solidFill>
                            <a:srgbClr val="262626"/>
                          </a:solidFill>
                          <a:latin typeface="FS PF BeauSans Pro"/>
                          <a:ea typeface="FS PF BeauSans Pro"/>
                          <a:cs typeface="FS PF BeauSans Pro"/>
                        </a:rPr>
                        <a:t>Choice</a:t>
                      </a:r>
                    </a:p>
                  </a:txBody>
                  <a:tcPr marL="68580" marR="68580" marT="36576" marB="36576" anchor="ctr">
                    <a:lnL w="0">
                      <a:noFill/>
                    </a:lnL>
                    <a:lnR w="0">
                      <a:noFill/>
                    </a:lnR>
                    <a:lnT w="19050">
                      <a:solidFill>
                        <a:srgbClr val="262626"/>
                      </a:solidFill>
                    </a:lnT>
                    <a:lnB w="9525">
                      <a:solidFill>
                        <a:srgbClr val="262626"/>
                      </a:solidFill>
                    </a:lnB>
                    <a:noFill/>
                  </a:tcPr>
                </a:tc>
                <a:tc>
                  <a:txBody>
                    <a:bodyPr/>
                    <a:lstStyle/>
                    <a:p>
                      <a:pPr algn="l">
                        <a:lnSpc>
                          <a:spcPct val="95000"/>
                        </a:lnSpc>
                      </a:pPr>
                      <a:r>
                        <a:rPr lang="en-US" sz="1100" b="1" dirty="0">
                          <a:solidFill>
                            <a:srgbClr val="262626"/>
                          </a:solidFill>
                          <a:latin typeface="FS PF BeauSans Pro"/>
                          <a:ea typeface="FS PF BeauSans Pro"/>
                          <a:cs typeface="FS PF BeauSans Pro"/>
                        </a:rPr>
                        <a:t>Value</a:t>
                      </a:r>
                    </a:p>
                  </a:txBody>
                  <a:tcPr marL="68580" marR="68580" marT="36576" marB="36576" anchor="ctr">
                    <a:lnL w="0">
                      <a:noFill/>
                    </a:lnL>
                    <a:lnR w="0">
                      <a:noFill/>
                    </a:lnR>
                    <a:lnT w="19050">
                      <a:solidFill>
                        <a:srgbClr val="262626"/>
                      </a:solidFill>
                    </a:lnT>
                    <a:lnB w="9525">
                      <a:solidFill>
                        <a:srgbClr val="262626"/>
                      </a:solidFill>
                    </a:lnB>
                    <a:noFill/>
                  </a:tcPr>
                </a:tc>
                <a:tc>
                  <a:txBody>
                    <a:bodyPr/>
                    <a:lstStyle/>
                    <a:p>
                      <a:pPr algn="l">
                        <a:lnSpc>
                          <a:spcPct val="95000"/>
                        </a:lnSpc>
                      </a:pPr>
                      <a:r>
                        <a:rPr lang="en-US" sz="1100" b="1" dirty="0">
                          <a:solidFill>
                            <a:srgbClr val="262626"/>
                          </a:solidFill>
                          <a:latin typeface="FS PF BeauSans Pro"/>
                          <a:ea typeface="FS PF BeauSans Pro"/>
                          <a:cs typeface="FS PF BeauSans Pro"/>
                        </a:rPr>
                        <a:t>Why</a:t>
                      </a:r>
                    </a:p>
                  </a:txBody>
                  <a:tcPr marL="68580" marR="68580" marT="36576" marB="36576" anchor="ctr">
                    <a:lnL w="0">
                      <a:noFill/>
                    </a:lnL>
                    <a:lnR w="0">
                      <a:noFill/>
                    </a:lnR>
                    <a:lnT w="19050">
                      <a:solidFill>
                        <a:srgbClr val="262626"/>
                      </a:solidFill>
                    </a:lnT>
                    <a:lnB w="9525">
                      <a:solidFill>
                        <a:srgbClr val="262626"/>
                      </a:solidFill>
                    </a:lnB>
                    <a:noFill/>
                  </a:tcPr>
                </a:tc>
                <a:tc>
                  <a:txBody>
                    <a:bodyPr/>
                    <a:lstStyle/>
                    <a:p>
                      <a:pPr algn="l">
                        <a:lnSpc>
                          <a:spcPct val="95000"/>
                        </a:lnSpc>
                      </a:pPr>
                      <a:r>
                        <a:rPr lang="en-US" sz="1100" b="1" dirty="0">
                          <a:solidFill>
                            <a:srgbClr val="262626"/>
                          </a:solidFill>
                          <a:latin typeface="FS PF BeauSans Pro"/>
                          <a:ea typeface="FS PF BeauSans Pro"/>
                          <a:cs typeface="FS PF BeauSans Pro"/>
                        </a:rPr>
                        <a:t>Basis</a:t>
                      </a:r>
                    </a:p>
                  </a:txBody>
                  <a:tcPr marL="68580" marR="68580" marT="36576" marB="36576" anchor="ctr">
                    <a:lnL w="0">
                      <a:noFill/>
                    </a:lnL>
                    <a:lnR w="0">
                      <a:noFill/>
                    </a:lnR>
                    <a:lnT w="19050">
                      <a:solidFill>
                        <a:srgbClr val="262626"/>
                      </a:solidFill>
                    </a:lnT>
                    <a:lnB w="9525">
                      <a:solidFill>
                        <a:srgbClr val="262626"/>
                      </a:solidFill>
                    </a:lnB>
                    <a:noFill/>
                  </a:tcPr>
                </a:tc>
              </a:tr>
              <a:tr h="274320">
                <a:tc>
                  <a:txBody>
                    <a:bodyPr/>
                    <a:lstStyle/>
                    <a:p>
                      <a:pPr algn="l">
                        <a:lnSpc>
                          <a:spcPct val="95000"/>
                        </a:lnSpc>
                      </a:pPr>
                      <a:r>
                        <a:rPr lang="en-US" sz="1100" b="1" dirty="0">
                          <a:solidFill>
                            <a:srgbClr val="262626"/>
                          </a:solidFill>
                          <a:latin typeface="FS PF BeauSans Pro"/>
                          <a:ea typeface="FS PF BeauSans Pro"/>
                          <a:cs typeface="FS PF BeauSans Pro"/>
                        </a:rPr>
                        <a:t>Pre-filter</a:t>
                      </a:r>
                    </a:p>
                  </a:txBody>
                  <a:tcPr marL="68580" marR="68580" marT="36576" marB="36576" anchor="ctr">
                    <a:lnL w="0">
                      <a:noFill/>
                    </a:lnL>
                    <a:lnR w="0">
                      <a:noFill/>
                    </a:lnR>
                    <a:lnT w="9525">
                      <a:solidFill>
                        <a:srgbClr val="262626"/>
                      </a:solidFill>
                    </a:lnT>
                    <a:lnB w="6350">
                      <a:solidFill>
                        <a:srgbClr val="D9D9D9"/>
                      </a:solidFill>
                    </a:lnB>
                    <a:noFill/>
                  </a:tcPr>
                </a:tc>
                <a:tc>
                  <a:txBody>
                    <a:bodyPr/>
                    <a:lstStyle/>
                    <a:p>
                      <a:pPr algn="l">
                        <a:lnSpc>
                          <a:spcPct val="95000"/>
                        </a:lnSpc>
                      </a:pPr>
                      <a:r>
                        <a:rPr lang="en-US" sz="1100" b="1" dirty="0">
                          <a:solidFill>
                            <a:srgbClr val="EE0033"/>
                          </a:solidFill>
                          <a:latin typeface="FS PF BeauSans Pro"/>
                          <a:ea typeface="FS PF BeauSans Pro"/>
                          <a:cs typeface="FS PF BeauSans Pro"/>
                        </a:rPr>
                        <a:t>peak &lt; 0.05, &lt; 0.35 s, &gt; 1% at full scale</a:t>
                      </a:r>
                    </a:p>
                  </a:txBody>
                  <a:tcPr marL="68580" marR="68580" marT="36576" marB="36576" anchor="ctr">
                    <a:lnL w="0">
                      <a:noFill/>
                    </a:lnL>
                    <a:lnR w="0">
                      <a:noFill/>
                    </a:lnR>
                    <a:lnT w="9525">
                      <a:solidFill>
                        <a:srgbClr val="262626"/>
                      </a:solidFill>
                    </a:lnT>
                    <a:lnB w="6350">
                      <a:solidFill>
                        <a:srgbClr val="D9D9D9"/>
                      </a:solidFill>
                    </a:lnB>
                    <a:noFill/>
                  </a:tcPr>
                </a:tc>
                <a:tc>
                  <a:txBody>
                    <a:bodyPr/>
                    <a:lstStyle/>
                    <a:p>
                      <a:pPr algn="l">
                        <a:lnSpc>
                          <a:spcPct val="95000"/>
                        </a:lnSpc>
                      </a:pPr>
                      <a:r>
                        <a:rPr lang="en-US" sz="1100" dirty="0">
                          <a:solidFill>
                            <a:srgbClr val="262626"/>
                          </a:solidFill>
                          <a:latin typeface="FS PF BeauSans Pro"/>
                          <a:ea typeface="FS PF BeauSans Pro"/>
                          <a:cs typeface="FS PF BeauSans Pro"/>
                        </a:rPr>
                        <a:t>Drops near-silent clips, clips too short to hold an event, and clipped ones: clipping is distortion Seed-VC reproduces, not a mismatch to weigh</a:t>
                      </a:r>
                    </a:p>
                  </a:txBody>
                  <a:tcPr marL="68580" marR="68580" marT="36576" marB="36576" anchor="ctr">
                    <a:lnL w="0">
                      <a:noFill/>
                    </a:lnL>
                    <a:lnR w="0">
                      <a:noFill/>
                    </a:lnR>
                    <a:lnT w="9525">
                      <a:solidFill>
                        <a:srgbClr val="262626"/>
                      </a:solidFill>
                    </a:lnT>
                    <a:lnB w="6350">
                      <a:solidFill>
                        <a:srgbClr val="D9D9D9"/>
                      </a:solidFill>
                    </a:lnB>
                    <a:noFill/>
                  </a:tcPr>
                </a:tc>
                <a:tc>
                  <a:txBody>
                    <a:bodyPr/>
                    <a:lstStyle/>
                    <a:p>
                      <a:pPr algn="l">
                        <a:lnSpc>
                          <a:spcPct val="95000"/>
                        </a:lnSpc>
                      </a:pPr>
                      <a:r>
                        <a:rPr lang="en-US" sz="950" dirty="0">
                          <a:solidFill>
                            <a:srgbClr val="595959"/>
                          </a:solidFill>
                          <a:latin typeface="FS PF BeauSans Pro"/>
                          <a:ea typeface="FS PF BeauSans Pro"/>
                          <a:cs typeface="FS PF BeauSans Pro"/>
                        </a:rPr>
                        <a:t>design</a:t>
                      </a:r>
                    </a:p>
                  </a:txBody>
                  <a:tcPr marL="68580" marR="68580" marT="36576" marB="36576" anchor="ctr">
                    <a:lnL w="0">
                      <a:noFill/>
                    </a:lnL>
                    <a:lnR w="0">
                      <a:noFill/>
                    </a:lnR>
                    <a:lnT w="9525">
                      <a:solidFill>
                        <a:srgbClr val="262626"/>
                      </a:solidFill>
                    </a:lnT>
                    <a:lnB w="6350">
                      <a:solidFill>
                        <a:srgbClr val="D9D9D9"/>
                      </a:solidFill>
                    </a:lnB>
                    <a:noFill/>
                  </a:tcPr>
                </a:tc>
              </a:tr>
              <a:tr h="274320">
                <a:tc>
                  <a:txBody>
                    <a:bodyPr/>
                    <a:lstStyle/>
                    <a:p>
                      <a:pPr algn="l">
                        <a:lnSpc>
                          <a:spcPct val="95000"/>
                        </a:lnSpc>
                      </a:pPr>
                      <a:r>
                        <a:rPr lang="en-US" sz="1100" b="1" dirty="0">
                          <a:solidFill>
                            <a:srgbClr val="262626"/>
                          </a:solidFill>
                          <a:latin typeface="FS PF BeauSans Pro"/>
                          <a:ea typeface="FS PF BeauSans Pro"/>
                          <a:cs typeface="FS PF BeauSans Pro"/>
                        </a:rPr>
                        <a:t>Not matched</a:t>
                      </a:r>
                    </a:p>
                  </a:txBody>
                  <a:tcPr marL="68580" marR="68580" marT="36576" marB="36576" anchor="ctr">
                    <a:lnL w="0">
                      <a:noFill/>
                    </a:lnL>
                    <a:lnR w="0">
                      <a:noFill/>
                    </a:lnR>
                    <a:lnT w="6350">
                      <a:solidFill>
                        <a:srgbClr val="D9D9D9"/>
                      </a:solidFill>
                    </a:lnT>
                    <a:lnB w="6350">
                      <a:solidFill>
                        <a:srgbClr val="D9D9D9"/>
                      </a:solidFill>
                    </a:lnB>
                    <a:noFill/>
                  </a:tcPr>
                </a:tc>
                <a:tc>
                  <a:txBody>
                    <a:bodyPr/>
                    <a:lstStyle/>
                    <a:p>
                      <a:pPr algn="l">
                        <a:lnSpc>
                          <a:spcPct val="95000"/>
                        </a:lnSpc>
                      </a:pPr>
                      <a:r>
                        <a:rPr lang="en-US" sz="1100" b="1" dirty="0">
                          <a:solidFill>
                            <a:srgbClr val="EE0033"/>
                          </a:solidFill>
                          <a:latin typeface="FS PF BeauSans Pro"/>
                          <a:ea typeface="FS PF BeauSans Pro"/>
                          <a:cs typeface="FS PF BeauSans Pro"/>
                        </a:rPr>
                        <a:t>timbre, pitch</a:t>
                      </a:r>
                    </a:p>
                  </a:txBody>
                  <a:tcPr marL="68580" marR="68580" marT="36576" marB="36576" anchor="ctr">
                    <a:lnL w="0">
                      <a:noFill/>
                    </a:lnL>
                    <a:lnR w="0">
                      <a:noFill/>
                    </a:lnR>
                    <a:lnT w="6350">
                      <a:solidFill>
                        <a:srgbClr val="D9D9D9"/>
                      </a:solidFill>
                    </a:lnT>
                    <a:lnB w="6350">
                      <a:solidFill>
                        <a:srgbClr val="D9D9D9"/>
                      </a:solidFill>
                    </a:lnB>
                    <a:noFill/>
                  </a:tcPr>
                </a:tc>
                <a:tc>
                  <a:txBody>
                    <a:bodyPr/>
                    <a:lstStyle/>
                    <a:p>
                      <a:pPr algn="l">
                        <a:lnSpc>
                          <a:spcPct val="95000"/>
                        </a:lnSpc>
                      </a:pPr>
                      <a:r>
                        <a:rPr lang="en-US" sz="1100" dirty="0">
                          <a:solidFill>
                            <a:srgbClr val="262626"/>
                          </a:solidFill>
                          <a:latin typeface="FS PF BeauSans Pro"/>
                          <a:ea typeface="FS PF BeauSans Pro"/>
                          <a:cs typeface="FS PF BeauSans Pro"/>
                        </a:rPr>
                        <a:t>Seed-VC rebuilds them: the clip's pitch weighs +0.04 in the converted pitch vs 0.84 for the speaker; pitch contour correlation only +0.14</a:t>
                      </a:r>
                    </a:p>
                  </a:txBody>
                  <a:tcPr marL="68580" marR="68580" marT="36576" marB="36576" anchor="ctr">
                    <a:lnL w="0">
                      <a:noFill/>
                    </a:lnL>
                    <a:lnR w="0">
                      <a:noFill/>
                    </a:lnR>
                    <a:lnT w="6350">
                      <a:solidFill>
                        <a:srgbClr val="D9D9D9"/>
                      </a:solidFill>
                    </a:lnT>
                    <a:lnB w="6350">
                      <a:solidFill>
                        <a:srgbClr val="D9D9D9"/>
                      </a:solidFill>
                    </a:lnB>
                    <a:noFill/>
                  </a:tcPr>
                </a:tc>
                <a:tc>
                  <a:txBody>
                    <a:bodyPr/>
                    <a:lstStyle/>
                    <a:p>
                      <a:pPr algn="l">
                        <a:lnSpc>
                          <a:spcPct val="95000"/>
                        </a:lnSpc>
                      </a:pPr>
                      <a:r>
                        <a:rPr lang="en-US" sz="950" dirty="0">
                          <a:solidFill>
                            <a:srgbClr val="595959"/>
                          </a:solidFill>
                          <a:latin typeface="FS PF BeauSans Pro"/>
                          <a:ea typeface="FS PF BeauSans Pro"/>
                          <a:cs typeface="FS PF BeauSans Pro"/>
                        </a:rPr>
                        <a:t>pilot</a:t>
                      </a:r>
                    </a:p>
                  </a:txBody>
                  <a:tcPr marL="68580" marR="68580" marT="36576" marB="36576" anchor="ctr">
                    <a:lnL w="0">
                      <a:noFill/>
                    </a:lnL>
                    <a:lnR w="0">
                      <a:noFill/>
                    </a:lnR>
                    <a:lnT w="6350">
                      <a:solidFill>
                        <a:srgbClr val="D9D9D9"/>
                      </a:solidFill>
                    </a:lnT>
                    <a:lnB w="6350">
                      <a:solidFill>
                        <a:srgbClr val="D9D9D9"/>
                      </a:solidFill>
                    </a:lnB>
                    <a:noFill/>
                  </a:tcPr>
                </a:tc>
              </a:tr>
              <a:tr h="274320">
                <a:tc>
                  <a:txBody>
                    <a:bodyPr/>
                    <a:lstStyle/>
                    <a:p>
                      <a:pPr algn="l">
                        <a:lnSpc>
                          <a:spcPct val="95000"/>
                        </a:lnSpc>
                      </a:pPr>
                      <a:r>
                        <a:rPr lang="en-US" sz="1100" b="1" dirty="0">
                          <a:solidFill>
                            <a:srgbClr val="262626"/>
                          </a:solidFill>
                          <a:latin typeface="FS PF BeauSans Pro"/>
                          <a:ea typeface="FS PF BeauSans Pro"/>
                          <a:cs typeface="FS PF BeauSans Pro"/>
                        </a:rPr>
                        <a:t>Matched</a:t>
                      </a:r>
                    </a:p>
                  </a:txBody>
                  <a:tcPr marL="68580" marR="68580" marT="36576" marB="36576" anchor="ctr">
                    <a:lnL w="0">
                      <a:noFill/>
                    </a:lnL>
                    <a:lnR w="0">
                      <a:noFill/>
                    </a:lnR>
                    <a:lnT w="6350">
                      <a:solidFill>
                        <a:srgbClr val="D9D9D9"/>
                      </a:solidFill>
                    </a:lnT>
                    <a:lnB w="6350">
                      <a:solidFill>
                        <a:srgbClr val="D9D9D9"/>
                      </a:solidFill>
                    </a:lnB>
                    <a:noFill/>
                  </a:tcPr>
                </a:tc>
                <a:tc>
                  <a:txBody>
                    <a:bodyPr/>
                    <a:lstStyle/>
                    <a:p>
                      <a:pPr algn="l">
                        <a:lnSpc>
                          <a:spcPct val="95000"/>
                        </a:lnSpc>
                      </a:pPr>
                      <a:r>
                        <a:rPr lang="en-US" sz="1100" b="1" dirty="0">
                          <a:solidFill>
                            <a:srgbClr val="EE0033"/>
                          </a:solidFill>
                          <a:latin typeface="FS PF BeauSans Pro"/>
                          <a:ea typeface="FS PF BeauSans Pro"/>
                          <a:cs typeface="FS PF BeauSans Pro"/>
                        </a:rPr>
                        <a:t>intensity, clarity, tempo, tilt</a:t>
                      </a:r>
                    </a:p>
                  </a:txBody>
                  <a:tcPr marL="68580" marR="68580" marT="36576" marB="36576" anchor="ctr">
                    <a:lnL w="0">
                      <a:noFill/>
                    </a:lnL>
                    <a:lnR w="0">
                      <a:noFill/>
                    </a:lnR>
                    <a:lnT w="6350">
                      <a:solidFill>
                        <a:srgbClr val="D9D9D9"/>
                      </a:solidFill>
                    </a:lnT>
                    <a:lnB w="6350">
                      <a:solidFill>
                        <a:srgbClr val="D9D9D9"/>
                      </a:solidFill>
                    </a:lnB>
                    <a:noFill/>
                  </a:tcPr>
                </a:tc>
                <a:tc>
                  <a:txBody>
                    <a:bodyPr/>
                    <a:lstStyle/>
                    <a:p>
                      <a:pPr algn="l">
                        <a:lnSpc>
                          <a:spcPct val="95000"/>
                        </a:lnSpc>
                      </a:pPr>
                      <a:r>
                        <a:rPr lang="en-US" sz="1100" dirty="0">
                          <a:solidFill>
                            <a:srgbClr val="262626"/>
                          </a:solidFill>
                          <a:latin typeface="FS PF BeauSans Pro"/>
                          <a:ea typeface="FS PF BeauSans Pro"/>
                          <a:cs typeface="FS PF BeauSans Pro"/>
                        </a:rPr>
                        <a:t>They survive conversion: crest factor changes a median 0.06 octave, tempo 0.15 octave, and the clip's recording hiss is kept</a:t>
                      </a:r>
                    </a:p>
                  </a:txBody>
                  <a:tcPr marL="68580" marR="68580" marT="36576" marB="36576" anchor="ctr">
                    <a:lnL w="0">
                      <a:noFill/>
                    </a:lnL>
                    <a:lnR w="0">
                      <a:noFill/>
                    </a:lnR>
                    <a:lnT w="6350">
                      <a:solidFill>
                        <a:srgbClr val="D9D9D9"/>
                      </a:solidFill>
                    </a:lnT>
                    <a:lnB w="6350">
                      <a:solidFill>
                        <a:srgbClr val="D9D9D9"/>
                      </a:solidFill>
                    </a:lnB>
                    <a:noFill/>
                  </a:tcPr>
                </a:tc>
                <a:tc>
                  <a:txBody>
                    <a:bodyPr/>
                    <a:lstStyle/>
                    <a:p>
                      <a:pPr algn="l">
                        <a:lnSpc>
                          <a:spcPct val="95000"/>
                        </a:lnSpc>
                      </a:pPr>
                      <a:r>
                        <a:rPr lang="en-US" sz="950" dirty="0">
                          <a:solidFill>
                            <a:srgbClr val="595959"/>
                          </a:solidFill>
                          <a:latin typeface="FS PF BeauSans Pro"/>
                          <a:ea typeface="FS PF BeauSans Pro"/>
                          <a:cs typeface="FS PF BeauSans Pro"/>
                        </a:rPr>
                        <a:t>pilot</a:t>
                      </a:r>
                    </a:p>
                  </a:txBody>
                  <a:tcPr marL="68580" marR="68580" marT="36576" marB="36576" anchor="ctr">
                    <a:lnL w="0">
                      <a:noFill/>
                    </a:lnL>
                    <a:lnR w="0">
                      <a:noFill/>
                    </a:lnR>
                    <a:lnT w="6350">
                      <a:solidFill>
                        <a:srgbClr val="D9D9D9"/>
                      </a:solidFill>
                    </a:lnT>
                    <a:lnB w="6350">
                      <a:solidFill>
                        <a:srgbClr val="D9D9D9"/>
                      </a:solidFill>
                    </a:lnB>
                    <a:noFill/>
                  </a:tcPr>
                </a:tc>
              </a:tr>
              <a:tr h="274320">
                <a:tc>
                  <a:txBody>
                    <a:bodyPr/>
                    <a:lstStyle/>
                    <a:p>
                      <a:pPr algn="l">
                        <a:lnSpc>
                          <a:spcPct val="95000"/>
                        </a:lnSpc>
                      </a:pPr>
                      <a:r>
                        <a:rPr lang="en-US" sz="1100" b="1" dirty="0">
                          <a:solidFill>
                            <a:srgbClr val="262626"/>
                          </a:solidFill>
                          <a:latin typeface="FS PF BeauSans Pro"/>
                          <a:ea typeface="FS PF BeauSans Pro"/>
                          <a:cs typeface="FS PF BeauSans Pro"/>
                        </a:rPr>
                        <a:t>Reference window</a:t>
                      </a:r>
                    </a:p>
                  </a:txBody>
                  <a:tcPr marL="68580" marR="68580" marT="36576" marB="36576" anchor="ctr">
                    <a:lnL w="0">
                      <a:noFill/>
                    </a:lnL>
                    <a:lnR w="0">
                      <a:noFill/>
                    </a:lnR>
                    <a:lnT w="6350">
                      <a:solidFill>
                        <a:srgbClr val="D9D9D9"/>
                      </a:solidFill>
                    </a:lnT>
                    <a:lnB w="6350">
                      <a:solidFill>
                        <a:srgbClr val="D9D9D9"/>
                      </a:solidFill>
                    </a:lnB>
                    <a:noFill/>
                  </a:tcPr>
                </a:tc>
                <a:tc>
                  <a:txBody>
                    <a:bodyPr/>
                    <a:lstStyle/>
                    <a:p>
                      <a:pPr algn="l">
                        <a:lnSpc>
                          <a:spcPct val="95000"/>
                        </a:lnSpc>
                      </a:pPr>
                      <a:r>
                        <a:rPr lang="en-US" sz="1100" b="1" dirty="0">
                          <a:solidFill>
                            <a:srgbClr val="EE0033"/>
                          </a:solidFill>
                          <a:latin typeface="FS PF BeauSans Pro"/>
                          <a:ea typeface="FS PF BeauSans Pro"/>
                          <a:cs typeface="FS PF BeauSans Pro"/>
                        </a:rPr>
                        <a:t>2.5 s of speech before the cut</a:t>
                      </a:r>
                    </a:p>
                  </a:txBody>
                  <a:tcPr marL="68580" marR="68580" marT="36576" marB="36576" anchor="ctr">
                    <a:lnL w="0">
                      <a:noFill/>
                    </a:lnL>
                    <a:lnR w="0">
                      <a:noFill/>
                    </a:lnR>
                    <a:lnT w="6350">
                      <a:solidFill>
                        <a:srgbClr val="D9D9D9"/>
                      </a:solidFill>
                    </a:lnT>
                    <a:lnB w="6350">
                      <a:solidFill>
                        <a:srgbClr val="D9D9D9"/>
                      </a:solidFill>
                    </a:lnB>
                    <a:noFill/>
                  </a:tcPr>
                </a:tc>
                <a:tc>
                  <a:txBody>
                    <a:bodyPr/>
                    <a:lstStyle/>
                    <a:p>
                      <a:pPr algn="l">
                        <a:lnSpc>
                          <a:spcPct val="95000"/>
                        </a:lnSpc>
                      </a:pPr>
                      <a:r>
                        <a:rPr lang="en-US" sz="1100" dirty="0">
                          <a:solidFill>
                            <a:srgbClr val="262626"/>
                          </a:solidFill>
                          <a:latin typeface="FS PF BeauSans Pro"/>
                          <a:ea typeface="FS PF BeauSans Pro"/>
                          <a:cs typeface="FS PF BeauSans Pro"/>
                        </a:rPr>
                        <a:t>The speaker's level at that moment, not over the whole take; splicing sets loudness from the same window, so both stages agree</a:t>
                      </a:r>
                    </a:p>
                  </a:txBody>
                  <a:tcPr marL="68580" marR="68580" marT="36576" marB="36576" anchor="ctr">
                    <a:lnL w="0">
                      <a:noFill/>
                    </a:lnL>
                    <a:lnR w="0">
                      <a:noFill/>
                    </a:lnR>
                    <a:lnT w="6350">
                      <a:solidFill>
                        <a:srgbClr val="D9D9D9"/>
                      </a:solidFill>
                    </a:lnT>
                    <a:lnB w="6350">
                      <a:solidFill>
                        <a:srgbClr val="D9D9D9"/>
                      </a:solidFill>
                    </a:lnB>
                    <a:noFill/>
                  </a:tcPr>
                </a:tc>
                <a:tc>
                  <a:txBody>
                    <a:bodyPr/>
                    <a:lstStyle/>
                    <a:p>
                      <a:pPr algn="l">
                        <a:lnSpc>
                          <a:spcPct val="95000"/>
                        </a:lnSpc>
                      </a:pPr>
                      <a:r>
                        <a:rPr lang="en-US" sz="950" dirty="0">
                          <a:solidFill>
                            <a:srgbClr val="595959"/>
                          </a:solidFill>
                          <a:latin typeface="FS PF BeauSans Pro"/>
                          <a:ea typeface="FS PF BeauSans Pro"/>
                          <a:cs typeface="FS PF BeauSans Pro"/>
                        </a:rPr>
                        <a:t>design</a:t>
                      </a:r>
                    </a:p>
                  </a:txBody>
                  <a:tcPr marL="68580" marR="68580" marT="36576" marB="36576" anchor="ctr">
                    <a:lnL w="0">
                      <a:noFill/>
                    </a:lnL>
                    <a:lnR w="0">
                      <a:noFill/>
                    </a:lnR>
                    <a:lnT w="6350">
                      <a:solidFill>
                        <a:srgbClr val="D9D9D9"/>
                      </a:solidFill>
                    </a:lnT>
                    <a:lnB w="6350">
                      <a:solidFill>
                        <a:srgbClr val="D9D9D9"/>
                      </a:solidFill>
                    </a:lnB>
                    <a:noFill/>
                  </a:tcPr>
                </a:tc>
              </a:tr>
              <a:tr h="274320">
                <a:tc>
                  <a:txBody>
                    <a:bodyPr/>
                    <a:lstStyle/>
                    <a:p>
                      <a:pPr algn="l">
                        <a:lnSpc>
                          <a:spcPct val="95000"/>
                        </a:lnSpc>
                      </a:pPr>
                      <a:r>
                        <a:rPr lang="en-US" sz="1100" b="1" dirty="0">
                          <a:solidFill>
                            <a:srgbClr val="262626"/>
                          </a:solidFill>
                          <a:latin typeface="FS PF BeauSans Pro"/>
                          <a:ea typeface="FS PF BeauSans Pro"/>
                          <a:cs typeface="FS PF BeauSans Pro"/>
                        </a:rPr>
                        <a:t>Tolerances</a:t>
                      </a:r>
                    </a:p>
                  </a:txBody>
                  <a:tcPr marL="68580" marR="68580" marT="36576" marB="36576" anchor="ctr">
                    <a:lnL w="0">
                      <a:noFill/>
                    </a:lnL>
                    <a:lnR w="0">
                      <a:noFill/>
                    </a:lnR>
                    <a:lnT w="6350">
                      <a:solidFill>
                        <a:srgbClr val="D9D9D9"/>
                      </a:solidFill>
                    </a:lnT>
                    <a:lnB w="6350">
                      <a:solidFill>
                        <a:srgbClr val="D9D9D9"/>
                      </a:solidFill>
                    </a:lnB>
                    <a:noFill/>
                  </a:tcPr>
                </a:tc>
                <a:tc>
                  <a:txBody>
                    <a:bodyPr/>
                    <a:lstStyle/>
                    <a:p>
                      <a:pPr algn="l">
                        <a:lnSpc>
                          <a:spcPct val="95000"/>
                        </a:lnSpc>
                      </a:pPr>
                      <a:r>
                        <a:rPr lang="en-US" sz="1100" b="1" dirty="0">
                          <a:solidFill>
                            <a:srgbClr val="EE0033"/>
                          </a:solidFill>
                          <a:latin typeface="FS PF BeauSans Pro"/>
                          <a:ea typeface="FS PF BeauSans Pro"/>
                          <a:cs typeface="FS PF BeauSans Pro"/>
                        </a:rPr>
                        <a:t>0.35 rank, 12 dB, 1 octave, 18 dB</a:t>
                      </a:r>
                    </a:p>
                  </a:txBody>
                  <a:tcPr marL="68580" marR="68580" marT="36576" marB="36576" anchor="ctr">
                    <a:lnL w="0">
                      <a:noFill/>
                    </a:lnL>
                    <a:lnR w="0">
                      <a:noFill/>
                    </a:lnR>
                    <a:lnT w="6350">
                      <a:solidFill>
                        <a:srgbClr val="D9D9D9"/>
                      </a:solidFill>
                    </a:lnT>
                    <a:lnB w="6350">
                      <a:solidFill>
                        <a:srgbClr val="D9D9D9"/>
                      </a:solidFill>
                    </a:lnB>
                    <a:noFill/>
                  </a:tcPr>
                </a:tc>
                <a:tc>
                  <a:txBody>
                    <a:bodyPr/>
                    <a:lstStyle/>
                    <a:p>
                      <a:pPr algn="l">
                        <a:lnSpc>
                          <a:spcPct val="95000"/>
                        </a:lnSpc>
                      </a:pPr>
                      <a:r>
                        <a:rPr lang="en-US" sz="1100" dirty="0">
                          <a:solidFill>
                            <a:srgbClr val="262626"/>
                          </a:solidFill>
                          <a:latin typeface="FS PF BeauSans Pro"/>
                          <a:ea typeface="FS PF BeauSans Pro"/>
                          <a:cs typeface="FS PF BeauSans Pro"/>
                        </a:rPr>
                        <a:t>Each about a third of that measure's spread, so a distance of 1 is a clearly audible mismatch on every axis and the weights compare</a:t>
                      </a:r>
                    </a:p>
                  </a:txBody>
                  <a:tcPr marL="68580" marR="68580" marT="36576" marB="36576" anchor="ctr">
                    <a:lnL w="0">
                      <a:noFill/>
                    </a:lnL>
                    <a:lnR w="0">
                      <a:noFill/>
                    </a:lnR>
                    <a:lnT w="6350">
                      <a:solidFill>
                        <a:srgbClr val="D9D9D9"/>
                      </a:solidFill>
                    </a:lnT>
                    <a:lnB w="6350">
                      <a:solidFill>
                        <a:srgbClr val="D9D9D9"/>
                      </a:solidFill>
                    </a:lnB>
                    <a:noFill/>
                  </a:tcPr>
                </a:tc>
                <a:tc>
                  <a:txBody>
                    <a:bodyPr/>
                    <a:lstStyle/>
                    <a:p>
                      <a:pPr algn="l">
                        <a:lnSpc>
                          <a:spcPct val="95000"/>
                        </a:lnSpc>
                      </a:pPr>
                      <a:r>
                        <a:rPr lang="en-US" sz="950" dirty="0">
                          <a:solidFill>
                            <a:srgbClr val="595959"/>
                          </a:solidFill>
                          <a:latin typeface="FS PF BeauSans Pro"/>
                          <a:ea typeface="FS PF BeauSans Pro"/>
                          <a:cs typeface="FS PF BeauSans Pro"/>
                        </a:rPr>
                        <a:t>pilot</a:t>
                      </a:r>
                    </a:p>
                  </a:txBody>
                  <a:tcPr marL="68580" marR="68580" marT="36576" marB="36576" anchor="ctr">
                    <a:lnL w="0">
                      <a:noFill/>
                    </a:lnL>
                    <a:lnR w="0">
                      <a:noFill/>
                    </a:lnR>
                    <a:lnT w="6350">
                      <a:solidFill>
                        <a:srgbClr val="D9D9D9"/>
                      </a:solidFill>
                    </a:lnT>
                    <a:lnB w="6350">
                      <a:solidFill>
                        <a:srgbClr val="D9D9D9"/>
                      </a:solidFill>
                    </a:lnB>
                    <a:noFill/>
                  </a:tcPr>
                </a:tc>
              </a:tr>
              <a:tr h="274320">
                <a:tc>
                  <a:txBody>
                    <a:bodyPr/>
                    <a:lstStyle/>
                    <a:p>
                      <a:pPr algn="l">
                        <a:lnSpc>
                          <a:spcPct val="95000"/>
                        </a:lnSpc>
                      </a:pPr>
                      <a:r>
                        <a:rPr lang="en-US" sz="1100" b="1" dirty="0">
                          <a:solidFill>
                            <a:srgbClr val="262626"/>
                          </a:solidFill>
                          <a:latin typeface="FS PF BeauSans Pro"/>
                          <a:ea typeface="FS PF BeauSans Pro"/>
                          <a:cs typeface="FS PF BeauSans Pro"/>
                        </a:rPr>
                        <a:t>Weights w</a:t>
                      </a:r>
                    </a:p>
                  </a:txBody>
                  <a:tcPr marL="68580" marR="68580" marT="36576" marB="36576" anchor="ctr">
                    <a:lnL w="0">
                      <a:noFill/>
                    </a:lnL>
                    <a:lnR w="0">
                      <a:noFill/>
                    </a:lnR>
                    <a:lnT w="6350">
                      <a:solidFill>
                        <a:srgbClr val="D9D9D9"/>
                      </a:solidFill>
                    </a:lnT>
                    <a:lnB w="6350">
                      <a:solidFill>
                        <a:srgbClr val="D9D9D9"/>
                      </a:solidFill>
                    </a:lnB>
                    <a:noFill/>
                  </a:tcPr>
                </a:tc>
                <a:tc>
                  <a:txBody>
                    <a:bodyPr/>
                    <a:lstStyle/>
                    <a:p>
                      <a:pPr algn="l">
                        <a:lnSpc>
                          <a:spcPct val="95000"/>
                        </a:lnSpc>
                      </a:pPr>
                      <a:r>
                        <a:rPr lang="en-US" sz="1100" b="1" dirty="0">
                          <a:solidFill>
                            <a:srgbClr val="EE0033"/>
                          </a:solidFill>
                          <a:latin typeface="FS PF BeauSans Pro"/>
                          <a:ea typeface="FS PF BeauSans Pro"/>
                          <a:cs typeface="FS PF BeauSans Pro"/>
                        </a:rPr>
                        <a:t>1.0, 1.5, 1.0, 0.5</a:t>
                      </a:r>
                    </a:p>
                  </a:txBody>
                  <a:tcPr marL="68580" marR="68580" marT="36576" marB="36576" anchor="ctr">
                    <a:lnL w="0">
                      <a:noFill/>
                    </a:lnL>
                    <a:lnR w="0">
                      <a:noFill/>
                    </a:lnR>
                    <a:lnT w="6350">
                      <a:solidFill>
                        <a:srgbClr val="D9D9D9"/>
                      </a:solidFill>
                    </a:lnT>
                    <a:lnB w="6350">
                      <a:solidFill>
                        <a:srgbClr val="D9D9D9"/>
                      </a:solidFill>
                    </a:lnB>
                    <a:noFill/>
                  </a:tcPr>
                </a:tc>
                <a:tc>
                  <a:txBody>
                    <a:bodyPr/>
                    <a:lstStyle/>
                    <a:p>
                      <a:pPr algn="l">
                        <a:lnSpc>
                          <a:spcPct val="95000"/>
                        </a:lnSpc>
                      </a:pPr>
                      <a:r>
                        <a:rPr lang="en-US" sz="1100" dirty="0">
                          <a:solidFill>
                            <a:srgbClr val="262626"/>
                          </a:solidFill>
                          <a:latin typeface="FS PF BeauSans Pro"/>
                          <a:ea typeface="FS PF BeauSans Pro"/>
                          <a:cs typeface="FS PF BeauSans Pro"/>
                        </a:rPr>
                        <a:t>Clarity highest: VocalSound microphones vary far more than speakers' loudness; tilt half: its premise is not yet confirmed by listening</a:t>
                      </a:r>
                    </a:p>
                  </a:txBody>
                  <a:tcPr marL="68580" marR="68580" marT="36576" marB="36576" anchor="ctr">
                    <a:lnL w="0">
                      <a:noFill/>
                    </a:lnL>
                    <a:lnR w="0">
                      <a:noFill/>
                    </a:lnR>
                    <a:lnT w="6350">
                      <a:solidFill>
                        <a:srgbClr val="D9D9D9"/>
                      </a:solidFill>
                    </a:lnT>
                    <a:lnB w="6350">
                      <a:solidFill>
                        <a:srgbClr val="D9D9D9"/>
                      </a:solidFill>
                    </a:lnB>
                    <a:noFill/>
                  </a:tcPr>
                </a:tc>
                <a:tc>
                  <a:txBody>
                    <a:bodyPr/>
                    <a:lstStyle/>
                    <a:p>
                      <a:pPr algn="l">
                        <a:lnSpc>
                          <a:spcPct val="95000"/>
                        </a:lnSpc>
                      </a:pPr>
                      <a:r>
                        <a:rPr lang="en-US" sz="950" dirty="0">
                          <a:solidFill>
                            <a:srgbClr val="595959"/>
                          </a:solidFill>
                          <a:latin typeface="FS PF BeauSans Pro"/>
                          <a:ea typeface="FS PF BeauSans Pro"/>
                          <a:cs typeface="FS PF BeauSans Pro"/>
                        </a:rPr>
                        <a:t>design</a:t>
                      </a:r>
                    </a:p>
                  </a:txBody>
                  <a:tcPr marL="68580" marR="68580" marT="36576" marB="36576" anchor="ctr">
                    <a:lnL w="0">
                      <a:noFill/>
                    </a:lnL>
                    <a:lnR w="0">
                      <a:noFill/>
                    </a:lnR>
                    <a:lnT w="6350">
                      <a:solidFill>
                        <a:srgbClr val="D9D9D9"/>
                      </a:solidFill>
                    </a:lnT>
                    <a:lnB w="6350">
                      <a:solidFill>
                        <a:srgbClr val="D9D9D9"/>
                      </a:solidFill>
                    </a:lnB>
                    <a:noFill/>
                  </a:tcPr>
                </a:tc>
              </a:tr>
              <a:tr h="274320">
                <a:tc>
                  <a:txBody>
                    <a:bodyPr/>
                    <a:lstStyle/>
                    <a:p>
                      <a:pPr algn="l">
                        <a:lnSpc>
                          <a:spcPct val="95000"/>
                        </a:lnSpc>
                      </a:pPr>
                      <a:r>
                        <a:rPr lang="en-US" sz="1100" b="1" dirty="0">
                          <a:solidFill>
                            <a:srgbClr val="262626"/>
                          </a:solidFill>
                          <a:latin typeface="FS PF BeauSans Pro"/>
                          <a:ea typeface="FS PF BeauSans Pro"/>
                          <a:cs typeface="FS PF BeauSans Pro"/>
                        </a:rPr>
                        <a:t>Tempo</a:t>
                      </a:r>
                    </a:p>
                  </a:txBody>
                  <a:tcPr marL="68580" marR="68580" marT="36576" marB="36576" anchor="ctr">
                    <a:lnL w="0">
                      <a:noFill/>
                    </a:lnL>
                    <a:lnR w="0">
                      <a:noFill/>
                    </a:lnR>
                    <a:lnT w="6350">
                      <a:solidFill>
                        <a:srgbClr val="D9D9D9"/>
                      </a:solidFill>
                    </a:lnT>
                    <a:lnB w="6350">
                      <a:solidFill>
                        <a:srgbClr val="D9D9D9"/>
                      </a:solidFill>
                    </a:lnB>
                    <a:noFill/>
                  </a:tcPr>
                </a:tc>
                <a:tc>
                  <a:txBody>
                    <a:bodyPr/>
                    <a:lstStyle/>
                    <a:p>
                      <a:pPr algn="l">
                        <a:lnSpc>
                          <a:spcPct val="95000"/>
                        </a:lnSpc>
                      </a:pPr>
                      <a:r>
                        <a:rPr lang="en-US" sz="1100" b="1" dirty="0">
                          <a:solidFill>
                            <a:srgbClr val="EE0033"/>
                          </a:solidFill>
                          <a:latin typeface="FS PF BeauSans Pro"/>
                          <a:ea typeface="FS PF BeauSans Pro"/>
                          <a:cs typeface="FS PF BeauSans Pro"/>
                        </a:rPr>
                        <a:t>laughter only</a:t>
                      </a:r>
                    </a:p>
                  </a:txBody>
                  <a:tcPr marL="68580" marR="68580" marT="36576" marB="36576" anchor="ctr">
                    <a:lnL w="0">
                      <a:noFill/>
                    </a:lnL>
                    <a:lnR w="0">
                      <a:noFill/>
                    </a:lnR>
                    <a:lnT w="6350">
                      <a:solidFill>
                        <a:srgbClr val="D9D9D9"/>
                      </a:solidFill>
                    </a:lnT>
                    <a:lnB w="6350">
                      <a:solidFill>
                        <a:srgbClr val="D9D9D9"/>
                      </a:solidFill>
                    </a:lnB>
                    <a:noFill/>
                  </a:tcPr>
                </a:tc>
                <a:tc>
                  <a:txBody>
                    <a:bodyPr/>
                    <a:lstStyle/>
                    <a:p>
                      <a:pPr algn="l">
                        <a:lnSpc>
                          <a:spcPct val="95000"/>
                        </a:lnSpc>
                      </a:pPr>
                      <a:r>
                        <a:rPr lang="en-US" sz="1100" dirty="0">
                          <a:solidFill>
                            <a:srgbClr val="262626"/>
                          </a:solidFill>
                          <a:latin typeface="FS PF BeauSans Pro"/>
                          <a:ea typeface="FS PF BeauSans Pro"/>
                          <a:cs typeface="FS PF BeauSans Pro"/>
                        </a:rPr>
                        <a:t>Cough, sneeze, sniff and throat-clearing timing is set by airway mechanics, not by speaking rate</a:t>
                      </a:r>
                    </a:p>
                  </a:txBody>
                  <a:tcPr marL="68580" marR="68580" marT="36576" marB="36576" anchor="ctr">
                    <a:lnL w="0">
                      <a:noFill/>
                    </a:lnL>
                    <a:lnR w="0">
                      <a:noFill/>
                    </a:lnR>
                    <a:lnT w="6350">
                      <a:solidFill>
                        <a:srgbClr val="D9D9D9"/>
                      </a:solidFill>
                    </a:lnT>
                    <a:lnB w="6350">
                      <a:solidFill>
                        <a:srgbClr val="D9D9D9"/>
                      </a:solidFill>
                    </a:lnB>
                    <a:noFill/>
                  </a:tcPr>
                </a:tc>
                <a:tc>
                  <a:txBody>
                    <a:bodyPr/>
                    <a:lstStyle/>
                    <a:p>
                      <a:pPr algn="l">
                        <a:lnSpc>
                          <a:spcPct val="95000"/>
                        </a:lnSpc>
                      </a:pPr>
                      <a:r>
                        <a:rPr lang="en-US" sz="950" dirty="0">
                          <a:solidFill>
                            <a:srgbClr val="595959"/>
                          </a:solidFill>
                          <a:latin typeface="FS PF BeauSans Pro"/>
                          <a:ea typeface="FS PF BeauSans Pro"/>
                          <a:cs typeface="FS PF BeauSans Pro"/>
                        </a:rPr>
                        <a:t>design</a:t>
                      </a:r>
                    </a:p>
                  </a:txBody>
                  <a:tcPr marL="68580" marR="68580" marT="36576" marB="36576" anchor="ctr">
                    <a:lnL w="0">
                      <a:noFill/>
                    </a:lnL>
                    <a:lnR w="0">
                      <a:noFill/>
                    </a:lnR>
                    <a:lnT w="6350">
                      <a:solidFill>
                        <a:srgbClr val="D9D9D9"/>
                      </a:solidFill>
                    </a:lnT>
                    <a:lnB w="6350">
                      <a:solidFill>
                        <a:srgbClr val="D9D9D9"/>
                      </a:solidFill>
                    </a:lnB>
                    <a:noFill/>
                  </a:tcPr>
                </a:tc>
              </a:tr>
              <a:tr h="274320">
                <a:tc>
                  <a:txBody>
                    <a:bodyPr/>
                    <a:lstStyle/>
                    <a:p>
                      <a:pPr algn="l">
                        <a:lnSpc>
                          <a:spcPct val="95000"/>
                        </a:lnSpc>
                      </a:pPr>
                      <a:r>
                        <a:rPr lang="en-US" sz="1100" b="1" dirty="0">
                          <a:solidFill>
                            <a:srgbClr val="262626"/>
                          </a:solidFill>
                          <a:latin typeface="FS PF BeauSans Pro"/>
                          <a:ea typeface="FS PF BeauSans Pro"/>
                          <a:cs typeface="FS PF BeauSans Pro"/>
                        </a:rPr>
                        <a:t>Intensity target</a:t>
                      </a:r>
                    </a:p>
                  </a:txBody>
                  <a:tcPr marL="68580" marR="68580" marT="36576" marB="36576" anchor="ctr">
                    <a:lnL w="0">
                      <a:noFill/>
                    </a:lnL>
                    <a:lnR w="0">
                      <a:noFill/>
                    </a:lnR>
                    <a:lnT w="6350">
                      <a:solidFill>
                        <a:srgbClr val="D9D9D9"/>
                      </a:solidFill>
                    </a:lnT>
                    <a:lnB w="6350">
                      <a:solidFill>
                        <a:srgbClr val="D9D9D9"/>
                      </a:solidFill>
                    </a:lnB>
                    <a:noFill/>
                  </a:tcPr>
                </a:tc>
                <a:tc>
                  <a:txBody>
                    <a:bodyPr/>
                    <a:lstStyle/>
                    <a:p>
                      <a:pPr algn="l">
                        <a:lnSpc>
                          <a:spcPct val="95000"/>
                        </a:lnSpc>
                      </a:pPr>
                      <a:r>
                        <a:rPr lang="en-US" sz="1100" b="1" dirty="0">
                          <a:solidFill>
                            <a:srgbClr val="EE0033"/>
                          </a:solidFill>
                          <a:latin typeface="FS PF BeauSans Pro"/>
                          <a:ea typeface="FS PF BeauSans Pro"/>
                          <a:cs typeface="FS PF BeauSans Pro"/>
                        </a:rPr>
                        <a:t>drawn from N(r, 0.2²)</a:t>
                      </a:r>
                    </a:p>
                  </a:txBody>
                  <a:tcPr marL="68580" marR="68580" marT="36576" marB="36576" anchor="ctr">
                    <a:lnL w="0">
                      <a:noFill/>
                    </a:lnL>
                    <a:lnR w="0">
                      <a:noFill/>
                    </a:lnR>
                    <a:lnT w="6350">
                      <a:solidFill>
                        <a:srgbClr val="D9D9D9"/>
                      </a:solidFill>
                    </a:lnT>
                    <a:lnB w="6350">
                      <a:solidFill>
                        <a:srgbClr val="D9D9D9"/>
                      </a:solidFill>
                    </a:lnB>
                    <a:noFill/>
                  </a:tcPr>
                </a:tc>
                <a:tc>
                  <a:txBody>
                    <a:bodyPr/>
                    <a:lstStyle/>
                    <a:p>
                      <a:pPr algn="l">
                        <a:lnSpc>
                          <a:spcPct val="95000"/>
                        </a:lnSpc>
                      </a:pPr>
                      <a:r>
                        <a:rPr lang="en-US" sz="1100" dirty="0">
                          <a:solidFill>
                            <a:srgbClr val="262626"/>
                          </a:solidFill>
                          <a:latin typeface="FS PF BeauSans Pro"/>
                          <a:ea typeface="FS PF BeauSans Pro"/>
                          <a:cs typeface="FS PF BeauSans Pro"/>
                        </a:rPr>
                        <a:t>A soft-spoken speaker still sometimes gets a loud laugh; a spread of 0.2 keeps most rows within a fifth of the speaker's rank r</a:t>
                      </a:r>
                    </a:p>
                  </a:txBody>
                  <a:tcPr marL="68580" marR="68580" marT="36576" marB="36576" anchor="ctr">
                    <a:lnL w="0">
                      <a:noFill/>
                    </a:lnL>
                    <a:lnR w="0">
                      <a:noFill/>
                    </a:lnR>
                    <a:lnT w="6350">
                      <a:solidFill>
                        <a:srgbClr val="D9D9D9"/>
                      </a:solidFill>
                    </a:lnT>
                    <a:lnB w="6350">
                      <a:solidFill>
                        <a:srgbClr val="D9D9D9"/>
                      </a:solidFill>
                    </a:lnB>
                    <a:noFill/>
                  </a:tcPr>
                </a:tc>
                <a:tc>
                  <a:txBody>
                    <a:bodyPr/>
                    <a:lstStyle/>
                    <a:p>
                      <a:pPr algn="l">
                        <a:lnSpc>
                          <a:spcPct val="95000"/>
                        </a:lnSpc>
                      </a:pPr>
                      <a:r>
                        <a:rPr lang="en-US" sz="950" dirty="0">
                          <a:solidFill>
                            <a:srgbClr val="595959"/>
                          </a:solidFill>
                          <a:latin typeface="FS PF BeauSans Pro"/>
                          <a:ea typeface="FS PF BeauSans Pro"/>
                          <a:cs typeface="FS PF BeauSans Pro"/>
                        </a:rPr>
                        <a:t>design</a:t>
                      </a:r>
                    </a:p>
                  </a:txBody>
                  <a:tcPr marL="68580" marR="68580" marT="36576" marB="36576" anchor="ctr">
                    <a:lnL w="0">
                      <a:noFill/>
                    </a:lnL>
                    <a:lnR w="0">
                      <a:noFill/>
                    </a:lnR>
                    <a:lnT w="6350">
                      <a:solidFill>
                        <a:srgbClr val="D9D9D9"/>
                      </a:solidFill>
                    </a:lnT>
                    <a:lnB w="6350">
                      <a:solidFill>
                        <a:srgbClr val="D9D9D9"/>
                      </a:solidFill>
                    </a:lnB>
                    <a:noFill/>
                  </a:tcPr>
                </a:tc>
              </a:tr>
              <a:tr h="274320">
                <a:tc>
                  <a:txBody>
                    <a:bodyPr/>
                    <a:lstStyle/>
                    <a:p>
                      <a:pPr algn="l">
                        <a:lnSpc>
                          <a:spcPct val="95000"/>
                        </a:lnSpc>
                      </a:pPr>
                      <a:r>
                        <a:rPr lang="en-US" sz="1100" b="1" dirty="0">
                          <a:solidFill>
                            <a:srgbClr val="262626"/>
                          </a:solidFill>
                          <a:latin typeface="FS PF BeauSans Pro"/>
                          <a:ea typeface="FS PF BeauSans Pro"/>
                          <a:cs typeface="FS PF BeauSans Pro"/>
                        </a:rPr>
                        <a:t>Draw</a:t>
                      </a:r>
                    </a:p>
                  </a:txBody>
                  <a:tcPr marL="68580" marR="68580" marT="36576" marB="36576" anchor="ctr">
                    <a:lnL w="0">
                      <a:noFill/>
                    </a:lnL>
                    <a:lnR w="0">
                      <a:noFill/>
                    </a:lnR>
                    <a:lnT w="6350">
                      <a:solidFill>
                        <a:srgbClr val="D9D9D9"/>
                      </a:solidFill>
                    </a:lnT>
                    <a:lnB w="19050">
                      <a:solidFill>
                        <a:srgbClr val="262626"/>
                      </a:solidFill>
                    </a:lnB>
                    <a:noFill/>
                  </a:tcPr>
                </a:tc>
                <a:tc>
                  <a:txBody>
                    <a:bodyPr/>
                    <a:lstStyle/>
                    <a:p>
                      <a:pPr algn="l">
                        <a:lnSpc>
                          <a:spcPct val="95000"/>
                        </a:lnSpc>
                      </a:pPr>
                      <a:r>
                        <a:rPr lang="en-US" sz="1100" b="1" dirty="0">
                          <a:solidFill>
                            <a:srgbClr val="EE0033"/>
                          </a:solidFill>
                          <a:latin typeface="FS PF BeauSans Pro"/>
                          <a:ea typeface="FS PF BeauSans Pro"/>
                          <a:cs typeface="FS PF BeauSans Pro"/>
                        </a:rPr>
                        <a:t>∝ exp(−Σ w·d), not the nearest</a:t>
                      </a:r>
                    </a:p>
                  </a:txBody>
                  <a:tcPr marL="68580" marR="68580" marT="36576" marB="36576" anchor="ctr">
                    <a:lnL w="0">
                      <a:noFill/>
                    </a:lnL>
                    <a:lnR w="0">
                      <a:noFill/>
                    </a:lnR>
                    <a:lnT w="6350">
                      <a:solidFill>
                        <a:srgbClr val="D9D9D9"/>
                      </a:solidFill>
                    </a:lnT>
                    <a:lnB w="19050">
                      <a:solidFill>
                        <a:srgbClr val="262626"/>
                      </a:solidFill>
                    </a:lnB>
                    <a:noFill/>
                  </a:tcPr>
                </a:tc>
                <a:tc>
                  <a:txBody>
                    <a:bodyPr/>
                    <a:lstStyle/>
                    <a:p>
                      <a:pPr algn="l">
                        <a:lnSpc>
                          <a:spcPct val="95000"/>
                        </a:lnSpc>
                      </a:pPr>
                      <a:r>
                        <a:rPr lang="en-US" sz="1100" dirty="0">
                          <a:solidFill>
                            <a:srgbClr val="262626"/>
                          </a:solidFill>
                          <a:latin typeface="FS PF BeauSans Pro"/>
                          <a:ea typeface="FS PF BeauSans Pro"/>
                          <a:cs typeface="FS PF BeauSans Pro"/>
                        </a:rPr>
                        <a:t>Every usable clip stays in play, so the data keeps its variety; against a uniform pick, mismatch fell 38% on clarity and 35% on tempo</a:t>
                      </a:r>
                    </a:p>
                  </a:txBody>
                  <a:tcPr marL="68580" marR="68580" marT="36576" marB="36576" anchor="ctr">
                    <a:lnL w="0">
                      <a:noFill/>
                    </a:lnL>
                    <a:lnR w="0">
                      <a:noFill/>
                    </a:lnR>
                    <a:lnT w="6350">
                      <a:solidFill>
                        <a:srgbClr val="D9D9D9"/>
                      </a:solidFill>
                    </a:lnT>
                    <a:lnB w="19050">
                      <a:solidFill>
                        <a:srgbClr val="262626"/>
                      </a:solidFill>
                    </a:lnB>
                    <a:noFill/>
                  </a:tcPr>
                </a:tc>
                <a:tc>
                  <a:txBody>
                    <a:bodyPr/>
                    <a:lstStyle/>
                    <a:p>
                      <a:pPr algn="l">
                        <a:lnSpc>
                          <a:spcPct val="95000"/>
                        </a:lnSpc>
                      </a:pPr>
                      <a:r>
                        <a:rPr lang="en-US" sz="950" dirty="0">
                          <a:solidFill>
                            <a:srgbClr val="595959"/>
                          </a:solidFill>
                          <a:latin typeface="FS PF BeauSans Pro"/>
                          <a:ea typeface="FS PF BeauSans Pro"/>
                          <a:cs typeface="FS PF BeauSans Pro"/>
                        </a:rPr>
                        <a:t>pilot</a:t>
                      </a:r>
                    </a:p>
                  </a:txBody>
                  <a:tcPr marL="68580" marR="68580" marT="36576" marB="36576" anchor="ctr">
                    <a:lnL w="0">
                      <a:noFill/>
                    </a:lnL>
                    <a:lnR w="0">
                      <a:noFill/>
                    </a:lnR>
                    <a:lnT w="6350">
                      <a:solidFill>
                        <a:srgbClr val="D9D9D9"/>
                      </a:solidFill>
                    </a:lnT>
                    <a:lnB w="19050">
                      <a:solidFill>
                        <a:srgbClr val="262626"/>
                      </a:solidFill>
                    </a:lnB>
                    <a:noFill/>
                  </a:tcPr>
                </a:tc>
              </a:tr>
            </a:tbl>
          </a:graphicData>
        </a:graphic>
      </p:graphicFrame>
      <p:sp>
        <p:nvSpPr>
          <p:cNvPr id="5" name="Footnote citations"/>
          <p:cNvSpPr txBox="1"/>
          <p:nvPr/>
        </p:nvSpPr>
        <p:spPr>
          <a:xfrm>
            <a:off x="411480" y="5852160"/>
            <a:ext cx="8778240" cy="960120"/>
          </a:xfrm>
          <a:prstGeom prst="rect">
            <a:avLst/>
          </a:prstGeom>
          <a:noFill/>
          <a:ln>
            <a:noFill/>
          </a:ln>
        </p:spPr>
        <p:txBody>
          <a:bodyPr wrap="square" lIns="45720" tIns="45720" rIns="45720" bIns="45720" anchor="b">
            <a:noAutofit/>
          </a:bodyPr>
          <a:lstStyle/>
          <a:p>
            <a:pPr>
              <a:buNone/>
            </a:pPr>
            <a:r>
              <a:rPr lang="en-US" sz="900" b="1" dirty="0">
                <a:solidFill>
                  <a:srgbClr val="595959"/>
                </a:solidFill>
                <a:latin typeface="FS PF BeauSans Pro"/>
                <a:ea typeface="FS PF BeauSans Pro"/>
                <a:cs typeface="FS PF BeauSans Pro"/>
              </a:rPr>
              <a:t>Seed-VC: </a:t>
            </a:r>
            <a:r>
              <a:rPr lang="en-US" sz="900" dirty="0">
                <a:solidFill>
                  <a:srgbClr val="595959"/>
                </a:solidFill>
                <a:latin typeface="FS PF BeauSans Pro"/>
                <a:ea typeface="FS PF BeauSans Pro"/>
                <a:cs typeface="FS PF BeauSans Pro"/>
              </a:rPr>
              <a:t>Liu, arXiv:2411.09943, 2024</a:t>
            </a:r>
          </a:p>
          <a:p>
            <a:pPr>
              <a:buNone/>
            </a:pPr>
            <a:r>
              <a:rPr lang="en-US" sz="900" dirty="0">
                <a:solidFill>
                  <a:srgbClr val="595959"/>
                </a:solidFill>
                <a:latin typeface="FS PF BeauSans Pro"/>
                <a:ea typeface="FS PF BeauSans Pro"/>
                <a:cs typeface="FS PF BeauSans Pro"/>
              </a:rPr>
              <a:t>Basis: pilot = measured on our 20-utterance pilot; design = follows from how the pipeline works</a:t>
            </a:r>
          </a:p>
        </p:txBody>
      </p:sp>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p:cNvSpPr txBox="1">
            <a:spLocks noGrp="1"/>
          </p:cNvSpPr>
          <p:nvPr>
            <p:ph type="ctrTitle"/>
          </p:nvPr>
        </p:nvSpPr>
        <p:spPr>
          <a:xfrm>
            <a:off x="822960" y="466344"/>
            <a:ext cx="10543032" cy="731520"/>
          </a:xfrm>
          <a:prstGeom prst="rect">
            <a:avLst/>
          </a:prstGeom>
          <a:noFill/>
          <a:ln>
            <a:noFill/>
          </a:ln>
        </p:spPr>
        <p:txBody>
          <a:bodyPr spcFirstLastPara="1" wrap="square" lIns="91425" tIns="91425" rIns="91425" bIns="91425" anchor="t" anchorCtr="0">
            <a:noAutofit/>
          </a:bodyPr>
          <a:lstStyle/>
          <a:p>
            <a:pPr algn="ctr">
              <a:buNone/>
            </a:pPr>
            <a:r>
              <a:rPr lang="en-US" dirty="0"/>
              <a:t>Why these values: Voice conversion</a:t>
            </a:r>
          </a:p>
        </p:txBody>
      </p:sp>
      <p:sp>
        <p:nvSpPr>
          <p:cNvPr id="3" name="Slide Number Placeholder"/>
          <p:cNvSpPr>
            <a:spLocks noGrp="1"/>
          </p:cNvSpPr>
          <p:nvPr>
            <p:ph type="sldNum" idx="12"/>
          </p:nvPr>
        </p:nvSpPr>
        <p:spPr/>
        <p:txBody>
          <a:bodyPr/>
          <a:lstStyle/>
          <a:p>
            <a:pPr marL="0" lvl="0" indent="0" algn="ctr" rtl="0">
              <a:spcBef>
                <a:spcPts val="0"/>
              </a:spcBef>
              <a:spcAft>
                <a:spcPts val="0"/>
              </a:spcAft>
              <a:buNone/>
            </a:pPr>
            <a:fld id="{00000000-1234-1234-1234-123412341234}" type="slidenum">
              <a:rPr lang="en-US" smtClean="0"/>
              <a:t>37</a:t>
            </a:fld>
            <a:endParaRPr lang="en-US" dirty="0"/>
          </a:p>
        </p:txBody>
      </p:sp>
      <p:graphicFrame>
        <p:nvGraphicFramePr>
          <p:cNvPr id="4" name="Why table"/>
          <p:cNvGraphicFramePr>
            <a:graphicFrameLocks noGrp="1"/>
          </p:cNvGraphicFramePr>
          <p:nvPr/>
        </p:nvGraphicFramePr>
        <p:xfrm>
          <a:off x="548640" y="1325880"/>
          <a:ext cx="11091672" cy="2761488"/>
        </p:xfrm>
        <a:graphic>
          <a:graphicData uri="http://schemas.openxmlformats.org/drawingml/2006/table">
            <a:tbl>
              <a:tblPr firstRow="1"/>
              <a:tblGrid>
                <a:gridCol w="1691640"/>
                <a:gridCol w="2514600"/>
                <a:gridCol w="5715000"/>
                <a:gridCol w="1170432"/>
              </a:tblGrid>
              <a:tr h="292608">
                <a:tc>
                  <a:txBody>
                    <a:bodyPr/>
                    <a:lstStyle/>
                    <a:p>
                      <a:pPr algn="l">
                        <a:lnSpc>
                          <a:spcPct val="95000"/>
                        </a:lnSpc>
                      </a:pPr>
                      <a:r>
                        <a:rPr lang="en-US" sz="1100" b="1" dirty="0">
                          <a:solidFill>
                            <a:srgbClr val="262626"/>
                          </a:solidFill>
                          <a:latin typeface="FS PF BeauSans Pro"/>
                          <a:ea typeface="FS PF BeauSans Pro"/>
                          <a:cs typeface="FS PF BeauSans Pro"/>
                        </a:rPr>
                        <a:t>Choice</a:t>
                      </a:r>
                    </a:p>
                  </a:txBody>
                  <a:tcPr marL="68580" marR="68580" marT="36576" marB="36576" anchor="ctr">
                    <a:lnL w="0">
                      <a:noFill/>
                    </a:lnL>
                    <a:lnR w="0">
                      <a:noFill/>
                    </a:lnR>
                    <a:lnT w="19050">
                      <a:solidFill>
                        <a:srgbClr val="262626"/>
                      </a:solidFill>
                    </a:lnT>
                    <a:lnB w="9525">
                      <a:solidFill>
                        <a:srgbClr val="262626"/>
                      </a:solidFill>
                    </a:lnB>
                    <a:noFill/>
                  </a:tcPr>
                </a:tc>
                <a:tc>
                  <a:txBody>
                    <a:bodyPr/>
                    <a:lstStyle/>
                    <a:p>
                      <a:pPr algn="l">
                        <a:lnSpc>
                          <a:spcPct val="95000"/>
                        </a:lnSpc>
                      </a:pPr>
                      <a:r>
                        <a:rPr lang="en-US" sz="1100" b="1" dirty="0">
                          <a:solidFill>
                            <a:srgbClr val="262626"/>
                          </a:solidFill>
                          <a:latin typeface="FS PF BeauSans Pro"/>
                          <a:ea typeface="FS PF BeauSans Pro"/>
                          <a:cs typeface="FS PF BeauSans Pro"/>
                        </a:rPr>
                        <a:t>Value</a:t>
                      </a:r>
                    </a:p>
                  </a:txBody>
                  <a:tcPr marL="68580" marR="68580" marT="36576" marB="36576" anchor="ctr">
                    <a:lnL w="0">
                      <a:noFill/>
                    </a:lnL>
                    <a:lnR w="0">
                      <a:noFill/>
                    </a:lnR>
                    <a:lnT w="19050">
                      <a:solidFill>
                        <a:srgbClr val="262626"/>
                      </a:solidFill>
                    </a:lnT>
                    <a:lnB w="9525">
                      <a:solidFill>
                        <a:srgbClr val="262626"/>
                      </a:solidFill>
                    </a:lnB>
                    <a:noFill/>
                  </a:tcPr>
                </a:tc>
                <a:tc>
                  <a:txBody>
                    <a:bodyPr/>
                    <a:lstStyle/>
                    <a:p>
                      <a:pPr algn="l">
                        <a:lnSpc>
                          <a:spcPct val="95000"/>
                        </a:lnSpc>
                      </a:pPr>
                      <a:r>
                        <a:rPr lang="en-US" sz="1100" b="1" dirty="0">
                          <a:solidFill>
                            <a:srgbClr val="262626"/>
                          </a:solidFill>
                          <a:latin typeface="FS PF BeauSans Pro"/>
                          <a:ea typeface="FS PF BeauSans Pro"/>
                          <a:cs typeface="FS PF BeauSans Pro"/>
                        </a:rPr>
                        <a:t>Why</a:t>
                      </a:r>
                    </a:p>
                  </a:txBody>
                  <a:tcPr marL="68580" marR="68580" marT="36576" marB="36576" anchor="ctr">
                    <a:lnL w="0">
                      <a:noFill/>
                    </a:lnL>
                    <a:lnR w="0">
                      <a:noFill/>
                    </a:lnR>
                    <a:lnT w="19050">
                      <a:solidFill>
                        <a:srgbClr val="262626"/>
                      </a:solidFill>
                    </a:lnT>
                    <a:lnB w="9525">
                      <a:solidFill>
                        <a:srgbClr val="262626"/>
                      </a:solidFill>
                    </a:lnB>
                    <a:noFill/>
                  </a:tcPr>
                </a:tc>
                <a:tc>
                  <a:txBody>
                    <a:bodyPr/>
                    <a:lstStyle/>
                    <a:p>
                      <a:pPr algn="l">
                        <a:lnSpc>
                          <a:spcPct val="95000"/>
                        </a:lnSpc>
                      </a:pPr>
                      <a:r>
                        <a:rPr lang="en-US" sz="1100" b="1" dirty="0">
                          <a:solidFill>
                            <a:srgbClr val="262626"/>
                          </a:solidFill>
                          <a:latin typeface="FS PF BeauSans Pro"/>
                          <a:ea typeface="FS PF BeauSans Pro"/>
                          <a:cs typeface="FS PF BeauSans Pro"/>
                        </a:rPr>
                        <a:t>Basis</a:t>
                      </a:r>
                    </a:p>
                  </a:txBody>
                  <a:tcPr marL="68580" marR="68580" marT="36576" marB="36576" anchor="ctr">
                    <a:lnL w="0">
                      <a:noFill/>
                    </a:lnL>
                    <a:lnR w="0">
                      <a:noFill/>
                    </a:lnR>
                    <a:lnT w="19050">
                      <a:solidFill>
                        <a:srgbClr val="262626"/>
                      </a:solidFill>
                    </a:lnT>
                    <a:lnB w="9525">
                      <a:solidFill>
                        <a:srgbClr val="262626"/>
                      </a:solidFill>
                    </a:lnB>
                    <a:noFill/>
                  </a:tcPr>
                </a:tc>
              </a:tr>
              <a:tr h="274320">
                <a:tc>
                  <a:txBody>
                    <a:bodyPr/>
                    <a:lstStyle/>
                    <a:p>
                      <a:pPr algn="l">
                        <a:lnSpc>
                          <a:spcPct val="95000"/>
                        </a:lnSpc>
                      </a:pPr>
                      <a:r>
                        <a:rPr lang="en-US" sz="1100" b="1" dirty="0">
                          <a:solidFill>
                            <a:srgbClr val="262626"/>
                          </a:solidFill>
                          <a:latin typeface="FS PF BeauSans Pro"/>
                          <a:ea typeface="FS PF BeauSans Pro"/>
                          <a:cs typeface="FS PF BeauSans Pro"/>
                        </a:rPr>
                        <a:t>Model</a:t>
                      </a:r>
                    </a:p>
                  </a:txBody>
                  <a:tcPr marL="68580" marR="68580" marT="36576" marB="36576" anchor="ctr">
                    <a:lnL w="0">
                      <a:noFill/>
                    </a:lnL>
                    <a:lnR w="0">
                      <a:noFill/>
                    </a:lnR>
                    <a:lnT w="9525">
                      <a:solidFill>
                        <a:srgbClr val="262626"/>
                      </a:solidFill>
                    </a:lnT>
                    <a:lnB w="6350">
                      <a:solidFill>
                        <a:srgbClr val="D9D9D9"/>
                      </a:solidFill>
                    </a:lnB>
                    <a:noFill/>
                  </a:tcPr>
                </a:tc>
                <a:tc>
                  <a:txBody>
                    <a:bodyPr/>
                    <a:lstStyle/>
                    <a:p>
                      <a:pPr algn="l">
                        <a:lnSpc>
                          <a:spcPct val="95000"/>
                        </a:lnSpc>
                      </a:pPr>
                      <a:r>
                        <a:rPr lang="en-US" sz="1100" b="1" dirty="0">
                          <a:solidFill>
                            <a:srgbClr val="EE0033"/>
                          </a:solidFill>
                          <a:latin typeface="FS PF BeauSans Pro"/>
                          <a:ea typeface="FS PF BeauSans Pro"/>
                          <a:cs typeface="FS PF BeauSans Pro"/>
                        </a:rPr>
                        <a:t>Seed-VC v1</a:t>
                      </a:r>
                    </a:p>
                  </a:txBody>
                  <a:tcPr marL="68580" marR="68580" marT="36576" marB="36576" anchor="ctr">
                    <a:lnL w="0">
                      <a:noFill/>
                    </a:lnL>
                    <a:lnR w="0">
                      <a:noFill/>
                    </a:lnR>
                    <a:lnT w="9525">
                      <a:solidFill>
                        <a:srgbClr val="262626"/>
                      </a:solidFill>
                    </a:lnT>
                    <a:lnB w="6350">
                      <a:solidFill>
                        <a:srgbClr val="D9D9D9"/>
                      </a:solidFill>
                    </a:lnB>
                    <a:noFill/>
                  </a:tcPr>
                </a:tc>
                <a:tc>
                  <a:txBody>
                    <a:bodyPr/>
                    <a:lstStyle/>
                    <a:p>
                      <a:pPr algn="l">
                        <a:lnSpc>
                          <a:spcPct val="95000"/>
                        </a:lnSpc>
                      </a:pPr>
                      <a:r>
                        <a:rPr lang="en-US" sz="1100" dirty="0">
                          <a:solidFill>
                            <a:srgbClr val="262626"/>
                          </a:solidFill>
                          <a:latin typeface="FS PF BeauSans Pro"/>
                          <a:ea typeface="FS PF BeauSans Pro"/>
                          <a:cs typeface="FS PF BeauSans Pro"/>
                        </a:rPr>
                        <a:t>Zero-shot, so the host utterance itself is the reference; speaker similarity 0.868 vs 0.755 OpenVoice, 0.844 CosyVoice; SynParaSpeech uses it for the same step</a:t>
                      </a:r>
                    </a:p>
                  </a:txBody>
                  <a:tcPr marL="68580" marR="68580" marT="36576" marB="36576" anchor="ctr">
                    <a:lnL w="0">
                      <a:noFill/>
                    </a:lnL>
                    <a:lnR w="0">
                      <a:noFill/>
                    </a:lnR>
                    <a:lnT w="9525">
                      <a:solidFill>
                        <a:srgbClr val="262626"/>
                      </a:solidFill>
                    </a:lnT>
                    <a:lnB w="6350">
                      <a:solidFill>
                        <a:srgbClr val="D9D9D9"/>
                      </a:solidFill>
                    </a:lnB>
                    <a:noFill/>
                  </a:tcPr>
                </a:tc>
                <a:tc>
                  <a:txBody>
                    <a:bodyPr/>
                    <a:lstStyle/>
                    <a:p>
                      <a:pPr algn="l">
                        <a:lnSpc>
                          <a:spcPct val="95000"/>
                        </a:lnSpc>
                      </a:pPr>
                      <a:r>
                        <a:rPr lang="en-US" sz="950" dirty="0">
                          <a:solidFill>
                            <a:srgbClr val="595959"/>
                          </a:solidFill>
                          <a:latin typeface="FS PF BeauSans Pro"/>
                          <a:ea typeface="FS PF BeauSans Pro"/>
                          <a:cs typeface="FS PF BeauSans Pro"/>
                        </a:rPr>
                        <a:t>Liu, 2024</a:t>
                      </a:r>
                    </a:p>
                  </a:txBody>
                  <a:tcPr marL="68580" marR="68580" marT="36576" marB="36576" anchor="ctr">
                    <a:lnL w="0">
                      <a:noFill/>
                    </a:lnL>
                    <a:lnR w="0">
                      <a:noFill/>
                    </a:lnR>
                    <a:lnT w="9525">
                      <a:solidFill>
                        <a:srgbClr val="262626"/>
                      </a:solidFill>
                    </a:lnT>
                    <a:lnB w="6350">
                      <a:solidFill>
                        <a:srgbClr val="D9D9D9"/>
                      </a:solidFill>
                    </a:lnB>
                    <a:noFill/>
                  </a:tcPr>
                </a:tc>
              </a:tr>
              <a:tr h="274320">
                <a:tc>
                  <a:txBody>
                    <a:bodyPr/>
                    <a:lstStyle/>
                    <a:p>
                      <a:pPr algn="l">
                        <a:lnSpc>
                          <a:spcPct val="95000"/>
                        </a:lnSpc>
                      </a:pPr>
                      <a:r>
                        <a:rPr lang="en-US" sz="1100" b="1" dirty="0">
                          <a:solidFill>
                            <a:srgbClr val="262626"/>
                          </a:solidFill>
                          <a:latin typeface="FS PF BeauSans Pro"/>
                          <a:ea typeface="FS PF BeauSans Pro"/>
                          <a:cs typeface="FS PF BeauSans Pro"/>
                        </a:rPr>
                        <a:t>Diffusion steps</a:t>
                      </a:r>
                    </a:p>
                  </a:txBody>
                  <a:tcPr marL="68580" marR="68580" marT="36576" marB="36576" anchor="ctr">
                    <a:lnL w="0">
                      <a:noFill/>
                    </a:lnL>
                    <a:lnR w="0">
                      <a:noFill/>
                    </a:lnR>
                    <a:lnT w="6350">
                      <a:solidFill>
                        <a:srgbClr val="D9D9D9"/>
                      </a:solidFill>
                    </a:lnT>
                    <a:lnB w="6350">
                      <a:solidFill>
                        <a:srgbClr val="D9D9D9"/>
                      </a:solidFill>
                    </a:lnB>
                    <a:noFill/>
                  </a:tcPr>
                </a:tc>
                <a:tc>
                  <a:txBody>
                    <a:bodyPr/>
                    <a:lstStyle/>
                    <a:p>
                      <a:pPr algn="l">
                        <a:lnSpc>
                          <a:spcPct val="95000"/>
                        </a:lnSpc>
                      </a:pPr>
                      <a:r>
                        <a:rPr lang="en-US" sz="1100" b="1" dirty="0">
                          <a:solidFill>
                            <a:srgbClr val="EE0033"/>
                          </a:solidFill>
                          <a:latin typeface="FS PF BeauSans Pro"/>
                          <a:ea typeface="FS PF BeauSans Pro"/>
                          <a:cs typeface="FS PF BeauSans Pro"/>
                        </a:rPr>
                        <a:t>50</a:t>
                      </a:r>
                    </a:p>
                  </a:txBody>
                  <a:tcPr marL="68580" marR="68580" marT="36576" marB="36576" anchor="ctr">
                    <a:lnL w="0">
                      <a:noFill/>
                    </a:lnL>
                    <a:lnR w="0">
                      <a:noFill/>
                    </a:lnR>
                    <a:lnT w="6350">
                      <a:solidFill>
                        <a:srgbClr val="D9D9D9"/>
                      </a:solidFill>
                    </a:lnT>
                    <a:lnB w="6350">
                      <a:solidFill>
                        <a:srgbClr val="D9D9D9"/>
                      </a:solidFill>
                    </a:lnB>
                    <a:noFill/>
                  </a:tcPr>
                </a:tc>
                <a:tc>
                  <a:txBody>
                    <a:bodyPr/>
                    <a:lstStyle/>
                    <a:p>
                      <a:pPr algn="l">
                        <a:lnSpc>
                          <a:spcPct val="95000"/>
                        </a:lnSpc>
                      </a:pPr>
                      <a:r>
                        <a:rPr lang="en-US" sz="1100" dirty="0">
                          <a:solidFill>
                            <a:srgbClr val="262626"/>
                          </a:solidFill>
                          <a:latin typeface="FS PF BeauSans Pro"/>
                          <a:ea typeface="FS PF BeauSans Pro"/>
                          <a:cs typeface="FS PF BeauSans Pro"/>
                        </a:rPr>
                        <a:t>Top of the 30–50 range Seed-VC recommends for best quality; the data is built offline, so quality outweighs speed</a:t>
                      </a:r>
                    </a:p>
                  </a:txBody>
                  <a:tcPr marL="68580" marR="68580" marT="36576" marB="36576" anchor="ctr">
                    <a:lnL w="0">
                      <a:noFill/>
                    </a:lnL>
                    <a:lnR w="0">
                      <a:noFill/>
                    </a:lnR>
                    <a:lnT w="6350">
                      <a:solidFill>
                        <a:srgbClr val="D9D9D9"/>
                      </a:solidFill>
                    </a:lnT>
                    <a:lnB w="6350">
                      <a:solidFill>
                        <a:srgbClr val="D9D9D9"/>
                      </a:solidFill>
                    </a:lnB>
                    <a:noFill/>
                  </a:tcPr>
                </a:tc>
                <a:tc>
                  <a:txBody>
                    <a:bodyPr/>
                    <a:lstStyle/>
                    <a:p>
                      <a:pPr algn="l">
                        <a:lnSpc>
                          <a:spcPct val="95000"/>
                        </a:lnSpc>
                      </a:pPr>
                      <a:r>
                        <a:rPr lang="en-US" sz="950" dirty="0">
                          <a:solidFill>
                            <a:srgbClr val="595959"/>
                          </a:solidFill>
                          <a:latin typeface="FS PF BeauSans Pro"/>
                          <a:ea typeface="FS PF BeauSans Pro"/>
                          <a:cs typeface="FS PF BeauSans Pro"/>
                        </a:rPr>
                        <a:t>Seed-VC docs</a:t>
                      </a:r>
                    </a:p>
                  </a:txBody>
                  <a:tcPr marL="68580" marR="68580" marT="36576" marB="36576" anchor="ctr">
                    <a:lnL w="0">
                      <a:noFill/>
                    </a:lnL>
                    <a:lnR w="0">
                      <a:noFill/>
                    </a:lnR>
                    <a:lnT w="6350">
                      <a:solidFill>
                        <a:srgbClr val="D9D9D9"/>
                      </a:solidFill>
                    </a:lnT>
                    <a:lnB w="6350">
                      <a:solidFill>
                        <a:srgbClr val="D9D9D9"/>
                      </a:solidFill>
                    </a:lnB>
                    <a:noFill/>
                  </a:tcPr>
                </a:tc>
              </a:tr>
              <a:tr h="274320">
                <a:tc>
                  <a:txBody>
                    <a:bodyPr/>
                    <a:lstStyle/>
                    <a:p>
                      <a:pPr algn="l">
                        <a:lnSpc>
                          <a:spcPct val="95000"/>
                        </a:lnSpc>
                      </a:pPr>
                      <a:r>
                        <a:rPr lang="en-US" sz="1100" b="1" dirty="0">
                          <a:solidFill>
                            <a:srgbClr val="262626"/>
                          </a:solidFill>
                          <a:latin typeface="FS PF BeauSans Pro"/>
                          <a:ea typeface="FS PF BeauSans Pro"/>
                          <a:cs typeface="FS PF BeauSans Pro"/>
                        </a:rPr>
                        <a:t>Guidance</a:t>
                      </a:r>
                    </a:p>
                  </a:txBody>
                  <a:tcPr marL="68580" marR="68580" marT="36576" marB="36576" anchor="ctr">
                    <a:lnL w="0">
                      <a:noFill/>
                    </a:lnL>
                    <a:lnR w="0">
                      <a:noFill/>
                    </a:lnR>
                    <a:lnT w="6350">
                      <a:solidFill>
                        <a:srgbClr val="D9D9D9"/>
                      </a:solidFill>
                    </a:lnT>
                    <a:lnB w="6350">
                      <a:solidFill>
                        <a:srgbClr val="D9D9D9"/>
                      </a:solidFill>
                    </a:lnB>
                    <a:noFill/>
                  </a:tcPr>
                </a:tc>
                <a:tc>
                  <a:txBody>
                    <a:bodyPr/>
                    <a:lstStyle/>
                    <a:p>
                      <a:pPr algn="l">
                        <a:lnSpc>
                          <a:spcPct val="95000"/>
                        </a:lnSpc>
                      </a:pPr>
                      <a:r>
                        <a:rPr lang="en-US" sz="1100" b="1" dirty="0">
                          <a:solidFill>
                            <a:srgbClr val="EE0033"/>
                          </a:solidFill>
                          <a:latin typeface="FS PF BeauSans Pro"/>
                          <a:ea typeface="FS PF BeauSans Pro"/>
                          <a:cs typeface="FS PF BeauSans Pro"/>
                        </a:rPr>
                        <a:t>CFG rate 0.7</a:t>
                      </a:r>
                    </a:p>
                  </a:txBody>
                  <a:tcPr marL="68580" marR="68580" marT="36576" marB="36576" anchor="ctr">
                    <a:lnL w="0">
                      <a:noFill/>
                    </a:lnL>
                    <a:lnR w="0">
                      <a:noFill/>
                    </a:lnR>
                    <a:lnT w="6350">
                      <a:solidFill>
                        <a:srgbClr val="D9D9D9"/>
                      </a:solidFill>
                    </a:lnT>
                    <a:lnB w="6350">
                      <a:solidFill>
                        <a:srgbClr val="D9D9D9"/>
                      </a:solidFill>
                    </a:lnB>
                    <a:noFill/>
                  </a:tcPr>
                </a:tc>
                <a:tc>
                  <a:txBody>
                    <a:bodyPr/>
                    <a:lstStyle/>
                    <a:p>
                      <a:pPr algn="l">
                        <a:lnSpc>
                          <a:spcPct val="95000"/>
                        </a:lnSpc>
                      </a:pPr>
                      <a:r>
                        <a:rPr lang="en-US" sz="1100" dirty="0">
                          <a:solidFill>
                            <a:srgbClr val="262626"/>
                          </a:solidFill>
                          <a:latin typeface="FS PF BeauSans Pro"/>
                          <a:ea typeface="FS PF BeauSans Pro"/>
                          <a:cs typeface="FS PF BeauSans Pro"/>
                        </a:rPr>
                        <a:t>Seed-VC's default; its docs note the rate makes only a subtle difference</a:t>
                      </a:r>
                    </a:p>
                  </a:txBody>
                  <a:tcPr marL="68580" marR="68580" marT="36576" marB="36576" anchor="ctr">
                    <a:lnL w="0">
                      <a:noFill/>
                    </a:lnL>
                    <a:lnR w="0">
                      <a:noFill/>
                    </a:lnR>
                    <a:lnT w="6350">
                      <a:solidFill>
                        <a:srgbClr val="D9D9D9"/>
                      </a:solidFill>
                    </a:lnT>
                    <a:lnB w="6350">
                      <a:solidFill>
                        <a:srgbClr val="D9D9D9"/>
                      </a:solidFill>
                    </a:lnB>
                    <a:noFill/>
                  </a:tcPr>
                </a:tc>
                <a:tc>
                  <a:txBody>
                    <a:bodyPr/>
                    <a:lstStyle/>
                    <a:p>
                      <a:pPr algn="l">
                        <a:lnSpc>
                          <a:spcPct val="95000"/>
                        </a:lnSpc>
                      </a:pPr>
                      <a:r>
                        <a:rPr lang="en-US" sz="950" dirty="0">
                          <a:solidFill>
                            <a:srgbClr val="595959"/>
                          </a:solidFill>
                          <a:latin typeface="FS PF BeauSans Pro"/>
                          <a:ea typeface="FS PF BeauSans Pro"/>
                          <a:cs typeface="FS PF BeauSans Pro"/>
                        </a:rPr>
                        <a:t>Seed-VC docs</a:t>
                      </a:r>
                    </a:p>
                  </a:txBody>
                  <a:tcPr marL="68580" marR="68580" marT="36576" marB="36576" anchor="ctr">
                    <a:lnL w="0">
                      <a:noFill/>
                    </a:lnL>
                    <a:lnR w="0">
                      <a:noFill/>
                    </a:lnR>
                    <a:lnT w="6350">
                      <a:solidFill>
                        <a:srgbClr val="D9D9D9"/>
                      </a:solidFill>
                    </a:lnT>
                    <a:lnB w="6350">
                      <a:solidFill>
                        <a:srgbClr val="D9D9D9"/>
                      </a:solidFill>
                    </a:lnB>
                    <a:noFill/>
                  </a:tcPr>
                </a:tc>
              </a:tr>
              <a:tr h="274320">
                <a:tc>
                  <a:txBody>
                    <a:bodyPr/>
                    <a:lstStyle/>
                    <a:p>
                      <a:pPr algn="l">
                        <a:lnSpc>
                          <a:spcPct val="95000"/>
                        </a:lnSpc>
                      </a:pPr>
                      <a:r>
                        <a:rPr lang="en-US" sz="1100" b="1" dirty="0">
                          <a:solidFill>
                            <a:srgbClr val="262626"/>
                          </a:solidFill>
                          <a:latin typeface="FS PF BeauSans Pro"/>
                          <a:ea typeface="FS PF BeauSans Pro"/>
                          <a:cs typeface="FS PF BeauSans Pro"/>
                        </a:rPr>
                        <a:t>Length adjust</a:t>
                      </a:r>
                    </a:p>
                  </a:txBody>
                  <a:tcPr marL="68580" marR="68580" marT="36576" marB="36576" anchor="ctr">
                    <a:lnL w="0">
                      <a:noFill/>
                    </a:lnL>
                    <a:lnR w="0">
                      <a:noFill/>
                    </a:lnR>
                    <a:lnT w="6350">
                      <a:solidFill>
                        <a:srgbClr val="D9D9D9"/>
                      </a:solidFill>
                    </a:lnT>
                    <a:lnB w="6350">
                      <a:solidFill>
                        <a:srgbClr val="D9D9D9"/>
                      </a:solidFill>
                    </a:lnB>
                    <a:noFill/>
                  </a:tcPr>
                </a:tc>
                <a:tc>
                  <a:txBody>
                    <a:bodyPr/>
                    <a:lstStyle/>
                    <a:p>
                      <a:pPr algn="l">
                        <a:lnSpc>
                          <a:spcPct val="95000"/>
                        </a:lnSpc>
                      </a:pPr>
                      <a:r>
                        <a:rPr lang="en-US" sz="1100" b="1" dirty="0">
                          <a:solidFill>
                            <a:srgbClr val="EE0033"/>
                          </a:solidFill>
                          <a:latin typeface="FS PF BeauSans Pro"/>
                          <a:ea typeface="FS PF BeauSans Pro"/>
                          <a:cs typeface="FS PF BeauSans Pro"/>
                        </a:rPr>
                        <a:t>1.0</a:t>
                      </a:r>
                    </a:p>
                  </a:txBody>
                  <a:tcPr marL="68580" marR="68580" marT="36576" marB="36576" anchor="ctr">
                    <a:lnL w="0">
                      <a:noFill/>
                    </a:lnL>
                    <a:lnR w="0">
                      <a:noFill/>
                    </a:lnR>
                    <a:lnT w="6350">
                      <a:solidFill>
                        <a:srgbClr val="D9D9D9"/>
                      </a:solidFill>
                    </a:lnT>
                    <a:lnB w="6350">
                      <a:solidFill>
                        <a:srgbClr val="D9D9D9"/>
                      </a:solidFill>
                    </a:lnB>
                    <a:noFill/>
                  </a:tcPr>
                </a:tc>
                <a:tc>
                  <a:txBody>
                    <a:bodyPr/>
                    <a:lstStyle/>
                    <a:p>
                      <a:pPr algn="l">
                        <a:lnSpc>
                          <a:spcPct val="95000"/>
                        </a:lnSpc>
                      </a:pPr>
                      <a:r>
                        <a:rPr lang="en-US" sz="1100" dirty="0">
                          <a:solidFill>
                            <a:srgbClr val="262626"/>
                          </a:solidFill>
                          <a:latin typeface="FS PF BeauSans Pro"/>
                          <a:ea typeface="FS PF BeauSans Pro"/>
                          <a:cs typeface="FS PF BeauSans Pro"/>
                        </a:rPr>
                        <a:t>Keeps the event's own timing: a cough or sneeze lasts as long as the airway makes it, and time-stretching smears noisy sounds</a:t>
                      </a:r>
                    </a:p>
                  </a:txBody>
                  <a:tcPr marL="68580" marR="68580" marT="36576" marB="36576" anchor="ctr">
                    <a:lnL w="0">
                      <a:noFill/>
                    </a:lnL>
                    <a:lnR w="0">
                      <a:noFill/>
                    </a:lnR>
                    <a:lnT w="6350">
                      <a:solidFill>
                        <a:srgbClr val="D9D9D9"/>
                      </a:solidFill>
                    </a:lnT>
                    <a:lnB w="6350">
                      <a:solidFill>
                        <a:srgbClr val="D9D9D9"/>
                      </a:solidFill>
                    </a:lnB>
                    <a:noFill/>
                  </a:tcPr>
                </a:tc>
                <a:tc>
                  <a:txBody>
                    <a:bodyPr/>
                    <a:lstStyle/>
                    <a:p>
                      <a:pPr algn="l">
                        <a:lnSpc>
                          <a:spcPct val="95000"/>
                        </a:lnSpc>
                      </a:pPr>
                      <a:r>
                        <a:rPr lang="en-US" sz="950" dirty="0">
                          <a:solidFill>
                            <a:srgbClr val="595959"/>
                          </a:solidFill>
                          <a:latin typeface="FS PF BeauSans Pro"/>
                          <a:ea typeface="FS PF BeauSans Pro"/>
                          <a:cs typeface="FS PF BeauSans Pro"/>
                        </a:rPr>
                        <a:t>design</a:t>
                      </a:r>
                    </a:p>
                  </a:txBody>
                  <a:tcPr marL="68580" marR="68580" marT="36576" marB="36576" anchor="ctr">
                    <a:lnL w="0">
                      <a:noFill/>
                    </a:lnL>
                    <a:lnR w="0">
                      <a:noFill/>
                    </a:lnR>
                    <a:lnT w="6350">
                      <a:solidFill>
                        <a:srgbClr val="D9D9D9"/>
                      </a:solidFill>
                    </a:lnT>
                    <a:lnB w="6350">
                      <a:solidFill>
                        <a:srgbClr val="D9D9D9"/>
                      </a:solidFill>
                    </a:lnB>
                    <a:noFill/>
                  </a:tcPr>
                </a:tc>
              </a:tr>
              <a:tr h="274320">
                <a:tc>
                  <a:txBody>
                    <a:bodyPr/>
                    <a:lstStyle/>
                    <a:p>
                      <a:pPr algn="l">
                        <a:lnSpc>
                          <a:spcPct val="95000"/>
                        </a:lnSpc>
                      </a:pPr>
                      <a:r>
                        <a:rPr lang="en-US" sz="1100" b="1" dirty="0">
                          <a:solidFill>
                            <a:srgbClr val="262626"/>
                          </a:solidFill>
                          <a:latin typeface="FS PF BeauSans Pro"/>
                          <a:ea typeface="FS PF BeauSans Pro"/>
                          <a:cs typeface="FS PF BeauSans Pro"/>
                        </a:rPr>
                        <a:t>Pitch conditioning</a:t>
                      </a:r>
                    </a:p>
                  </a:txBody>
                  <a:tcPr marL="68580" marR="68580" marT="36576" marB="36576" anchor="ctr">
                    <a:lnL w="0">
                      <a:noFill/>
                    </a:lnL>
                    <a:lnR w="0">
                      <a:noFill/>
                    </a:lnR>
                    <a:lnT w="6350">
                      <a:solidFill>
                        <a:srgbClr val="D9D9D9"/>
                      </a:solidFill>
                    </a:lnT>
                    <a:lnB w="6350">
                      <a:solidFill>
                        <a:srgbClr val="D9D9D9"/>
                      </a:solidFill>
                    </a:lnB>
                    <a:noFill/>
                  </a:tcPr>
                </a:tc>
                <a:tc>
                  <a:txBody>
                    <a:bodyPr/>
                    <a:lstStyle/>
                    <a:p>
                      <a:pPr algn="l">
                        <a:lnSpc>
                          <a:spcPct val="95000"/>
                        </a:lnSpc>
                      </a:pPr>
                      <a:r>
                        <a:rPr lang="en-US" sz="1100" b="1" dirty="0">
                          <a:solidFill>
                            <a:srgbClr val="EE0033"/>
                          </a:solidFill>
                          <a:latin typeface="FS PF BeauSans Pro"/>
                          <a:ea typeface="FS PF BeauSans Pro"/>
                          <a:cs typeface="FS PF BeauSans Pro"/>
                        </a:rPr>
                        <a:t>off</a:t>
                      </a:r>
                    </a:p>
                  </a:txBody>
                  <a:tcPr marL="68580" marR="68580" marT="36576" marB="36576" anchor="ctr">
                    <a:lnL w="0">
                      <a:noFill/>
                    </a:lnL>
                    <a:lnR w="0">
                      <a:noFill/>
                    </a:lnR>
                    <a:lnT w="6350">
                      <a:solidFill>
                        <a:srgbClr val="D9D9D9"/>
                      </a:solidFill>
                    </a:lnT>
                    <a:lnB w="6350">
                      <a:solidFill>
                        <a:srgbClr val="D9D9D9"/>
                      </a:solidFill>
                    </a:lnB>
                    <a:noFill/>
                  </a:tcPr>
                </a:tc>
                <a:tc>
                  <a:txBody>
                    <a:bodyPr/>
                    <a:lstStyle/>
                    <a:p>
                      <a:pPr algn="l">
                        <a:lnSpc>
                          <a:spcPct val="95000"/>
                        </a:lnSpc>
                      </a:pPr>
                      <a:r>
                        <a:rPr lang="en-US" sz="1100" dirty="0">
                          <a:solidFill>
                            <a:srgbClr val="262626"/>
                          </a:solidFill>
                          <a:latin typeface="FS PF BeauSans Pro"/>
                          <a:ea typeface="FS PF BeauSans Pro"/>
                          <a:cs typeface="FS PF BeauSans Pro"/>
                        </a:rPr>
                        <a:t>Its pitch tracker (RMVPE) is built for speech and singing and fails on coughs, sniffs and throat clearing; off, pitch comes from the speaker</a:t>
                      </a:r>
                    </a:p>
                  </a:txBody>
                  <a:tcPr marL="68580" marR="68580" marT="36576" marB="36576" anchor="ctr">
                    <a:lnL w="0">
                      <a:noFill/>
                    </a:lnL>
                    <a:lnR w="0">
                      <a:noFill/>
                    </a:lnR>
                    <a:lnT w="6350">
                      <a:solidFill>
                        <a:srgbClr val="D9D9D9"/>
                      </a:solidFill>
                    </a:lnT>
                    <a:lnB w="6350">
                      <a:solidFill>
                        <a:srgbClr val="D9D9D9"/>
                      </a:solidFill>
                    </a:lnB>
                    <a:noFill/>
                  </a:tcPr>
                </a:tc>
                <a:tc>
                  <a:txBody>
                    <a:bodyPr/>
                    <a:lstStyle/>
                    <a:p>
                      <a:pPr algn="l">
                        <a:lnSpc>
                          <a:spcPct val="95000"/>
                        </a:lnSpc>
                      </a:pPr>
                      <a:r>
                        <a:rPr lang="en-US" sz="950" dirty="0">
                          <a:solidFill>
                            <a:srgbClr val="595959"/>
                          </a:solidFill>
                          <a:latin typeface="FS PF BeauSans Pro"/>
                          <a:ea typeface="FS PF BeauSans Pro"/>
                          <a:cs typeface="FS PF BeauSans Pro"/>
                        </a:rPr>
                        <a:t>design</a:t>
                      </a:r>
                    </a:p>
                  </a:txBody>
                  <a:tcPr marL="68580" marR="68580" marT="36576" marB="36576" anchor="ctr">
                    <a:lnL w="0">
                      <a:noFill/>
                    </a:lnL>
                    <a:lnR w="0">
                      <a:noFill/>
                    </a:lnR>
                    <a:lnT w="6350">
                      <a:solidFill>
                        <a:srgbClr val="D9D9D9"/>
                      </a:solidFill>
                    </a:lnT>
                    <a:lnB w="6350">
                      <a:solidFill>
                        <a:srgbClr val="D9D9D9"/>
                      </a:solidFill>
                    </a:lnB>
                    <a:noFill/>
                  </a:tcPr>
                </a:tc>
              </a:tr>
              <a:tr h="274320">
                <a:tc>
                  <a:txBody>
                    <a:bodyPr/>
                    <a:lstStyle/>
                    <a:p>
                      <a:pPr algn="l">
                        <a:lnSpc>
                          <a:spcPct val="95000"/>
                        </a:lnSpc>
                      </a:pPr>
                      <a:r>
                        <a:rPr lang="en-US" sz="1100" b="1" dirty="0">
                          <a:solidFill>
                            <a:srgbClr val="262626"/>
                          </a:solidFill>
                          <a:latin typeface="FS PF BeauSans Pro"/>
                          <a:ea typeface="FS PF BeauSans Pro"/>
                          <a:cs typeface="FS PF BeauSans Pro"/>
                        </a:rPr>
                        <a:t>Sample rate</a:t>
                      </a:r>
                    </a:p>
                  </a:txBody>
                  <a:tcPr marL="68580" marR="68580" marT="36576" marB="36576" anchor="ctr">
                    <a:lnL w="0">
                      <a:noFill/>
                    </a:lnL>
                    <a:lnR w="0">
                      <a:noFill/>
                    </a:lnR>
                    <a:lnT w="6350">
                      <a:solidFill>
                        <a:srgbClr val="D9D9D9"/>
                      </a:solidFill>
                    </a:lnT>
                    <a:lnB w="6350">
                      <a:solidFill>
                        <a:srgbClr val="D9D9D9"/>
                      </a:solidFill>
                    </a:lnB>
                    <a:noFill/>
                  </a:tcPr>
                </a:tc>
                <a:tc>
                  <a:txBody>
                    <a:bodyPr/>
                    <a:lstStyle/>
                    <a:p>
                      <a:pPr algn="l">
                        <a:lnSpc>
                          <a:spcPct val="95000"/>
                        </a:lnSpc>
                      </a:pPr>
                      <a:r>
                        <a:rPr lang="en-US" sz="1100" b="1" dirty="0">
                          <a:solidFill>
                            <a:srgbClr val="EE0033"/>
                          </a:solidFill>
                          <a:latin typeface="FS PF BeauSans Pro"/>
                          <a:ea typeface="FS PF BeauSans Pro"/>
                          <a:cs typeface="FS PF BeauSans Pro"/>
                        </a:rPr>
                        <a:t>22.05 kHz</a:t>
                      </a:r>
                    </a:p>
                  </a:txBody>
                  <a:tcPr marL="68580" marR="68580" marT="36576" marB="36576" anchor="ctr">
                    <a:lnL w="0">
                      <a:noFill/>
                    </a:lnL>
                    <a:lnR w="0">
                      <a:noFill/>
                    </a:lnR>
                    <a:lnT w="6350">
                      <a:solidFill>
                        <a:srgbClr val="D9D9D9"/>
                      </a:solidFill>
                    </a:lnT>
                    <a:lnB w="6350">
                      <a:solidFill>
                        <a:srgbClr val="D9D9D9"/>
                      </a:solidFill>
                    </a:lnB>
                    <a:noFill/>
                  </a:tcPr>
                </a:tc>
                <a:tc>
                  <a:txBody>
                    <a:bodyPr/>
                    <a:lstStyle/>
                    <a:p>
                      <a:pPr algn="l">
                        <a:lnSpc>
                          <a:spcPct val="95000"/>
                        </a:lnSpc>
                      </a:pPr>
                      <a:r>
                        <a:rPr lang="en-US" sz="1100" dirty="0">
                          <a:solidFill>
                            <a:srgbClr val="262626"/>
                          </a:solidFill>
                          <a:latin typeface="FS PF BeauSans Pro"/>
                          <a:ea typeface="FS PF BeauSans Pro"/>
                          <a:cs typeface="FS PF BeauSans Pro"/>
                        </a:rPr>
                        <a:t>Seed-VC v1's vocoder rate; the pipeline runs at it throughout, so nothing is resampled in between</a:t>
                      </a:r>
                    </a:p>
                  </a:txBody>
                  <a:tcPr marL="68580" marR="68580" marT="36576" marB="36576" anchor="ctr">
                    <a:lnL w="0">
                      <a:noFill/>
                    </a:lnL>
                    <a:lnR w="0">
                      <a:noFill/>
                    </a:lnR>
                    <a:lnT w="6350">
                      <a:solidFill>
                        <a:srgbClr val="D9D9D9"/>
                      </a:solidFill>
                    </a:lnT>
                    <a:lnB w="6350">
                      <a:solidFill>
                        <a:srgbClr val="D9D9D9"/>
                      </a:solidFill>
                    </a:lnB>
                    <a:noFill/>
                  </a:tcPr>
                </a:tc>
                <a:tc>
                  <a:txBody>
                    <a:bodyPr/>
                    <a:lstStyle/>
                    <a:p>
                      <a:pPr algn="l">
                        <a:lnSpc>
                          <a:spcPct val="95000"/>
                        </a:lnSpc>
                      </a:pPr>
                      <a:r>
                        <a:rPr lang="en-US" sz="950" dirty="0">
                          <a:solidFill>
                            <a:srgbClr val="595959"/>
                          </a:solidFill>
                          <a:latin typeface="FS PF BeauSans Pro"/>
                          <a:ea typeface="FS PF BeauSans Pro"/>
                          <a:cs typeface="FS PF BeauSans Pro"/>
                        </a:rPr>
                        <a:t>design</a:t>
                      </a:r>
                    </a:p>
                  </a:txBody>
                  <a:tcPr marL="68580" marR="68580" marT="36576" marB="36576" anchor="ctr">
                    <a:lnL w="0">
                      <a:noFill/>
                    </a:lnL>
                    <a:lnR w="0">
                      <a:noFill/>
                    </a:lnR>
                    <a:lnT w="6350">
                      <a:solidFill>
                        <a:srgbClr val="D9D9D9"/>
                      </a:solidFill>
                    </a:lnT>
                    <a:lnB w="6350">
                      <a:solidFill>
                        <a:srgbClr val="D9D9D9"/>
                      </a:solidFill>
                    </a:lnB>
                    <a:noFill/>
                  </a:tcPr>
                </a:tc>
              </a:tr>
              <a:tr h="274320">
                <a:tc>
                  <a:txBody>
                    <a:bodyPr/>
                    <a:lstStyle/>
                    <a:p>
                      <a:pPr algn="l">
                        <a:lnSpc>
                          <a:spcPct val="95000"/>
                        </a:lnSpc>
                      </a:pPr>
                      <a:r>
                        <a:rPr lang="en-US" sz="1100" b="1" dirty="0">
                          <a:solidFill>
                            <a:srgbClr val="262626"/>
                          </a:solidFill>
                          <a:latin typeface="FS PF BeauSans Pro"/>
                          <a:ea typeface="FS PF BeauSans Pro"/>
                          <a:cs typeface="FS PF BeauSans Pro"/>
                        </a:rPr>
                        <a:t>Input</a:t>
                      </a:r>
                    </a:p>
                  </a:txBody>
                  <a:tcPr marL="68580" marR="68580" marT="36576" marB="36576" anchor="ctr">
                    <a:lnL w="0">
                      <a:noFill/>
                    </a:lnL>
                    <a:lnR w="0">
                      <a:noFill/>
                    </a:lnR>
                    <a:lnT w="6350">
                      <a:solidFill>
                        <a:srgbClr val="D9D9D9"/>
                      </a:solidFill>
                    </a:lnT>
                    <a:lnB w="6350">
                      <a:solidFill>
                        <a:srgbClr val="D9D9D9"/>
                      </a:solidFill>
                    </a:lnB>
                    <a:noFill/>
                  </a:tcPr>
                </a:tc>
                <a:tc>
                  <a:txBody>
                    <a:bodyPr/>
                    <a:lstStyle/>
                    <a:p>
                      <a:pPr algn="l">
                        <a:lnSpc>
                          <a:spcPct val="95000"/>
                        </a:lnSpc>
                      </a:pPr>
                      <a:r>
                        <a:rPr lang="en-US" sz="1100" b="1" dirty="0">
                          <a:solidFill>
                            <a:srgbClr val="EE0033"/>
                          </a:solidFill>
                          <a:latin typeface="FS PF BeauSans Pro"/>
                          <a:ea typeface="FS PF BeauSans Pro"/>
                          <a:cs typeface="FS PF BeauSans Pro"/>
                        </a:rPr>
                        <a:t>peak 0.95, padded to ≥ 1 s</a:t>
                      </a:r>
                    </a:p>
                  </a:txBody>
                  <a:tcPr marL="68580" marR="68580" marT="36576" marB="36576" anchor="ctr">
                    <a:lnL w="0">
                      <a:noFill/>
                    </a:lnL>
                    <a:lnR w="0">
                      <a:noFill/>
                    </a:lnR>
                    <a:lnT w="6350">
                      <a:solidFill>
                        <a:srgbClr val="D9D9D9"/>
                      </a:solidFill>
                    </a:lnT>
                    <a:lnB w="6350">
                      <a:solidFill>
                        <a:srgbClr val="D9D9D9"/>
                      </a:solidFill>
                    </a:lnB>
                    <a:noFill/>
                  </a:tcPr>
                </a:tc>
                <a:tc>
                  <a:txBody>
                    <a:bodyPr/>
                    <a:lstStyle/>
                    <a:p>
                      <a:pPr algn="l">
                        <a:lnSpc>
                          <a:spcPct val="95000"/>
                        </a:lnSpc>
                      </a:pPr>
                      <a:r>
                        <a:rPr lang="en-US" sz="1100" dirty="0">
                          <a:solidFill>
                            <a:srgbClr val="262626"/>
                          </a:solidFill>
                          <a:latin typeface="FS PF BeauSans Pro"/>
                          <a:ea typeface="FS PF BeauSans Pro"/>
                          <a:cs typeface="FS PF BeauSans Pro"/>
                        </a:rPr>
                        <a:t>Seed-VC's input chunking needs at least 1 s; the ~140 ms of padding it returns is trimmed, so splice fades act on the event, not on silence</a:t>
                      </a:r>
                    </a:p>
                  </a:txBody>
                  <a:tcPr marL="68580" marR="68580" marT="36576" marB="36576" anchor="ctr">
                    <a:lnL w="0">
                      <a:noFill/>
                    </a:lnL>
                    <a:lnR w="0">
                      <a:noFill/>
                    </a:lnR>
                    <a:lnT w="6350">
                      <a:solidFill>
                        <a:srgbClr val="D9D9D9"/>
                      </a:solidFill>
                    </a:lnT>
                    <a:lnB w="6350">
                      <a:solidFill>
                        <a:srgbClr val="D9D9D9"/>
                      </a:solidFill>
                    </a:lnB>
                    <a:noFill/>
                  </a:tcPr>
                </a:tc>
                <a:tc>
                  <a:txBody>
                    <a:bodyPr/>
                    <a:lstStyle/>
                    <a:p>
                      <a:pPr algn="l">
                        <a:lnSpc>
                          <a:spcPct val="95000"/>
                        </a:lnSpc>
                      </a:pPr>
                      <a:r>
                        <a:rPr lang="en-US" sz="950" dirty="0">
                          <a:solidFill>
                            <a:srgbClr val="595959"/>
                          </a:solidFill>
                          <a:latin typeface="FS PF BeauSans Pro"/>
                          <a:ea typeface="FS PF BeauSans Pro"/>
                          <a:cs typeface="FS PF BeauSans Pro"/>
                        </a:rPr>
                        <a:t>pilot</a:t>
                      </a:r>
                    </a:p>
                  </a:txBody>
                  <a:tcPr marL="68580" marR="68580" marT="36576" marB="36576" anchor="ctr">
                    <a:lnL w="0">
                      <a:noFill/>
                    </a:lnL>
                    <a:lnR w="0">
                      <a:noFill/>
                    </a:lnR>
                    <a:lnT w="6350">
                      <a:solidFill>
                        <a:srgbClr val="D9D9D9"/>
                      </a:solidFill>
                    </a:lnT>
                    <a:lnB w="6350">
                      <a:solidFill>
                        <a:srgbClr val="D9D9D9"/>
                      </a:solidFill>
                    </a:lnB>
                    <a:noFill/>
                  </a:tcPr>
                </a:tc>
              </a:tr>
              <a:tr h="274320">
                <a:tc>
                  <a:txBody>
                    <a:bodyPr/>
                    <a:lstStyle/>
                    <a:p>
                      <a:pPr algn="l">
                        <a:lnSpc>
                          <a:spcPct val="95000"/>
                        </a:lnSpc>
                      </a:pPr>
                      <a:r>
                        <a:rPr lang="en-US" sz="1100" b="1" dirty="0">
                          <a:solidFill>
                            <a:srgbClr val="262626"/>
                          </a:solidFill>
                          <a:latin typeface="FS PF BeauSans Pro"/>
                          <a:ea typeface="FS PF BeauSans Pro"/>
                          <a:cs typeface="FS PF BeauSans Pro"/>
                        </a:rPr>
                        <a:t>Seed</a:t>
                      </a:r>
                    </a:p>
                  </a:txBody>
                  <a:tcPr marL="68580" marR="68580" marT="36576" marB="36576" anchor="ctr">
                    <a:lnL w="0">
                      <a:noFill/>
                    </a:lnL>
                    <a:lnR w="0">
                      <a:noFill/>
                    </a:lnR>
                    <a:lnT w="6350">
                      <a:solidFill>
                        <a:srgbClr val="D9D9D9"/>
                      </a:solidFill>
                    </a:lnT>
                    <a:lnB w="6350">
                      <a:solidFill>
                        <a:srgbClr val="D9D9D9"/>
                      </a:solidFill>
                    </a:lnB>
                    <a:noFill/>
                  </a:tcPr>
                </a:tc>
                <a:tc>
                  <a:txBody>
                    <a:bodyPr/>
                    <a:lstStyle/>
                    <a:p>
                      <a:pPr algn="l">
                        <a:lnSpc>
                          <a:spcPct val="95000"/>
                        </a:lnSpc>
                      </a:pPr>
                      <a:r>
                        <a:rPr lang="en-US" sz="1100" b="1" dirty="0">
                          <a:solidFill>
                            <a:srgbClr val="EE0033"/>
                          </a:solidFill>
                          <a:latin typeface="FS PF BeauSans Pro"/>
                          <a:ea typeface="FS PF BeauSans Pro"/>
                          <a:cs typeface="FS PF BeauSans Pro"/>
                        </a:rPr>
                        <a:t>none</a:t>
                      </a:r>
                    </a:p>
                  </a:txBody>
                  <a:tcPr marL="68580" marR="68580" marT="36576" marB="36576" anchor="ctr">
                    <a:lnL w="0">
                      <a:noFill/>
                    </a:lnL>
                    <a:lnR w="0">
                      <a:noFill/>
                    </a:lnR>
                    <a:lnT w="6350">
                      <a:solidFill>
                        <a:srgbClr val="D9D9D9"/>
                      </a:solidFill>
                    </a:lnT>
                    <a:lnB w="6350">
                      <a:solidFill>
                        <a:srgbClr val="D9D9D9"/>
                      </a:solidFill>
                    </a:lnB>
                    <a:noFill/>
                  </a:tcPr>
                </a:tc>
                <a:tc>
                  <a:txBody>
                    <a:bodyPr/>
                    <a:lstStyle/>
                    <a:p>
                      <a:pPr algn="l">
                        <a:lnSpc>
                          <a:spcPct val="95000"/>
                        </a:lnSpc>
                      </a:pPr>
                      <a:r>
                        <a:rPr lang="en-US" sz="1100" dirty="0">
                          <a:solidFill>
                            <a:srgbClr val="262626"/>
                          </a:solidFill>
                          <a:latin typeface="FS PF BeauSans Pro"/>
                          <a:ea typeface="FS PF BeauSans Pro"/>
                          <a:cs typeface="FS PF BeauSans Pro"/>
                        </a:rPr>
                        <a:t>A take the filter rejects can be re-rendered; re-rendering the 20 pilot rows changed the kept count from 10 to 13</a:t>
                      </a:r>
                    </a:p>
                  </a:txBody>
                  <a:tcPr marL="68580" marR="68580" marT="36576" marB="36576" anchor="ctr">
                    <a:lnL w="0">
                      <a:noFill/>
                    </a:lnL>
                    <a:lnR w="0">
                      <a:noFill/>
                    </a:lnR>
                    <a:lnT w="6350">
                      <a:solidFill>
                        <a:srgbClr val="D9D9D9"/>
                      </a:solidFill>
                    </a:lnT>
                    <a:lnB w="6350">
                      <a:solidFill>
                        <a:srgbClr val="D9D9D9"/>
                      </a:solidFill>
                    </a:lnB>
                    <a:noFill/>
                  </a:tcPr>
                </a:tc>
                <a:tc>
                  <a:txBody>
                    <a:bodyPr/>
                    <a:lstStyle/>
                    <a:p>
                      <a:pPr algn="l">
                        <a:lnSpc>
                          <a:spcPct val="95000"/>
                        </a:lnSpc>
                      </a:pPr>
                      <a:r>
                        <a:rPr lang="en-US" sz="950" dirty="0">
                          <a:solidFill>
                            <a:srgbClr val="595959"/>
                          </a:solidFill>
                          <a:latin typeface="FS PF BeauSans Pro"/>
                          <a:ea typeface="FS PF BeauSans Pro"/>
                          <a:cs typeface="FS PF BeauSans Pro"/>
                        </a:rPr>
                        <a:t>pilot</a:t>
                      </a:r>
                    </a:p>
                  </a:txBody>
                  <a:tcPr marL="68580" marR="68580" marT="36576" marB="36576" anchor="ctr">
                    <a:lnL w="0">
                      <a:noFill/>
                    </a:lnL>
                    <a:lnR w="0">
                      <a:noFill/>
                    </a:lnR>
                    <a:lnT w="6350">
                      <a:solidFill>
                        <a:srgbClr val="D9D9D9"/>
                      </a:solidFill>
                    </a:lnT>
                    <a:lnB w="6350">
                      <a:solidFill>
                        <a:srgbClr val="D9D9D9"/>
                      </a:solidFill>
                    </a:lnB>
                    <a:noFill/>
                  </a:tcPr>
                </a:tc>
              </a:tr>
              <a:tr h="274320">
                <a:tc>
                  <a:txBody>
                    <a:bodyPr/>
                    <a:lstStyle/>
                    <a:p>
                      <a:pPr algn="l">
                        <a:lnSpc>
                          <a:spcPct val="95000"/>
                        </a:lnSpc>
                      </a:pPr>
                      <a:r>
                        <a:rPr lang="en-US" sz="1100" b="1" dirty="0">
                          <a:solidFill>
                            <a:srgbClr val="262626"/>
                          </a:solidFill>
                          <a:latin typeface="FS PF BeauSans Pro"/>
                          <a:ea typeface="FS PF BeauSans Pro"/>
                          <a:cs typeface="FS PF BeauSans Pro"/>
                        </a:rPr>
                        <a:t>Speaker check</a:t>
                      </a:r>
                    </a:p>
                  </a:txBody>
                  <a:tcPr marL="68580" marR="68580" marT="36576" marB="36576" anchor="ctr">
                    <a:lnL w="0">
                      <a:noFill/>
                    </a:lnL>
                    <a:lnR w="0">
                      <a:noFill/>
                    </a:lnR>
                    <a:lnT w="6350">
                      <a:solidFill>
                        <a:srgbClr val="D9D9D9"/>
                      </a:solidFill>
                    </a:lnT>
                    <a:lnB w="19050">
                      <a:solidFill>
                        <a:srgbClr val="262626"/>
                      </a:solidFill>
                    </a:lnB>
                    <a:noFill/>
                  </a:tcPr>
                </a:tc>
                <a:tc>
                  <a:txBody>
                    <a:bodyPr/>
                    <a:lstStyle/>
                    <a:p>
                      <a:pPr algn="l">
                        <a:lnSpc>
                          <a:spcPct val="95000"/>
                        </a:lnSpc>
                      </a:pPr>
                      <a:r>
                        <a:rPr lang="en-US" sz="1100" b="1" dirty="0">
                          <a:solidFill>
                            <a:srgbClr val="EE0033"/>
                          </a:solidFill>
                          <a:latin typeface="FS PF BeauSans Pro"/>
                          <a:ea typeface="FS PF BeauSans Pro"/>
                          <a:cs typeface="FS PF BeauSans Pro"/>
                        </a:rPr>
                        <a:t>CAM++, diagnostic only</a:t>
                      </a:r>
                    </a:p>
                  </a:txBody>
                  <a:tcPr marL="68580" marR="68580" marT="36576" marB="36576" anchor="ctr">
                    <a:lnL w="0">
                      <a:noFill/>
                    </a:lnL>
                    <a:lnR w="0">
                      <a:noFill/>
                    </a:lnR>
                    <a:lnT w="6350">
                      <a:solidFill>
                        <a:srgbClr val="D9D9D9"/>
                      </a:solidFill>
                    </a:lnT>
                    <a:lnB w="19050">
                      <a:solidFill>
                        <a:srgbClr val="262626"/>
                      </a:solidFill>
                    </a:lnB>
                    <a:noFill/>
                  </a:tcPr>
                </a:tc>
                <a:tc>
                  <a:txBody>
                    <a:bodyPr/>
                    <a:lstStyle/>
                    <a:p>
                      <a:pPr algn="l">
                        <a:lnSpc>
                          <a:spcPct val="95000"/>
                        </a:lnSpc>
                      </a:pPr>
                      <a:r>
                        <a:rPr lang="en-US" sz="1100" dirty="0">
                          <a:solidFill>
                            <a:srgbClr val="262626"/>
                          </a:solidFill>
                          <a:latin typeface="FS PF BeauSans Pro"/>
                          <a:ea typeface="FS PF BeauSans Pro"/>
                          <a:cs typeface="FS PF BeauSans Pro"/>
                        </a:rPr>
                        <a:t>The encoder Seed-VC itself conditions on; WavLM, tried first, rated an unconverted clip closer (0.539 vs 0.410). Not a filter: 1–3 s of non-speech embeds weakly</a:t>
                      </a:r>
                    </a:p>
                  </a:txBody>
                  <a:tcPr marL="68580" marR="68580" marT="36576" marB="36576" anchor="ctr">
                    <a:lnL w="0">
                      <a:noFill/>
                    </a:lnL>
                    <a:lnR w="0">
                      <a:noFill/>
                    </a:lnR>
                    <a:lnT w="6350">
                      <a:solidFill>
                        <a:srgbClr val="D9D9D9"/>
                      </a:solidFill>
                    </a:lnT>
                    <a:lnB w="19050">
                      <a:solidFill>
                        <a:srgbClr val="262626"/>
                      </a:solidFill>
                    </a:lnB>
                    <a:noFill/>
                  </a:tcPr>
                </a:tc>
                <a:tc>
                  <a:txBody>
                    <a:bodyPr/>
                    <a:lstStyle/>
                    <a:p>
                      <a:pPr algn="l">
                        <a:lnSpc>
                          <a:spcPct val="95000"/>
                        </a:lnSpc>
                      </a:pPr>
                      <a:r>
                        <a:rPr lang="en-US" sz="950" dirty="0">
                          <a:solidFill>
                            <a:srgbClr val="595959"/>
                          </a:solidFill>
                          <a:latin typeface="FS PF BeauSans Pro"/>
                          <a:ea typeface="FS PF BeauSans Pro"/>
                          <a:cs typeface="FS PF BeauSans Pro"/>
                        </a:rPr>
                        <a:t>pilot</a:t>
                      </a:r>
                    </a:p>
                  </a:txBody>
                  <a:tcPr marL="68580" marR="68580" marT="36576" marB="36576" anchor="ctr">
                    <a:lnL w="0">
                      <a:noFill/>
                    </a:lnL>
                    <a:lnR w="0">
                      <a:noFill/>
                    </a:lnR>
                    <a:lnT w="6350">
                      <a:solidFill>
                        <a:srgbClr val="D9D9D9"/>
                      </a:solidFill>
                    </a:lnT>
                    <a:lnB w="19050">
                      <a:solidFill>
                        <a:srgbClr val="262626"/>
                      </a:solidFill>
                    </a:lnB>
                    <a:noFill/>
                  </a:tcPr>
                </a:tc>
              </a:tr>
            </a:tbl>
          </a:graphicData>
        </a:graphic>
      </p:graphicFrame>
      <p:sp>
        <p:nvSpPr>
          <p:cNvPr id="5" name="Footnote citations"/>
          <p:cNvSpPr txBox="1"/>
          <p:nvPr/>
        </p:nvSpPr>
        <p:spPr>
          <a:xfrm>
            <a:off x="411480" y="5852160"/>
            <a:ext cx="8778240" cy="960120"/>
          </a:xfrm>
          <a:prstGeom prst="rect">
            <a:avLst/>
          </a:prstGeom>
          <a:noFill/>
          <a:ln>
            <a:noFill/>
          </a:ln>
        </p:spPr>
        <p:txBody>
          <a:bodyPr wrap="square" lIns="45720" tIns="45720" rIns="45720" bIns="45720" anchor="b">
            <a:noAutofit/>
          </a:bodyPr>
          <a:lstStyle/>
          <a:p>
            <a:pPr>
              <a:buNone/>
            </a:pPr>
            <a:r>
              <a:rPr lang="en-US" sz="900" b="1" dirty="0">
                <a:solidFill>
                  <a:srgbClr val="595959"/>
                </a:solidFill>
                <a:latin typeface="FS PF BeauSans Pro"/>
                <a:ea typeface="FS PF BeauSans Pro"/>
                <a:cs typeface="FS PF BeauSans Pro"/>
              </a:rPr>
              <a:t>Seed-VC: </a:t>
            </a:r>
            <a:r>
              <a:rPr lang="en-US" sz="900" dirty="0">
                <a:solidFill>
                  <a:srgbClr val="595959"/>
                </a:solidFill>
                <a:latin typeface="FS PF BeauSans Pro"/>
                <a:ea typeface="FS PF BeauSans Pro"/>
                <a:cs typeface="FS PF BeauSans Pro"/>
              </a:rPr>
              <a:t>Liu, arXiv:2411.09943, 2024</a:t>
            </a:r>
          </a:p>
          <a:p>
            <a:pPr>
              <a:buNone/>
            </a:pPr>
            <a:r>
              <a:rPr lang="en-US" sz="900" b="1" dirty="0">
                <a:solidFill>
                  <a:srgbClr val="595959"/>
                </a:solidFill>
                <a:latin typeface="FS PF BeauSans Pro"/>
                <a:ea typeface="FS PF BeauSans Pro"/>
                <a:cs typeface="FS PF BeauSans Pro"/>
              </a:rPr>
              <a:t>CAM++: </a:t>
            </a:r>
            <a:r>
              <a:rPr lang="en-US" sz="900" dirty="0">
                <a:solidFill>
                  <a:srgbClr val="595959"/>
                </a:solidFill>
                <a:latin typeface="FS PF BeauSans Pro"/>
                <a:ea typeface="FS PF BeauSans Pro"/>
                <a:cs typeface="FS PF BeauSans Pro"/>
              </a:rPr>
              <a:t>Wang et al., Interspeech 2023</a:t>
            </a:r>
          </a:p>
          <a:p>
            <a:pPr>
              <a:buNone/>
            </a:pPr>
            <a:r>
              <a:rPr lang="en-US" sz="900" b="1" dirty="0">
                <a:solidFill>
                  <a:srgbClr val="595959"/>
                </a:solidFill>
                <a:latin typeface="FS PF BeauSans Pro"/>
                <a:ea typeface="FS PF BeauSans Pro"/>
                <a:cs typeface="FS PF BeauSans Pro"/>
              </a:rPr>
              <a:t>SynParaSpeech: </a:t>
            </a:r>
            <a:r>
              <a:rPr lang="en-US" sz="900" dirty="0">
                <a:solidFill>
                  <a:srgbClr val="595959"/>
                </a:solidFill>
                <a:latin typeface="FS PF BeauSans Pro"/>
                <a:ea typeface="FS PF BeauSans Pro"/>
                <a:cs typeface="FS PF BeauSans Pro"/>
              </a:rPr>
              <a:t>Bai et al., arXiv:2509.14946, 2025</a:t>
            </a:r>
          </a:p>
          <a:p>
            <a:pPr>
              <a:buNone/>
            </a:pPr>
            <a:r>
              <a:rPr lang="en-US" sz="900" dirty="0">
                <a:solidFill>
                  <a:srgbClr val="595959"/>
                </a:solidFill>
                <a:latin typeface="FS PF BeauSans Pro"/>
                <a:ea typeface="FS PF BeauSans Pro"/>
                <a:cs typeface="FS PF BeauSans Pro"/>
              </a:rPr>
              <a:t>Basis: pilot = measured on our 20-utterance pilot; design = follows from how the pipeline works</a:t>
            </a:r>
          </a:p>
        </p:txBody>
      </p:sp>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p:cNvSpPr txBox="1">
            <a:spLocks noGrp="1"/>
          </p:cNvSpPr>
          <p:nvPr>
            <p:ph type="ctrTitle"/>
          </p:nvPr>
        </p:nvSpPr>
        <p:spPr>
          <a:xfrm>
            <a:off x="822960" y="466344"/>
            <a:ext cx="10543032" cy="731520"/>
          </a:xfrm>
          <a:prstGeom prst="rect">
            <a:avLst/>
          </a:prstGeom>
          <a:noFill/>
          <a:ln>
            <a:noFill/>
          </a:ln>
        </p:spPr>
        <p:txBody>
          <a:bodyPr spcFirstLastPara="1" wrap="square" lIns="91425" tIns="91425" rIns="91425" bIns="91425" anchor="t" anchorCtr="0">
            <a:noAutofit/>
          </a:bodyPr>
          <a:lstStyle/>
          <a:p>
            <a:pPr algn="ctr">
              <a:buNone/>
            </a:pPr>
            <a:r>
              <a:rPr lang="en-US" dirty="0"/>
              <a:t>Why these values: Splice level &amp; fades</a:t>
            </a:r>
          </a:p>
        </p:txBody>
      </p:sp>
      <p:sp>
        <p:nvSpPr>
          <p:cNvPr id="3" name="Slide Number Placeholder"/>
          <p:cNvSpPr>
            <a:spLocks noGrp="1"/>
          </p:cNvSpPr>
          <p:nvPr>
            <p:ph type="sldNum" idx="12"/>
          </p:nvPr>
        </p:nvSpPr>
        <p:spPr/>
        <p:txBody>
          <a:bodyPr/>
          <a:lstStyle/>
          <a:p>
            <a:pPr marL="0" lvl="0" indent="0" algn="ctr" rtl="0">
              <a:spcBef>
                <a:spcPts val="0"/>
              </a:spcBef>
              <a:spcAft>
                <a:spcPts val="0"/>
              </a:spcAft>
              <a:buNone/>
            </a:pPr>
            <a:fld id="{00000000-1234-1234-1234-123412341234}" type="slidenum">
              <a:rPr lang="en-US" smtClean="0"/>
              <a:t>39</a:t>
            </a:fld>
            <a:endParaRPr lang="en-US" dirty="0"/>
          </a:p>
        </p:txBody>
      </p:sp>
      <p:graphicFrame>
        <p:nvGraphicFramePr>
          <p:cNvPr id="4" name="Why table"/>
          <p:cNvGraphicFramePr>
            <a:graphicFrameLocks noGrp="1"/>
          </p:cNvGraphicFramePr>
          <p:nvPr/>
        </p:nvGraphicFramePr>
        <p:xfrm>
          <a:off x="548640" y="1325880"/>
          <a:ext cx="11091672" cy="2761488"/>
        </p:xfrm>
        <a:graphic>
          <a:graphicData uri="http://schemas.openxmlformats.org/drawingml/2006/table">
            <a:tbl>
              <a:tblPr firstRow="1"/>
              <a:tblGrid>
                <a:gridCol w="1691640"/>
                <a:gridCol w="2514600"/>
                <a:gridCol w="5715000"/>
                <a:gridCol w="1170432"/>
              </a:tblGrid>
              <a:tr h="292608">
                <a:tc>
                  <a:txBody>
                    <a:bodyPr/>
                    <a:lstStyle/>
                    <a:p>
                      <a:pPr algn="l">
                        <a:lnSpc>
                          <a:spcPct val="95000"/>
                        </a:lnSpc>
                      </a:pPr>
                      <a:r>
                        <a:rPr lang="en-US" sz="1100" b="1" dirty="0">
                          <a:solidFill>
                            <a:srgbClr val="262626"/>
                          </a:solidFill>
                          <a:latin typeface="FS PF BeauSans Pro"/>
                          <a:ea typeface="FS PF BeauSans Pro"/>
                          <a:cs typeface="FS PF BeauSans Pro"/>
                        </a:rPr>
                        <a:t>Choice</a:t>
                      </a:r>
                    </a:p>
                  </a:txBody>
                  <a:tcPr marL="68580" marR="68580" marT="36576" marB="36576" anchor="ctr">
                    <a:lnL w="0">
                      <a:noFill/>
                    </a:lnL>
                    <a:lnR w="0">
                      <a:noFill/>
                    </a:lnR>
                    <a:lnT w="19050">
                      <a:solidFill>
                        <a:srgbClr val="262626"/>
                      </a:solidFill>
                    </a:lnT>
                    <a:lnB w="9525">
                      <a:solidFill>
                        <a:srgbClr val="262626"/>
                      </a:solidFill>
                    </a:lnB>
                    <a:noFill/>
                  </a:tcPr>
                </a:tc>
                <a:tc>
                  <a:txBody>
                    <a:bodyPr/>
                    <a:lstStyle/>
                    <a:p>
                      <a:pPr algn="l">
                        <a:lnSpc>
                          <a:spcPct val="95000"/>
                        </a:lnSpc>
                      </a:pPr>
                      <a:r>
                        <a:rPr lang="en-US" sz="1100" b="1" dirty="0">
                          <a:solidFill>
                            <a:srgbClr val="262626"/>
                          </a:solidFill>
                          <a:latin typeface="FS PF BeauSans Pro"/>
                          <a:ea typeface="FS PF BeauSans Pro"/>
                          <a:cs typeface="FS PF BeauSans Pro"/>
                        </a:rPr>
                        <a:t>Value</a:t>
                      </a:r>
                    </a:p>
                  </a:txBody>
                  <a:tcPr marL="68580" marR="68580" marT="36576" marB="36576" anchor="ctr">
                    <a:lnL w="0">
                      <a:noFill/>
                    </a:lnL>
                    <a:lnR w="0">
                      <a:noFill/>
                    </a:lnR>
                    <a:lnT w="19050">
                      <a:solidFill>
                        <a:srgbClr val="262626"/>
                      </a:solidFill>
                    </a:lnT>
                    <a:lnB w="9525">
                      <a:solidFill>
                        <a:srgbClr val="262626"/>
                      </a:solidFill>
                    </a:lnB>
                    <a:noFill/>
                  </a:tcPr>
                </a:tc>
                <a:tc>
                  <a:txBody>
                    <a:bodyPr/>
                    <a:lstStyle/>
                    <a:p>
                      <a:pPr algn="l">
                        <a:lnSpc>
                          <a:spcPct val="95000"/>
                        </a:lnSpc>
                      </a:pPr>
                      <a:r>
                        <a:rPr lang="en-US" sz="1100" b="1" dirty="0">
                          <a:solidFill>
                            <a:srgbClr val="262626"/>
                          </a:solidFill>
                          <a:latin typeface="FS PF BeauSans Pro"/>
                          <a:ea typeface="FS PF BeauSans Pro"/>
                          <a:cs typeface="FS PF BeauSans Pro"/>
                        </a:rPr>
                        <a:t>Why</a:t>
                      </a:r>
                    </a:p>
                  </a:txBody>
                  <a:tcPr marL="68580" marR="68580" marT="36576" marB="36576" anchor="ctr">
                    <a:lnL w="0">
                      <a:noFill/>
                    </a:lnL>
                    <a:lnR w="0">
                      <a:noFill/>
                    </a:lnR>
                    <a:lnT w="19050">
                      <a:solidFill>
                        <a:srgbClr val="262626"/>
                      </a:solidFill>
                    </a:lnT>
                    <a:lnB w="9525">
                      <a:solidFill>
                        <a:srgbClr val="262626"/>
                      </a:solidFill>
                    </a:lnB>
                    <a:noFill/>
                  </a:tcPr>
                </a:tc>
                <a:tc>
                  <a:txBody>
                    <a:bodyPr/>
                    <a:lstStyle/>
                    <a:p>
                      <a:pPr algn="l">
                        <a:lnSpc>
                          <a:spcPct val="95000"/>
                        </a:lnSpc>
                      </a:pPr>
                      <a:r>
                        <a:rPr lang="en-US" sz="1100" b="1" dirty="0">
                          <a:solidFill>
                            <a:srgbClr val="262626"/>
                          </a:solidFill>
                          <a:latin typeface="FS PF BeauSans Pro"/>
                          <a:ea typeface="FS PF BeauSans Pro"/>
                          <a:cs typeface="FS PF BeauSans Pro"/>
                        </a:rPr>
                        <a:t>Basis</a:t>
                      </a:r>
                    </a:p>
                  </a:txBody>
                  <a:tcPr marL="68580" marR="68580" marT="36576" marB="36576" anchor="ctr">
                    <a:lnL w="0">
                      <a:noFill/>
                    </a:lnL>
                    <a:lnR w="0">
                      <a:noFill/>
                    </a:lnR>
                    <a:lnT w="19050">
                      <a:solidFill>
                        <a:srgbClr val="262626"/>
                      </a:solidFill>
                    </a:lnT>
                    <a:lnB w="9525">
                      <a:solidFill>
                        <a:srgbClr val="262626"/>
                      </a:solidFill>
                    </a:lnB>
                    <a:noFill/>
                  </a:tcPr>
                </a:tc>
              </a:tr>
              <a:tr h="274320">
                <a:tc>
                  <a:txBody>
                    <a:bodyPr/>
                    <a:lstStyle/>
                    <a:p>
                      <a:pPr algn="l">
                        <a:lnSpc>
                          <a:spcPct val="95000"/>
                        </a:lnSpc>
                      </a:pPr>
                      <a:r>
                        <a:rPr lang="en-US" sz="1100" b="1" dirty="0">
                          <a:solidFill>
                            <a:srgbClr val="262626"/>
                          </a:solidFill>
                          <a:latin typeface="FS PF BeauSans Pro"/>
                          <a:ea typeface="FS PF BeauSans Pro"/>
                          <a:cs typeface="FS PF BeauSans Pro"/>
                        </a:rPr>
                        <a:t>Level reference</a:t>
                      </a:r>
                    </a:p>
                  </a:txBody>
                  <a:tcPr marL="68580" marR="68580" marT="36576" marB="36576" anchor="ctr">
                    <a:lnL w="0">
                      <a:noFill/>
                    </a:lnL>
                    <a:lnR w="0">
                      <a:noFill/>
                    </a:lnR>
                    <a:lnT w="9525">
                      <a:solidFill>
                        <a:srgbClr val="262626"/>
                      </a:solidFill>
                    </a:lnT>
                    <a:lnB w="6350">
                      <a:solidFill>
                        <a:srgbClr val="D9D9D9"/>
                      </a:solidFill>
                    </a:lnB>
                    <a:noFill/>
                  </a:tcPr>
                </a:tc>
                <a:tc>
                  <a:txBody>
                    <a:bodyPr/>
                    <a:lstStyle/>
                    <a:p>
                      <a:pPr algn="l">
                        <a:lnSpc>
                          <a:spcPct val="95000"/>
                        </a:lnSpc>
                      </a:pPr>
                      <a:r>
                        <a:rPr lang="en-US" sz="1100" b="1" dirty="0">
                          <a:solidFill>
                            <a:srgbClr val="EE0033"/>
                          </a:solidFill>
                          <a:latin typeface="FS PF BeauSans Pro"/>
                          <a:ea typeface="FS PF BeauSans Pro"/>
                          <a:cs typeface="FS PF BeauSans Pro"/>
                        </a:rPr>
                        <a:t>RMS of the 2.5 s before the cut</a:t>
                      </a:r>
                    </a:p>
                  </a:txBody>
                  <a:tcPr marL="68580" marR="68580" marT="36576" marB="36576" anchor="ctr">
                    <a:lnL w="0">
                      <a:noFill/>
                    </a:lnL>
                    <a:lnR w="0">
                      <a:noFill/>
                    </a:lnR>
                    <a:lnT w="9525">
                      <a:solidFill>
                        <a:srgbClr val="262626"/>
                      </a:solidFill>
                    </a:lnT>
                    <a:lnB w="6350">
                      <a:solidFill>
                        <a:srgbClr val="D9D9D9"/>
                      </a:solidFill>
                    </a:lnB>
                    <a:noFill/>
                  </a:tcPr>
                </a:tc>
                <a:tc>
                  <a:txBody>
                    <a:bodyPr/>
                    <a:lstStyle/>
                    <a:p>
                      <a:pPr algn="l">
                        <a:lnSpc>
                          <a:spcPct val="95000"/>
                        </a:lnSpc>
                      </a:pPr>
                      <a:r>
                        <a:rPr lang="en-US" sz="1100" dirty="0">
                          <a:solidFill>
                            <a:srgbClr val="262626"/>
                          </a:solidFill>
                          <a:latin typeface="FS PF BeauSans Pro"/>
                          <a:ea typeface="FS PF BeauSans Pro"/>
                          <a:cs typeface="FS PF BeauSans Pro"/>
                        </a:rPr>
                        <a:t>Referencing the utterance peak let one stray full-scale sample move the event +10.4 dB; the local RMS moved it 0 dB</a:t>
                      </a:r>
                    </a:p>
                  </a:txBody>
                  <a:tcPr marL="68580" marR="68580" marT="36576" marB="36576" anchor="ctr">
                    <a:lnL w="0">
                      <a:noFill/>
                    </a:lnL>
                    <a:lnR w="0">
                      <a:noFill/>
                    </a:lnR>
                    <a:lnT w="9525">
                      <a:solidFill>
                        <a:srgbClr val="262626"/>
                      </a:solidFill>
                    </a:lnT>
                    <a:lnB w="6350">
                      <a:solidFill>
                        <a:srgbClr val="D9D9D9"/>
                      </a:solidFill>
                    </a:lnB>
                    <a:noFill/>
                  </a:tcPr>
                </a:tc>
                <a:tc>
                  <a:txBody>
                    <a:bodyPr/>
                    <a:lstStyle/>
                    <a:p>
                      <a:pPr algn="l">
                        <a:lnSpc>
                          <a:spcPct val="95000"/>
                        </a:lnSpc>
                      </a:pPr>
                      <a:r>
                        <a:rPr lang="en-US" sz="950" dirty="0">
                          <a:solidFill>
                            <a:srgbClr val="595959"/>
                          </a:solidFill>
                          <a:latin typeface="FS PF BeauSans Pro"/>
                          <a:ea typeface="FS PF BeauSans Pro"/>
                          <a:cs typeface="FS PF BeauSans Pro"/>
                        </a:rPr>
                        <a:t>test take</a:t>
                      </a:r>
                    </a:p>
                  </a:txBody>
                  <a:tcPr marL="68580" marR="68580" marT="36576" marB="36576" anchor="ctr">
                    <a:lnL w="0">
                      <a:noFill/>
                    </a:lnL>
                    <a:lnR w="0">
                      <a:noFill/>
                    </a:lnR>
                    <a:lnT w="9525">
                      <a:solidFill>
                        <a:srgbClr val="262626"/>
                      </a:solidFill>
                    </a:lnT>
                    <a:lnB w="6350">
                      <a:solidFill>
                        <a:srgbClr val="D9D9D9"/>
                      </a:solidFill>
                    </a:lnB>
                    <a:noFill/>
                  </a:tcPr>
                </a:tc>
              </a:tr>
              <a:tr h="274320">
                <a:tc>
                  <a:txBody>
                    <a:bodyPr/>
                    <a:lstStyle/>
                    <a:p>
                      <a:pPr algn="l">
                        <a:lnSpc>
                          <a:spcPct val="95000"/>
                        </a:lnSpc>
                      </a:pPr>
                      <a:r>
                        <a:rPr lang="en-US" sz="1100" b="1" dirty="0">
                          <a:solidFill>
                            <a:srgbClr val="262626"/>
                          </a:solidFill>
                          <a:latin typeface="FS PF BeauSans Pro"/>
                          <a:ea typeface="FS PF BeauSans Pro"/>
                          <a:cs typeface="FS PF BeauSans Pro"/>
                        </a:rPr>
                        <a:t>Class offset</a:t>
                      </a:r>
                    </a:p>
                  </a:txBody>
                  <a:tcPr marL="68580" marR="68580" marT="36576" marB="36576" anchor="ctr">
                    <a:lnL w="0">
                      <a:noFill/>
                    </a:lnL>
                    <a:lnR w="0">
                      <a:noFill/>
                    </a:lnR>
                    <a:lnT w="6350">
                      <a:solidFill>
                        <a:srgbClr val="D9D9D9"/>
                      </a:solidFill>
                    </a:lnT>
                    <a:lnB w="6350">
                      <a:solidFill>
                        <a:srgbClr val="D9D9D9"/>
                      </a:solidFill>
                    </a:lnB>
                    <a:noFill/>
                  </a:tcPr>
                </a:tc>
                <a:tc>
                  <a:txBody>
                    <a:bodyPr/>
                    <a:lstStyle/>
                    <a:p>
                      <a:pPr algn="l">
                        <a:lnSpc>
                          <a:spcPct val="95000"/>
                        </a:lnSpc>
                      </a:pPr>
                      <a:r>
                        <a:rPr lang="en-US" sz="1100" b="1" dirty="0">
                          <a:solidFill>
                            <a:srgbClr val="EE0033"/>
                          </a:solidFill>
                          <a:latin typeface="FS PF BeauSans Pro"/>
                          <a:ea typeface="FS PF BeauSans Pro"/>
                          <a:cs typeface="FS PF BeauSans Pro"/>
                        </a:rPr>
                        <a:t>laughter +3, sneeze +4, cough +2, throat clearing −2, sigh −4, sniff −5 dB</a:t>
                      </a:r>
                    </a:p>
                  </a:txBody>
                  <a:tcPr marL="68580" marR="68580" marT="36576" marB="36576" anchor="ctr">
                    <a:lnL w="0">
                      <a:noFill/>
                    </a:lnL>
                    <a:lnR w="0">
                      <a:noFill/>
                    </a:lnR>
                    <a:lnT w="6350">
                      <a:solidFill>
                        <a:srgbClr val="D9D9D9"/>
                      </a:solidFill>
                    </a:lnT>
                    <a:lnB w="6350">
                      <a:solidFill>
                        <a:srgbClr val="D9D9D9"/>
                      </a:solidFill>
                    </a:lnB>
                    <a:noFill/>
                  </a:tcPr>
                </a:tc>
                <a:tc>
                  <a:txBody>
                    <a:bodyPr/>
                    <a:lstStyle/>
                    <a:p>
                      <a:pPr algn="l">
                        <a:lnSpc>
                          <a:spcPct val="95000"/>
                        </a:lnSpc>
                      </a:pPr>
                      <a:r>
                        <a:rPr lang="en-US" sz="1100" dirty="0">
                          <a:solidFill>
                            <a:srgbClr val="262626"/>
                          </a:solidFill>
                          <a:latin typeface="FS PF BeauSans Pro"/>
                          <a:ea typeface="FS PF BeauSans Pro"/>
                          <a:cs typeface="FS PF BeauSans Pro"/>
                        </a:rPr>
                        <a:t>A laugh or sneeze is louder than conversational speech and a sigh or sniff quieter; one target would be wrong for both, in opposite directions. Other classes 0 dB</a:t>
                      </a:r>
                    </a:p>
                  </a:txBody>
                  <a:tcPr marL="68580" marR="68580" marT="36576" marB="36576" anchor="ctr">
                    <a:lnL w="0">
                      <a:noFill/>
                    </a:lnL>
                    <a:lnR w="0">
                      <a:noFill/>
                    </a:lnR>
                    <a:lnT w="6350">
                      <a:solidFill>
                        <a:srgbClr val="D9D9D9"/>
                      </a:solidFill>
                    </a:lnT>
                    <a:lnB w="6350">
                      <a:solidFill>
                        <a:srgbClr val="D9D9D9"/>
                      </a:solidFill>
                    </a:lnB>
                    <a:noFill/>
                  </a:tcPr>
                </a:tc>
                <a:tc>
                  <a:txBody>
                    <a:bodyPr/>
                    <a:lstStyle/>
                    <a:p>
                      <a:pPr algn="l">
                        <a:lnSpc>
                          <a:spcPct val="95000"/>
                        </a:lnSpc>
                      </a:pPr>
                      <a:r>
                        <a:rPr lang="en-US" sz="950" dirty="0">
                          <a:solidFill>
                            <a:srgbClr val="595959"/>
                          </a:solidFill>
                          <a:latin typeface="FS PF BeauSans Pro"/>
                          <a:ea typeface="FS PF BeauSans Pro"/>
                          <a:cs typeface="FS PF BeauSans Pro"/>
                        </a:rPr>
                        <a:t>prior</a:t>
                      </a:r>
                    </a:p>
                  </a:txBody>
                  <a:tcPr marL="68580" marR="68580" marT="36576" marB="36576" anchor="ctr">
                    <a:lnL w="0">
                      <a:noFill/>
                    </a:lnL>
                    <a:lnR w="0">
                      <a:noFill/>
                    </a:lnR>
                    <a:lnT w="6350">
                      <a:solidFill>
                        <a:srgbClr val="D9D9D9"/>
                      </a:solidFill>
                    </a:lnT>
                    <a:lnB w="6350">
                      <a:solidFill>
                        <a:srgbClr val="D9D9D9"/>
                      </a:solidFill>
                    </a:lnB>
                    <a:noFill/>
                  </a:tcPr>
                </a:tc>
              </a:tr>
              <a:tr h="274320">
                <a:tc>
                  <a:txBody>
                    <a:bodyPr/>
                    <a:lstStyle/>
                    <a:p>
                      <a:pPr algn="l">
                        <a:lnSpc>
                          <a:spcPct val="95000"/>
                        </a:lnSpc>
                      </a:pPr>
                      <a:r>
                        <a:rPr lang="en-US" sz="1100" b="1" dirty="0">
                          <a:solidFill>
                            <a:srgbClr val="262626"/>
                          </a:solidFill>
                          <a:latin typeface="FS PF BeauSans Pro"/>
                          <a:ea typeface="FS PF BeauSans Pro"/>
                          <a:cs typeface="FS PF BeauSans Pro"/>
                        </a:rPr>
                        <a:t>Peak cap</a:t>
                      </a:r>
                    </a:p>
                  </a:txBody>
                  <a:tcPr marL="68580" marR="68580" marT="36576" marB="36576" anchor="ctr">
                    <a:lnL w="0">
                      <a:noFill/>
                    </a:lnL>
                    <a:lnR w="0">
                      <a:noFill/>
                    </a:lnR>
                    <a:lnT w="6350">
                      <a:solidFill>
                        <a:srgbClr val="D9D9D9"/>
                      </a:solidFill>
                    </a:lnT>
                    <a:lnB w="6350">
                      <a:solidFill>
                        <a:srgbClr val="D9D9D9"/>
                      </a:solidFill>
                    </a:lnB>
                    <a:noFill/>
                  </a:tcPr>
                </a:tc>
                <a:tc>
                  <a:txBody>
                    <a:bodyPr/>
                    <a:lstStyle/>
                    <a:p>
                      <a:pPr algn="l">
                        <a:lnSpc>
                          <a:spcPct val="95000"/>
                        </a:lnSpc>
                      </a:pPr>
                      <a:r>
                        <a:rPr lang="en-US" sz="1100" b="1" dirty="0">
                          <a:solidFill>
                            <a:srgbClr val="EE0033"/>
                          </a:solidFill>
                          <a:latin typeface="FS PF BeauSans Pro"/>
                          <a:ea typeface="FS PF BeauSans Pro"/>
                          <a:cs typeface="FS PF BeauSans Pro"/>
                        </a:rPr>
                        <a:t>1.5 × the speech's 99.9th percentile</a:t>
                      </a:r>
                    </a:p>
                  </a:txBody>
                  <a:tcPr marL="68580" marR="68580" marT="36576" marB="36576" anchor="ctr">
                    <a:lnL w="0">
                      <a:noFill/>
                    </a:lnL>
                    <a:lnR w="0">
                      <a:noFill/>
                    </a:lnR>
                    <a:lnT w="6350">
                      <a:solidFill>
                        <a:srgbClr val="D9D9D9"/>
                      </a:solidFill>
                    </a:lnT>
                    <a:lnB w="6350">
                      <a:solidFill>
                        <a:srgbClr val="D9D9D9"/>
                      </a:solidFill>
                    </a:lnB>
                    <a:noFill/>
                  </a:tcPr>
                </a:tc>
                <a:tc>
                  <a:txBody>
                    <a:bodyPr/>
                    <a:lstStyle/>
                    <a:p>
                      <a:pPr algn="l">
                        <a:lnSpc>
                          <a:spcPct val="95000"/>
                        </a:lnSpc>
                      </a:pPr>
                      <a:r>
                        <a:rPr lang="en-US" sz="1100" dirty="0">
                          <a:solidFill>
                            <a:srgbClr val="262626"/>
                          </a:solidFill>
                          <a:latin typeface="FS PF BeauSans Pro"/>
                          <a:ea typeface="FS PF BeauSans Pro"/>
                          <a:cs typeface="FS PF BeauSans Pro"/>
                        </a:rPr>
                        <a:t>The file is peak-normalised, so a hot event would turn the whole recording down; above 1 because a laugh legitimately peaks above speech</a:t>
                      </a:r>
                    </a:p>
                  </a:txBody>
                  <a:tcPr marL="68580" marR="68580" marT="36576" marB="36576" anchor="ctr">
                    <a:lnL w="0">
                      <a:noFill/>
                    </a:lnL>
                    <a:lnR w="0">
                      <a:noFill/>
                    </a:lnR>
                    <a:lnT w="6350">
                      <a:solidFill>
                        <a:srgbClr val="D9D9D9"/>
                      </a:solidFill>
                    </a:lnT>
                    <a:lnB w="6350">
                      <a:solidFill>
                        <a:srgbClr val="D9D9D9"/>
                      </a:solidFill>
                    </a:lnB>
                    <a:noFill/>
                  </a:tcPr>
                </a:tc>
                <a:tc>
                  <a:txBody>
                    <a:bodyPr/>
                    <a:lstStyle/>
                    <a:p>
                      <a:pPr algn="l">
                        <a:lnSpc>
                          <a:spcPct val="95000"/>
                        </a:lnSpc>
                      </a:pPr>
                      <a:r>
                        <a:rPr lang="en-US" sz="950" dirty="0">
                          <a:solidFill>
                            <a:srgbClr val="595959"/>
                          </a:solidFill>
                          <a:latin typeface="FS PF BeauSans Pro"/>
                          <a:ea typeface="FS PF BeauSans Pro"/>
                          <a:cs typeface="FS PF BeauSans Pro"/>
                        </a:rPr>
                        <a:t>design</a:t>
                      </a:r>
                    </a:p>
                  </a:txBody>
                  <a:tcPr marL="68580" marR="68580" marT="36576" marB="36576" anchor="ctr">
                    <a:lnL w="0">
                      <a:noFill/>
                    </a:lnL>
                    <a:lnR w="0">
                      <a:noFill/>
                    </a:lnR>
                    <a:lnT w="6350">
                      <a:solidFill>
                        <a:srgbClr val="D9D9D9"/>
                      </a:solidFill>
                    </a:lnT>
                    <a:lnB w="6350">
                      <a:solidFill>
                        <a:srgbClr val="D9D9D9"/>
                      </a:solidFill>
                    </a:lnB>
                    <a:noFill/>
                  </a:tcPr>
                </a:tc>
              </a:tr>
              <a:tr h="274320">
                <a:tc>
                  <a:txBody>
                    <a:bodyPr/>
                    <a:lstStyle/>
                    <a:p>
                      <a:pPr algn="l">
                        <a:lnSpc>
                          <a:spcPct val="95000"/>
                        </a:lnSpc>
                      </a:pPr>
                      <a:r>
                        <a:rPr lang="en-US" sz="1100" b="1" dirty="0">
                          <a:solidFill>
                            <a:srgbClr val="262626"/>
                          </a:solidFill>
                          <a:latin typeface="FS PF BeauSans Pro"/>
                          <a:ea typeface="FS PF BeauSans Pro"/>
                          <a:cs typeface="FS PF BeauSans Pro"/>
                        </a:rPr>
                        <a:t>Cap reference</a:t>
                      </a:r>
                    </a:p>
                  </a:txBody>
                  <a:tcPr marL="68580" marR="68580" marT="36576" marB="36576" anchor="ctr">
                    <a:lnL w="0">
                      <a:noFill/>
                    </a:lnL>
                    <a:lnR w="0">
                      <a:noFill/>
                    </a:lnR>
                    <a:lnT w="6350">
                      <a:solidFill>
                        <a:srgbClr val="D9D9D9"/>
                      </a:solidFill>
                    </a:lnT>
                    <a:lnB w="6350">
                      <a:solidFill>
                        <a:srgbClr val="D9D9D9"/>
                      </a:solidFill>
                    </a:lnB>
                    <a:noFill/>
                  </a:tcPr>
                </a:tc>
                <a:tc>
                  <a:txBody>
                    <a:bodyPr/>
                    <a:lstStyle/>
                    <a:p>
                      <a:pPr algn="l">
                        <a:lnSpc>
                          <a:spcPct val="95000"/>
                        </a:lnSpc>
                      </a:pPr>
                      <a:r>
                        <a:rPr lang="en-US" sz="1100" b="1" dirty="0">
                          <a:solidFill>
                            <a:srgbClr val="EE0033"/>
                          </a:solidFill>
                          <a:latin typeface="FS PF BeauSans Pro"/>
                          <a:ea typeface="FS PF BeauSans Pro"/>
                          <a:cs typeface="FS PF BeauSans Pro"/>
                        </a:rPr>
                        <a:t>99.9th percentile, not the maximum</a:t>
                      </a:r>
                    </a:p>
                  </a:txBody>
                  <a:tcPr marL="68580" marR="68580" marT="36576" marB="36576" anchor="ctr">
                    <a:lnL w="0">
                      <a:noFill/>
                    </a:lnL>
                    <a:lnR w="0">
                      <a:noFill/>
                    </a:lnR>
                    <a:lnT w="6350">
                      <a:solidFill>
                        <a:srgbClr val="D9D9D9"/>
                      </a:solidFill>
                    </a:lnT>
                    <a:lnB w="6350">
                      <a:solidFill>
                        <a:srgbClr val="D9D9D9"/>
                      </a:solidFill>
                    </a:lnB>
                    <a:noFill/>
                  </a:tcPr>
                </a:tc>
                <a:tc>
                  <a:txBody>
                    <a:bodyPr/>
                    <a:lstStyle/>
                    <a:p>
                      <a:pPr algn="l">
                        <a:lnSpc>
                          <a:spcPct val="95000"/>
                        </a:lnSpc>
                      </a:pPr>
                      <a:r>
                        <a:rPr lang="en-US" sz="1100" dirty="0">
                          <a:solidFill>
                            <a:srgbClr val="262626"/>
                          </a:solidFill>
                          <a:latin typeface="FS PF BeauSans Pro"/>
                          <a:ea typeface="FS PF BeauSans Pro"/>
                          <a:cs typeface="FS PF BeauSans Pro"/>
                        </a:rPr>
                        <a:t>Ignores lone clicks: with the true maximum, a single 0.99 sample moved the event 8.4 dB</a:t>
                      </a:r>
                    </a:p>
                  </a:txBody>
                  <a:tcPr marL="68580" marR="68580" marT="36576" marB="36576" anchor="ctr">
                    <a:lnL w="0">
                      <a:noFill/>
                    </a:lnL>
                    <a:lnR w="0">
                      <a:noFill/>
                    </a:lnR>
                    <a:lnT w="6350">
                      <a:solidFill>
                        <a:srgbClr val="D9D9D9"/>
                      </a:solidFill>
                    </a:lnT>
                    <a:lnB w="6350">
                      <a:solidFill>
                        <a:srgbClr val="D9D9D9"/>
                      </a:solidFill>
                    </a:lnB>
                    <a:noFill/>
                  </a:tcPr>
                </a:tc>
                <a:tc>
                  <a:txBody>
                    <a:bodyPr/>
                    <a:lstStyle/>
                    <a:p>
                      <a:pPr algn="l">
                        <a:lnSpc>
                          <a:spcPct val="95000"/>
                        </a:lnSpc>
                      </a:pPr>
                      <a:r>
                        <a:rPr lang="en-US" sz="950" dirty="0">
                          <a:solidFill>
                            <a:srgbClr val="595959"/>
                          </a:solidFill>
                          <a:latin typeface="FS PF BeauSans Pro"/>
                          <a:ea typeface="FS PF BeauSans Pro"/>
                          <a:cs typeface="FS PF BeauSans Pro"/>
                        </a:rPr>
                        <a:t>test take</a:t>
                      </a:r>
                    </a:p>
                  </a:txBody>
                  <a:tcPr marL="68580" marR="68580" marT="36576" marB="36576" anchor="ctr">
                    <a:lnL w="0">
                      <a:noFill/>
                    </a:lnL>
                    <a:lnR w="0">
                      <a:noFill/>
                    </a:lnR>
                    <a:lnT w="6350">
                      <a:solidFill>
                        <a:srgbClr val="D9D9D9"/>
                      </a:solidFill>
                    </a:lnT>
                    <a:lnB w="6350">
                      <a:solidFill>
                        <a:srgbClr val="D9D9D9"/>
                      </a:solidFill>
                    </a:lnB>
                    <a:noFill/>
                  </a:tcPr>
                </a:tc>
              </a:tr>
              <a:tr h="274320">
                <a:tc>
                  <a:txBody>
                    <a:bodyPr/>
                    <a:lstStyle/>
                    <a:p>
                      <a:pPr algn="l">
                        <a:lnSpc>
                          <a:spcPct val="95000"/>
                        </a:lnSpc>
                      </a:pPr>
                      <a:r>
                        <a:rPr lang="en-US" sz="1100" b="1" dirty="0">
                          <a:solidFill>
                            <a:srgbClr val="262626"/>
                          </a:solidFill>
                          <a:latin typeface="FS PF BeauSans Pro"/>
                          <a:ea typeface="FS PF BeauSans Pro"/>
                          <a:cs typeface="FS PF BeauSans Pro"/>
                        </a:rPr>
                        <a:t>Cut point</a:t>
                      </a:r>
                    </a:p>
                  </a:txBody>
                  <a:tcPr marL="68580" marR="68580" marT="36576" marB="36576" anchor="ctr">
                    <a:lnL w="0">
                      <a:noFill/>
                    </a:lnL>
                    <a:lnR w="0">
                      <a:noFill/>
                    </a:lnR>
                    <a:lnT w="6350">
                      <a:solidFill>
                        <a:srgbClr val="D9D9D9"/>
                      </a:solidFill>
                    </a:lnT>
                    <a:lnB w="6350">
                      <a:solidFill>
                        <a:srgbClr val="D9D9D9"/>
                      </a:solidFill>
                    </a:lnB>
                    <a:noFill/>
                  </a:tcPr>
                </a:tc>
                <a:tc>
                  <a:txBody>
                    <a:bodyPr/>
                    <a:lstStyle/>
                    <a:p>
                      <a:pPr algn="l">
                        <a:lnSpc>
                          <a:spcPct val="95000"/>
                        </a:lnSpc>
                      </a:pPr>
                      <a:r>
                        <a:rPr lang="en-US" sz="1100" b="1" dirty="0">
                          <a:solidFill>
                            <a:srgbClr val="EE0033"/>
                          </a:solidFill>
                          <a:latin typeface="FS PF BeauSans Pro"/>
                          <a:ea typeface="FS PF BeauSans Pro"/>
                          <a:cs typeface="FS PF BeauSans Pro"/>
                        </a:rPr>
                        <a:t>slot midpoint</a:t>
                      </a:r>
                    </a:p>
                  </a:txBody>
                  <a:tcPr marL="68580" marR="68580" marT="36576" marB="36576" anchor="ctr">
                    <a:lnL w="0">
                      <a:noFill/>
                    </a:lnL>
                    <a:lnR w="0">
                      <a:noFill/>
                    </a:lnR>
                    <a:lnT w="6350">
                      <a:solidFill>
                        <a:srgbClr val="D9D9D9"/>
                      </a:solidFill>
                    </a:lnT>
                    <a:lnB w="6350">
                      <a:solidFill>
                        <a:srgbClr val="D9D9D9"/>
                      </a:solidFill>
                    </a:lnB>
                    <a:noFill/>
                  </a:tcPr>
                </a:tc>
                <a:tc>
                  <a:txBody>
                    <a:bodyPr/>
                    <a:lstStyle/>
                    <a:p>
                      <a:pPr algn="l">
                        <a:lnSpc>
                          <a:spcPct val="95000"/>
                        </a:lnSpc>
                      </a:pPr>
                      <a:r>
                        <a:rPr lang="en-US" sz="1100" dirty="0">
                          <a:solidFill>
                            <a:srgbClr val="262626"/>
                          </a:solidFill>
                          <a:latin typeface="FS PF BeauSans Pro"/>
                          <a:ea typeface="FS PF BeauSans Pro"/>
                          <a:cs typeface="FS PF BeauSans Pro"/>
                        </a:rPr>
                        <a:t>The point furthest from both neighbouring words</a:t>
                      </a:r>
                    </a:p>
                  </a:txBody>
                  <a:tcPr marL="68580" marR="68580" marT="36576" marB="36576" anchor="ctr">
                    <a:lnL w="0">
                      <a:noFill/>
                    </a:lnL>
                    <a:lnR w="0">
                      <a:noFill/>
                    </a:lnR>
                    <a:lnT w="6350">
                      <a:solidFill>
                        <a:srgbClr val="D9D9D9"/>
                      </a:solidFill>
                    </a:lnT>
                    <a:lnB w="6350">
                      <a:solidFill>
                        <a:srgbClr val="D9D9D9"/>
                      </a:solidFill>
                    </a:lnB>
                    <a:noFill/>
                  </a:tcPr>
                </a:tc>
                <a:tc>
                  <a:txBody>
                    <a:bodyPr/>
                    <a:lstStyle/>
                    <a:p>
                      <a:pPr algn="l">
                        <a:lnSpc>
                          <a:spcPct val="95000"/>
                        </a:lnSpc>
                      </a:pPr>
                      <a:r>
                        <a:rPr lang="en-US" sz="950" dirty="0">
                          <a:solidFill>
                            <a:srgbClr val="595959"/>
                          </a:solidFill>
                          <a:latin typeface="FS PF BeauSans Pro"/>
                          <a:ea typeface="FS PF BeauSans Pro"/>
                          <a:cs typeface="FS PF BeauSans Pro"/>
                        </a:rPr>
                        <a:t>design</a:t>
                      </a:r>
                    </a:p>
                  </a:txBody>
                  <a:tcPr marL="68580" marR="68580" marT="36576" marB="36576" anchor="ctr">
                    <a:lnL w="0">
                      <a:noFill/>
                    </a:lnL>
                    <a:lnR w="0">
                      <a:noFill/>
                    </a:lnR>
                    <a:lnT w="6350">
                      <a:solidFill>
                        <a:srgbClr val="D9D9D9"/>
                      </a:solidFill>
                    </a:lnT>
                    <a:lnB w="6350">
                      <a:solidFill>
                        <a:srgbClr val="D9D9D9"/>
                      </a:solidFill>
                    </a:lnB>
                    <a:noFill/>
                  </a:tcPr>
                </a:tc>
              </a:tr>
              <a:tr h="274320">
                <a:tc>
                  <a:txBody>
                    <a:bodyPr/>
                    <a:lstStyle/>
                    <a:p>
                      <a:pPr algn="l">
                        <a:lnSpc>
                          <a:spcPct val="95000"/>
                        </a:lnSpc>
                      </a:pPr>
                      <a:r>
                        <a:rPr lang="en-US" sz="1100" b="1" dirty="0">
                          <a:solidFill>
                            <a:srgbClr val="262626"/>
                          </a:solidFill>
                          <a:latin typeface="FS PF BeauSans Pro"/>
                          <a:ea typeface="FS PF BeauSans Pro"/>
                          <a:cs typeface="FS PF BeauSans Pro"/>
                        </a:rPr>
                        <a:t>Fade shape</a:t>
                      </a:r>
                    </a:p>
                  </a:txBody>
                  <a:tcPr marL="68580" marR="68580" marT="36576" marB="36576" anchor="ctr">
                    <a:lnL w="0">
                      <a:noFill/>
                    </a:lnL>
                    <a:lnR w="0">
                      <a:noFill/>
                    </a:lnR>
                    <a:lnT w="6350">
                      <a:solidFill>
                        <a:srgbClr val="D9D9D9"/>
                      </a:solidFill>
                    </a:lnT>
                    <a:lnB w="6350">
                      <a:solidFill>
                        <a:srgbClr val="D9D9D9"/>
                      </a:solidFill>
                    </a:lnB>
                    <a:noFill/>
                  </a:tcPr>
                </a:tc>
                <a:tc>
                  <a:txBody>
                    <a:bodyPr/>
                    <a:lstStyle/>
                    <a:p>
                      <a:pPr algn="l">
                        <a:lnSpc>
                          <a:spcPct val="95000"/>
                        </a:lnSpc>
                      </a:pPr>
                      <a:r>
                        <a:rPr lang="en-US" sz="1100" b="1" dirty="0">
                          <a:solidFill>
                            <a:srgbClr val="EE0033"/>
                          </a:solidFill>
                          <a:latin typeface="FS PF BeauSans Pro"/>
                          <a:ea typeface="FS PF BeauSans Pro"/>
                          <a:cs typeface="FS PF BeauSans Pro"/>
                        </a:rPr>
                        <a:t>exponential, curvature k = 5</a:t>
                      </a:r>
                    </a:p>
                  </a:txBody>
                  <a:tcPr marL="68580" marR="68580" marT="36576" marB="36576" anchor="ctr">
                    <a:lnL w="0">
                      <a:noFill/>
                    </a:lnL>
                    <a:lnR w="0">
                      <a:noFill/>
                    </a:lnR>
                    <a:lnT w="6350">
                      <a:solidFill>
                        <a:srgbClr val="D9D9D9"/>
                      </a:solidFill>
                    </a:lnT>
                    <a:lnB w="6350">
                      <a:solidFill>
                        <a:srgbClr val="D9D9D9"/>
                      </a:solidFill>
                    </a:lnB>
                    <a:noFill/>
                  </a:tcPr>
                </a:tc>
                <a:tc>
                  <a:txBody>
                    <a:bodyPr/>
                    <a:lstStyle/>
                    <a:p>
                      <a:pPr algn="l">
                        <a:lnSpc>
                          <a:spcPct val="95000"/>
                        </a:lnSpc>
                      </a:pPr>
                      <a:r>
                        <a:rPr lang="en-US" sz="1100" dirty="0">
                          <a:solidFill>
                            <a:srgbClr val="262626"/>
                          </a:solidFill>
                          <a:latin typeface="FS PF BeauSans Pro"/>
                          <a:ea typeface="FS PF BeauSans Pro"/>
                          <a:cs typeface="FS PF BeauSans Pro"/>
                        </a:rPr>
                        <a:t>Mirrored, it reaches half level in the first 14% of the fade, so the sharp onset of a laugh, cough or sneeze survives; a cosine fade softens it</a:t>
                      </a:r>
                    </a:p>
                  </a:txBody>
                  <a:tcPr marL="68580" marR="68580" marT="36576" marB="36576" anchor="ctr">
                    <a:lnL w="0">
                      <a:noFill/>
                    </a:lnL>
                    <a:lnR w="0">
                      <a:noFill/>
                    </a:lnR>
                    <a:lnT w="6350">
                      <a:solidFill>
                        <a:srgbClr val="D9D9D9"/>
                      </a:solidFill>
                    </a:lnT>
                    <a:lnB w="6350">
                      <a:solidFill>
                        <a:srgbClr val="D9D9D9"/>
                      </a:solidFill>
                    </a:lnB>
                    <a:noFill/>
                  </a:tcPr>
                </a:tc>
                <a:tc>
                  <a:txBody>
                    <a:bodyPr/>
                    <a:lstStyle/>
                    <a:p>
                      <a:pPr algn="l">
                        <a:lnSpc>
                          <a:spcPct val="95000"/>
                        </a:lnSpc>
                      </a:pPr>
                      <a:r>
                        <a:rPr lang="en-US" sz="950" dirty="0">
                          <a:solidFill>
                            <a:srgbClr val="595959"/>
                          </a:solidFill>
                          <a:latin typeface="FS PF BeauSans Pro"/>
                          <a:ea typeface="FS PF BeauSans Pro"/>
                          <a:cs typeface="FS PF BeauSans Pro"/>
                        </a:rPr>
                        <a:t>design</a:t>
                      </a:r>
                    </a:p>
                  </a:txBody>
                  <a:tcPr marL="68580" marR="68580" marT="36576" marB="36576" anchor="ctr">
                    <a:lnL w="0">
                      <a:noFill/>
                    </a:lnL>
                    <a:lnR w="0">
                      <a:noFill/>
                    </a:lnR>
                    <a:lnT w="6350">
                      <a:solidFill>
                        <a:srgbClr val="D9D9D9"/>
                      </a:solidFill>
                    </a:lnT>
                    <a:lnB w="6350">
                      <a:solidFill>
                        <a:srgbClr val="D9D9D9"/>
                      </a:solidFill>
                    </a:lnB>
                    <a:noFill/>
                  </a:tcPr>
                </a:tc>
              </a:tr>
              <a:tr h="274320">
                <a:tc>
                  <a:txBody>
                    <a:bodyPr/>
                    <a:lstStyle/>
                    <a:p>
                      <a:pPr algn="l">
                        <a:lnSpc>
                          <a:spcPct val="95000"/>
                        </a:lnSpc>
                      </a:pPr>
                      <a:r>
                        <a:rPr lang="en-US" sz="1100" b="1" dirty="0">
                          <a:solidFill>
                            <a:srgbClr val="262626"/>
                          </a:solidFill>
                          <a:latin typeface="FS PF BeauSans Pro"/>
                          <a:ea typeface="FS PF BeauSans Pro"/>
                          <a:cs typeface="FS PF BeauSans Pro"/>
                        </a:rPr>
                        <a:t>Fade placement</a:t>
                      </a:r>
                    </a:p>
                  </a:txBody>
                  <a:tcPr marL="68580" marR="68580" marT="36576" marB="36576" anchor="ctr">
                    <a:lnL w="0">
                      <a:noFill/>
                    </a:lnL>
                    <a:lnR w="0">
                      <a:noFill/>
                    </a:lnR>
                    <a:lnT w="6350">
                      <a:solidFill>
                        <a:srgbClr val="D9D9D9"/>
                      </a:solidFill>
                    </a:lnT>
                    <a:lnB w="6350">
                      <a:solidFill>
                        <a:srgbClr val="D9D9D9"/>
                      </a:solidFill>
                    </a:lnB>
                    <a:noFill/>
                  </a:tcPr>
                </a:tc>
                <a:tc>
                  <a:txBody>
                    <a:bodyPr/>
                    <a:lstStyle/>
                    <a:p>
                      <a:pPr algn="l">
                        <a:lnSpc>
                          <a:spcPct val="95000"/>
                        </a:lnSpc>
                      </a:pPr>
                      <a:r>
                        <a:rPr lang="en-US" sz="1100" b="1" dirty="0">
                          <a:solidFill>
                            <a:srgbClr val="EE0033"/>
                          </a:solidFill>
                          <a:latin typeface="FS PF BeauSans Pro"/>
                          <a:ea typeface="FS PF BeauSans Pro"/>
                          <a:cs typeface="FS PF BeauSans Pro"/>
                        </a:rPr>
                        <a:t>50 ms on all four edges</a:t>
                      </a:r>
                    </a:p>
                  </a:txBody>
                  <a:tcPr marL="68580" marR="68580" marT="36576" marB="36576" anchor="ctr">
                    <a:lnL w="0">
                      <a:noFill/>
                    </a:lnL>
                    <a:lnR w="0">
                      <a:noFill/>
                    </a:lnR>
                    <a:lnT w="6350">
                      <a:solidFill>
                        <a:srgbClr val="D9D9D9"/>
                      </a:solidFill>
                    </a:lnT>
                    <a:lnB w="6350">
                      <a:solidFill>
                        <a:srgbClr val="D9D9D9"/>
                      </a:solidFill>
                    </a:lnB>
                    <a:noFill/>
                  </a:tcPr>
                </a:tc>
                <a:tc>
                  <a:txBody>
                    <a:bodyPr/>
                    <a:lstStyle/>
                    <a:p>
                      <a:pPr algn="l">
                        <a:lnSpc>
                          <a:spcPct val="95000"/>
                        </a:lnSpc>
                      </a:pPr>
                      <a:r>
                        <a:rPr lang="en-US" sz="1100" dirty="0">
                          <a:solidFill>
                            <a:srgbClr val="262626"/>
                          </a:solidFill>
                          <a:latin typeface="FS PF BeauSans Pro"/>
                          <a:ea typeface="FS PF BeauSans Pro"/>
                          <a:cs typeface="FS PF BeauSans Pro"/>
                        </a:rPr>
                        <a:t>Each edge can leave a step; across the cut the largest sample jump fell from 0.00163 to 0.00012, smaller on 15 of 16 rows</a:t>
                      </a:r>
                    </a:p>
                  </a:txBody>
                  <a:tcPr marL="68580" marR="68580" marT="36576" marB="36576" anchor="ctr">
                    <a:lnL w="0">
                      <a:noFill/>
                    </a:lnL>
                    <a:lnR w="0">
                      <a:noFill/>
                    </a:lnR>
                    <a:lnT w="6350">
                      <a:solidFill>
                        <a:srgbClr val="D9D9D9"/>
                      </a:solidFill>
                    </a:lnT>
                    <a:lnB w="6350">
                      <a:solidFill>
                        <a:srgbClr val="D9D9D9"/>
                      </a:solidFill>
                    </a:lnB>
                    <a:noFill/>
                  </a:tcPr>
                </a:tc>
                <a:tc>
                  <a:txBody>
                    <a:bodyPr/>
                    <a:lstStyle/>
                    <a:p>
                      <a:pPr algn="l">
                        <a:lnSpc>
                          <a:spcPct val="95000"/>
                        </a:lnSpc>
                      </a:pPr>
                      <a:r>
                        <a:rPr lang="en-US" sz="950" dirty="0">
                          <a:solidFill>
                            <a:srgbClr val="595959"/>
                          </a:solidFill>
                          <a:latin typeface="FS PF BeauSans Pro"/>
                          <a:ea typeface="FS PF BeauSans Pro"/>
                          <a:cs typeface="FS PF BeauSans Pro"/>
                        </a:rPr>
                        <a:t>pilot</a:t>
                      </a:r>
                    </a:p>
                  </a:txBody>
                  <a:tcPr marL="68580" marR="68580" marT="36576" marB="36576" anchor="ctr">
                    <a:lnL w="0">
                      <a:noFill/>
                    </a:lnL>
                    <a:lnR w="0">
                      <a:noFill/>
                    </a:lnR>
                    <a:lnT w="6350">
                      <a:solidFill>
                        <a:srgbClr val="D9D9D9"/>
                      </a:solidFill>
                    </a:lnT>
                    <a:lnB w="6350">
                      <a:solidFill>
                        <a:srgbClr val="D9D9D9"/>
                      </a:solidFill>
                    </a:lnB>
                    <a:noFill/>
                  </a:tcPr>
                </a:tc>
              </a:tr>
              <a:tr h="274320">
                <a:tc>
                  <a:txBody>
                    <a:bodyPr/>
                    <a:lstStyle/>
                    <a:p>
                      <a:pPr algn="l">
                        <a:lnSpc>
                          <a:spcPct val="95000"/>
                        </a:lnSpc>
                      </a:pPr>
                      <a:r>
                        <a:rPr lang="en-US" sz="1100" b="1" dirty="0">
                          <a:solidFill>
                            <a:srgbClr val="262626"/>
                          </a:solidFill>
                          <a:latin typeface="FS PF BeauSans Pro"/>
                          <a:ea typeface="FS PF BeauSans Pro"/>
                          <a:cs typeface="FS PF BeauSans Pro"/>
                        </a:rPr>
                        <a:t>Silence fill</a:t>
                      </a:r>
                    </a:p>
                  </a:txBody>
                  <a:tcPr marL="68580" marR="68580" marT="36576" marB="36576" anchor="ctr">
                    <a:lnL w="0">
                      <a:noFill/>
                    </a:lnL>
                    <a:lnR w="0">
                      <a:noFill/>
                    </a:lnR>
                    <a:lnT w="6350">
                      <a:solidFill>
                        <a:srgbClr val="D9D9D9"/>
                      </a:solidFill>
                    </a:lnT>
                    <a:lnB w="6350">
                      <a:solidFill>
                        <a:srgbClr val="D9D9D9"/>
                      </a:solidFill>
                    </a:lnB>
                    <a:noFill/>
                  </a:tcPr>
                </a:tc>
                <a:tc>
                  <a:txBody>
                    <a:bodyPr/>
                    <a:lstStyle/>
                    <a:p>
                      <a:pPr algn="l">
                        <a:lnSpc>
                          <a:spcPct val="95000"/>
                        </a:lnSpc>
                      </a:pPr>
                      <a:r>
                        <a:rPr lang="en-US" sz="1100" b="1" dirty="0">
                          <a:solidFill>
                            <a:srgbClr val="EE0033"/>
                          </a:solidFill>
                          <a:latin typeface="FS PF BeauSans Pro"/>
                          <a:ea typeface="FS PF BeauSans Pro"/>
                          <a:cs typeface="FS PF BeauSans Pro"/>
                        </a:rPr>
                        <a:t>recording's quietest 100 ms, tiled</a:t>
                      </a:r>
                    </a:p>
                  </a:txBody>
                  <a:tcPr marL="68580" marR="68580" marT="36576" marB="36576" anchor="ctr">
                    <a:lnL w="0">
                      <a:noFill/>
                    </a:lnL>
                    <a:lnR w="0">
                      <a:noFill/>
                    </a:lnR>
                    <a:lnT w="6350">
                      <a:solidFill>
                        <a:srgbClr val="D9D9D9"/>
                      </a:solidFill>
                    </a:lnT>
                    <a:lnB w="6350">
                      <a:solidFill>
                        <a:srgbClr val="D9D9D9"/>
                      </a:solidFill>
                    </a:lnB>
                    <a:noFill/>
                  </a:tcPr>
                </a:tc>
                <a:tc>
                  <a:txBody>
                    <a:bodyPr/>
                    <a:lstStyle/>
                    <a:p>
                      <a:pPr algn="l">
                        <a:lnSpc>
                          <a:spcPct val="95000"/>
                        </a:lnSpc>
                      </a:pPr>
                      <a:r>
                        <a:rPr lang="en-US" sz="1100" dirty="0">
                          <a:solidFill>
                            <a:srgbClr val="262626"/>
                          </a:solidFill>
                          <a:latin typeface="FS PF BeauSans Pro"/>
                          <a:ea typeface="FS PF BeauSans Pro"/>
                          <a:cs typeface="FS PF BeauSans Pro"/>
                        </a:rPr>
                        <a:t>Digital silence between two noisy segments sounds like a mute; white noise put 82% of its energy above 2 kHz vs 1.5% in the real floor, tiling 1.3%</a:t>
                      </a:r>
                    </a:p>
                  </a:txBody>
                  <a:tcPr marL="68580" marR="68580" marT="36576" marB="36576" anchor="ctr">
                    <a:lnL w="0">
                      <a:noFill/>
                    </a:lnL>
                    <a:lnR w="0">
                      <a:noFill/>
                    </a:lnR>
                    <a:lnT w="6350">
                      <a:solidFill>
                        <a:srgbClr val="D9D9D9"/>
                      </a:solidFill>
                    </a:lnT>
                    <a:lnB w="6350">
                      <a:solidFill>
                        <a:srgbClr val="D9D9D9"/>
                      </a:solidFill>
                    </a:lnB>
                    <a:noFill/>
                  </a:tcPr>
                </a:tc>
                <a:tc>
                  <a:txBody>
                    <a:bodyPr/>
                    <a:lstStyle/>
                    <a:p>
                      <a:pPr algn="l">
                        <a:lnSpc>
                          <a:spcPct val="95000"/>
                        </a:lnSpc>
                      </a:pPr>
                      <a:r>
                        <a:rPr lang="en-US" sz="950" dirty="0">
                          <a:solidFill>
                            <a:srgbClr val="595959"/>
                          </a:solidFill>
                          <a:latin typeface="FS PF BeauSans Pro"/>
                          <a:ea typeface="FS PF BeauSans Pro"/>
                          <a:cs typeface="FS PF BeauSans Pro"/>
                        </a:rPr>
                        <a:t>test take</a:t>
                      </a:r>
                    </a:p>
                  </a:txBody>
                  <a:tcPr marL="68580" marR="68580" marT="36576" marB="36576" anchor="ctr">
                    <a:lnL w="0">
                      <a:noFill/>
                    </a:lnL>
                    <a:lnR w="0">
                      <a:noFill/>
                    </a:lnR>
                    <a:lnT w="6350">
                      <a:solidFill>
                        <a:srgbClr val="D9D9D9"/>
                      </a:solidFill>
                    </a:lnT>
                    <a:lnB w="6350">
                      <a:solidFill>
                        <a:srgbClr val="D9D9D9"/>
                      </a:solidFill>
                    </a:lnB>
                    <a:noFill/>
                  </a:tcPr>
                </a:tc>
              </a:tr>
              <a:tr h="274320">
                <a:tc>
                  <a:txBody>
                    <a:bodyPr/>
                    <a:lstStyle/>
                    <a:p>
                      <a:pPr algn="l">
                        <a:lnSpc>
                          <a:spcPct val="95000"/>
                        </a:lnSpc>
                      </a:pPr>
                      <a:r>
                        <a:rPr lang="en-US" sz="1100" b="1" dirty="0">
                          <a:solidFill>
                            <a:srgbClr val="262626"/>
                          </a:solidFill>
                          <a:latin typeface="FS PF BeauSans Pro"/>
                          <a:ea typeface="FS PF BeauSans Pro"/>
                          <a:cs typeface="FS PF BeauSans Pro"/>
                        </a:rPr>
                        <a:t>Vocoder resynthesis</a:t>
                      </a:r>
                    </a:p>
                  </a:txBody>
                  <a:tcPr marL="68580" marR="68580" marT="36576" marB="36576" anchor="ctr">
                    <a:lnL w="0">
                      <a:noFill/>
                    </a:lnL>
                    <a:lnR w="0">
                      <a:noFill/>
                    </a:lnR>
                    <a:lnT w="6350">
                      <a:solidFill>
                        <a:srgbClr val="D9D9D9"/>
                      </a:solidFill>
                    </a:lnT>
                    <a:lnB w="19050">
                      <a:solidFill>
                        <a:srgbClr val="262626"/>
                      </a:solidFill>
                    </a:lnB>
                    <a:noFill/>
                  </a:tcPr>
                </a:tc>
                <a:tc>
                  <a:txBody>
                    <a:bodyPr/>
                    <a:lstStyle/>
                    <a:p>
                      <a:pPr algn="l">
                        <a:lnSpc>
                          <a:spcPct val="95000"/>
                        </a:lnSpc>
                      </a:pPr>
                      <a:r>
                        <a:rPr lang="en-US" sz="1100" b="1" dirty="0">
                          <a:solidFill>
                            <a:srgbClr val="EE0033"/>
                          </a:solidFill>
                          <a:latin typeface="FS PF BeauSans Pro"/>
                          <a:ea typeface="FS PF BeauSans Pro"/>
                          <a:cs typeface="FS PF BeauSans Pro"/>
                        </a:rPr>
                        <a:t>rejected</a:t>
                      </a:r>
                    </a:p>
                  </a:txBody>
                  <a:tcPr marL="68580" marR="68580" marT="36576" marB="36576" anchor="ctr">
                    <a:lnL w="0">
                      <a:noFill/>
                    </a:lnL>
                    <a:lnR w="0">
                      <a:noFill/>
                    </a:lnR>
                    <a:lnT w="6350">
                      <a:solidFill>
                        <a:srgbClr val="D9D9D9"/>
                      </a:solidFill>
                    </a:lnT>
                    <a:lnB w="19050">
                      <a:solidFill>
                        <a:srgbClr val="262626"/>
                      </a:solidFill>
                    </a:lnB>
                    <a:noFill/>
                  </a:tcPr>
                </a:tc>
                <a:tc>
                  <a:txBody>
                    <a:bodyPr/>
                    <a:lstStyle/>
                    <a:p>
                      <a:pPr algn="l">
                        <a:lnSpc>
                          <a:spcPct val="95000"/>
                        </a:lnSpc>
                      </a:pPr>
                      <a:r>
                        <a:rPr lang="en-US" sz="1100" dirty="0">
                          <a:solidFill>
                            <a:srgbClr val="262626"/>
                          </a:solidFill>
                          <a:latin typeface="FS PF BeauSans Pro"/>
                          <a:ea typeface="FS PF BeauSans Pro"/>
                          <a:cs typeface="FS PF BeauSans Pro"/>
                        </a:rPr>
                        <a:t>It would regenerate the whole recording, not just the two junctions, changing audio that should stay the speaker's own</a:t>
                      </a:r>
                    </a:p>
                  </a:txBody>
                  <a:tcPr marL="68580" marR="68580" marT="36576" marB="36576" anchor="ctr">
                    <a:lnL w="0">
                      <a:noFill/>
                    </a:lnL>
                    <a:lnR w="0">
                      <a:noFill/>
                    </a:lnR>
                    <a:lnT w="6350">
                      <a:solidFill>
                        <a:srgbClr val="D9D9D9"/>
                      </a:solidFill>
                    </a:lnT>
                    <a:lnB w="19050">
                      <a:solidFill>
                        <a:srgbClr val="262626"/>
                      </a:solidFill>
                    </a:lnB>
                    <a:noFill/>
                  </a:tcPr>
                </a:tc>
                <a:tc>
                  <a:txBody>
                    <a:bodyPr/>
                    <a:lstStyle/>
                    <a:p>
                      <a:pPr algn="l">
                        <a:lnSpc>
                          <a:spcPct val="95000"/>
                        </a:lnSpc>
                      </a:pPr>
                      <a:r>
                        <a:rPr lang="en-US" sz="950" dirty="0">
                          <a:solidFill>
                            <a:srgbClr val="595959"/>
                          </a:solidFill>
                          <a:latin typeface="FS PF BeauSans Pro"/>
                          <a:ea typeface="FS PF BeauSans Pro"/>
                          <a:cs typeface="FS PF BeauSans Pro"/>
                        </a:rPr>
                        <a:t>design</a:t>
                      </a:r>
                    </a:p>
                  </a:txBody>
                  <a:tcPr marL="68580" marR="68580" marT="36576" marB="36576" anchor="ctr">
                    <a:lnL w="0">
                      <a:noFill/>
                    </a:lnL>
                    <a:lnR w="0">
                      <a:noFill/>
                    </a:lnR>
                    <a:lnT w="6350">
                      <a:solidFill>
                        <a:srgbClr val="D9D9D9"/>
                      </a:solidFill>
                    </a:lnT>
                    <a:lnB w="19050">
                      <a:solidFill>
                        <a:srgbClr val="262626"/>
                      </a:solidFill>
                    </a:lnB>
                    <a:noFill/>
                  </a:tcPr>
                </a:tc>
              </a:tr>
            </a:tbl>
          </a:graphicData>
        </a:graphic>
      </p:graphicFrame>
      <p:sp>
        <p:nvSpPr>
          <p:cNvPr id="5" name="Footnote citations"/>
          <p:cNvSpPr txBox="1"/>
          <p:nvPr/>
        </p:nvSpPr>
        <p:spPr>
          <a:xfrm>
            <a:off x="411480" y="5852160"/>
            <a:ext cx="8778240" cy="960120"/>
          </a:xfrm>
          <a:prstGeom prst="rect">
            <a:avLst/>
          </a:prstGeom>
          <a:noFill/>
          <a:ln>
            <a:noFill/>
          </a:ln>
        </p:spPr>
        <p:txBody>
          <a:bodyPr wrap="square" lIns="45720" tIns="45720" rIns="45720" bIns="45720" anchor="b">
            <a:noAutofit/>
          </a:bodyPr>
          <a:lstStyle/>
          <a:p>
            <a:pPr>
              <a:buNone/>
            </a:pPr>
            <a:r>
              <a:rPr lang="en-US" sz="900" dirty="0">
                <a:solidFill>
                  <a:srgbClr val="595959"/>
                </a:solidFill>
                <a:latin typeface="FS PF BeauSans Pro"/>
                <a:ea typeface="FS PF BeauSans Pro"/>
                <a:cs typeface="FS PF BeauSans Pro"/>
              </a:rPr>
              <a:t>Basis: pilot = measured on our 20-utterance pilot; prior = direction from how the sound is made, size tuned by ear; design = follows from how the pipeline works; test take = measured on one synthetic recording</a:t>
            </a:r>
          </a:p>
        </p:txBody>
      </p:sp>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p:cNvSpPr txBox="1">
            <a:spLocks noGrp="1"/>
          </p:cNvSpPr>
          <p:nvPr>
            <p:ph type="ctrTitle"/>
          </p:nvPr>
        </p:nvSpPr>
        <p:spPr>
          <a:xfrm>
            <a:off x="822960" y="466344"/>
            <a:ext cx="10543032" cy="731520"/>
          </a:xfrm>
          <a:prstGeom prst="rect">
            <a:avLst/>
          </a:prstGeom>
          <a:noFill/>
          <a:ln>
            <a:noFill/>
          </a:ln>
        </p:spPr>
        <p:txBody>
          <a:bodyPr spcFirstLastPara="1" wrap="square" lIns="91425" tIns="91425" rIns="91425" bIns="91425" anchor="t" anchorCtr="0">
            <a:noAutofit/>
          </a:bodyPr>
          <a:lstStyle/>
          <a:p>
            <a:pPr algn="ctr">
              <a:buNone/>
            </a:pPr>
            <a:r>
              <a:rPr lang="en-US" dirty="0"/>
              <a:t>Why these values: Splice pause timing</a:t>
            </a:r>
          </a:p>
        </p:txBody>
      </p:sp>
      <p:sp>
        <p:nvSpPr>
          <p:cNvPr id="3" name="Slide Number Placeholder"/>
          <p:cNvSpPr>
            <a:spLocks noGrp="1"/>
          </p:cNvSpPr>
          <p:nvPr>
            <p:ph type="sldNum" idx="12"/>
          </p:nvPr>
        </p:nvSpPr>
        <p:spPr/>
        <p:txBody>
          <a:bodyPr/>
          <a:lstStyle/>
          <a:p>
            <a:pPr marL="0" lvl="0" indent="0" algn="ctr" rtl="0">
              <a:spcBef>
                <a:spcPts val="0"/>
              </a:spcBef>
              <a:spcAft>
                <a:spcPts val="0"/>
              </a:spcAft>
              <a:buNone/>
            </a:pPr>
            <a:fld id="{00000000-1234-1234-1234-123412341234}" type="slidenum">
              <a:rPr lang="en-US" smtClean="0"/>
              <a:t>40</a:t>
            </a:fld>
            <a:endParaRPr lang="en-US" dirty="0"/>
          </a:p>
        </p:txBody>
      </p:sp>
      <p:sp>
        <p:nvSpPr>
          <p:cNvPr id="6" name="Pause formula"/>
          <p:cNvSpPr/>
          <p:nvPr/>
        </p:nvSpPr>
        <p:spPr>
          <a:xfrm>
            <a:off x="548640" y="1325880"/>
            <a:ext cx="11094720" cy="420624"/>
          </a:xfrm>
          <a:prstGeom prst="roundRect">
            <a:avLst>
              <a:gd name="adj" fmla="val 16000"/>
            </a:avLst>
          </a:prstGeom>
          <a:solidFill>
            <a:srgbClr val="FFFFFF"/>
          </a:solidFill>
          <a:ln w="12700">
            <a:solidFill>
              <a:srgbClr val="E0E0E0"/>
            </a:solidFill>
          </a:ln>
        </p:spPr>
        <p:txBody>
          <a:bodyPr wrap="square" lIns="137160" tIns="45720" rIns="137160" bIns="45720" anchor="ctr">
            <a:noAutofit/>
          </a:bodyPr>
          <a:lstStyle/>
          <a:p>
            <a:pPr algn="ctr">
              <a:buNone/>
            </a:pPr>
            <a:r>
              <a:rPr lang="en-US" sz="1300" b="1" dirty="0">
                <a:solidFill>
                  <a:srgbClr val="262626"/>
                </a:solidFill>
                <a:latin typeface="FS PF BeauSans Pro"/>
                <a:ea typeface="FS PF BeauSans Pro"/>
                <a:cs typeface="FS PF BeauSans Pro"/>
              </a:rPr>
              <a:t>target pause on each side:  T = Tp · s_g</a:t>
            </a:r>
            <a:r>
              <a:rPr lang="en-US" sz="1300" dirty="0">
                <a:solidFill>
                  <a:srgbClr val="262626"/>
                </a:solidFill>
                <a:latin typeface="FS PF BeauSans Pro"/>
                <a:ea typeface="FS PF BeauSans Pro"/>
                <a:cs typeface="FS PF BeauSans Pro"/>
              </a:rPr>
              <a:t>   </a:t>
            </a:r>
            <a:r>
              <a:rPr lang="en-US" sz="1300" b="1" dirty="0">
                <a:solidFill>
                  <a:srgbClr val="EE0033"/>
                </a:solidFill>
                <a:latin typeface="FS PF BeauSans Pro"/>
                <a:ea typeface="FS PF BeauSans Pro"/>
                <a:cs typeface="FS PF BeauSans Pro"/>
              </a:rPr>
              <a:t>silence added = max(0, T − T_existing)</a:t>
            </a:r>
          </a:p>
        </p:txBody>
      </p:sp>
      <p:graphicFrame>
        <p:nvGraphicFramePr>
          <p:cNvPr id="4" name="Why table"/>
          <p:cNvGraphicFramePr>
            <a:graphicFrameLocks noGrp="1"/>
          </p:cNvGraphicFramePr>
          <p:nvPr/>
        </p:nvGraphicFramePr>
        <p:xfrm>
          <a:off x="548640" y="1883664"/>
          <a:ext cx="11091672" cy="1664208"/>
        </p:xfrm>
        <a:graphic>
          <a:graphicData uri="http://schemas.openxmlformats.org/drawingml/2006/table">
            <a:tbl>
              <a:tblPr firstRow="1"/>
              <a:tblGrid>
                <a:gridCol w="1691640"/>
                <a:gridCol w="2514600"/>
                <a:gridCol w="5715000"/>
                <a:gridCol w="1170432"/>
              </a:tblGrid>
              <a:tr h="292608">
                <a:tc>
                  <a:txBody>
                    <a:bodyPr/>
                    <a:lstStyle/>
                    <a:p>
                      <a:pPr algn="l">
                        <a:lnSpc>
                          <a:spcPct val="95000"/>
                        </a:lnSpc>
                      </a:pPr>
                      <a:r>
                        <a:rPr lang="en-US" sz="1100" b="1" dirty="0">
                          <a:solidFill>
                            <a:srgbClr val="262626"/>
                          </a:solidFill>
                          <a:latin typeface="FS PF BeauSans Pro"/>
                          <a:ea typeface="FS PF BeauSans Pro"/>
                          <a:cs typeface="FS PF BeauSans Pro"/>
                        </a:rPr>
                        <a:t>Choice</a:t>
                      </a:r>
                    </a:p>
                  </a:txBody>
                  <a:tcPr marL="68580" marR="68580" marT="36576" marB="36576" anchor="ctr">
                    <a:lnL w="0">
                      <a:noFill/>
                    </a:lnL>
                    <a:lnR w="0">
                      <a:noFill/>
                    </a:lnR>
                    <a:lnT w="19050">
                      <a:solidFill>
                        <a:srgbClr val="262626"/>
                      </a:solidFill>
                    </a:lnT>
                    <a:lnB w="9525">
                      <a:solidFill>
                        <a:srgbClr val="262626"/>
                      </a:solidFill>
                    </a:lnB>
                    <a:noFill/>
                  </a:tcPr>
                </a:tc>
                <a:tc>
                  <a:txBody>
                    <a:bodyPr/>
                    <a:lstStyle/>
                    <a:p>
                      <a:pPr algn="l">
                        <a:lnSpc>
                          <a:spcPct val="95000"/>
                        </a:lnSpc>
                      </a:pPr>
                      <a:r>
                        <a:rPr lang="en-US" sz="1100" b="1" dirty="0">
                          <a:solidFill>
                            <a:srgbClr val="262626"/>
                          </a:solidFill>
                          <a:latin typeface="FS PF BeauSans Pro"/>
                          <a:ea typeface="FS PF BeauSans Pro"/>
                          <a:cs typeface="FS PF BeauSans Pro"/>
                        </a:rPr>
                        <a:t>Value</a:t>
                      </a:r>
                    </a:p>
                  </a:txBody>
                  <a:tcPr marL="68580" marR="68580" marT="36576" marB="36576" anchor="ctr">
                    <a:lnL w="0">
                      <a:noFill/>
                    </a:lnL>
                    <a:lnR w="0">
                      <a:noFill/>
                    </a:lnR>
                    <a:lnT w="19050">
                      <a:solidFill>
                        <a:srgbClr val="262626"/>
                      </a:solidFill>
                    </a:lnT>
                    <a:lnB w="9525">
                      <a:solidFill>
                        <a:srgbClr val="262626"/>
                      </a:solidFill>
                    </a:lnB>
                    <a:noFill/>
                  </a:tcPr>
                </a:tc>
                <a:tc>
                  <a:txBody>
                    <a:bodyPr/>
                    <a:lstStyle/>
                    <a:p>
                      <a:pPr algn="l">
                        <a:lnSpc>
                          <a:spcPct val="95000"/>
                        </a:lnSpc>
                      </a:pPr>
                      <a:r>
                        <a:rPr lang="en-US" sz="1100" b="1" dirty="0">
                          <a:solidFill>
                            <a:srgbClr val="262626"/>
                          </a:solidFill>
                          <a:latin typeface="FS PF BeauSans Pro"/>
                          <a:ea typeface="FS PF BeauSans Pro"/>
                          <a:cs typeface="FS PF BeauSans Pro"/>
                        </a:rPr>
                        <a:t>Why</a:t>
                      </a:r>
                    </a:p>
                  </a:txBody>
                  <a:tcPr marL="68580" marR="68580" marT="36576" marB="36576" anchor="ctr">
                    <a:lnL w="0">
                      <a:noFill/>
                    </a:lnL>
                    <a:lnR w="0">
                      <a:noFill/>
                    </a:lnR>
                    <a:lnT w="19050">
                      <a:solidFill>
                        <a:srgbClr val="262626"/>
                      </a:solidFill>
                    </a:lnT>
                    <a:lnB w="9525">
                      <a:solidFill>
                        <a:srgbClr val="262626"/>
                      </a:solidFill>
                    </a:lnB>
                    <a:noFill/>
                  </a:tcPr>
                </a:tc>
                <a:tc>
                  <a:txBody>
                    <a:bodyPr/>
                    <a:lstStyle/>
                    <a:p>
                      <a:pPr algn="l">
                        <a:lnSpc>
                          <a:spcPct val="95000"/>
                        </a:lnSpc>
                      </a:pPr>
                      <a:r>
                        <a:rPr lang="en-US" sz="1100" b="1" dirty="0">
                          <a:solidFill>
                            <a:srgbClr val="262626"/>
                          </a:solidFill>
                          <a:latin typeface="FS PF BeauSans Pro"/>
                          <a:ea typeface="FS PF BeauSans Pro"/>
                          <a:cs typeface="FS PF BeauSans Pro"/>
                        </a:rPr>
                        <a:t>Basis</a:t>
                      </a:r>
                    </a:p>
                  </a:txBody>
                  <a:tcPr marL="68580" marR="68580" marT="36576" marB="36576" anchor="ctr">
                    <a:lnL w="0">
                      <a:noFill/>
                    </a:lnL>
                    <a:lnR w="0">
                      <a:noFill/>
                    </a:lnR>
                    <a:lnT w="19050">
                      <a:solidFill>
                        <a:srgbClr val="262626"/>
                      </a:solidFill>
                    </a:lnT>
                    <a:lnB w="9525">
                      <a:solidFill>
                        <a:srgbClr val="262626"/>
                      </a:solidFill>
                    </a:lnB>
                    <a:noFill/>
                  </a:tcPr>
                </a:tc>
              </a:tr>
              <a:tr h="274320">
                <a:tc>
                  <a:txBody>
                    <a:bodyPr/>
                    <a:lstStyle/>
                    <a:p>
                      <a:pPr algn="l">
                        <a:lnSpc>
                          <a:spcPct val="95000"/>
                        </a:lnSpc>
                      </a:pPr>
                      <a:r>
                        <a:rPr lang="en-US" sz="1100" b="1" dirty="0">
                          <a:solidFill>
                            <a:srgbClr val="262626"/>
                          </a:solidFill>
                          <a:latin typeface="FS PF BeauSans Pro"/>
                          <a:ea typeface="FS PF BeauSans Pro"/>
                          <a:cs typeface="FS PF BeauSans Pro"/>
                        </a:rPr>
                        <a:t>Base Tp</a:t>
                      </a:r>
                    </a:p>
                  </a:txBody>
                  <a:tcPr marL="68580" marR="68580" marT="36576" marB="36576" anchor="ctr">
                    <a:lnL w="0">
                      <a:noFill/>
                    </a:lnL>
                    <a:lnR w="0">
                      <a:noFill/>
                    </a:lnR>
                    <a:lnT w="9525">
                      <a:solidFill>
                        <a:srgbClr val="262626"/>
                      </a:solidFill>
                    </a:lnT>
                    <a:lnB w="6350">
                      <a:solidFill>
                        <a:srgbClr val="D9D9D9"/>
                      </a:solidFill>
                    </a:lnB>
                    <a:noFill/>
                  </a:tcPr>
                </a:tc>
                <a:tc>
                  <a:txBody>
                    <a:bodyPr/>
                    <a:lstStyle/>
                    <a:p>
                      <a:pPr algn="l">
                        <a:lnSpc>
                          <a:spcPct val="95000"/>
                        </a:lnSpc>
                      </a:pPr>
                      <a:r>
                        <a:rPr lang="en-US" sz="1100" b="1" dirty="0">
                          <a:solidFill>
                            <a:srgbClr val="EE0033"/>
                          </a:solidFill>
                          <a:latin typeface="FS PF BeauSans Pro"/>
                          <a:ea typeface="FS PF BeauSans Pro"/>
                          <a:cs typeface="FS PF BeauSans Pro"/>
                        </a:rPr>
                        <a:t>speaker's median pause</a:t>
                      </a:r>
                    </a:p>
                  </a:txBody>
                  <a:tcPr marL="68580" marR="68580" marT="36576" marB="36576" anchor="ctr">
                    <a:lnL w="0">
                      <a:noFill/>
                    </a:lnL>
                    <a:lnR w="0">
                      <a:noFill/>
                    </a:lnR>
                    <a:lnT w="9525">
                      <a:solidFill>
                        <a:srgbClr val="262626"/>
                      </a:solidFill>
                    </a:lnT>
                    <a:lnB w="6350">
                      <a:solidFill>
                        <a:srgbClr val="D9D9D9"/>
                      </a:solidFill>
                    </a:lnB>
                    <a:noFill/>
                  </a:tcPr>
                </a:tc>
                <a:tc>
                  <a:txBody>
                    <a:bodyPr/>
                    <a:lstStyle/>
                    <a:p>
                      <a:pPr algn="l">
                        <a:lnSpc>
                          <a:spcPct val="95000"/>
                        </a:lnSpc>
                      </a:pPr>
                      <a:r>
                        <a:rPr lang="en-US" sz="1100" dirty="0">
                          <a:solidFill>
                            <a:srgbClr val="262626"/>
                          </a:solidFill>
                          <a:latin typeface="FS PF BeauSans Pro"/>
                          <a:ea typeface="FS PF BeauSans Pro"/>
                          <a:cs typeface="FS PF BeauSans Pro"/>
                        </a:rPr>
                        <a:t>Speakers' median pauses span 40–400 ms (median ≈ 130 ms), so no fixed gap fits; the original fixed 10 ms pad was shorter than any real pause and sounded pasted in</a:t>
                      </a:r>
                    </a:p>
                  </a:txBody>
                  <a:tcPr marL="68580" marR="68580" marT="36576" marB="36576" anchor="ctr">
                    <a:lnL w="0">
                      <a:noFill/>
                    </a:lnL>
                    <a:lnR w="0">
                      <a:noFill/>
                    </a:lnR>
                    <a:lnT w="9525">
                      <a:solidFill>
                        <a:srgbClr val="262626"/>
                      </a:solidFill>
                    </a:lnT>
                    <a:lnB w="6350">
                      <a:solidFill>
                        <a:srgbClr val="D9D9D9"/>
                      </a:solidFill>
                    </a:lnB>
                    <a:noFill/>
                  </a:tcPr>
                </a:tc>
                <a:tc>
                  <a:txBody>
                    <a:bodyPr/>
                    <a:lstStyle/>
                    <a:p>
                      <a:pPr algn="l">
                        <a:lnSpc>
                          <a:spcPct val="95000"/>
                        </a:lnSpc>
                      </a:pPr>
                      <a:r>
                        <a:rPr lang="en-US" sz="950" dirty="0">
                          <a:solidFill>
                            <a:srgbClr val="595959"/>
                          </a:solidFill>
                          <a:latin typeface="FS PF BeauSans Pro"/>
                          <a:ea typeface="FS PF BeauSans Pro"/>
                          <a:cs typeface="FS PF BeauSans Pro"/>
                        </a:rPr>
                        <a:t>pilot</a:t>
                      </a:r>
                    </a:p>
                  </a:txBody>
                  <a:tcPr marL="68580" marR="68580" marT="36576" marB="36576" anchor="ctr">
                    <a:lnL w="0">
                      <a:noFill/>
                    </a:lnL>
                    <a:lnR w="0">
                      <a:noFill/>
                    </a:lnR>
                    <a:lnT w="9525">
                      <a:solidFill>
                        <a:srgbClr val="262626"/>
                      </a:solidFill>
                    </a:lnT>
                    <a:lnB w="6350">
                      <a:solidFill>
                        <a:srgbClr val="D9D9D9"/>
                      </a:solidFill>
                    </a:lnB>
                    <a:noFill/>
                  </a:tcPr>
                </a:tc>
              </a:tr>
              <a:tr h="274320">
                <a:tc>
                  <a:txBody>
                    <a:bodyPr/>
                    <a:lstStyle/>
                    <a:p>
                      <a:pPr algn="l">
                        <a:lnSpc>
                          <a:spcPct val="95000"/>
                        </a:lnSpc>
                      </a:pPr>
                      <a:r>
                        <a:rPr lang="en-US" sz="1100" b="1" dirty="0">
                          <a:solidFill>
                            <a:srgbClr val="262626"/>
                          </a:solidFill>
                          <a:latin typeface="FS PF BeauSans Pro"/>
                          <a:ea typeface="FS PF BeauSans Pro"/>
                          <a:cs typeface="FS PF BeauSans Pro"/>
                        </a:rPr>
                        <a:t>Clamp on Tp</a:t>
                      </a:r>
                    </a:p>
                  </a:txBody>
                  <a:tcPr marL="68580" marR="68580" marT="36576" marB="36576" anchor="ctr">
                    <a:lnL w="0">
                      <a:noFill/>
                    </a:lnL>
                    <a:lnR w="0">
                      <a:noFill/>
                    </a:lnR>
                    <a:lnT w="6350">
                      <a:solidFill>
                        <a:srgbClr val="D9D9D9"/>
                      </a:solidFill>
                    </a:lnT>
                    <a:lnB w="6350">
                      <a:solidFill>
                        <a:srgbClr val="D9D9D9"/>
                      </a:solidFill>
                    </a:lnB>
                    <a:noFill/>
                  </a:tcPr>
                </a:tc>
                <a:tc>
                  <a:txBody>
                    <a:bodyPr/>
                    <a:lstStyle/>
                    <a:p>
                      <a:pPr algn="l">
                        <a:lnSpc>
                          <a:spcPct val="95000"/>
                        </a:lnSpc>
                      </a:pPr>
                      <a:r>
                        <a:rPr lang="en-US" sz="1100" b="1" dirty="0">
                          <a:solidFill>
                            <a:srgbClr val="EE0033"/>
                          </a:solidFill>
                          <a:latin typeface="FS PF BeauSans Pro"/>
                          <a:ea typeface="FS PF BeauSans Pro"/>
                          <a:cs typeface="FS PF BeauSans Pro"/>
                        </a:rPr>
                        <a:t>0.04–0.40 s</a:t>
                      </a:r>
                    </a:p>
                  </a:txBody>
                  <a:tcPr marL="68580" marR="68580" marT="36576" marB="36576" anchor="ctr">
                    <a:lnL w="0">
                      <a:noFill/>
                    </a:lnL>
                    <a:lnR w="0">
                      <a:noFill/>
                    </a:lnR>
                    <a:lnT w="6350">
                      <a:solidFill>
                        <a:srgbClr val="D9D9D9"/>
                      </a:solidFill>
                    </a:lnT>
                    <a:lnB w="6350">
                      <a:solidFill>
                        <a:srgbClr val="D9D9D9"/>
                      </a:solidFill>
                    </a:lnB>
                    <a:noFill/>
                  </a:tcPr>
                </a:tc>
                <a:tc>
                  <a:txBody>
                    <a:bodyPr/>
                    <a:lstStyle/>
                    <a:p>
                      <a:pPr algn="l">
                        <a:lnSpc>
                          <a:spcPct val="95000"/>
                        </a:lnSpc>
                      </a:pPr>
                      <a:r>
                        <a:rPr lang="en-US" sz="1100" dirty="0">
                          <a:solidFill>
                            <a:srgbClr val="262626"/>
                          </a:solidFill>
                          <a:latin typeface="FS PF BeauSans Pro"/>
                          <a:ea typeface="FS PF BeauSans Pro"/>
                          <a:cs typeface="FS PF BeauSans Pro"/>
                        </a:rPr>
                        <a:t>The measured speaker range: a take with no detectable pause cannot shrink the gap to 0, and one long dramatic silence cannot stretch every gap</a:t>
                      </a:r>
                    </a:p>
                  </a:txBody>
                  <a:tcPr marL="68580" marR="68580" marT="36576" marB="36576" anchor="ctr">
                    <a:lnL w="0">
                      <a:noFill/>
                    </a:lnL>
                    <a:lnR w="0">
                      <a:noFill/>
                    </a:lnR>
                    <a:lnT w="6350">
                      <a:solidFill>
                        <a:srgbClr val="D9D9D9"/>
                      </a:solidFill>
                    </a:lnT>
                    <a:lnB w="6350">
                      <a:solidFill>
                        <a:srgbClr val="D9D9D9"/>
                      </a:solidFill>
                    </a:lnB>
                    <a:noFill/>
                  </a:tcPr>
                </a:tc>
                <a:tc>
                  <a:txBody>
                    <a:bodyPr/>
                    <a:lstStyle/>
                    <a:p>
                      <a:pPr algn="l">
                        <a:lnSpc>
                          <a:spcPct val="95000"/>
                        </a:lnSpc>
                      </a:pPr>
                      <a:r>
                        <a:rPr lang="en-US" sz="950" dirty="0">
                          <a:solidFill>
                            <a:srgbClr val="595959"/>
                          </a:solidFill>
                          <a:latin typeface="FS PF BeauSans Pro"/>
                          <a:ea typeface="FS PF BeauSans Pro"/>
                          <a:cs typeface="FS PF BeauSans Pro"/>
                        </a:rPr>
                        <a:t>pilot</a:t>
                      </a:r>
                    </a:p>
                  </a:txBody>
                  <a:tcPr marL="68580" marR="68580" marT="36576" marB="36576" anchor="ctr">
                    <a:lnL w="0">
                      <a:noFill/>
                    </a:lnL>
                    <a:lnR w="0">
                      <a:noFill/>
                    </a:lnR>
                    <a:lnT w="6350">
                      <a:solidFill>
                        <a:srgbClr val="D9D9D9"/>
                      </a:solidFill>
                    </a:lnT>
                    <a:lnB w="6350">
                      <a:solidFill>
                        <a:srgbClr val="D9D9D9"/>
                      </a:solidFill>
                    </a:lnB>
                    <a:noFill/>
                  </a:tcPr>
                </a:tc>
              </a:tr>
              <a:tr h="274320">
                <a:tc>
                  <a:txBody>
                    <a:bodyPr/>
                    <a:lstStyle/>
                    <a:p>
                      <a:pPr algn="l">
                        <a:lnSpc>
                          <a:spcPct val="95000"/>
                        </a:lnSpc>
                      </a:pPr>
                      <a:r>
                        <a:rPr lang="en-US" sz="1100" b="1" dirty="0">
                          <a:solidFill>
                            <a:srgbClr val="262626"/>
                          </a:solidFill>
                          <a:latin typeface="FS PF BeauSans Pro"/>
                          <a:ea typeface="FS PF BeauSans Pro"/>
                          <a:cs typeface="FS PF BeauSans Pro"/>
                        </a:rPr>
                        <a:t>Global scale s_g</a:t>
                      </a:r>
                    </a:p>
                  </a:txBody>
                  <a:tcPr marL="68580" marR="68580" marT="36576" marB="36576" anchor="ctr">
                    <a:lnL w="0">
                      <a:noFill/>
                    </a:lnL>
                    <a:lnR w="0">
                      <a:noFill/>
                    </a:lnR>
                    <a:lnT w="6350">
                      <a:solidFill>
                        <a:srgbClr val="D9D9D9"/>
                      </a:solidFill>
                    </a:lnT>
                    <a:lnB w="6350">
                      <a:solidFill>
                        <a:srgbClr val="D9D9D9"/>
                      </a:solidFill>
                    </a:lnB>
                    <a:noFill/>
                  </a:tcPr>
                </a:tc>
                <a:tc>
                  <a:txBody>
                    <a:bodyPr/>
                    <a:lstStyle/>
                    <a:p>
                      <a:pPr algn="l">
                        <a:lnSpc>
                          <a:spcPct val="95000"/>
                        </a:lnSpc>
                      </a:pPr>
                      <a:r>
                        <a:rPr lang="en-US" sz="1100" b="1" dirty="0">
                          <a:solidFill>
                            <a:srgbClr val="EE0033"/>
                          </a:solidFill>
                          <a:latin typeface="FS PF BeauSans Pro"/>
                          <a:ea typeface="FS PF BeauSans Pro"/>
                          <a:cs typeface="FS PF BeauSans Pro"/>
                        </a:rPr>
                        <a:t>1.0</a:t>
                      </a:r>
                    </a:p>
                  </a:txBody>
                  <a:tcPr marL="68580" marR="68580" marT="36576" marB="36576" anchor="ctr">
                    <a:lnL w="0">
                      <a:noFill/>
                    </a:lnL>
                    <a:lnR w="0">
                      <a:noFill/>
                    </a:lnR>
                    <a:lnT w="6350">
                      <a:solidFill>
                        <a:srgbClr val="D9D9D9"/>
                      </a:solidFill>
                    </a:lnT>
                    <a:lnB w="6350">
                      <a:solidFill>
                        <a:srgbClr val="D9D9D9"/>
                      </a:solidFill>
                    </a:lnB>
                    <a:noFill/>
                  </a:tcPr>
                </a:tc>
                <a:tc>
                  <a:txBody>
                    <a:bodyPr/>
                    <a:lstStyle/>
                    <a:p>
                      <a:pPr algn="l">
                        <a:lnSpc>
                          <a:spcPct val="95000"/>
                        </a:lnSpc>
                      </a:pPr>
                      <a:r>
                        <a:rPr lang="en-US" sz="1100" dirty="0">
                          <a:solidFill>
                            <a:srgbClr val="262626"/>
                          </a:solidFill>
                          <a:latin typeface="FS PF BeauSans Pro"/>
                          <a:ea typeface="FS PF BeauSans Pro"/>
                          <a:cs typeface="FS PF BeauSans Pro"/>
                        </a:rPr>
                        <a:t>Keeps exactly the speaker's own rhythm: the event gets the pause this speaker would leave, no longer and no shorter</a:t>
                      </a:r>
                    </a:p>
                  </a:txBody>
                  <a:tcPr marL="68580" marR="68580" marT="36576" marB="36576" anchor="ctr">
                    <a:lnL w="0">
                      <a:noFill/>
                    </a:lnL>
                    <a:lnR w="0">
                      <a:noFill/>
                    </a:lnR>
                    <a:lnT w="6350">
                      <a:solidFill>
                        <a:srgbClr val="D9D9D9"/>
                      </a:solidFill>
                    </a:lnT>
                    <a:lnB w="6350">
                      <a:solidFill>
                        <a:srgbClr val="D9D9D9"/>
                      </a:solidFill>
                    </a:lnB>
                    <a:noFill/>
                  </a:tcPr>
                </a:tc>
                <a:tc>
                  <a:txBody>
                    <a:bodyPr/>
                    <a:lstStyle/>
                    <a:p>
                      <a:pPr algn="l">
                        <a:lnSpc>
                          <a:spcPct val="95000"/>
                        </a:lnSpc>
                      </a:pPr>
                      <a:r>
                        <a:rPr lang="en-US" sz="950" dirty="0">
                          <a:solidFill>
                            <a:srgbClr val="595959"/>
                          </a:solidFill>
                          <a:latin typeface="FS PF BeauSans Pro"/>
                          <a:ea typeface="FS PF BeauSans Pro"/>
                          <a:cs typeface="FS PF BeauSans Pro"/>
                        </a:rPr>
                        <a:t>design</a:t>
                      </a:r>
                    </a:p>
                  </a:txBody>
                  <a:tcPr marL="68580" marR="68580" marT="36576" marB="36576" anchor="ctr">
                    <a:lnL w="0">
                      <a:noFill/>
                    </a:lnL>
                    <a:lnR w="0">
                      <a:noFill/>
                    </a:lnR>
                    <a:lnT w="6350">
                      <a:solidFill>
                        <a:srgbClr val="D9D9D9"/>
                      </a:solidFill>
                    </a:lnT>
                    <a:lnB w="6350">
                      <a:solidFill>
                        <a:srgbClr val="D9D9D9"/>
                      </a:solidFill>
                    </a:lnB>
                    <a:noFill/>
                  </a:tcPr>
                </a:tc>
              </a:tr>
              <a:tr h="274320">
                <a:tc>
                  <a:txBody>
                    <a:bodyPr/>
                    <a:lstStyle/>
                    <a:p>
                      <a:pPr algn="l">
                        <a:lnSpc>
                          <a:spcPct val="95000"/>
                        </a:lnSpc>
                      </a:pPr>
                      <a:r>
                        <a:rPr lang="en-US" sz="1100" b="1" dirty="0">
                          <a:solidFill>
                            <a:srgbClr val="262626"/>
                          </a:solidFill>
                          <a:latin typeface="FS PF BeauSans Pro"/>
                          <a:ea typeface="FS PF BeauSans Pro"/>
                          <a:cs typeface="FS PF BeauSans Pro"/>
                        </a:rPr>
                        <a:t>Budget, not addition</a:t>
                      </a:r>
                    </a:p>
                  </a:txBody>
                  <a:tcPr marL="68580" marR="68580" marT="36576" marB="36576" anchor="ctr">
                    <a:lnL w="0">
                      <a:noFill/>
                    </a:lnL>
                    <a:lnR w="0">
                      <a:noFill/>
                    </a:lnR>
                    <a:lnT w="6350">
                      <a:solidFill>
                        <a:srgbClr val="D9D9D9"/>
                      </a:solidFill>
                    </a:lnT>
                    <a:lnB w="6350">
                      <a:solidFill>
                        <a:srgbClr val="D9D9D9"/>
                      </a:solidFill>
                    </a:lnB>
                    <a:noFill/>
                  </a:tcPr>
                </a:tc>
                <a:tc>
                  <a:txBody>
                    <a:bodyPr/>
                    <a:lstStyle/>
                    <a:p>
                      <a:pPr algn="l">
                        <a:lnSpc>
                          <a:spcPct val="95000"/>
                        </a:lnSpc>
                      </a:pPr>
                      <a:r>
                        <a:rPr lang="en-US" sz="1100" b="1" dirty="0">
                          <a:solidFill>
                            <a:srgbClr val="EE0033"/>
                          </a:solidFill>
                          <a:latin typeface="FS PF BeauSans Pro"/>
                          <a:ea typeface="FS PF BeauSans Pro"/>
                          <a:cs typeface="FS PF BeauSans Pro"/>
                        </a:rPr>
                        <a:t>add max(0, T − T_existing)</a:t>
                      </a:r>
                    </a:p>
                  </a:txBody>
                  <a:tcPr marL="68580" marR="68580" marT="36576" marB="36576" anchor="ctr">
                    <a:lnL w="0">
                      <a:noFill/>
                    </a:lnL>
                    <a:lnR w="0">
                      <a:noFill/>
                    </a:lnR>
                    <a:lnT w="6350">
                      <a:solidFill>
                        <a:srgbClr val="D9D9D9"/>
                      </a:solidFill>
                    </a:lnT>
                    <a:lnB w="6350">
                      <a:solidFill>
                        <a:srgbClr val="D9D9D9"/>
                      </a:solidFill>
                    </a:lnB>
                    <a:noFill/>
                  </a:tcPr>
                </a:tc>
                <a:tc>
                  <a:txBody>
                    <a:bodyPr/>
                    <a:lstStyle/>
                    <a:p>
                      <a:pPr algn="l">
                        <a:lnSpc>
                          <a:spcPct val="95000"/>
                        </a:lnSpc>
                      </a:pPr>
                      <a:r>
                        <a:rPr lang="en-US" sz="1100" dirty="0">
                          <a:solidFill>
                            <a:srgbClr val="262626"/>
                          </a:solidFill>
                          <a:latin typeface="FS PF BeauSans Pro"/>
                          <a:ea typeface="FS PF BeauSans Pro"/>
                          <a:cs typeface="FS PF BeauSans Pro"/>
                        </a:rPr>
                        <a:t>Never shortens the speaker's own silence; adding the full gap left up to ~0.9 s of dead air (600 ms pause: 1,389 → 857 ms of total silence)</a:t>
                      </a:r>
                    </a:p>
                  </a:txBody>
                  <a:tcPr marL="68580" marR="68580" marT="36576" marB="36576" anchor="ctr">
                    <a:lnL w="0">
                      <a:noFill/>
                    </a:lnL>
                    <a:lnR w="0">
                      <a:noFill/>
                    </a:lnR>
                    <a:lnT w="6350">
                      <a:solidFill>
                        <a:srgbClr val="D9D9D9"/>
                      </a:solidFill>
                    </a:lnT>
                    <a:lnB w="6350">
                      <a:solidFill>
                        <a:srgbClr val="D9D9D9"/>
                      </a:solidFill>
                    </a:lnB>
                    <a:noFill/>
                  </a:tcPr>
                </a:tc>
                <a:tc>
                  <a:txBody>
                    <a:bodyPr/>
                    <a:lstStyle/>
                    <a:p>
                      <a:pPr algn="l">
                        <a:lnSpc>
                          <a:spcPct val="95000"/>
                        </a:lnSpc>
                      </a:pPr>
                      <a:r>
                        <a:rPr lang="en-US" sz="950" dirty="0">
                          <a:solidFill>
                            <a:srgbClr val="595959"/>
                          </a:solidFill>
                          <a:latin typeface="FS PF BeauSans Pro"/>
                          <a:ea typeface="FS PF BeauSans Pro"/>
                          <a:cs typeface="FS PF BeauSans Pro"/>
                        </a:rPr>
                        <a:t>test take</a:t>
                      </a:r>
                    </a:p>
                  </a:txBody>
                  <a:tcPr marL="68580" marR="68580" marT="36576" marB="36576" anchor="ctr">
                    <a:lnL w="0">
                      <a:noFill/>
                    </a:lnL>
                    <a:lnR w="0">
                      <a:noFill/>
                    </a:lnR>
                    <a:lnT w="6350">
                      <a:solidFill>
                        <a:srgbClr val="D9D9D9"/>
                      </a:solidFill>
                    </a:lnT>
                    <a:lnB w="6350">
                      <a:solidFill>
                        <a:srgbClr val="D9D9D9"/>
                      </a:solidFill>
                    </a:lnB>
                    <a:noFill/>
                  </a:tcPr>
                </a:tc>
              </a:tr>
              <a:tr h="274320">
                <a:tc>
                  <a:txBody>
                    <a:bodyPr/>
                    <a:lstStyle/>
                    <a:p>
                      <a:pPr algn="l">
                        <a:lnSpc>
                          <a:spcPct val="95000"/>
                        </a:lnSpc>
                      </a:pPr>
                      <a:r>
                        <a:rPr lang="en-US" sz="1100" b="1" dirty="0">
                          <a:solidFill>
                            <a:srgbClr val="262626"/>
                          </a:solidFill>
                          <a:latin typeface="FS PF BeauSans Pro"/>
                          <a:ea typeface="FS PF BeauSans Pro"/>
                          <a:cs typeface="FS PF BeauSans Pro"/>
                        </a:rPr>
                        <a:t>Existing silence</a:t>
                      </a:r>
                    </a:p>
                  </a:txBody>
                  <a:tcPr marL="68580" marR="68580" marT="36576" marB="36576" anchor="ctr">
                    <a:lnL w="0">
                      <a:noFill/>
                    </a:lnL>
                    <a:lnR w="0">
                      <a:noFill/>
                    </a:lnR>
                    <a:lnT w="6350">
                      <a:solidFill>
                        <a:srgbClr val="D9D9D9"/>
                      </a:solidFill>
                    </a:lnT>
                    <a:lnB w="19050">
                      <a:solidFill>
                        <a:srgbClr val="262626"/>
                      </a:solidFill>
                    </a:lnB>
                    <a:noFill/>
                  </a:tcPr>
                </a:tc>
                <a:tc>
                  <a:txBody>
                    <a:bodyPr/>
                    <a:lstStyle/>
                    <a:p>
                      <a:pPr algn="l">
                        <a:lnSpc>
                          <a:spcPct val="95000"/>
                        </a:lnSpc>
                      </a:pPr>
                      <a:r>
                        <a:rPr lang="en-US" sz="1100" b="1" dirty="0">
                          <a:solidFill>
                            <a:srgbClr val="EE0033"/>
                          </a:solidFill>
                          <a:latin typeface="FS PF BeauSans Pro"/>
                          <a:ea typeface="FS PF BeauSans Pro"/>
                          <a:cs typeface="FS PF BeauSans Pro"/>
                        </a:rPr>
                        <a:t>0.30–0.53 s per side</a:t>
                      </a:r>
                    </a:p>
                  </a:txBody>
                  <a:tcPr marL="68580" marR="68580" marT="36576" marB="36576" anchor="ctr">
                    <a:lnL w="0">
                      <a:noFill/>
                    </a:lnL>
                    <a:lnR w="0">
                      <a:noFill/>
                    </a:lnR>
                    <a:lnT w="6350">
                      <a:solidFill>
                        <a:srgbClr val="D9D9D9"/>
                      </a:solidFill>
                    </a:lnT>
                    <a:lnB w="19050">
                      <a:solidFill>
                        <a:srgbClr val="262626"/>
                      </a:solidFill>
                    </a:lnB>
                    <a:noFill/>
                  </a:tcPr>
                </a:tc>
                <a:tc>
                  <a:txBody>
                    <a:bodyPr/>
                    <a:lstStyle/>
                    <a:p>
                      <a:pPr algn="l">
                        <a:lnSpc>
                          <a:spcPct val="95000"/>
                        </a:lnSpc>
                      </a:pPr>
                      <a:r>
                        <a:rPr lang="en-US" sz="1100" dirty="0">
                          <a:solidFill>
                            <a:srgbClr val="262626"/>
                          </a:solidFill>
                          <a:latin typeface="FS PF BeauSans Pro"/>
                          <a:ea typeface="FS PF BeauSans Pro"/>
                          <a:cs typeface="FS PF BeauSans Pro"/>
                        </a:rPr>
                        <a:t>A slot cut sits in the middle of a real pause, so each side already carries silence; the budget mostly keeps the speaker's own pause rather than adding new</a:t>
                      </a:r>
                    </a:p>
                  </a:txBody>
                  <a:tcPr marL="68580" marR="68580" marT="36576" marB="36576" anchor="ctr">
                    <a:lnL w="0">
                      <a:noFill/>
                    </a:lnL>
                    <a:lnR w="0">
                      <a:noFill/>
                    </a:lnR>
                    <a:lnT w="6350">
                      <a:solidFill>
                        <a:srgbClr val="D9D9D9"/>
                      </a:solidFill>
                    </a:lnT>
                    <a:lnB w="19050">
                      <a:solidFill>
                        <a:srgbClr val="262626"/>
                      </a:solidFill>
                    </a:lnB>
                    <a:noFill/>
                  </a:tcPr>
                </a:tc>
                <a:tc>
                  <a:txBody>
                    <a:bodyPr/>
                    <a:lstStyle/>
                    <a:p>
                      <a:pPr algn="l">
                        <a:lnSpc>
                          <a:spcPct val="95000"/>
                        </a:lnSpc>
                      </a:pPr>
                      <a:r>
                        <a:rPr lang="en-US" sz="950" dirty="0">
                          <a:solidFill>
                            <a:srgbClr val="595959"/>
                          </a:solidFill>
                          <a:latin typeface="FS PF BeauSans Pro"/>
                          <a:ea typeface="FS PF BeauSans Pro"/>
                          <a:cs typeface="FS PF BeauSans Pro"/>
                        </a:rPr>
                        <a:t>pilot</a:t>
                      </a:r>
                    </a:p>
                  </a:txBody>
                  <a:tcPr marL="68580" marR="68580" marT="36576" marB="36576" anchor="ctr">
                    <a:lnL w="0">
                      <a:noFill/>
                    </a:lnL>
                    <a:lnR w="0">
                      <a:noFill/>
                    </a:lnR>
                    <a:lnT w="6350">
                      <a:solidFill>
                        <a:srgbClr val="D9D9D9"/>
                      </a:solidFill>
                    </a:lnT>
                    <a:lnB w="19050">
                      <a:solidFill>
                        <a:srgbClr val="262626"/>
                      </a:solidFill>
                    </a:lnB>
                    <a:noFill/>
                  </a:tcPr>
                </a:tc>
              </a:tr>
            </a:tbl>
          </a:graphicData>
        </a:graphic>
      </p:graphicFrame>
      <p:sp>
        <p:nvSpPr>
          <p:cNvPr id="5" name="Footnote citations"/>
          <p:cNvSpPr txBox="1"/>
          <p:nvPr/>
        </p:nvSpPr>
        <p:spPr>
          <a:xfrm>
            <a:off x="411480" y="5852160"/>
            <a:ext cx="8778240" cy="960120"/>
          </a:xfrm>
          <a:prstGeom prst="rect">
            <a:avLst/>
          </a:prstGeom>
          <a:noFill/>
          <a:ln>
            <a:noFill/>
          </a:ln>
        </p:spPr>
        <p:txBody>
          <a:bodyPr wrap="square" lIns="45720" tIns="45720" rIns="45720" bIns="45720" anchor="b">
            <a:noAutofit/>
          </a:bodyPr>
          <a:lstStyle/>
          <a:p>
            <a:pPr>
              <a:buNone/>
            </a:pPr>
            <a:r>
              <a:rPr lang="en-US" sz="900" dirty="0">
                <a:solidFill>
                  <a:srgbClr val="595959"/>
                </a:solidFill>
                <a:latin typeface="FS PF BeauSans Pro"/>
                <a:ea typeface="FS PF BeauSans Pro"/>
                <a:cs typeface="FS PF BeauSans Pro"/>
              </a:rPr>
              <a:t>Basis: pilot = measured on our 20-utterance pilot; design = follows from how the pipeline works; test take = measured on one synthetic recording</a:t>
            </a:r>
          </a:p>
        </p:txBody>
      </p:sp>
    </p:spTree>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p:cNvSpPr txBox="1">
            <a:spLocks noGrp="1"/>
          </p:cNvSpPr>
          <p:nvPr>
            <p:ph type="ctrTitle"/>
          </p:nvPr>
        </p:nvSpPr>
        <p:spPr>
          <a:xfrm>
            <a:off x="822960" y="466344"/>
            <a:ext cx="10543032" cy="731520"/>
          </a:xfrm>
          <a:prstGeom prst="rect">
            <a:avLst/>
          </a:prstGeom>
          <a:noFill/>
          <a:ln>
            <a:noFill/>
          </a:ln>
        </p:spPr>
        <p:txBody>
          <a:bodyPr spcFirstLastPara="1" wrap="square" lIns="91425" tIns="91425" rIns="91425" bIns="91425" anchor="t" anchorCtr="0">
            <a:noAutofit/>
          </a:bodyPr>
          <a:lstStyle/>
          <a:p>
            <a:pPr algn="ctr">
              <a:buNone/>
            </a:pPr>
            <a:r>
              <a:rPr lang="en-US" dirty="0"/>
              <a:t>Why these values: Filter</a:t>
            </a:r>
          </a:p>
        </p:txBody>
      </p:sp>
      <p:sp>
        <p:nvSpPr>
          <p:cNvPr id="3" name="Slide Number Placeholder"/>
          <p:cNvSpPr>
            <a:spLocks noGrp="1"/>
          </p:cNvSpPr>
          <p:nvPr>
            <p:ph type="sldNum" idx="12"/>
          </p:nvPr>
        </p:nvSpPr>
        <p:spPr/>
        <p:txBody>
          <a:bodyPr/>
          <a:lstStyle/>
          <a:p>
            <a:pPr marL="0" lvl="0" indent="0" algn="ctr" rtl="0">
              <a:spcBef>
                <a:spcPts val="0"/>
              </a:spcBef>
              <a:spcAft>
                <a:spcPts val="0"/>
              </a:spcAft>
              <a:buNone/>
            </a:pPr>
            <a:fld id="{00000000-1234-1234-1234-123412341234}" type="slidenum">
              <a:rPr lang="en-US" smtClean="0"/>
              <a:t>42</a:t>
            </a:fld>
            <a:endParaRPr lang="en-US" dirty="0"/>
          </a:p>
        </p:txBody>
      </p:sp>
      <p:graphicFrame>
        <p:nvGraphicFramePr>
          <p:cNvPr id="4" name="Why table"/>
          <p:cNvGraphicFramePr>
            <a:graphicFrameLocks noGrp="1"/>
          </p:cNvGraphicFramePr>
          <p:nvPr/>
        </p:nvGraphicFramePr>
        <p:xfrm>
          <a:off x="548640" y="1325880"/>
          <a:ext cx="11091672" cy="2761488"/>
        </p:xfrm>
        <a:graphic>
          <a:graphicData uri="http://schemas.openxmlformats.org/drawingml/2006/table">
            <a:tbl>
              <a:tblPr firstRow="1"/>
              <a:tblGrid>
                <a:gridCol w="1691640"/>
                <a:gridCol w="2514600"/>
                <a:gridCol w="5715000"/>
                <a:gridCol w="1170432"/>
              </a:tblGrid>
              <a:tr h="292608">
                <a:tc>
                  <a:txBody>
                    <a:bodyPr/>
                    <a:lstStyle/>
                    <a:p>
                      <a:pPr algn="l">
                        <a:lnSpc>
                          <a:spcPct val="95000"/>
                        </a:lnSpc>
                      </a:pPr>
                      <a:r>
                        <a:rPr lang="en-US" sz="1100" b="1" dirty="0">
                          <a:solidFill>
                            <a:srgbClr val="262626"/>
                          </a:solidFill>
                          <a:latin typeface="FS PF BeauSans Pro"/>
                          <a:ea typeface="FS PF BeauSans Pro"/>
                          <a:cs typeface="FS PF BeauSans Pro"/>
                        </a:rPr>
                        <a:t>Choice</a:t>
                      </a:r>
                    </a:p>
                  </a:txBody>
                  <a:tcPr marL="68580" marR="68580" marT="36576" marB="36576" anchor="ctr">
                    <a:lnL w="0">
                      <a:noFill/>
                    </a:lnL>
                    <a:lnR w="0">
                      <a:noFill/>
                    </a:lnR>
                    <a:lnT w="19050">
                      <a:solidFill>
                        <a:srgbClr val="262626"/>
                      </a:solidFill>
                    </a:lnT>
                    <a:lnB w="9525">
                      <a:solidFill>
                        <a:srgbClr val="262626"/>
                      </a:solidFill>
                    </a:lnB>
                    <a:noFill/>
                  </a:tcPr>
                </a:tc>
                <a:tc>
                  <a:txBody>
                    <a:bodyPr/>
                    <a:lstStyle/>
                    <a:p>
                      <a:pPr algn="l">
                        <a:lnSpc>
                          <a:spcPct val="95000"/>
                        </a:lnSpc>
                      </a:pPr>
                      <a:r>
                        <a:rPr lang="en-US" sz="1100" b="1" dirty="0">
                          <a:solidFill>
                            <a:srgbClr val="262626"/>
                          </a:solidFill>
                          <a:latin typeface="FS PF BeauSans Pro"/>
                          <a:ea typeface="FS PF BeauSans Pro"/>
                          <a:cs typeface="FS PF BeauSans Pro"/>
                        </a:rPr>
                        <a:t>Value</a:t>
                      </a:r>
                    </a:p>
                  </a:txBody>
                  <a:tcPr marL="68580" marR="68580" marT="36576" marB="36576" anchor="ctr">
                    <a:lnL w="0">
                      <a:noFill/>
                    </a:lnL>
                    <a:lnR w="0">
                      <a:noFill/>
                    </a:lnR>
                    <a:lnT w="19050">
                      <a:solidFill>
                        <a:srgbClr val="262626"/>
                      </a:solidFill>
                    </a:lnT>
                    <a:lnB w="9525">
                      <a:solidFill>
                        <a:srgbClr val="262626"/>
                      </a:solidFill>
                    </a:lnB>
                    <a:noFill/>
                  </a:tcPr>
                </a:tc>
                <a:tc>
                  <a:txBody>
                    <a:bodyPr/>
                    <a:lstStyle/>
                    <a:p>
                      <a:pPr algn="l">
                        <a:lnSpc>
                          <a:spcPct val="95000"/>
                        </a:lnSpc>
                      </a:pPr>
                      <a:r>
                        <a:rPr lang="en-US" sz="1100" b="1" dirty="0">
                          <a:solidFill>
                            <a:srgbClr val="262626"/>
                          </a:solidFill>
                          <a:latin typeface="FS PF BeauSans Pro"/>
                          <a:ea typeface="FS PF BeauSans Pro"/>
                          <a:cs typeface="FS PF BeauSans Pro"/>
                        </a:rPr>
                        <a:t>Why</a:t>
                      </a:r>
                    </a:p>
                  </a:txBody>
                  <a:tcPr marL="68580" marR="68580" marT="36576" marB="36576" anchor="ctr">
                    <a:lnL w="0">
                      <a:noFill/>
                    </a:lnL>
                    <a:lnR w="0">
                      <a:noFill/>
                    </a:lnR>
                    <a:lnT w="19050">
                      <a:solidFill>
                        <a:srgbClr val="262626"/>
                      </a:solidFill>
                    </a:lnT>
                    <a:lnB w="9525">
                      <a:solidFill>
                        <a:srgbClr val="262626"/>
                      </a:solidFill>
                    </a:lnB>
                    <a:noFill/>
                  </a:tcPr>
                </a:tc>
                <a:tc>
                  <a:txBody>
                    <a:bodyPr/>
                    <a:lstStyle/>
                    <a:p>
                      <a:pPr algn="l">
                        <a:lnSpc>
                          <a:spcPct val="95000"/>
                        </a:lnSpc>
                      </a:pPr>
                      <a:r>
                        <a:rPr lang="en-US" sz="1100" b="1" dirty="0">
                          <a:solidFill>
                            <a:srgbClr val="262626"/>
                          </a:solidFill>
                          <a:latin typeface="FS PF BeauSans Pro"/>
                          <a:ea typeface="FS PF BeauSans Pro"/>
                          <a:cs typeface="FS PF BeauSans Pro"/>
                        </a:rPr>
                        <a:t>Basis</a:t>
                      </a:r>
                    </a:p>
                  </a:txBody>
                  <a:tcPr marL="68580" marR="68580" marT="36576" marB="36576" anchor="ctr">
                    <a:lnL w="0">
                      <a:noFill/>
                    </a:lnL>
                    <a:lnR w="0">
                      <a:noFill/>
                    </a:lnR>
                    <a:lnT w="19050">
                      <a:solidFill>
                        <a:srgbClr val="262626"/>
                      </a:solidFill>
                    </a:lnT>
                    <a:lnB w="9525">
                      <a:solidFill>
                        <a:srgbClr val="262626"/>
                      </a:solidFill>
                    </a:lnB>
                    <a:noFill/>
                  </a:tcPr>
                </a:tc>
              </a:tr>
              <a:tr h="274320">
                <a:tc>
                  <a:txBody>
                    <a:bodyPr/>
                    <a:lstStyle/>
                    <a:p>
                      <a:pPr algn="l">
                        <a:lnSpc>
                          <a:spcPct val="95000"/>
                        </a:lnSpc>
                      </a:pPr>
                      <a:r>
                        <a:rPr lang="en-US" sz="1100" b="1" dirty="0">
                          <a:solidFill>
                            <a:srgbClr val="262626"/>
                          </a:solidFill>
                          <a:latin typeface="FS PF BeauSans Pro"/>
                          <a:ea typeface="FS PF BeauSans Pro"/>
                          <a:cs typeface="FS PF BeauSans Pro"/>
                        </a:rPr>
                        <a:t>Scorer</a:t>
                      </a:r>
                    </a:p>
                  </a:txBody>
                  <a:tcPr marL="68580" marR="68580" marT="36576" marB="36576" anchor="ctr">
                    <a:lnL w="0">
                      <a:noFill/>
                    </a:lnL>
                    <a:lnR w="0">
                      <a:noFill/>
                    </a:lnR>
                    <a:lnT w="9525">
                      <a:solidFill>
                        <a:srgbClr val="262626"/>
                      </a:solidFill>
                    </a:lnT>
                    <a:lnB w="6350">
                      <a:solidFill>
                        <a:srgbClr val="D9D9D9"/>
                      </a:solidFill>
                    </a:lnB>
                    <a:noFill/>
                  </a:tcPr>
                </a:tc>
                <a:tc>
                  <a:txBody>
                    <a:bodyPr/>
                    <a:lstStyle/>
                    <a:p>
                      <a:pPr algn="l">
                        <a:lnSpc>
                          <a:spcPct val="95000"/>
                        </a:lnSpc>
                      </a:pPr>
                      <a:r>
                        <a:rPr lang="en-US" sz="1100" b="1" dirty="0">
                          <a:solidFill>
                            <a:srgbClr val="EE0033"/>
                          </a:solidFill>
                          <a:latin typeface="FS PF BeauSans Pro"/>
                          <a:ea typeface="FS PF BeauSans Pro"/>
                          <a:cs typeface="FS PF BeauSans Pro"/>
                        </a:rPr>
                        <a:t>NISQA v2.0</a:t>
                      </a:r>
                    </a:p>
                  </a:txBody>
                  <a:tcPr marL="68580" marR="68580" marT="36576" marB="36576" anchor="ctr">
                    <a:lnL w="0">
                      <a:noFill/>
                    </a:lnL>
                    <a:lnR w="0">
                      <a:noFill/>
                    </a:lnR>
                    <a:lnT w="9525">
                      <a:solidFill>
                        <a:srgbClr val="262626"/>
                      </a:solidFill>
                    </a:lnT>
                    <a:lnB w="6350">
                      <a:solidFill>
                        <a:srgbClr val="D9D9D9"/>
                      </a:solidFill>
                    </a:lnB>
                    <a:noFill/>
                  </a:tcPr>
                </a:tc>
                <a:tc>
                  <a:txBody>
                    <a:bodyPr/>
                    <a:lstStyle/>
                    <a:p>
                      <a:pPr algn="l">
                        <a:lnSpc>
                          <a:spcPct val="95000"/>
                        </a:lnSpc>
                      </a:pPr>
                      <a:r>
                        <a:rPr lang="en-US" sz="1100" dirty="0">
                          <a:solidFill>
                            <a:srgbClr val="262626"/>
                          </a:solidFill>
                          <a:latin typeface="FS PF BeauSans Pro"/>
                          <a:ea typeface="FS PF BeauSans Pro"/>
                          <a:cs typeface="FS PF BeauSans Pro"/>
                        </a:rPr>
                        <a:t>A spliced recording has no clean reference to compare with; NISQA predicts listener MOS and a discontinuity score from one recording (r = 0.90 vs 0.70 for P.563)</a:t>
                      </a:r>
                    </a:p>
                  </a:txBody>
                  <a:tcPr marL="68580" marR="68580" marT="36576" marB="36576" anchor="ctr">
                    <a:lnL w="0">
                      <a:noFill/>
                    </a:lnL>
                    <a:lnR w="0">
                      <a:noFill/>
                    </a:lnR>
                    <a:lnT w="9525">
                      <a:solidFill>
                        <a:srgbClr val="262626"/>
                      </a:solidFill>
                    </a:lnT>
                    <a:lnB w="6350">
                      <a:solidFill>
                        <a:srgbClr val="D9D9D9"/>
                      </a:solidFill>
                    </a:lnB>
                    <a:noFill/>
                  </a:tcPr>
                </a:tc>
                <a:tc>
                  <a:txBody>
                    <a:bodyPr/>
                    <a:lstStyle/>
                    <a:p>
                      <a:pPr algn="l">
                        <a:lnSpc>
                          <a:spcPct val="95000"/>
                        </a:lnSpc>
                      </a:pPr>
                      <a:r>
                        <a:rPr lang="en-US" sz="950" dirty="0">
                          <a:solidFill>
                            <a:srgbClr val="595959"/>
                          </a:solidFill>
                          <a:latin typeface="FS PF BeauSans Pro"/>
                          <a:ea typeface="FS PF BeauSans Pro"/>
                          <a:cs typeface="FS PF BeauSans Pro"/>
                        </a:rPr>
                        <a:t>Mittag et al., 2021</a:t>
                      </a:r>
                    </a:p>
                  </a:txBody>
                  <a:tcPr marL="68580" marR="68580" marT="36576" marB="36576" anchor="ctr">
                    <a:lnL w="0">
                      <a:noFill/>
                    </a:lnL>
                    <a:lnR w="0">
                      <a:noFill/>
                    </a:lnR>
                    <a:lnT w="9525">
                      <a:solidFill>
                        <a:srgbClr val="262626"/>
                      </a:solidFill>
                    </a:lnT>
                    <a:lnB w="6350">
                      <a:solidFill>
                        <a:srgbClr val="D9D9D9"/>
                      </a:solidFill>
                    </a:lnB>
                    <a:noFill/>
                  </a:tcPr>
                </a:tc>
              </a:tr>
              <a:tr h="274320">
                <a:tc>
                  <a:txBody>
                    <a:bodyPr/>
                    <a:lstStyle/>
                    <a:p>
                      <a:pPr algn="l">
                        <a:lnSpc>
                          <a:spcPct val="95000"/>
                        </a:lnSpc>
                      </a:pPr>
                      <a:r>
                        <a:rPr lang="en-US" sz="1100" b="1" dirty="0">
                          <a:solidFill>
                            <a:srgbClr val="262626"/>
                          </a:solidFill>
                          <a:latin typeface="FS PF BeauSans Pro"/>
                          <a:ea typeface="FS PF BeauSans Pro"/>
                          <a:cs typeface="FS PF BeauSans Pro"/>
                        </a:rPr>
                        <a:t>Drops, not floors</a:t>
                      </a:r>
                    </a:p>
                  </a:txBody>
                  <a:tcPr marL="68580" marR="68580" marT="36576" marB="36576" anchor="ctr">
                    <a:lnL w="0">
                      <a:noFill/>
                    </a:lnL>
                    <a:lnR w="0">
                      <a:noFill/>
                    </a:lnR>
                    <a:lnT w="6350">
                      <a:solidFill>
                        <a:srgbClr val="D9D9D9"/>
                      </a:solidFill>
                    </a:lnT>
                    <a:lnB w="6350">
                      <a:solidFill>
                        <a:srgbClr val="D9D9D9"/>
                      </a:solidFill>
                    </a:lnB>
                    <a:noFill/>
                  </a:tcPr>
                </a:tc>
                <a:tc>
                  <a:txBody>
                    <a:bodyPr/>
                    <a:lstStyle/>
                    <a:p>
                      <a:pPr algn="l">
                        <a:lnSpc>
                          <a:spcPct val="95000"/>
                        </a:lnSpc>
                      </a:pPr>
                      <a:r>
                        <a:rPr lang="en-US" sz="1100" b="1" dirty="0">
                          <a:solidFill>
                            <a:srgbClr val="EE0033"/>
                          </a:solidFill>
                          <a:latin typeface="FS PF BeauSans Pro"/>
                          <a:ea typeface="FS PF BeauSans Pro"/>
                          <a:cs typeface="FS PF BeauSans Pro"/>
                        </a:rPr>
                        <a:t>spliced vs its own source</a:t>
                      </a:r>
                    </a:p>
                  </a:txBody>
                  <a:tcPr marL="68580" marR="68580" marT="36576" marB="36576" anchor="ctr">
                    <a:lnL w="0">
                      <a:noFill/>
                    </a:lnL>
                    <a:lnR w="0">
                      <a:noFill/>
                    </a:lnR>
                    <a:lnT w="6350">
                      <a:solidFill>
                        <a:srgbClr val="D9D9D9"/>
                      </a:solidFill>
                    </a:lnT>
                    <a:lnB w="6350">
                      <a:solidFill>
                        <a:srgbClr val="D9D9D9"/>
                      </a:solidFill>
                    </a:lnB>
                    <a:noFill/>
                  </a:tcPr>
                </a:tc>
                <a:tc>
                  <a:txBody>
                    <a:bodyPr/>
                    <a:lstStyle/>
                    <a:p>
                      <a:pPr algn="l">
                        <a:lnSpc>
                          <a:spcPct val="95000"/>
                        </a:lnSpc>
                      </a:pPr>
                      <a:r>
                        <a:rPr lang="en-US" sz="1100" dirty="0">
                          <a:solidFill>
                            <a:srgbClr val="262626"/>
                          </a:solidFill>
                          <a:latin typeface="FS PF BeauSans Pro"/>
                          <a:ea typeface="FS PF BeauSans Pro"/>
                          <a:cs typeface="FS PF BeauSans Pro"/>
                        </a:rPr>
                        <a:t>An absolute floor mostly measures how clean the source corpus was: source MOS was 4.17–4.92, so a 2.5 floor would never fire</a:t>
                      </a:r>
                    </a:p>
                  </a:txBody>
                  <a:tcPr marL="68580" marR="68580" marT="36576" marB="36576" anchor="ctr">
                    <a:lnL w="0">
                      <a:noFill/>
                    </a:lnL>
                    <a:lnR w="0">
                      <a:noFill/>
                    </a:lnR>
                    <a:lnT w="6350">
                      <a:solidFill>
                        <a:srgbClr val="D9D9D9"/>
                      </a:solidFill>
                    </a:lnT>
                    <a:lnB w="6350">
                      <a:solidFill>
                        <a:srgbClr val="D9D9D9"/>
                      </a:solidFill>
                    </a:lnB>
                    <a:noFill/>
                  </a:tcPr>
                </a:tc>
                <a:tc>
                  <a:txBody>
                    <a:bodyPr/>
                    <a:lstStyle/>
                    <a:p>
                      <a:pPr algn="l">
                        <a:lnSpc>
                          <a:spcPct val="95000"/>
                        </a:lnSpc>
                      </a:pPr>
                      <a:r>
                        <a:rPr lang="en-US" sz="950" dirty="0">
                          <a:solidFill>
                            <a:srgbClr val="595959"/>
                          </a:solidFill>
                          <a:latin typeface="FS PF BeauSans Pro"/>
                          <a:ea typeface="FS PF BeauSans Pro"/>
                          <a:cs typeface="FS PF BeauSans Pro"/>
                        </a:rPr>
                        <a:t>pilot</a:t>
                      </a:r>
                    </a:p>
                  </a:txBody>
                  <a:tcPr marL="68580" marR="68580" marT="36576" marB="36576" anchor="ctr">
                    <a:lnL w="0">
                      <a:noFill/>
                    </a:lnL>
                    <a:lnR w="0">
                      <a:noFill/>
                    </a:lnR>
                    <a:lnT w="6350">
                      <a:solidFill>
                        <a:srgbClr val="D9D9D9"/>
                      </a:solidFill>
                    </a:lnT>
                    <a:lnB w="6350">
                      <a:solidFill>
                        <a:srgbClr val="D9D9D9"/>
                      </a:solidFill>
                    </a:lnB>
                    <a:noFill/>
                  </a:tcPr>
                </a:tc>
              </a:tr>
              <a:tr h="274320">
                <a:tc>
                  <a:txBody>
                    <a:bodyPr/>
                    <a:lstStyle/>
                    <a:p>
                      <a:pPr algn="l">
                        <a:lnSpc>
                          <a:spcPct val="95000"/>
                        </a:lnSpc>
                      </a:pPr>
                      <a:r>
                        <a:rPr lang="en-US" sz="1100" b="1" dirty="0">
                          <a:solidFill>
                            <a:srgbClr val="262626"/>
                          </a:solidFill>
                          <a:latin typeface="FS PF BeauSans Pro"/>
                          <a:ea typeface="FS PF BeauSans Pro"/>
                          <a:cs typeface="FS PF BeauSans Pro"/>
                        </a:rPr>
                        <a:t>MOS drop</a:t>
                      </a:r>
                    </a:p>
                  </a:txBody>
                  <a:tcPr marL="68580" marR="68580" marT="36576" marB="36576" anchor="ctr">
                    <a:lnL w="0">
                      <a:noFill/>
                    </a:lnL>
                    <a:lnR w="0">
                      <a:noFill/>
                    </a:lnR>
                    <a:lnT w="6350">
                      <a:solidFill>
                        <a:srgbClr val="D9D9D9"/>
                      </a:solidFill>
                    </a:lnT>
                    <a:lnB w="6350">
                      <a:solidFill>
                        <a:srgbClr val="D9D9D9"/>
                      </a:solidFill>
                    </a:lnB>
                    <a:noFill/>
                  </a:tcPr>
                </a:tc>
                <a:tc>
                  <a:txBody>
                    <a:bodyPr/>
                    <a:lstStyle/>
                    <a:p>
                      <a:pPr algn="l">
                        <a:lnSpc>
                          <a:spcPct val="95000"/>
                        </a:lnSpc>
                      </a:pPr>
                      <a:r>
                        <a:rPr lang="en-US" sz="1100" b="1" dirty="0">
                          <a:solidFill>
                            <a:srgbClr val="EE0033"/>
                          </a:solidFill>
                          <a:latin typeface="FS PF BeauSans Pro"/>
                          <a:ea typeface="FS PF BeauSans Pro"/>
                          <a:cs typeface="FS PF BeauSans Pro"/>
                        </a:rPr>
                        <a:t>≤ 0.5</a:t>
                      </a:r>
                    </a:p>
                  </a:txBody>
                  <a:tcPr marL="68580" marR="68580" marT="36576" marB="36576" anchor="ctr">
                    <a:lnL w="0">
                      <a:noFill/>
                    </a:lnL>
                    <a:lnR w="0">
                      <a:noFill/>
                    </a:lnR>
                    <a:lnT w="6350">
                      <a:solidFill>
                        <a:srgbClr val="D9D9D9"/>
                      </a:solidFill>
                    </a:lnT>
                    <a:lnB w="6350">
                      <a:solidFill>
                        <a:srgbClr val="D9D9D9"/>
                      </a:solidFill>
                    </a:lnB>
                    <a:noFill/>
                  </a:tcPr>
                </a:tc>
                <a:tc>
                  <a:txBody>
                    <a:bodyPr/>
                    <a:lstStyle/>
                    <a:p>
                      <a:pPr algn="l">
                        <a:lnSpc>
                          <a:spcPct val="95000"/>
                        </a:lnSpc>
                      </a:pPr>
                      <a:r>
                        <a:rPr lang="en-US" sz="1100" dirty="0">
                          <a:solidFill>
                            <a:srgbClr val="262626"/>
                          </a:solidFill>
                          <a:latin typeface="FS PF BeauSans Pro"/>
                          <a:ea typeface="FS PF BeauSans Pro"/>
                          <a:cs typeface="FS PF BeauSans Pro"/>
                        </a:rPr>
                        <a:t>Drops ranged −0.09 to +0.75 (median +0.12); any threshold from 0.40 to 0.55 removes the same single outlier</a:t>
                      </a:r>
                    </a:p>
                  </a:txBody>
                  <a:tcPr marL="68580" marR="68580" marT="36576" marB="36576" anchor="ctr">
                    <a:lnL w="0">
                      <a:noFill/>
                    </a:lnL>
                    <a:lnR w="0">
                      <a:noFill/>
                    </a:lnR>
                    <a:lnT w="6350">
                      <a:solidFill>
                        <a:srgbClr val="D9D9D9"/>
                      </a:solidFill>
                    </a:lnT>
                    <a:lnB w="6350">
                      <a:solidFill>
                        <a:srgbClr val="D9D9D9"/>
                      </a:solidFill>
                    </a:lnB>
                    <a:noFill/>
                  </a:tcPr>
                </a:tc>
                <a:tc>
                  <a:txBody>
                    <a:bodyPr/>
                    <a:lstStyle/>
                    <a:p>
                      <a:pPr algn="l">
                        <a:lnSpc>
                          <a:spcPct val="95000"/>
                        </a:lnSpc>
                      </a:pPr>
                      <a:r>
                        <a:rPr lang="en-US" sz="950" dirty="0">
                          <a:solidFill>
                            <a:srgbClr val="595959"/>
                          </a:solidFill>
                          <a:latin typeface="FS PF BeauSans Pro"/>
                          <a:ea typeface="FS PF BeauSans Pro"/>
                          <a:cs typeface="FS PF BeauSans Pro"/>
                        </a:rPr>
                        <a:t>pilot</a:t>
                      </a:r>
                    </a:p>
                  </a:txBody>
                  <a:tcPr marL="68580" marR="68580" marT="36576" marB="36576" anchor="ctr">
                    <a:lnL w="0">
                      <a:noFill/>
                    </a:lnL>
                    <a:lnR w="0">
                      <a:noFill/>
                    </a:lnR>
                    <a:lnT w="6350">
                      <a:solidFill>
                        <a:srgbClr val="D9D9D9"/>
                      </a:solidFill>
                    </a:lnT>
                    <a:lnB w="6350">
                      <a:solidFill>
                        <a:srgbClr val="D9D9D9"/>
                      </a:solidFill>
                    </a:lnB>
                    <a:noFill/>
                  </a:tcPr>
                </a:tc>
              </a:tr>
              <a:tr h="274320">
                <a:tc>
                  <a:txBody>
                    <a:bodyPr/>
                    <a:lstStyle/>
                    <a:p>
                      <a:pPr algn="l">
                        <a:lnSpc>
                          <a:spcPct val="95000"/>
                        </a:lnSpc>
                      </a:pPr>
                      <a:r>
                        <a:rPr lang="en-US" sz="1100" b="1" dirty="0">
                          <a:solidFill>
                            <a:srgbClr val="262626"/>
                          </a:solidFill>
                          <a:latin typeface="FS PF BeauSans Pro"/>
                          <a:ea typeface="FS PF BeauSans Pro"/>
                          <a:cs typeface="FS PF BeauSans Pro"/>
                        </a:rPr>
                        <a:t>Discontinuity drop</a:t>
                      </a:r>
                    </a:p>
                  </a:txBody>
                  <a:tcPr marL="68580" marR="68580" marT="36576" marB="36576" anchor="ctr">
                    <a:lnL w="0">
                      <a:noFill/>
                    </a:lnL>
                    <a:lnR w="0">
                      <a:noFill/>
                    </a:lnR>
                    <a:lnT w="6350">
                      <a:solidFill>
                        <a:srgbClr val="D9D9D9"/>
                      </a:solidFill>
                    </a:lnT>
                    <a:lnB w="6350">
                      <a:solidFill>
                        <a:srgbClr val="D9D9D9"/>
                      </a:solidFill>
                    </a:lnB>
                    <a:noFill/>
                  </a:tcPr>
                </a:tc>
                <a:tc>
                  <a:txBody>
                    <a:bodyPr/>
                    <a:lstStyle/>
                    <a:p>
                      <a:pPr algn="l">
                        <a:lnSpc>
                          <a:spcPct val="95000"/>
                        </a:lnSpc>
                      </a:pPr>
                      <a:r>
                        <a:rPr lang="en-US" sz="1100" b="1" dirty="0">
                          <a:solidFill>
                            <a:srgbClr val="EE0033"/>
                          </a:solidFill>
                          <a:latin typeface="FS PF BeauSans Pro"/>
                          <a:ea typeface="FS PF BeauSans Pro"/>
                          <a:cs typeface="FS PF BeauSans Pro"/>
                        </a:rPr>
                        <a:t>≤ 0.22</a:t>
                      </a:r>
                    </a:p>
                  </a:txBody>
                  <a:tcPr marL="68580" marR="68580" marT="36576" marB="36576" anchor="ctr">
                    <a:lnL w="0">
                      <a:noFill/>
                    </a:lnL>
                    <a:lnR w="0">
                      <a:noFill/>
                    </a:lnR>
                    <a:lnT w="6350">
                      <a:solidFill>
                        <a:srgbClr val="D9D9D9"/>
                      </a:solidFill>
                    </a:lnT>
                    <a:lnB w="6350">
                      <a:solidFill>
                        <a:srgbClr val="D9D9D9"/>
                      </a:solidFill>
                    </a:lnB>
                    <a:noFill/>
                  </a:tcPr>
                </a:tc>
                <a:tc>
                  <a:txBody>
                    <a:bodyPr/>
                    <a:lstStyle/>
                    <a:p>
                      <a:pPr algn="l">
                        <a:lnSpc>
                          <a:spcPct val="95000"/>
                        </a:lnSpc>
                      </a:pPr>
                      <a:r>
                        <a:rPr lang="en-US" sz="1100" dirty="0">
                          <a:solidFill>
                            <a:srgbClr val="262626"/>
                          </a:solidFill>
                          <a:latin typeface="FS PF BeauSans Pro"/>
                          <a:ea typeface="FS PF BeauSans Pro"/>
                          <a:cs typeface="FS PF BeauSans Pro"/>
                        </a:rPr>
                        <a:t>The score that hears a seam, so the strict one: 14 of 16 drops are ≤ +0.10 and any value 0.10–0.23 keeps the same rows; 0.22 rejects 2 of 16</a:t>
                      </a:r>
                    </a:p>
                  </a:txBody>
                  <a:tcPr marL="68580" marR="68580" marT="36576" marB="36576" anchor="ctr">
                    <a:lnL w="0">
                      <a:noFill/>
                    </a:lnL>
                    <a:lnR w="0">
                      <a:noFill/>
                    </a:lnR>
                    <a:lnT w="6350">
                      <a:solidFill>
                        <a:srgbClr val="D9D9D9"/>
                      </a:solidFill>
                    </a:lnT>
                    <a:lnB w="6350">
                      <a:solidFill>
                        <a:srgbClr val="D9D9D9"/>
                      </a:solidFill>
                    </a:lnB>
                    <a:noFill/>
                  </a:tcPr>
                </a:tc>
                <a:tc>
                  <a:txBody>
                    <a:bodyPr/>
                    <a:lstStyle/>
                    <a:p>
                      <a:pPr algn="l">
                        <a:lnSpc>
                          <a:spcPct val="95000"/>
                        </a:lnSpc>
                      </a:pPr>
                      <a:r>
                        <a:rPr lang="en-US" sz="950" dirty="0">
                          <a:solidFill>
                            <a:srgbClr val="595959"/>
                          </a:solidFill>
                          <a:latin typeface="FS PF BeauSans Pro"/>
                          <a:ea typeface="FS PF BeauSans Pro"/>
                          <a:cs typeface="FS PF BeauSans Pro"/>
                        </a:rPr>
                        <a:t>pilot + listening</a:t>
                      </a:r>
                    </a:p>
                  </a:txBody>
                  <a:tcPr marL="68580" marR="68580" marT="36576" marB="36576" anchor="ctr">
                    <a:lnL w="0">
                      <a:noFill/>
                    </a:lnL>
                    <a:lnR w="0">
                      <a:noFill/>
                    </a:lnR>
                    <a:lnT w="6350">
                      <a:solidFill>
                        <a:srgbClr val="D9D9D9"/>
                      </a:solidFill>
                    </a:lnT>
                    <a:lnB w="6350">
                      <a:solidFill>
                        <a:srgbClr val="D9D9D9"/>
                      </a:solidFill>
                    </a:lnB>
                    <a:noFill/>
                  </a:tcPr>
                </a:tc>
              </a:tr>
              <a:tr h="274320">
                <a:tc>
                  <a:txBody>
                    <a:bodyPr/>
                    <a:lstStyle/>
                    <a:p>
                      <a:pPr algn="l">
                        <a:lnSpc>
                          <a:spcPct val="95000"/>
                        </a:lnSpc>
                      </a:pPr>
                      <a:r>
                        <a:rPr lang="en-US" sz="1100" b="1" dirty="0">
                          <a:solidFill>
                            <a:srgbClr val="262626"/>
                          </a:solidFill>
                          <a:latin typeface="FS PF BeauSans Pro"/>
                          <a:ea typeface="FS PF BeauSans Pro"/>
                          <a:cs typeface="FS PF BeauSans Pro"/>
                        </a:rPr>
                        <a:t>Boundary activity</a:t>
                      </a:r>
                    </a:p>
                  </a:txBody>
                  <a:tcPr marL="68580" marR="68580" marT="36576" marB="36576" anchor="ctr">
                    <a:lnL w="0">
                      <a:noFill/>
                    </a:lnL>
                    <a:lnR w="0">
                      <a:noFill/>
                    </a:lnR>
                    <a:lnT w="6350">
                      <a:solidFill>
                        <a:srgbClr val="D9D9D9"/>
                      </a:solidFill>
                    </a:lnT>
                    <a:lnB w="6350">
                      <a:solidFill>
                        <a:srgbClr val="D9D9D9"/>
                      </a:solidFill>
                    </a:lnB>
                    <a:noFill/>
                  </a:tcPr>
                </a:tc>
                <a:tc>
                  <a:txBody>
                    <a:bodyPr/>
                    <a:lstStyle/>
                    <a:p>
                      <a:pPr algn="l">
                        <a:lnSpc>
                          <a:spcPct val="95000"/>
                        </a:lnSpc>
                      </a:pPr>
                      <a:r>
                        <a:rPr lang="en-US" sz="1100" b="1" dirty="0">
                          <a:solidFill>
                            <a:srgbClr val="EE0033"/>
                          </a:solidFill>
                          <a:latin typeface="FS PF BeauSans Pro"/>
                          <a:ea typeface="FS PF BeauSans Pro"/>
                          <a:cs typeface="FS PF BeauSans Pro"/>
                        </a:rPr>
                        <a:t>≤ 1.2</a:t>
                      </a:r>
                    </a:p>
                  </a:txBody>
                  <a:tcPr marL="68580" marR="68580" marT="36576" marB="36576" anchor="ctr">
                    <a:lnL w="0">
                      <a:noFill/>
                    </a:lnL>
                    <a:lnR w="0">
                      <a:noFill/>
                    </a:lnR>
                    <a:lnT w="6350">
                      <a:solidFill>
                        <a:srgbClr val="D9D9D9"/>
                      </a:solidFill>
                    </a:lnT>
                    <a:lnB w="6350">
                      <a:solidFill>
                        <a:srgbClr val="D9D9D9"/>
                      </a:solidFill>
                    </a:lnB>
                    <a:noFill/>
                  </a:tcPr>
                </a:tc>
                <a:tc>
                  <a:txBody>
                    <a:bodyPr/>
                    <a:lstStyle/>
                    <a:p>
                      <a:pPr algn="l">
                        <a:lnSpc>
                          <a:spcPct val="95000"/>
                        </a:lnSpc>
                      </a:pPr>
                      <a:r>
                        <a:rPr lang="en-US" sz="1100" dirty="0">
                          <a:solidFill>
                            <a:srgbClr val="262626"/>
                          </a:solidFill>
                          <a:latin typeface="FS PF BeauSans Pro"/>
                          <a:ea typeface="FS PF BeauSans Pro"/>
                          <a:cs typeface="FS PF BeauSans Pro"/>
                        </a:rPr>
                        <a:t>NISQA cannot hear a cut inside loud speech once fades smooth it; on tag-first cuts 1.2 rejected 3 of 20, 1.0 rejected 7, 0.8 rejected 11</a:t>
                      </a:r>
                    </a:p>
                  </a:txBody>
                  <a:tcPr marL="68580" marR="68580" marT="36576" marB="36576" anchor="ctr">
                    <a:lnL w="0">
                      <a:noFill/>
                    </a:lnL>
                    <a:lnR w="0">
                      <a:noFill/>
                    </a:lnR>
                    <a:lnT w="6350">
                      <a:solidFill>
                        <a:srgbClr val="D9D9D9"/>
                      </a:solidFill>
                    </a:lnT>
                    <a:lnB w="6350">
                      <a:solidFill>
                        <a:srgbClr val="D9D9D9"/>
                      </a:solidFill>
                    </a:lnB>
                    <a:noFill/>
                  </a:tcPr>
                </a:tc>
                <a:tc>
                  <a:txBody>
                    <a:bodyPr/>
                    <a:lstStyle/>
                    <a:p>
                      <a:pPr algn="l">
                        <a:lnSpc>
                          <a:spcPct val="95000"/>
                        </a:lnSpc>
                      </a:pPr>
                      <a:r>
                        <a:rPr lang="en-US" sz="950" dirty="0">
                          <a:solidFill>
                            <a:srgbClr val="595959"/>
                          </a:solidFill>
                          <a:latin typeface="FS PF BeauSans Pro"/>
                          <a:ea typeface="FS PF BeauSans Pro"/>
                          <a:cs typeface="FS PF BeauSans Pro"/>
                        </a:rPr>
                        <a:t>pilot + listening</a:t>
                      </a:r>
                    </a:p>
                  </a:txBody>
                  <a:tcPr marL="68580" marR="68580" marT="36576" marB="36576" anchor="ctr">
                    <a:lnL w="0">
                      <a:noFill/>
                    </a:lnL>
                    <a:lnR w="0">
                      <a:noFill/>
                    </a:lnR>
                    <a:lnT w="6350">
                      <a:solidFill>
                        <a:srgbClr val="D9D9D9"/>
                      </a:solidFill>
                    </a:lnT>
                    <a:lnB w="6350">
                      <a:solidFill>
                        <a:srgbClr val="D9D9D9"/>
                      </a:solidFill>
                    </a:lnB>
                    <a:noFill/>
                  </a:tcPr>
                </a:tc>
              </a:tr>
              <a:tr h="274320">
                <a:tc>
                  <a:txBody>
                    <a:bodyPr/>
                    <a:lstStyle/>
                    <a:p>
                      <a:pPr algn="l">
                        <a:lnSpc>
                          <a:spcPct val="95000"/>
                        </a:lnSpc>
                      </a:pPr>
                      <a:r>
                        <a:rPr lang="en-US" sz="1100" b="1" dirty="0">
                          <a:solidFill>
                            <a:srgbClr val="262626"/>
                          </a:solidFill>
                          <a:latin typeface="FS PF BeauSans Pro"/>
                          <a:ea typeface="FS PF BeauSans Pro"/>
                          <a:cs typeface="FS PF BeauSans Pro"/>
                        </a:rPr>
                        <a:t>Boundary measure</a:t>
                      </a:r>
                    </a:p>
                  </a:txBody>
                  <a:tcPr marL="68580" marR="68580" marT="36576" marB="36576" anchor="ctr">
                    <a:lnL w="0">
                      <a:noFill/>
                    </a:lnL>
                    <a:lnR w="0">
                      <a:noFill/>
                    </a:lnR>
                    <a:lnT w="6350">
                      <a:solidFill>
                        <a:srgbClr val="D9D9D9"/>
                      </a:solidFill>
                    </a:lnT>
                    <a:lnB w="6350">
                      <a:solidFill>
                        <a:srgbClr val="D9D9D9"/>
                      </a:solidFill>
                    </a:lnB>
                    <a:noFill/>
                  </a:tcPr>
                </a:tc>
                <a:tc>
                  <a:txBody>
                    <a:bodyPr/>
                    <a:lstStyle/>
                    <a:p>
                      <a:pPr algn="l">
                        <a:lnSpc>
                          <a:spcPct val="95000"/>
                        </a:lnSpc>
                      </a:pPr>
                      <a:r>
                        <a:rPr lang="en-US" sz="1100" b="1" dirty="0">
                          <a:solidFill>
                            <a:srgbClr val="EE0033"/>
                          </a:solidFill>
                          <a:latin typeface="FS PF BeauSans Pro"/>
                          <a:ea typeface="FS PF BeauSans Pro"/>
                          <a:cs typeface="FS PF BeauSans Pro"/>
                        </a:rPr>
                        <a:t>50 ms each side ÷ that side's RMS</a:t>
                      </a:r>
                    </a:p>
                  </a:txBody>
                  <a:tcPr marL="68580" marR="68580" marT="36576" marB="36576" anchor="ctr">
                    <a:lnL w="0">
                      <a:noFill/>
                    </a:lnL>
                    <a:lnR w="0">
                      <a:noFill/>
                    </a:lnR>
                    <a:lnT w="6350">
                      <a:solidFill>
                        <a:srgbClr val="D9D9D9"/>
                      </a:solidFill>
                    </a:lnT>
                    <a:lnB w="6350">
                      <a:solidFill>
                        <a:srgbClr val="D9D9D9"/>
                      </a:solidFill>
                    </a:lnB>
                    <a:noFill/>
                  </a:tcPr>
                </a:tc>
                <a:tc>
                  <a:txBody>
                    <a:bodyPr/>
                    <a:lstStyle/>
                    <a:p>
                      <a:pPr algn="l">
                        <a:lnSpc>
                          <a:spcPct val="95000"/>
                        </a:lnSpc>
                      </a:pPr>
                      <a:r>
                        <a:rPr lang="en-US" sz="1100" dirty="0">
                          <a:solidFill>
                            <a:srgbClr val="262626"/>
                          </a:solidFill>
                          <a:latin typeface="FS PF BeauSans Pro"/>
                          <a:ea typeface="FS PF BeauSans Pro"/>
                          <a:cs typeface="FS PF BeauSans Pro"/>
                        </a:rPr>
                        <a:t>Relative, because a quiet speaker's vowel can be louder in absolute terms than a loud speaker's pause</a:t>
                      </a:r>
                    </a:p>
                  </a:txBody>
                  <a:tcPr marL="68580" marR="68580" marT="36576" marB="36576" anchor="ctr">
                    <a:lnL w="0">
                      <a:noFill/>
                    </a:lnL>
                    <a:lnR w="0">
                      <a:noFill/>
                    </a:lnR>
                    <a:lnT w="6350">
                      <a:solidFill>
                        <a:srgbClr val="D9D9D9"/>
                      </a:solidFill>
                    </a:lnT>
                    <a:lnB w="6350">
                      <a:solidFill>
                        <a:srgbClr val="D9D9D9"/>
                      </a:solidFill>
                    </a:lnB>
                    <a:noFill/>
                  </a:tcPr>
                </a:tc>
                <a:tc>
                  <a:txBody>
                    <a:bodyPr/>
                    <a:lstStyle/>
                    <a:p>
                      <a:pPr algn="l">
                        <a:lnSpc>
                          <a:spcPct val="95000"/>
                        </a:lnSpc>
                      </a:pPr>
                      <a:r>
                        <a:rPr lang="en-US" sz="950" dirty="0">
                          <a:solidFill>
                            <a:srgbClr val="595959"/>
                          </a:solidFill>
                          <a:latin typeface="FS PF BeauSans Pro"/>
                          <a:ea typeface="FS PF BeauSans Pro"/>
                          <a:cs typeface="FS PF BeauSans Pro"/>
                        </a:rPr>
                        <a:t>design</a:t>
                      </a:r>
                    </a:p>
                  </a:txBody>
                  <a:tcPr marL="68580" marR="68580" marT="36576" marB="36576" anchor="ctr">
                    <a:lnL w="0">
                      <a:noFill/>
                    </a:lnL>
                    <a:lnR w="0">
                      <a:noFill/>
                    </a:lnR>
                    <a:lnT w="6350">
                      <a:solidFill>
                        <a:srgbClr val="D9D9D9"/>
                      </a:solidFill>
                    </a:lnT>
                    <a:lnB w="6350">
                      <a:solidFill>
                        <a:srgbClr val="D9D9D9"/>
                      </a:solidFill>
                    </a:lnB>
                    <a:noFill/>
                  </a:tcPr>
                </a:tc>
              </a:tr>
              <a:tr h="274320">
                <a:tc>
                  <a:txBody>
                    <a:bodyPr/>
                    <a:lstStyle/>
                    <a:p>
                      <a:pPr algn="l">
                        <a:lnSpc>
                          <a:spcPct val="95000"/>
                        </a:lnSpc>
                      </a:pPr>
                      <a:r>
                        <a:rPr lang="en-US" sz="1100" b="1" dirty="0">
                          <a:solidFill>
                            <a:srgbClr val="262626"/>
                          </a:solidFill>
                          <a:latin typeface="FS PF BeauSans Pro"/>
                          <a:ea typeface="FS PF BeauSans Pro"/>
                          <a:cs typeface="FS PF BeauSans Pro"/>
                        </a:rPr>
                        <a:t>Loudness score</a:t>
                      </a:r>
                    </a:p>
                  </a:txBody>
                  <a:tcPr marL="68580" marR="68580" marT="36576" marB="36576" anchor="ctr">
                    <a:lnL w="0">
                      <a:noFill/>
                    </a:lnL>
                    <a:lnR w="0">
                      <a:noFill/>
                    </a:lnR>
                    <a:lnT w="6350">
                      <a:solidFill>
                        <a:srgbClr val="D9D9D9"/>
                      </a:solidFill>
                    </a:lnT>
                    <a:lnB w="6350">
                      <a:solidFill>
                        <a:srgbClr val="D9D9D9"/>
                      </a:solidFill>
                    </a:lnB>
                    <a:noFill/>
                  </a:tcPr>
                </a:tc>
                <a:tc>
                  <a:txBody>
                    <a:bodyPr/>
                    <a:lstStyle/>
                    <a:p>
                      <a:pPr algn="l">
                        <a:lnSpc>
                          <a:spcPct val="95000"/>
                        </a:lnSpc>
                      </a:pPr>
                      <a:r>
                        <a:rPr lang="en-US" sz="1100" b="1" dirty="0">
                          <a:solidFill>
                            <a:srgbClr val="EE0033"/>
                          </a:solidFill>
                          <a:latin typeface="FS PF BeauSans Pro"/>
                          <a:ea typeface="FS PF BeauSans Pro"/>
                          <a:cs typeface="FS PF BeauSans Pro"/>
                        </a:rPr>
                        <a:t>not used</a:t>
                      </a:r>
                    </a:p>
                  </a:txBody>
                  <a:tcPr marL="68580" marR="68580" marT="36576" marB="36576" anchor="ctr">
                    <a:lnL w="0">
                      <a:noFill/>
                    </a:lnL>
                    <a:lnR w="0">
                      <a:noFill/>
                    </a:lnR>
                    <a:lnT w="6350">
                      <a:solidFill>
                        <a:srgbClr val="D9D9D9"/>
                      </a:solidFill>
                    </a:lnT>
                    <a:lnB w="6350">
                      <a:solidFill>
                        <a:srgbClr val="D9D9D9"/>
                      </a:solidFill>
                    </a:lnB>
                    <a:noFill/>
                  </a:tcPr>
                </a:tc>
                <a:tc>
                  <a:txBody>
                    <a:bodyPr/>
                    <a:lstStyle/>
                    <a:p>
                      <a:pPr algn="l">
                        <a:lnSpc>
                          <a:spcPct val="95000"/>
                        </a:lnSpc>
                      </a:pPr>
                      <a:r>
                        <a:rPr lang="en-US" sz="1100" dirty="0">
                          <a:solidFill>
                            <a:srgbClr val="262626"/>
                          </a:solidFill>
                          <a:latin typeface="FS PF BeauSans Pro"/>
                          <a:ea typeface="FS PF BeauSans Pro"/>
                          <a:cs typeface="FS PF BeauSans Pro"/>
                        </a:rPr>
                        <a:t>The output is peak-normalised, so a loudness change measures that step, not the splice</a:t>
                      </a:r>
                    </a:p>
                  </a:txBody>
                  <a:tcPr marL="68580" marR="68580" marT="36576" marB="36576" anchor="ctr">
                    <a:lnL w="0">
                      <a:noFill/>
                    </a:lnL>
                    <a:lnR w="0">
                      <a:noFill/>
                    </a:lnR>
                    <a:lnT w="6350">
                      <a:solidFill>
                        <a:srgbClr val="D9D9D9"/>
                      </a:solidFill>
                    </a:lnT>
                    <a:lnB w="6350">
                      <a:solidFill>
                        <a:srgbClr val="D9D9D9"/>
                      </a:solidFill>
                    </a:lnB>
                    <a:noFill/>
                  </a:tcPr>
                </a:tc>
                <a:tc>
                  <a:txBody>
                    <a:bodyPr/>
                    <a:lstStyle/>
                    <a:p>
                      <a:pPr algn="l">
                        <a:lnSpc>
                          <a:spcPct val="95000"/>
                        </a:lnSpc>
                      </a:pPr>
                      <a:r>
                        <a:rPr lang="en-US" sz="950" dirty="0">
                          <a:solidFill>
                            <a:srgbClr val="595959"/>
                          </a:solidFill>
                          <a:latin typeface="FS PF BeauSans Pro"/>
                          <a:ea typeface="FS PF BeauSans Pro"/>
                          <a:cs typeface="FS PF BeauSans Pro"/>
                        </a:rPr>
                        <a:t>design</a:t>
                      </a:r>
                    </a:p>
                  </a:txBody>
                  <a:tcPr marL="68580" marR="68580" marT="36576" marB="36576" anchor="ctr">
                    <a:lnL w="0">
                      <a:noFill/>
                    </a:lnL>
                    <a:lnR w="0">
                      <a:noFill/>
                    </a:lnR>
                    <a:lnT w="6350">
                      <a:solidFill>
                        <a:srgbClr val="D9D9D9"/>
                      </a:solidFill>
                    </a:lnT>
                    <a:lnB w="6350">
                      <a:solidFill>
                        <a:srgbClr val="D9D9D9"/>
                      </a:solidFill>
                    </a:lnB>
                    <a:noFill/>
                  </a:tcPr>
                </a:tc>
              </a:tr>
              <a:tr h="274320">
                <a:tc>
                  <a:txBody>
                    <a:bodyPr/>
                    <a:lstStyle/>
                    <a:p>
                      <a:pPr algn="l">
                        <a:lnSpc>
                          <a:spcPct val="95000"/>
                        </a:lnSpc>
                      </a:pPr>
                      <a:r>
                        <a:rPr lang="en-US" sz="1100" b="1" dirty="0">
                          <a:solidFill>
                            <a:srgbClr val="262626"/>
                          </a:solidFill>
                          <a:latin typeface="FS PF BeauSans Pro"/>
                          <a:ea typeface="FS PF BeauSans Pro"/>
                          <a:cs typeface="FS PF BeauSans Pro"/>
                        </a:rPr>
                        <a:t>Result</a:t>
                      </a:r>
                    </a:p>
                  </a:txBody>
                  <a:tcPr marL="68580" marR="68580" marT="36576" marB="36576" anchor="ctr">
                    <a:lnL w="0">
                      <a:noFill/>
                    </a:lnL>
                    <a:lnR w="0">
                      <a:noFill/>
                    </a:lnR>
                    <a:lnT w="6350">
                      <a:solidFill>
                        <a:srgbClr val="D9D9D9"/>
                      </a:solidFill>
                    </a:lnT>
                    <a:lnB w="6350">
                      <a:solidFill>
                        <a:srgbClr val="D9D9D9"/>
                      </a:solidFill>
                    </a:lnB>
                    <a:noFill/>
                  </a:tcPr>
                </a:tc>
                <a:tc>
                  <a:txBody>
                    <a:bodyPr/>
                    <a:lstStyle/>
                    <a:p>
                      <a:pPr algn="l">
                        <a:lnSpc>
                          <a:spcPct val="95000"/>
                        </a:lnSpc>
                      </a:pPr>
                      <a:r>
                        <a:rPr lang="en-US" sz="1100" b="1" dirty="0">
                          <a:solidFill>
                            <a:srgbClr val="EE0033"/>
                          </a:solidFill>
                          <a:latin typeface="FS PF BeauSans Pro"/>
                          <a:ea typeface="FS PF BeauSans Pro"/>
                          <a:cs typeface="FS PF BeauSans Pro"/>
                        </a:rPr>
                        <a:t>13 of 16 rows kept</a:t>
                      </a:r>
                    </a:p>
                  </a:txBody>
                  <a:tcPr marL="68580" marR="68580" marT="36576" marB="36576" anchor="ctr">
                    <a:lnL w="0">
                      <a:noFill/>
                    </a:lnL>
                    <a:lnR w="0">
                      <a:noFill/>
                    </a:lnR>
                    <a:lnT w="6350">
                      <a:solidFill>
                        <a:srgbClr val="D9D9D9"/>
                      </a:solidFill>
                    </a:lnT>
                    <a:lnB w="6350">
                      <a:solidFill>
                        <a:srgbClr val="D9D9D9"/>
                      </a:solidFill>
                    </a:lnB>
                    <a:noFill/>
                  </a:tcPr>
                </a:tc>
                <a:tc>
                  <a:txBody>
                    <a:bodyPr/>
                    <a:lstStyle/>
                    <a:p>
                      <a:pPr algn="l">
                        <a:lnSpc>
                          <a:spcPct val="95000"/>
                        </a:lnSpc>
                      </a:pPr>
                      <a:r>
                        <a:rPr lang="en-US" sz="1100" dirty="0">
                          <a:solidFill>
                            <a:srgbClr val="262626"/>
                          </a:solidFill>
                          <a:latin typeface="FS PF BeauSans Pro"/>
                          <a:ea typeface="FS PF BeauSans Pro"/>
                          <a:cs typeface="FS PF BeauSans Pro"/>
                        </a:rPr>
                        <a:t>2 rejected on discontinuity, 1 on MOS drop; boundary activity rejects none here, since slot cuts sit in silence (0.002–0.056)</a:t>
                      </a:r>
                    </a:p>
                  </a:txBody>
                  <a:tcPr marL="68580" marR="68580" marT="36576" marB="36576" anchor="ctr">
                    <a:lnL w="0">
                      <a:noFill/>
                    </a:lnL>
                    <a:lnR w="0">
                      <a:noFill/>
                    </a:lnR>
                    <a:lnT w="6350">
                      <a:solidFill>
                        <a:srgbClr val="D9D9D9"/>
                      </a:solidFill>
                    </a:lnT>
                    <a:lnB w="6350">
                      <a:solidFill>
                        <a:srgbClr val="D9D9D9"/>
                      </a:solidFill>
                    </a:lnB>
                    <a:noFill/>
                  </a:tcPr>
                </a:tc>
                <a:tc>
                  <a:txBody>
                    <a:bodyPr/>
                    <a:lstStyle/>
                    <a:p>
                      <a:pPr algn="l">
                        <a:lnSpc>
                          <a:spcPct val="95000"/>
                        </a:lnSpc>
                      </a:pPr>
                      <a:r>
                        <a:rPr lang="en-US" sz="950" dirty="0">
                          <a:solidFill>
                            <a:srgbClr val="595959"/>
                          </a:solidFill>
                          <a:latin typeface="FS PF BeauSans Pro"/>
                          <a:ea typeface="FS PF BeauSans Pro"/>
                          <a:cs typeface="FS PF BeauSans Pro"/>
                        </a:rPr>
                        <a:t>pilot</a:t>
                      </a:r>
                    </a:p>
                  </a:txBody>
                  <a:tcPr marL="68580" marR="68580" marT="36576" marB="36576" anchor="ctr">
                    <a:lnL w="0">
                      <a:noFill/>
                    </a:lnL>
                    <a:lnR w="0">
                      <a:noFill/>
                    </a:lnR>
                    <a:lnT w="6350">
                      <a:solidFill>
                        <a:srgbClr val="D9D9D9"/>
                      </a:solidFill>
                    </a:lnT>
                    <a:lnB w="6350">
                      <a:solidFill>
                        <a:srgbClr val="D9D9D9"/>
                      </a:solidFill>
                    </a:lnB>
                    <a:noFill/>
                  </a:tcPr>
                </a:tc>
              </a:tr>
              <a:tr h="274320">
                <a:tc>
                  <a:txBody>
                    <a:bodyPr/>
                    <a:lstStyle/>
                    <a:p>
                      <a:pPr algn="l">
                        <a:lnSpc>
                          <a:spcPct val="95000"/>
                        </a:lnSpc>
                      </a:pPr>
                      <a:r>
                        <a:rPr lang="en-US" sz="1100" b="1" dirty="0">
                          <a:solidFill>
                            <a:srgbClr val="262626"/>
                          </a:solidFill>
                          <a:latin typeface="FS PF BeauSans Pro"/>
                          <a:ea typeface="FS PF BeauSans Pro"/>
                          <a:cs typeface="FS PF BeauSans Pro"/>
                        </a:rPr>
                        <a:t>A rejection</a:t>
                      </a:r>
                    </a:p>
                  </a:txBody>
                  <a:tcPr marL="68580" marR="68580" marT="36576" marB="36576" anchor="ctr">
                    <a:lnL w="0">
                      <a:noFill/>
                    </a:lnL>
                    <a:lnR w="0">
                      <a:noFill/>
                    </a:lnR>
                    <a:lnT w="6350">
                      <a:solidFill>
                        <a:srgbClr val="D9D9D9"/>
                      </a:solidFill>
                    </a:lnT>
                    <a:lnB w="19050">
                      <a:solidFill>
                        <a:srgbClr val="262626"/>
                      </a:solidFill>
                    </a:lnB>
                    <a:noFill/>
                  </a:tcPr>
                </a:tc>
                <a:tc>
                  <a:txBody>
                    <a:bodyPr/>
                    <a:lstStyle/>
                    <a:p>
                      <a:pPr algn="l">
                        <a:lnSpc>
                          <a:spcPct val="95000"/>
                        </a:lnSpc>
                      </a:pPr>
                      <a:r>
                        <a:rPr lang="en-US" sz="1100" b="1" dirty="0">
                          <a:solidFill>
                            <a:srgbClr val="EE0033"/>
                          </a:solidFill>
                          <a:latin typeface="FS PF BeauSans Pro"/>
                          <a:ea typeface="FS PF BeauSans Pro"/>
                          <a:cs typeface="FS PF BeauSans Pro"/>
                        </a:rPr>
                        <a:t>re-render, not discard</a:t>
                      </a:r>
                    </a:p>
                  </a:txBody>
                  <a:tcPr marL="68580" marR="68580" marT="36576" marB="36576" anchor="ctr">
                    <a:lnL w="0">
                      <a:noFill/>
                    </a:lnL>
                    <a:lnR w="0">
                      <a:noFill/>
                    </a:lnR>
                    <a:lnT w="6350">
                      <a:solidFill>
                        <a:srgbClr val="D9D9D9"/>
                      </a:solidFill>
                    </a:lnT>
                    <a:lnB w="19050">
                      <a:solidFill>
                        <a:srgbClr val="262626"/>
                      </a:solidFill>
                    </a:lnB>
                    <a:noFill/>
                  </a:tcPr>
                </a:tc>
                <a:tc>
                  <a:txBody>
                    <a:bodyPr/>
                    <a:lstStyle/>
                    <a:p>
                      <a:pPr algn="l">
                        <a:lnSpc>
                          <a:spcPct val="95000"/>
                        </a:lnSpc>
                      </a:pPr>
                      <a:r>
                        <a:rPr lang="en-US" sz="1100" dirty="0">
                          <a:solidFill>
                            <a:srgbClr val="262626"/>
                          </a:solidFill>
                          <a:latin typeface="FS PF BeauSans Pro"/>
                          <a:ea typeface="FS PF BeauSans Pro"/>
                          <a:cs typeface="FS PF BeauSans Pro"/>
                        </a:rPr>
                        <a:t>Seed-VC is unseeded: re-rendering moved discontinuity drops by up to 0.25, so a rejected take can pass on a new render</a:t>
                      </a:r>
                    </a:p>
                  </a:txBody>
                  <a:tcPr marL="68580" marR="68580" marT="36576" marB="36576" anchor="ctr">
                    <a:lnL w="0">
                      <a:noFill/>
                    </a:lnL>
                    <a:lnR w="0">
                      <a:noFill/>
                    </a:lnR>
                    <a:lnT w="6350">
                      <a:solidFill>
                        <a:srgbClr val="D9D9D9"/>
                      </a:solidFill>
                    </a:lnT>
                    <a:lnB w="19050">
                      <a:solidFill>
                        <a:srgbClr val="262626"/>
                      </a:solidFill>
                    </a:lnB>
                    <a:noFill/>
                  </a:tcPr>
                </a:tc>
                <a:tc>
                  <a:txBody>
                    <a:bodyPr/>
                    <a:lstStyle/>
                    <a:p>
                      <a:pPr algn="l">
                        <a:lnSpc>
                          <a:spcPct val="95000"/>
                        </a:lnSpc>
                      </a:pPr>
                      <a:r>
                        <a:rPr lang="en-US" sz="950" dirty="0">
                          <a:solidFill>
                            <a:srgbClr val="595959"/>
                          </a:solidFill>
                          <a:latin typeface="FS PF BeauSans Pro"/>
                          <a:ea typeface="FS PF BeauSans Pro"/>
                          <a:cs typeface="FS PF BeauSans Pro"/>
                        </a:rPr>
                        <a:t>pilot</a:t>
                      </a:r>
                    </a:p>
                  </a:txBody>
                  <a:tcPr marL="68580" marR="68580" marT="36576" marB="36576" anchor="ctr">
                    <a:lnL w="0">
                      <a:noFill/>
                    </a:lnL>
                    <a:lnR w="0">
                      <a:noFill/>
                    </a:lnR>
                    <a:lnT w="6350">
                      <a:solidFill>
                        <a:srgbClr val="D9D9D9"/>
                      </a:solidFill>
                    </a:lnT>
                    <a:lnB w="19050">
                      <a:solidFill>
                        <a:srgbClr val="262626"/>
                      </a:solidFill>
                    </a:lnB>
                    <a:noFill/>
                  </a:tcPr>
                </a:tc>
              </a:tr>
            </a:tbl>
          </a:graphicData>
        </a:graphic>
      </p:graphicFrame>
      <p:sp>
        <p:nvSpPr>
          <p:cNvPr id="5" name="Footnote citations"/>
          <p:cNvSpPr txBox="1"/>
          <p:nvPr/>
        </p:nvSpPr>
        <p:spPr>
          <a:xfrm>
            <a:off x="411480" y="5852160"/>
            <a:ext cx="8778240" cy="960120"/>
          </a:xfrm>
          <a:prstGeom prst="rect">
            <a:avLst/>
          </a:prstGeom>
          <a:noFill/>
          <a:ln>
            <a:noFill/>
          </a:ln>
        </p:spPr>
        <p:txBody>
          <a:bodyPr wrap="square" lIns="45720" tIns="45720" rIns="45720" bIns="45720" anchor="b">
            <a:noAutofit/>
          </a:bodyPr>
          <a:lstStyle/>
          <a:p>
            <a:pPr>
              <a:buNone/>
            </a:pPr>
            <a:r>
              <a:rPr lang="en-US" sz="900" b="1" dirty="0">
                <a:solidFill>
                  <a:srgbClr val="595959"/>
                </a:solidFill>
                <a:latin typeface="FS PF BeauSans Pro"/>
                <a:ea typeface="FS PF BeauSans Pro"/>
                <a:cs typeface="FS PF BeauSans Pro"/>
              </a:rPr>
              <a:t>NISQA: </a:t>
            </a:r>
            <a:r>
              <a:rPr lang="en-US" sz="900" dirty="0">
                <a:solidFill>
                  <a:srgbClr val="595959"/>
                </a:solidFill>
                <a:latin typeface="FS PF BeauSans Pro"/>
                <a:ea typeface="FS PF BeauSans Pro"/>
                <a:cs typeface="FS PF BeauSans Pro"/>
              </a:rPr>
              <a:t>Mittag et al., Interspeech 2021</a:t>
            </a:r>
          </a:p>
          <a:p>
            <a:pPr>
              <a:buNone/>
            </a:pPr>
            <a:r>
              <a:rPr lang="en-US" sz="900" dirty="0">
                <a:solidFill>
                  <a:srgbClr val="595959"/>
                </a:solidFill>
                <a:latin typeface="FS PF BeauSans Pro"/>
                <a:ea typeface="FS PF BeauSans Pro"/>
                <a:cs typeface="FS PF BeauSans Pro"/>
              </a:rPr>
              <a:t>Basis: pilot = measured on our 20-utterance pilot; listening = picked by ear; design = follows from how the pipeline works</a:t>
            </a:r>
          </a:p>
        </p:txBody>
      </p:sp>
    </p:spTree>
  </p:cSld>
  <p:clrMapOvr>
    <a:masterClrMapping/>
  </p:clrMapOvr>
</p:sld>
</file>

<file path=ppt/theme/theme1.xml><?xml version="1.0" encoding="utf-8"?>
<a:theme xmlns:a="http://schemas.openxmlformats.org/drawingml/2006/main" name="Tech Newsletter XL by Slidesgo">
  <a:themeElements>
    <a:clrScheme name="Simple Light">
      <a:dk1>
        <a:srgbClr val="000000"/>
      </a:dk1>
      <a:lt1>
        <a:srgbClr val="FFFFFF"/>
      </a:lt1>
      <a:dk2>
        <a:srgbClr val="595959"/>
      </a:dk2>
      <a:lt2>
        <a:srgbClr val="EEEEEE"/>
      </a:lt2>
      <a:accent1>
        <a:srgbClr val="F3F3F3"/>
      </a:accent1>
      <a:accent2>
        <a:srgbClr val="D9D9D9"/>
      </a:accent2>
      <a:accent3>
        <a:srgbClr val="B7B7B7"/>
      </a:accent3>
      <a:accent4>
        <a:srgbClr val="999999"/>
      </a:accent4>
      <a:accent5>
        <a:srgbClr val="666666"/>
      </a:accent5>
      <a:accent6>
        <a:srgbClr val="000000"/>
      </a:accent6>
      <a:hlink>
        <a:srgbClr val="434343"/>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3045</TotalTime>
  <Words>4294</Words>
  <Application>Microsoft Macintosh PowerPoint</Application>
  <PresentationFormat>Widescreen</PresentationFormat>
  <Paragraphs>528</Paragraphs>
  <Slides>35</Slides>
  <Notes>0</Notes>
  <HiddenSlides>0</HiddenSlides>
  <MMClips>19</MMClips>
  <ScaleCrop>false</ScaleCrop>
  <HeadingPairs>
    <vt:vector size="6" baseType="variant">
      <vt:variant>
        <vt:lpstr>Fonts Used</vt:lpstr>
      </vt:variant>
      <vt:variant>
        <vt:i4>9</vt:i4>
      </vt:variant>
      <vt:variant>
        <vt:lpstr>Theme</vt:lpstr>
      </vt:variant>
      <vt:variant>
        <vt:i4>1</vt:i4>
      </vt:variant>
      <vt:variant>
        <vt:lpstr>Slide Titles</vt:lpstr>
      </vt:variant>
      <vt:variant>
        <vt:i4>35</vt:i4>
      </vt:variant>
    </vt:vector>
  </HeadingPairs>
  <TitlesOfParts>
    <vt:vector size="45" baseType="lpstr">
      <vt:lpstr>Sarabun Light</vt:lpstr>
      <vt:lpstr>FS PF BeauSans Pro</vt:lpstr>
      <vt:lpstr>Fira Sans Extra Condensed Medium</vt:lpstr>
      <vt:lpstr>Exo 2</vt:lpstr>
      <vt:lpstr>Wingdings</vt:lpstr>
      <vt:lpstr>FS Magistral Bold</vt:lpstr>
      <vt:lpstr>Arial</vt:lpstr>
      <vt:lpstr>Roboto</vt:lpstr>
      <vt:lpstr>Roboto Condensed Light</vt:lpstr>
      <vt:lpstr>Tech Newsletter XL by Slidesgo</vt:lpstr>
      <vt:lpstr>Non-verbal Vocalizations for  Zero-shot Vietnamese TTS</vt:lpstr>
      <vt:lpstr>Table of contents</vt:lpstr>
      <vt:lpstr>Introduction</vt:lpstr>
      <vt:lpstr>Introduction</vt:lpstr>
      <vt:lpstr>Introduction</vt:lpstr>
      <vt:lpstr>Introduction</vt:lpstr>
      <vt:lpstr>Overview</vt:lpstr>
      <vt:lpstr>NVV clip pool</vt:lpstr>
      <vt:lpstr>Pause detection</vt:lpstr>
      <vt:lpstr>Tag selection</vt:lpstr>
      <vt:lpstr>Clip selection</vt:lpstr>
      <vt:lpstr>Voice conversion</vt:lpstr>
      <vt:lpstr>Splicing</vt:lpstr>
      <vt:lpstr>Filter</vt:lpstr>
      <vt:lpstr>Fine-tuning &amp; inference</vt:lpstr>
      <vt:lpstr>Fine-tuning &amp; inference</vt:lpstr>
      <vt:lpstr>Why fine-tune OmniVoice?</vt:lpstr>
      <vt:lpstr>NVV clip pool</vt:lpstr>
      <vt:lpstr>Result</vt:lpstr>
      <vt:lpstr>Evaluation metrics</vt:lpstr>
      <vt:lpstr>Result</vt:lpstr>
      <vt:lpstr>Result</vt:lpstr>
      <vt:lpstr>Result</vt:lpstr>
      <vt:lpstr>Result</vt:lpstr>
      <vt:lpstr>Conclusion</vt:lpstr>
      <vt:lpstr>Thank you for listening </vt:lpstr>
      <vt:lpstr>Appendix: Speech data</vt:lpstr>
      <vt:lpstr>Appendix: NVV clip pool</vt:lpstr>
      <vt:lpstr>Appendix: Pause detection</vt:lpstr>
      <vt:lpstr>Appendix: Tag selection</vt:lpstr>
      <vt:lpstr>Appendix: Clip selection</vt:lpstr>
      <vt:lpstr>Appendix: Voice conversion</vt:lpstr>
      <vt:lpstr>Appendix: Splicing</vt:lpstr>
      <vt:lpstr>Appendix: Filter</vt:lpstr>
      <vt:lpstr>References</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Efficient Vietnamese TTS  with English Borrowings</dc:title>
  <dc:creator>Nguyen Minh Quang 20215461</dc:creator>
  <cp:lastModifiedBy>To Duy An 202416653</cp:lastModifiedBy>
  <cp:revision>242</cp:revision>
  <dcterms:created xsi:type="dcterms:W3CDTF">2024-06-16T10:08:21Z</dcterms:created>
  <dcterms:modified xsi:type="dcterms:W3CDTF">2026-10-22T09:35:11Z</dcterms:modified>
</cp:coreProperties>
</file>