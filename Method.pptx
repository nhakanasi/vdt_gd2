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0"/>
  </p:notesMasterIdLst>
  <p:sldIdLst>
    <p:sldId id="256" r:id="rId2"/>
    <p:sldId id="273" r:id="rId3"/>
    <p:sldId id="258" r:id="rId4"/>
    <p:sldId id="274" r:id="rId5"/>
    <p:sldId id="264" r:id="rId6"/>
    <p:sldId id="265" r:id="rId7"/>
    <p:sldId id="266" r:id="rId8"/>
    <p:sldId id="267" r:id="rId9"/>
    <p:sldId id="268" r:id="rId10"/>
    <p:sldId id="269" r:id="rId11"/>
    <p:sldId id="270" r:id="rId12"/>
    <p:sldId id="271" r:id="rId13"/>
    <p:sldId id="260" r:id="rId14"/>
    <p:sldId id="277" r:id="rId15"/>
    <p:sldId id="278" r:id="rId16"/>
    <p:sldId id="279" r:id="rId17"/>
    <p:sldId id="280" r:id="rId18"/>
    <p:sldId id="257" r:id="rId19"/>
  </p:sldIdLst>
  <p:sldSz cx="18288000" cy="10287000"/>
  <p:notesSz cx="6858000" cy="9144000"/>
  <p:embeddedFontLst>
    <p:embeddedFont>
      <p:font typeface="Arimo" panose="020B0604020202020204" charset="0"/>
      <p:regular r:id="rId21"/>
    </p:embeddedFont>
    <p:embeddedFont>
      <p:font typeface="Arimo Bold" panose="020B0604020202020204" charset="0"/>
      <p:regular r:id="rId22"/>
      <p:bold r:id="rId23"/>
    </p:embeddedFont>
    <p:embeddedFont>
      <p:font typeface="Calistoga" panose="020B0604020202020204" charset="0"/>
      <p:regular r:id="rId24"/>
    </p:embeddedFont>
    <p:embeddedFont>
      <p:font typeface="Montserrat" panose="00000500000000000000" pitchFamily="2" charset="0"/>
      <p:regular r:id="rId25"/>
      <p:bold r:id="rId26"/>
      <p:italic r:id="rId27"/>
      <p:boldItalic r:id="rId28"/>
    </p:embeddedFont>
    <p:embeddedFont>
      <p:font typeface="Poppins Bold" panose="020B0604020202020204" charset="0"/>
      <p:bold r:id="rId29"/>
      <p:italic r:id="rId30"/>
      <p:boldItalic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47" autoAdjust="0"/>
    <p:restoredTop sz="94674" autoAdjust="0"/>
  </p:normalViewPr>
  <p:slideViewPr>
    <p:cSldViewPr>
      <p:cViewPr varScale="1">
        <p:scale>
          <a:sx n="81" d="100"/>
          <a:sy n="81" d="100"/>
        </p:scale>
        <p:origin x="504" y="7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font" Target="fonts/font1.fntdata"/><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font" Target="fonts/font10.fntdata"/><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16.10.2026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 là ngôn ngữ cấp trung, có mục đích chung, ban đầu được phát triển bởi nhà khoa học máy tính người Đan Mạch Bjarne Stroustrup vào năm 1979 tại Phòng thí nghiệm Bell Hoa Kỳ. Như nhiều bạn đã biết, ngôn ngữ lập trình cấp trung là sự kết hợp giữa ngôn ngữ lập trình cấp thấp và cấp cao. Ngôn ngữ C++ ban đầu được thiết kế như một phần mở rộng của ngôn ngữ C, được sử dụng rộng rãi trong lập trình hệ thống và hệ điều hành dựa trên Unix. Ngoài ra, C được phát triển vào năm 1970 bởi Dennis Ritchie khi còn ở Bell Labs (trước đây là AT&amp;T Bell Labs). Trong những năm qua, C++ đã trở thành một trong những ngôn ngữ lập trình được sử dụng rộng rãi nhất và có nhiều ứng dụng trong các lĩnh vực như chơi game, robot, tài chính và tính toán khoa học. Các nhà phát triển cũng đã giới thiệu một số phiên bản mới của ngôn ngữ với những thay đổi đáng kể trên tinh thần luôn cập nhật và cạnh tranh với các ngôn ngữ lập trình hiện đại khác. Vì vậy, chúng ta hãy xem dòng thời gian và lịch sử phiên bản của C++.</a:t>
            </a:r>
          </a:p>
          <a:p>
            <a:endParaRPr lang="en-US"/>
          </a:p>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3EC3C-08CA-078D-4C7B-237BD1294466}"/>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DFA789EE-1674-FF28-9DF0-90B25C0DD11C}"/>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BD3F105D-9F63-D84C-B414-BF46FC51DB25}"/>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AC49F054-75B3-C89C-A2C0-44998A6A0FDD}"/>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24CFBC13-B849-482D-3FD3-E1784C3FE8CC}"/>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 là ngôn ngữ cấp trung, có mục đích chung, ban đầu được phát triển bởi nhà khoa học máy tính người Đan Mạch Bjarne Stroustrup vào năm 1979 tại Phòng thí nghiệm Bell Hoa Kỳ. Như nhiều bạn đã biết, ngôn ngữ lập trình cấp trung là sự kết hợp giữa ngôn ngữ lập trình cấp thấp và cấp cao. Ngôn ngữ C++ ban đầu được thiết kế như một phần mở rộng của ngôn ngữ C, được sử dụng rộng rãi trong lập trình hệ thống và hệ điều hành dựa trên Unix. Ngoài ra, C được phát triển vào năm 1970 bởi Dennis Ritchie khi còn ở Bell Labs (trước đây là AT&amp;T Bell Labs). Trong những năm qua, C++ đã trở thành một trong những ngôn ngữ lập trình được sử dụng rộng rãi nhất và có nhiều ứng dụng trong các lĩnh vực như chơi game, robot, tài chính và tính toán khoa học. Các nhà phát triển cũng đã giới thiệu một số phiên bản mới của ngôn ngữ với những thay đổi đáng kể trên tinh thần luôn cập nhật và cạnh tranh với các ngôn ngữ lập trình hiện đại khác. Vì vậy, chúng ta hãy xem dòng thời gian và lịch sử phiên bản của C++.</a:t>
            </a:r>
          </a:p>
          <a:p>
            <a:endParaRPr lang="en-US"/>
          </a:p>
          <a:p>
            <a:r>
              <a:rPr lang="en-US"/>
              <a:t>1</a:t>
            </a:r>
          </a:p>
        </p:txBody>
      </p:sp>
      <p:sp>
        <p:nvSpPr>
          <p:cNvPr id="6" name="Footer Placeholder 5">
            <a:extLst>
              <a:ext uri="{FF2B5EF4-FFF2-40B4-BE49-F238E27FC236}">
                <a16:creationId xmlns:a16="http://schemas.microsoft.com/office/drawing/2014/main" id="{C10C3DF9-F19E-5280-D6DD-AEFE09E79D65}"/>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A2821F2E-EAF0-B72C-E58C-4E9E5C0806DF}"/>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260238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 là ngôn ngữ cấp trung, có mục đích chung, ban đầu được phát triển bởi nhà khoa học máy tính người Đan Mạch Bjarne Stroustrup vào năm 1979 tại Phòng thí nghiệm Bell Hoa Kỳ. Như nhiều bạn đã biết, ngôn ngữ lập trình cấp trung là sự kết hợp giữa ngôn ngữ lập trình cấp thấp và cấp cao. Ngôn ngữ C++ ban đầu được thiết kế như một phần mở rộng của ngôn ngữ C, được sử dụng rộng rãi trong lập trình hệ thống và hệ điều hành dựa trên Unix. Ngoài ra, C được phát triển vào năm 1970 bởi Dennis Ritchie khi còn ở Bell Labs (trước đây là AT&amp;T Bell Labs). Trong những năm qua, C++ đã trở thành một trong những ngôn ngữ lập trình được sử dụng rộng rãi nhất và có nhiều ứng dụng trong các lĩnh vực như chơi game, robot, tài chính và tính toán khoa học. Các nhà phát triển cũng đã giới thiệu một số phiên bản mới của ngôn ngữ với những thay đổi đáng kể trên tinh thần luôn cập nhật và cạnh tranh với các ngôn ngữ lập trình hiện đại khác. Vì vậy, chúng ta hãy xem dòng thời gian và lịch sử phiên bản của C++.</a:t>
            </a:r>
          </a:p>
          <a:p>
            <a:endParaRPr lang="en-US"/>
          </a:p>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 là ngôn ngữ cấp trung, có mục đích chung, ban đầu được phát triển bởi nhà khoa học máy tính người Đan Mạch Bjarne Stroustrup vào năm 1979 tại Phòng thí nghiệm Bell Hoa Kỳ. Như nhiều bạn đã biết, ngôn ngữ lập trình cấp trung là sự kết hợp giữa ngôn ngữ lập trình cấp thấp và cấp cao. Ngôn ngữ C++ ban đầu được thiết kế như một phần mở rộng của ngôn ngữ C, được sử dụng rộng rãi trong lập trình hệ thống và hệ điều hành dựa trên Unix. Ngoài ra, C được phát triển vào năm 1970 bởi Dennis Ritchie khi còn ở Bell Labs (trước đây là AT&amp;T Bell Labs). Trong những năm qua, C++ đã trở thành một trong những ngôn ngữ lập trình được sử dụng rộng rãi nhất và có nhiều ứng dụng trong các lĩnh vực như chơi game, robot, tài chính và tính toán khoa học. Các nhà phát triển cũng đã giới thiệu một số phiên bản mới của ngôn ngữ với những thay đổi đáng kể trên tinh thần luôn cập nhật và cạnh tranh với các ngôn ngữ lập trình hiện đại khác. Vì vậy, chúng ta hãy xem dòng thời gian và lịch sử phiên bản của C++.</a:t>
            </a:r>
          </a:p>
          <a:p>
            <a:endParaRPr lang="en-US"/>
          </a:p>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 là ngôn ngữ cấp trung, có mục đích chung, ban đầu được phát triển bởi nhà khoa học máy tính người Đan Mạch Bjarne Stroustrup vào năm 1979 tại Phòng thí nghiệm Bell Hoa Kỳ. Như nhiều bạn đã biết, ngôn ngữ lập trình cấp trung là sự kết hợp giữa ngôn ngữ lập trình cấp thấp và cấp cao. Ngôn ngữ C++ ban đầu được thiết kế như một phần mở rộng của ngôn ngữ C, được sử dụng rộng rãi trong lập trình hệ thống và hệ điều hành dựa trên Unix. Ngoài ra, C được phát triển vào năm 1970 bởi Dennis Ritchie khi còn ở Bell Labs (trước đây là AT&amp;T Bell Labs). Trong những năm qua, C++ đã trở thành một trong những ngôn ngữ lập trình được sử dụng rộng rãi nhất và có nhiều ứng dụng trong các lĩnh vực như chơi game, robot, tài chính và tính toán khoa học. Các nhà phát triển cũng đã giới thiệu một số phiên bản mới của ngôn ngữ với những thay đổi đáng kể trên tinh thần luôn cập nhật và cạnh tranh với các ngôn ngữ lập trình hiện đại khác. Vì vậy, chúng ta hãy xem dòng thời gian và lịch sử phiên bản của C++.</a:t>
            </a:r>
          </a:p>
          <a:p>
            <a:endParaRPr lang="en-US"/>
          </a:p>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cs-CZ" sz="1200" b="0" i="0" u="none" strike="noStrike" kern="1200" cap="none" spc="0" normalizeH="0" baseline="0" noProof="0">
                <a:ln>
                  <a:noFill/>
                </a:ln>
                <a:solidFill>
                  <a:prstClr val="black"/>
                </a:solidFill>
                <a:effectLst/>
                <a:uLnTx/>
                <a:uFillTx/>
                <a:latin typeface="Calibri"/>
                <a:ea typeface="+mn-ea"/>
                <a:cs typeface="+mn-cs"/>
              </a:rPr>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 là ngôn ngữ cấp trung, có mục đích chung, ban đầu được phát triển bởi nhà khoa học máy tính người Đan Mạch Bjarne Stroustrup vào năm 1979 tại Phòng thí nghiệm Bell Hoa Kỳ. Như nhiều bạn đã biết, ngôn ngữ lập trình cấp trung là sự kết hợp giữa ngôn ngữ lập trình cấp thấp và cấp cao. Ngôn ngữ C++ ban đầu được thiết kế như một phần mở rộng của ngôn ngữ C, được sử dụng rộng rãi trong lập trình hệ thống và hệ điều hành dựa trên Unix. Ngoài ra, C được phát triển vào năm 1970 bởi Dennis Ritchie khi còn ở Bell Labs (trước đây là AT&amp;T Bell Labs). Trong những năm qua, C++ đã trở thành một trong những ngôn ngữ lập trình được sử dụng rộng rãi nhất và có nhiều ứng dụng trong các lĩnh vực như chơi game, robot, tài chính và tính toán khoa học. Các nhà phát triển cũng đã giới thiệu một số phiên bản mới của ngôn ngữ với những thay đổi đáng kể trên tinh thần luôn cập nhật và cạnh tranh với các ngôn ngữ lập trình hiện đại khác. Vì vậy, chúng ta hãy xem dòng thời gian và lịch sử phiên bản của C++.</a:t>
            </a:r>
          </a:p>
          <a:p>
            <a:endParaRPr lang="en-US"/>
          </a:p>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cs-CZ" sz="1200" b="0" i="0" u="none" strike="noStrike" kern="1200" cap="none" spc="0" normalizeH="0" baseline="0" noProof="0">
                <a:ln>
                  <a:noFill/>
                </a:ln>
                <a:solidFill>
                  <a:prstClr val="black"/>
                </a:solidFill>
                <a:effectLst/>
                <a:uLnTx/>
                <a:uFillTx/>
                <a:latin typeface="Calibri"/>
                <a:ea typeface="+mn-ea"/>
                <a:cs typeface="+mn-cs"/>
              </a:rPr>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8" Type="http://schemas.openxmlformats.org/officeDocument/2006/relationships/audio" Target="../media/media4.wav"/><Relationship Id="rId3" Type="http://schemas.microsoft.com/office/2007/relationships/media" Target="../media/media2.wav"/><Relationship Id="rId7" Type="http://schemas.microsoft.com/office/2007/relationships/media" Target="../media/media4.wav"/><Relationship Id="rId12" Type="http://schemas.openxmlformats.org/officeDocument/2006/relationships/image" Target="../media/image14.png"/><Relationship Id="rId2" Type="http://schemas.openxmlformats.org/officeDocument/2006/relationships/audio" Target="../media/media1.wav"/><Relationship Id="rId1" Type="http://schemas.microsoft.com/office/2007/relationships/media" Target="../media/media1.wav"/><Relationship Id="rId6" Type="http://schemas.openxmlformats.org/officeDocument/2006/relationships/audio" Target="../media/media3.wav"/><Relationship Id="rId11" Type="http://schemas.openxmlformats.org/officeDocument/2006/relationships/image" Target="../media/image2.png"/><Relationship Id="rId5" Type="http://schemas.microsoft.com/office/2007/relationships/media" Target="../media/media3.wav"/><Relationship Id="rId10" Type="http://schemas.openxmlformats.org/officeDocument/2006/relationships/image" Target="../media/image1.png"/><Relationship Id="rId4" Type="http://schemas.openxmlformats.org/officeDocument/2006/relationships/audio" Target="../media/media2.wav"/><Relationship Id="rId9"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3"/>
            <a:stretch>
              <a:fillRect l="-130" r="-13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4"/>
            <a:stretch>
              <a:fillRect t="-240" b="-240"/>
            </a:stretch>
          </a:blipFill>
        </p:spPr>
        <p:txBody>
          <a:bodyPr/>
          <a:lstStyle/>
          <a:p>
            <a:endParaRPr lang="en-VN"/>
          </a:p>
        </p:txBody>
      </p:sp>
      <p:sp>
        <p:nvSpPr>
          <p:cNvPr id="4" name="Freeform 4"/>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4"/>
            <a:stretch>
              <a:fillRect t="-240" b="-240"/>
            </a:stretch>
          </a:blipFill>
        </p:spPr>
        <p:txBody>
          <a:bodyPr/>
          <a:lstStyle/>
          <a:p>
            <a:endParaRPr lang="en-VN"/>
          </a:p>
        </p:txBody>
      </p:sp>
      <p:sp>
        <p:nvSpPr>
          <p:cNvPr id="5" name="Freeform 5"/>
          <p:cNvSpPr/>
          <p:nvPr/>
        </p:nvSpPr>
        <p:spPr>
          <a:xfrm>
            <a:off x="-159806" y="0"/>
            <a:ext cx="18607612" cy="9206494"/>
          </a:xfrm>
          <a:custGeom>
            <a:avLst/>
            <a:gdLst/>
            <a:ahLst/>
            <a:cxnLst/>
            <a:rect l="l" t="t" r="r" b="b"/>
            <a:pathLst>
              <a:path w="18607612" h="9206494">
                <a:moveTo>
                  <a:pt x="0" y="0"/>
                </a:moveTo>
                <a:lnTo>
                  <a:pt x="18607612" y="0"/>
                </a:lnTo>
                <a:lnTo>
                  <a:pt x="18607612" y="9206494"/>
                </a:lnTo>
                <a:lnTo>
                  <a:pt x="0" y="9206494"/>
                </a:lnTo>
                <a:lnTo>
                  <a:pt x="0" y="0"/>
                </a:lnTo>
                <a:close/>
              </a:path>
            </a:pathLst>
          </a:custGeom>
          <a:blipFill>
            <a:blip r:embed="rId5">
              <a:alphaModFix amt="18999"/>
            </a:blip>
            <a:stretch>
              <a:fillRect t="-7746" b="-7746"/>
            </a:stretch>
          </a:blipFill>
        </p:spPr>
        <p:txBody>
          <a:bodyPr/>
          <a:lstStyle/>
          <a:p>
            <a:endParaRPr lang="en-VN" dirty="0"/>
          </a:p>
        </p:txBody>
      </p:sp>
      <p:sp>
        <p:nvSpPr>
          <p:cNvPr id="6" name="TextBox 6"/>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grpSp>
        <p:nvGrpSpPr>
          <p:cNvPr id="8" name="Group 8"/>
          <p:cNvGrpSpPr/>
          <p:nvPr/>
        </p:nvGrpSpPr>
        <p:grpSpPr>
          <a:xfrm>
            <a:off x="9422720" y="6783689"/>
            <a:ext cx="9025085" cy="1493634"/>
            <a:chOff x="0" y="-9525"/>
            <a:chExt cx="12033447" cy="1991511"/>
          </a:xfrm>
        </p:grpSpPr>
        <p:sp>
          <p:nvSpPr>
            <p:cNvPr id="9" name="TextBox 9"/>
            <p:cNvSpPr txBox="1"/>
            <p:nvPr/>
          </p:nvSpPr>
          <p:spPr>
            <a:xfrm>
              <a:off x="0" y="-9525"/>
              <a:ext cx="12033447" cy="809625"/>
            </a:xfrm>
            <a:prstGeom prst="rect">
              <a:avLst/>
            </a:prstGeom>
          </p:spPr>
          <p:txBody>
            <a:bodyPr lIns="0" tIns="0" rIns="0" bIns="0" rtlCol="0" anchor="t">
              <a:spAutoFit/>
            </a:bodyPr>
            <a:lstStyle/>
            <a:p>
              <a:pPr algn="l">
                <a:lnSpc>
                  <a:spcPts val="4799"/>
                </a:lnSpc>
              </a:pPr>
              <a:r>
                <a:rPr lang="en-US" sz="3999" dirty="0" err="1">
                  <a:solidFill>
                    <a:srgbClr val="000000"/>
                  </a:solidFill>
                  <a:latin typeface="Montserrat" pitchFamily="2" charset="77"/>
                  <a:ea typeface="Arimo Bold Italics"/>
                  <a:cs typeface="Arimo Bold Italics"/>
                  <a:sym typeface="Arimo Bold Italics"/>
                </a:rPr>
                <a:t>Lĩnh</a:t>
              </a:r>
              <a:r>
                <a:rPr lang="en-US" sz="3999" dirty="0">
                  <a:solidFill>
                    <a:srgbClr val="000000"/>
                  </a:solidFill>
                  <a:latin typeface="Montserrat" pitchFamily="2" charset="77"/>
                  <a:ea typeface="Arimo Bold Italics"/>
                  <a:cs typeface="Arimo Bold Italics"/>
                  <a:sym typeface="Arimo Bold Italics"/>
                </a:rPr>
                <a:t> </a:t>
              </a:r>
              <a:r>
                <a:rPr lang="en-US" sz="3999" dirty="0" err="1">
                  <a:solidFill>
                    <a:srgbClr val="000000"/>
                  </a:solidFill>
                  <a:latin typeface="Montserrat" pitchFamily="2" charset="77"/>
                  <a:ea typeface="Arimo Bold Italics"/>
                  <a:cs typeface="Arimo Bold Italics"/>
                  <a:sym typeface="Arimo Bold Italics"/>
                </a:rPr>
                <a:t>vực</a:t>
              </a:r>
              <a:r>
                <a:rPr lang="en-US" sz="3999" dirty="0">
                  <a:solidFill>
                    <a:srgbClr val="000000"/>
                  </a:solidFill>
                  <a:latin typeface="Montserrat" pitchFamily="2" charset="77"/>
                  <a:ea typeface="Arimo Bold Italics"/>
                  <a:cs typeface="Arimo Bold Italics"/>
                  <a:sym typeface="Arimo Bold Italics"/>
                </a:rPr>
                <a:t>: AI</a:t>
              </a:r>
            </a:p>
          </p:txBody>
        </p:sp>
        <p:sp>
          <p:nvSpPr>
            <p:cNvPr id="10" name="TextBox 10"/>
            <p:cNvSpPr txBox="1"/>
            <p:nvPr/>
          </p:nvSpPr>
          <p:spPr>
            <a:xfrm>
              <a:off x="0" y="1200147"/>
              <a:ext cx="12033447" cy="781839"/>
            </a:xfrm>
            <a:prstGeom prst="rect">
              <a:avLst/>
            </a:prstGeom>
          </p:spPr>
          <p:txBody>
            <a:bodyPr lIns="0" tIns="0" rIns="0" bIns="0" rtlCol="0" anchor="t">
              <a:spAutoFit/>
            </a:bodyPr>
            <a:lstStyle/>
            <a:p>
              <a:pPr algn="l">
                <a:lnSpc>
                  <a:spcPts val="4799"/>
                </a:lnSpc>
              </a:pPr>
              <a:r>
                <a:rPr lang="en-US" sz="3999" dirty="0" err="1">
                  <a:solidFill>
                    <a:srgbClr val="000000"/>
                  </a:solidFill>
                  <a:latin typeface="Montserrat" pitchFamily="2" charset="77"/>
                  <a:ea typeface="Arimo Bold Italics"/>
                  <a:cs typeface="Times New Roman" panose="02020603050405020304" pitchFamily="18" charset="0"/>
                  <a:sym typeface="Arimo Bold Italics"/>
                </a:rPr>
                <a:t>Người</a:t>
              </a:r>
              <a:r>
                <a:rPr lang="en-US" sz="3999" dirty="0">
                  <a:solidFill>
                    <a:srgbClr val="000000"/>
                  </a:solidFill>
                  <a:latin typeface="Montserrat" pitchFamily="2" charset="77"/>
                  <a:ea typeface="Arimo Bold Italics"/>
                  <a:cs typeface="Times New Roman" panose="02020603050405020304" pitchFamily="18" charset="0"/>
                  <a:sym typeface="Arimo Bold Italics"/>
                </a:rPr>
                <a:t> </a:t>
              </a:r>
              <a:r>
                <a:rPr lang="en-US" sz="3999" dirty="0" err="1">
                  <a:solidFill>
                    <a:srgbClr val="000000"/>
                  </a:solidFill>
                  <a:latin typeface="Montserrat" pitchFamily="2" charset="77"/>
                  <a:ea typeface="Arimo Bold Italics"/>
                  <a:cs typeface="Times New Roman" panose="02020603050405020304" pitchFamily="18" charset="0"/>
                  <a:sym typeface="Arimo Bold Italics"/>
                </a:rPr>
                <a:t>hướng</a:t>
              </a:r>
              <a:r>
                <a:rPr lang="en-US" sz="3999" dirty="0">
                  <a:solidFill>
                    <a:srgbClr val="000000"/>
                  </a:solidFill>
                  <a:latin typeface="Montserrat" pitchFamily="2" charset="77"/>
                  <a:ea typeface="Arimo Bold Italics"/>
                  <a:cs typeface="Times New Roman" panose="02020603050405020304" pitchFamily="18" charset="0"/>
                  <a:sym typeface="Arimo Bold Italics"/>
                </a:rPr>
                <a:t> </a:t>
              </a:r>
              <a:r>
                <a:rPr lang="en-US" sz="3999" dirty="0" err="1">
                  <a:solidFill>
                    <a:srgbClr val="000000"/>
                  </a:solidFill>
                  <a:latin typeface="Montserrat" pitchFamily="2" charset="77"/>
                  <a:ea typeface="Arimo Bold Italics"/>
                  <a:cs typeface="Times New Roman" panose="02020603050405020304" pitchFamily="18" charset="0"/>
                  <a:sym typeface="Arimo Bold Italics"/>
                </a:rPr>
                <a:t>dẫn</a:t>
              </a:r>
              <a:r>
                <a:rPr lang="en-US" sz="3999" dirty="0">
                  <a:solidFill>
                    <a:srgbClr val="000000"/>
                  </a:solidFill>
                  <a:latin typeface="Montserrat" pitchFamily="2" charset="77"/>
                  <a:ea typeface="Arimo Bold Italics"/>
                  <a:cs typeface="Times New Roman" panose="02020603050405020304" pitchFamily="18" charset="0"/>
                  <a:sym typeface="Arimo Bold Italics"/>
                </a:rPr>
                <a:t>:</a:t>
              </a:r>
            </a:p>
          </p:txBody>
        </p:sp>
      </p:grpSp>
      <p:sp>
        <p:nvSpPr>
          <p:cNvPr id="11" name="TextBox 11"/>
          <p:cNvSpPr txBox="1"/>
          <p:nvPr/>
        </p:nvSpPr>
        <p:spPr>
          <a:xfrm>
            <a:off x="9422720" y="5910685"/>
            <a:ext cx="9025085" cy="609600"/>
          </a:xfrm>
          <a:prstGeom prst="rect">
            <a:avLst/>
          </a:prstGeom>
        </p:spPr>
        <p:txBody>
          <a:bodyPr lIns="0" tIns="0" rIns="0" bIns="0" rtlCol="0" anchor="t">
            <a:spAutoFit/>
          </a:bodyPr>
          <a:lstStyle/>
          <a:p>
            <a:pPr algn="l">
              <a:lnSpc>
                <a:spcPts val="4799"/>
              </a:lnSpc>
            </a:pPr>
            <a:r>
              <a:rPr lang="en-US" sz="3999" dirty="0" err="1">
                <a:solidFill>
                  <a:srgbClr val="000000"/>
                </a:solidFill>
                <a:latin typeface="Montserrat" pitchFamily="2" charset="77"/>
                <a:ea typeface="Arimo Bold Italics"/>
                <a:cs typeface="Arimo Bold Italics"/>
                <a:sym typeface="Arimo Bold Italics"/>
              </a:rPr>
              <a:t>Người</a:t>
            </a:r>
            <a:r>
              <a:rPr lang="en-US" sz="3999" dirty="0">
                <a:solidFill>
                  <a:srgbClr val="000000"/>
                </a:solidFill>
                <a:latin typeface="Montserrat" pitchFamily="2" charset="77"/>
                <a:ea typeface="Arimo Bold Italics"/>
                <a:cs typeface="Arimo Bold Italics"/>
                <a:sym typeface="Arimo Bold Italics"/>
              </a:rPr>
              <a:t> </a:t>
            </a:r>
            <a:r>
              <a:rPr lang="en-US" sz="3999" dirty="0" err="1">
                <a:solidFill>
                  <a:srgbClr val="000000"/>
                </a:solidFill>
                <a:latin typeface="Montserrat" pitchFamily="2" charset="77"/>
                <a:ea typeface="Arimo Bold Italics"/>
                <a:cs typeface="Arimo Bold Italics"/>
                <a:sym typeface="Arimo Bold Italics"/>
              </a:rPr>
              <a:t>thực</a:t>
            </a:r>
            <a:r>
              <a:rPr lang="en-US" sz="3999" dirty="0">
                <a:solidFill>
                  <a:srgbClr val="000000"/>
                </a:solidFill>
                <a:latin typeface="Montserrat" pitchFamily="2" charset="77"/>
                <a:ea typeface="Arimo Bold Italics"/>
                <a:cs typeface="Arimo Bold Italics"/>
                <a:sym typeface="Arimo Bold Italics"/>
              </a:rPr>
              <a:t> </a:t>
            </a:r>
            <a:r>
              <a:rPr lang="en-US" sz="3999" dirty="0" err="1">
                <a:solidFill>
                  <a:srgbClr val="000000"/>
                </a:solidFill>
                <a:latin typeface="Montserrat" pitchFamily="2" charset="77"/>
                <a:ea typeface="Arimo Bold Italics"/>
                <a:cs typeface="Arimo Bold Italics"/>
                <a:sym typeface="Arimo Bold Italics"/>
              </a:rPr>
              <a:t>hiện</a:t>
            </a:r>
            <a:r>
              <a:rPr lang="en-US" sz="3999" dirty="0">
                <a:solidFill>
                  <a:srgbClr val="000000"/>
                </a:solidFill>
                <a:latin typeface="Montserrat" pitchFamily="2" charset="77"/>
                <a:ea typeface="Arimo Bold Italics"/>
                <a:cs typeface="Arimo Bold Italics"/>
                <a:sym typeface="Arimo Bold Italics"/>
              </a:rPr>
              <a:t>: </a:t>
            </a:r>
            <a:r>
              <a:rPr lang="en-US" sz="3999" dirty="0" err="1">
                <a:solidFill>
                  <a:srgbClr val="000000"/>
                </a:solidFill>
                <a:latin typeface="Montserrat" pitchFamily="2" charset="77"/>
                <a:ea typeface="Arimo Bold Italics"/>
                <a:cs typeface="Arimo Bold Italics"/>
                <a:sym typeface="Arimo Bold Italics"/>
              </a:rPr>
              <a:t>Tô</a:t>
            </a:r>
            <a:r>
              <a:rPr lang="en-US" sz="3999" dirty="0">
                <a:solidFill>
                  <a:srgbClr val="000000"/>
                </a:solidFill>
                <a:latin typeface="Montserrat" pitchFamily="2" charset="77"/>
                <a:ea typeface="Arimo Bold Italics"/>
                <a:cs typeface="Arimo Bold Italics"/>
                <a:sym typeface="Arimo Bold Italics"/>
              </a:rPr>
              <a:t> Duy An</a:t>
            </a:r>
          </a:p>
        </p:txBody>
      </p:sp>
      <p:sp>
        <p:nvSpPr>
          <p:cNvPr id="12" name="TextBox 12"/>
          <p:cNvSpPr txBox="1"/>
          <p:nvPr/>
        </p:nvSpPr>
        <p:spPr>
          <a:xfrm>
            <a:off x="361024" y="3892296"/>
            <a:ext cx="17565952" cy="627095"/>
          </a:xfrm>
          <a:prstGeom prst="rect">
            <a:avLst/>
          </a:prstGeom>
        </p:spPr>
        <p:txBody>
          <a:bodyPr lIns="0" tIns="0" rIns="0" bIns="0" rtlCol="0" anchor="t">
            <a:spAutoFit/>
          </a:bodyPr>
          <a:lstStyle/>
          <a:p>
            <a:pPr algn="ctr">
              <a:lnSpc>
                <a:spcPts val="4300"/>
              </a:lnSpc>
            </a:pPr>
            <a:r>
              <a:rPr lang="en-US" sz="3600" dirty="0">
                <a:solidFill>
                  <a:srgbClr val="404155"/>
                </a:solidFill>
                <a:latin typeface="Poppins Bold"/>
                <a:ea typeface="Poppins Bold"/>
                <a:cs typeface="Poppins Bold"/>
                <a:sym typeface="Poppins Bold"/>
              </a:rPr>
              <a:t>Non-verbal vocalizations for zero-shot Vietnamese TTS</a:t>
            </a:r>
          </a:p>
        </p:txBody>
      </p:sp>
      <p:sp>
        <p:nvSpPr>
          <p:cNvPr id="13" name="TextBox 13"/>
          <p:cNvSpPr txBox="1"/>
          <p:nvPr/>
        </p:nvSpPr>
        <p:spPr>
          <a:xfrm>
            <a:off x="356616" y="1728216"/>
            <a:ext cx="17565624" cy="1042416"/>
          </a:xfrm>
          <a:prstGeom prst="rect">
            <a:avLst/>
          </a:prstGeom>
        </p:spPr>
        <p:txBody>
          <a:bodyPr lIns="0" tIns="0" rIns="0" bIns="0" rtlCol="0" anchor="t">
            <a:spAutoFit/>
          </a:bodyPr>
          <a:lstStyle/>
          <a:p>
            <a:pPr algn="ctr">
              <a:lnSpc>
                <a:spcPts val="7880"/>
              </a:lnSpc>
            </a:pPr>
            <a:r>
              <a:rPr lang="en-US" sz="7577" dirty="0">
                <a:solidFill>
                  <a:srgbClr val="000000"/>
                </a:solidFill>
                <a:latin typeface="Calistoga"/>
                <a:ea typeface="Calistoga"/>
                <a:cs typeface="Calistoga"/>
                <a:sym typeface="Calistoga"/>
              </a:rPr>
              <a:t>Vietnamese NVV TTS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0541C-4373-DE54-6DFE-D456FA5ABBB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A917EB3-590B-6F14-EED3-64FAC1273A98}"/>
              </a:ext>
            </a:extLst>
          </p:cNvPr>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3"/>
            <a:stretch>
              <a:fillRect l="-130" r="-130"/>
            </a:stretch>
          </a:blipFill>
        </p:spPr>
        <p:txBody>
          <a:bodyPr/>
          <a:lstStyle/>
          <a:p>
            <a:endParaRPr lang="en-VN"/>
          </a:p>
        </p:txBody>
      </p:sp>
      <p:sp>
        <p:nvSpPr>
          <p:cNvPr id="3" name="Freeform 3">
            <a:extLst>
              <a:ext uri="{FF2B5EF4-FFF2-40B4-BE49-F238E27FC236}">
                <a16:creationId xmlns:a16="http://schemas.microsoft.com/office/drawing/2014/main" id="{340A81D7-80F6-8090-BF10-5B249D612910}"/>
              </a:ext>
            </a:extLst>
          </p:cNvPr>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4"/>
            <a:stretch>
              <a:fillRect t="-240" b="-240"/>
            </a:stretch>
          </a:blipFill>
        </p:spPr>
        <p:txBody>
          <a:bodyPr/>
          <a:lstStyle/>
          <a:p>
            <a:endParaRPr lang="en-VN"/>
          </a:p>
        </p:txBody>
      </p:sp>
      <p:sp>
        <p:nvSpPr>
          <p:cNvPr id="4" name="Freeform 4">
            <a:extLst>
              <a:ext uri="{FF2B5EF4-FFF2-40B4-BE49-F238E27FC236}">
                <a16:creationId xmlns:a16="http://schemas.microsoft.com/office/drawing/2014/main" id="{F292CA74-7FBA-9C9B-E517-E08A29AE5C72}"/>
              </a:ext>
            </a:extLst>
          </p:cNvPr>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4"/>
            <a:stretch>
              <a:fillRect t="-240" b="-240"/>
            </a:stretch>
          </a:blipFill>
        </p:spPr>
        <p:txBody>
          <a:bodyPr/>
          <a:lstStyle/>
          <a:p>
            <a:endParaRPr lang="en-VN"/>
          </a:p>
        </p:txBody>
      </p:sp>
      <p:sp>
        <p:nvSpPr>
          <p:cNvPr id="5" name="TextBox 5">
            <a:extLst>
              <a:ext uri="{FF2B5EF4-FFF2-40B4-BE49-F238E27FC236}">
                <a16:creationId xmlns:a16="http://schemas.microsoft.com/office/drawing/2014/main" id="{BC634BE3-4C40-B836-622C-8A5259326E51}"/>
              </a:ext>
            </a:extLst>
          </p:cNvPr>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a:extLst>
              <a:ext uri="{FF2B5EF4-FFF2-40B4-BE49-F238E27FC236}">
                <a16:creationId xmlns:a16="http://schemas.microsoft.com/office/drawing/2014/main" id="{13F032DD-B9A4-8BE9-B75C-AAD9DE56CB59}"/>
              </a:ext>
            </a:extLst>
          </p:cNvPr>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a:extLst>
              <a:ext uri="{FF2B5EF4-FFF2-40B4-BE49-F238E27FC236}">
                <a16:creationId xmlns:a16="http://schemas.microsoft.com/office/drawing/2014/main" id="{C8D23D82-DAAB-6878-A7C2-565D480C9515}"/>
              </a:ext>
            </a:extLst>
          </p:cNvPr>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Introduction</a:t>
            </a:r>
          </a:p>
        </p:txBody>
      </p:sp>
      <p:sp>
        <p:nvSpPr>
          <p:cNvPr id="8" name="TextBox 8">
            <a:extLst>
              <a:ext uri="{FF2B5EF4-FFF2-40B4-BE49-F238E27FC236}">
                <a16:creationId xmlns:a16="http://schemas.microsoft.com/office/drawing/2014/main" id="{01BC443D-1E74-B453-3031-62AA93E37FA9}"/>
              </a:ext>
            </a:extLst>
          </p:cNvPr>
          <p:cNvSpPr txBox="1"/>
          <p:nvPr/>
        </p:nvSpPr>
        <p:spPr>
          <a:xfrm>
            <a:off x="1024128" y="2240280"/>
            <a:ext cx="16248888" cy="2107308"/>
          </a:xfrm>
          <a:prstGeom prst="rect">
            <a:avLst/>
          </a:prstGeom>
        </p:spPr>
        <p:txBody>
          <a:bodyPr lIns="0" tIns="0" rIns="0" bIns="0" rtlCol="0" anchor="t">
            <a:spAutoFit/>
          </a:bodyPr>
          <a:lstStyle/>
          <a:p>
            <a:pPr marL="457200" indent="-457200" algn="l">
              <a:lnSpc>
                <a:spcPts val="4200"/>
              </a:lnSpc>
              <a:buFontTx/>
              <a:buChar char="-"/>
            </a:pPr>
            <a:r>
              <a:rPr lang="en-US" sz="3000" dirty="0">
                <a:solidFill>
                  <a:srgbClr val="000000"/>
                </a:solidFill>
                <a:latin typeface="Arimo"/>
                <a:ea typeface="Arimo"/>
                <a:cs typeface="Arimo"/>
                <a:sym typeface="Arimo"/>
              </a:rPr>
              <a:t>TTS system: a program to synthesize speech from text</a:t>
            </a:r>
          </a:p>
          <a:p>
            <a:pPr marL="457200" indent="-457200" algn="l">
              <a:lnSpc>
                <a:spcPts val="4200"/>
              </a:lnSpc>
              <a:buFontTx/>
              <a:buChar char="-"/>
            </a:pPr>
            <a:r>
              <a:rPr lang="en-US" sz="3000" dirty="0">
                <a:solidFill>
                  <a:srgbClr val="000000"/>
                </a:solidFill>
                <a:latin typeface="Arimo"/>
                <a:ea typeface="Arimo"/>
                <a:cs typeface="Arimo"/>
                <a:sym typeface="Arimo"/>
              </a:rPr>
              <a:t>Non-verbal elements in speech: sobbing, laughter, breathing …</a:t>
            </a:r>
          </a:p>
          <a:p>
            <a:pPr marL="457200" indent="-457200" algn="l">
              <a:lnSpc>
                <a:spcPts val="4200"/>
              </a:lnSpc>
              <a:buFont typeface="Wingdings" panose="05000000000000000000" pitchFamily="2" charset="2"/>
              <a:buChar char="è"/>
            </a:pPr>
            <a:r>
              <a:rPr lang="en-US" sz="3000" dirty="0">
                <a:solidFill>
                  <a:srgbClr val="000000"/>
                </a:solidFill>
                <a:latin typeface="Arimo"/>
                <a:ea typeface="Arimo"/>
                <a:cs typeface="Arimo"/>
                <a:sym typeface="Arimo"/>
              </a:rPr>
              <a:t>Combine together </a:t>
            </a:r>
            <a:r>
              <a:rPr lang="en-US" sz="3000" dirty="0" err="1">
                <a:solidFill>
                  <a:srgbClr val="000000"/>
                </a:solidFill>
                <a:latin typeface="Arimo"/>
                <a:ea typeface="Arimo"/>
                <a:cs typeface="Arimo"/>
                <a:sym typeface="Arimo"/>
              </a:rPr>
              <a:t>ro</a:t>
            </a:r>
            <a:r>
              <a:rPr lang="en-US" sz="3000" dirty="0">
                <a:solidFill>
                  <a:srgbClr val="000000"/>
                </a:solidFill>
                <a:latin typeface="Arimo"/>
                <a:ea typeface="Arimo"/>
                <a:cs typeface="Arimo"/>
                <a:sym typeface="Arimo"/>
              </a:rPr>
              <a:t> create more realistic conversation</a:t>
            </a:r>
          </a:p>
          <a:p>
            <a:pPr algn="l">
              <a:lnSpc>
                <a:spcPts val="4200"/>
              </a:lnSpc>
            </a:pPr>
            <a:endParaRPr lang="en-US" sz="3000" dirty="0">
              <a:solidFill>
                <a:srgbClr val="000000"/>
              </a:solidFill>
              <a:latin typeface="Arimo"/>
              <a:ea typeface="Arimo"/>
              <a:cs typeface="Arimo"/>
              <a:sym typeface="Arimo"/>
            </a:endParaRPr>
          </a:p>
        </p:txBody>
      </p:sp>
      <p:pic>
        <p:nvPicPr>
          <p:cNvPr id="10" name="Picture 9" descr="Germany's WDR Implements Text to Speech System for Disaster Messages -  Content + Technology">
            <a:extLst>
              <a:ext uri="{FF2B5EF4-FFF2-40B4-BE49-F238E27FC236}">
                <a16:creationId xmlns:a16="http://schemas.microsoft.com/office/drawing/2014/main" id="{009CCD44-64F3-9237-66BF-50FE06231339}"/>
              </a:ext>
            </a:extLst>
          </p:cNvPr>
          <p:cNvPicPr>
            <a:picLocks noChangeAspect="1"/>
          </p:cNvPicPr>
          <p:nvPr/>
        </p:nvPicPr>
        <p:blipFill>
          <a:blip r:embed="rId5"/>
          <a:stretch>
            <a:fillRect/>
          </a:stretch>
        </p:blipFill>
        <p:spPr>
          <a:xfrm>
            <a:off x="4876800" y="4093304"/>
            <a:ext cx="8534399" cy="4800600"/>
          </a:xfrm>
          <a:prstGeom prst="rect">
            <a:avLst/>
          </a:prstGeom>
        </p:spPr>
      </p:pic>
    </p:spTree>
    <p:extLst>
      <p:ext uri="{BB962C8B-B14F-4D97-AF65-F5344CB8AC3E}">
        <p14:creationId xmlns:p14="http://schemas.microsoft.com/office/powerpoint/2010/main" val="215349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3"/>
            <a:stretch>
              <a:fillRect l="-130" r="-13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4"/>
            <a:stretch>
              <a:fillRect t="-240" b="-240"/>
            </a:stretch>
          </a:blipFill>
        </p:spPr>
        <p:txBody>
          <a:bodyPr/>
          <a:lstStyle/>
          <a:p>
            <a:endParaRPr lang="en-VN"/>
          </a:p>
        </p:txBody>
      </p:sp>
      <p:sp>
        <p:nvSpPr>
          <p:cNvPr id="4" name="Freeform 4"/>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4"/>
            <a:stretch>
              <a:fillRect t="-240" b="-240"/>
            </a:stretch>
          </a:blipFill>
        </p:spPr>
        <p:txBody>
          <a:bodyPr/>
          <a:lstStyle/>
          <a:p>
            <a:endParaRPr lang="en-VN"/>
          </a:p>
        </p:txBody>
      </p:sp>
      <p:sp>
        <p:nvSpPr>
          <p:cNvPr id="5" name="TextBox 5"/>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Overview</a:t>
            </a:r>
          </a:p>
        </p:txBody>
      </p:sp>
      <p:sp>
        <p:nvSpPr>
          <p:cNvPr id="8" name="TextBox 8"/>
          <p:cNvSpPr txBox="1"/>
          <p:nvPr/>
        </p:nvSpPr>
        <p:spPr>
          <a:xfrm>
            <a:off x="1024128" y="2240280"/>
            <a:ext cx="16248888" cy="2107308"/>
          </a:xfrm>
          <a:prstGeom prst="rect">
            <a:avLst/>
          </a:prstGeom>
        </p:spPr>
        <p:txBody>
          <a:bodyPr lIns="0" tIns="0" rIns="0" bIns="0" rtlCol="0" anchor="t">
            <a:spAutoFit/>
          </a:bodyPr>
          <a:lstStyle/>
          <a:p>
            <a:pPr algn="l">
              <a:lnSpc>
                <a:spcPts val="4200"/>
              </a:lnSpc>
            </a:pPr>
            <a:r>
              <a:rPr lang="en-US" sz="3000" dirty="0">
                <a:solidFill>
                  <a:srgbClr val="000000"/>
                </a:solidFill>
                <a:latin typeface="Arimo"/>
                <a:ea typeface="Arimo"/>
                <a:cs typeface="Arimo"/>
                <a:sym typeface="Arimo"/>
              </a:rPr>
              <a:t>Challenge:</a:t>
            </a:r>
          </a:p>
          <a:p>
            <a:pPr marL="457200" indent="-457200" algn="l">
              <a:lnSpc>
                <a:spcPts val="4200"/>
              </a:lnSpc>
              <a:buFontTx/>
              <a:buChar char="-"/>
            </a:pPr>
            <a:r>
              <a:rPr lang="en-US" sz="3000" dirty="0">
                <a:solidFill>
                  <a:srgbClr val="000000"/>
                </a:solidFill>
                <a:latin typeface="Arimo"/>
                <a:ea typeface="Arimo"/>
                <a:cs typeface="Arimo"/>
                <a:sym typeface="Arimo"/>
              </a:rPr>
              <a:t>Open source and commercial model fail frequently on Vietnamese</a:t>
            </a:r>
          </a:p>
          <a:p>
            <a:pPr marL="457200" indent="-457200" algn="l">
              <a:lnSpc>
                <a:spcPts val="4200"/>
              </a:lnSpc>
              <a:buFontTx/>
              <a:buChar char="-"/>
            </a:pPr>
            <a:r>
              <a:rPr lang="en-US" sz="3000" dirty="0">
                <a:solidFill>
                  <a:srgbClr val="000000"/>
                </a:solidFill>
                <a:latin typeface="Arimo"/>
                <a:ea typeface="Arimo"/>
                <a:cs typeface="Arimo"/>
                <a:sym typeface="Arimo"/>
              </a:rPr>
              <a:t>No TTS + NVV dataset </a:t>
            </a:r>
          </a:p>
          <a:p>
            <a:pPr marL="457200" indent="-457200" algn="l">
              <a:lnSpc>
                <a:spcPts val="4200"/>
              </a:lnSpc>
              <a:buFontTx/>
              <a:buChar char="-"/>
            </a:pPr>
            <a:endParaRPr lang="en-US" sz="3000" dirty="0">
              <a:solidFill>
                <a:srgbClr val="000000"/>
              </a:solidFill>
              <a:latin typeface="Arimo"/>
              <a:ea typeface="Arimo"/>
              <a:cs typeface="Arimo"/>
              <a:sym typeface="Arim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3"/>
            <a:stretch>
              <a:fillRect l="-130" r="-13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4"/>
            <a:stretch>
              <a:fillRect t="-240" b="-240"/>
            </a:stretch>
          </a:blipFill>
        </p:spPr>
        <p:txBody>
          <a:bodyPr/>
          <a:lstStyle/>
          <a:p>
            <a:endParaRPr lang="en-VN"/>
          </a:p>
        </p:txBody>
      </p:sp>
      <p:sp>
        <p:nvSpPr>
          <p:cNvPr id="4" name="Freeform 4"/>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4"/>
            <a:stretch>
              <a:fillRect t="-240" b="-240"/>
            </a:stretch>
          </a:blipFill>
        </p:spPr>
        <p:txBody>
          <a:bodyPr/>
          <a:lstStyle/>
          <a:p>
            <a:endParaRPr lang="en-VN"/>
          </a:p>
        </p:txBody>
      </p:sp>
      <p:sp>
        <p:nvSpPr>
          <p:cNvPr id="5" name="TextBox 5"/>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Method</a:t>
            </a:r>
          </a:p>
        </p:txBody>
      </p:sp>
      <p:sp>
        <p:nvSpPr>
          <p:cNvPr id="8" name="TextBox 8"/>
          <p:cNvSpPr txBox="1"/>
          <p:nvPr/>
        </p:nvSpPr>
        <p:spPr>
          <a:xfrm>
            <a:off x="1024128" y="2240280"/>
            <a:ext cx="16248888" cy="1188720"/>
          </a:xfrm>
          <a:prstGeom prst="rect">
            <a:avLst/>
          </a:prstGeom>
        </p:spPr>
        <p:txBody>
          <a:bodyPr lIns="0" tIns="0" rIns="0" bIns="0" rtlCol="0" anchor="t">
            <a:spAutoFit/>
          </a:bodyPr>
          <a:lstStyle/>
          <a:p>
            <a:pPr algn="l">
              <a:lnSpc>
                <a:spcPts val="4200"/>
              </a:lnSpc>
            </a:pPr>
            <a:r>
              <a:rPr lang="en-US" sz="3000" dirty="0">
                <a:solidFill>
                  <a:srgbClr val="000000"/>
                </a:solidFill>
                <a:latin typeface="Arimo"/>
                <a:ea typeface="Arimo"/>
                <a:cs typeface="Arimo"/>
                <a:sym typeface="Arimo"/>
              </a:rPr>
              <a:t>We synthesize tagged Vietnamese NVV speech, then fine-tune OmniVoice so an inline tag such as [laughter] produces that sound in the cloned voice.</a:t>
            </a:r>
          </a:p>
        </p:txBody>
      </p:sp>
      <p:pic>
        <p:nvPicPr>
          <p:cNvPr id="9" name="Figure overview" descr="Overview: (a) training-data synthesis in six steps, (b) fine-tuning and inference"/>
          <p:cNvPicPr>
            <a:picLocks noChangeAspect="1"/>
          </p:cNvPicPr>
          <p:nvPr/>
        </p:nvPicPr>
        <p:blipFill>
          <a:blip r:embed="rId5"/>
          <a:stretch>
            <a:fillRect/>
          </a:stretch>
        </p:blipFill>
        <p:spPr>
          <a:xfrm>
            <a:off x="4906710" y="3611880"/>
            <a:ext cx="8474579" cy="544068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2"/>
            <a:stretch>
              <a:fillRect l="-130" r="-13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4" name="Freeform 4"/>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5" name="TextBox 5"/>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NVV clip pool</a:t>
            </a:r>
          </a:p>
        </p:txBody>
      </p:sp>
      <p:sp>
        <p:nvSpPr>
          <p:cNvPr id="8" name="TextBox 8"/>
          <p:cNvSpPr txBox="1"/>
          <p:nvPr/>
        </p:nvSpPr>
        <p:spPr>
          <a:xfrm>
            <a:off x="1024128" y="2240280"/>
            <a:ext cx="16248888" cy="1188720"/>
          </a:xfrm>
          <a:prstGeom prst="rect">
            <a:avLst/>
          </a:prstGeom>
        </p:spPr>
        <p:txBody>
          <a:bodyPr lIns="0" tIns="0" rIns="0" bIns="0" rtlCol="0" anchor="t">
            <a:spAutoFit/>
          </a:bodyPr>
          <a:lstStyle/>
          <a:p>
            <a:pPr algn="l">
              <a:lnSpc>
                <a:spcPts val="4200"/>
              </a:lnSpc>
            </a:pPr>
            <a:r>
              <a:rPr lang="en-US" sz="3000" dirty="0">
                <a:solidFill>
                  <a:srgbClr val="000000"/>
                </a:solidFill>
                <a:latin typeface="Arimo"/>
                <a:ea typeface="Arimo"/>
                <a:cs typeface="Arimo"/>
                <a:sym typeface="Arimo"/>
              </a:rPr>
              <a:t>Built once before synthesis: clean, isolated NVV clips pooled from several corpora into 14 classes.</a:t>
            </a:r>
          </a:p>
        </p:txBody>
      </p:sp>
      <p:sp>
        <p:nvSpPr>
          <p:cNvPr id="9" name="Step 0"/>
          <p:cNvSpPr txBox="1"/>
          <p:nvPr/>
        </p:nvSpPr>
        <p:spPr>
          <a:xfrm>
            <a:off x="1531620" y="8229600"/>
            <a:ext cx="2057400" cy="457200"/>
          </a:xfrm>
          <a:prstGeom prst="roundRect">
            <a:avLst>
              <a:gd name="adj" fmla="val 50000"/>
            </a:avLst>
          </a:prstGeom>
          <a:solidFill>
            <a:srgbClr val="E80500"/>
          </a:solidFill>
          <a:ln>
            <a:noFill/>
          </a:ln>
        </p:spPr>
        <p:txBody>
          <a:bodyPr wrap="square" lIns="45720" tIns="0" rIns="45720" bIns="0" rtlCol="0" anchor="ctr">
            <a:noAutofit/>
          </a:bodyPr>
          <a:lstStyle/>
          <a:p>
            <a:pPr algn="ctr"/>
            <a:r>
              <a:rPr lang="en-US" sz="1600" dirty="0">
                <a:solidFill>
                  <a:srgbClr val="FFFFFF"/>
                </a:solidFill>
                <a:latin typeface="Arimo Bold"/>
                <a:ea typeface="Arimo Bold"/>
                <a:cs typeface="Arimo Bold"/>
                <a:sym typeface="Arimo Bold"/>
              </a:rPr>
              <a:t>Clip pool</a:t>
            </a:r>
          </a:p>
        </p:txBody>
      </p:sp>
      <p:sp>
        <p:nvSpPr>
          <p:cNvPr id="10" name="Step 1"/>
          <p:cNvSpPr txBox="1"/>
          <p:nvPr/>
        </p:nvSpPr>
        <p:spPr>
          <a:xfrm>
            <a:off x="372618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1  Slot finding</a:t>
            </a:r>
          </a:p>
        </p:txBody>
      </p:sp>
      <p:sp>
        <p:nvSpPr>
          <p:cNvPr id="11" name="Step 2"/>
          <p:cNvSpPr txBox="1"/>
          <p:nvPr/>
        </p:nvSpPr>
        <p:spPr>
          <a:xfrm>
            <a:off x="592074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2  Tag selection</a:t>
            </a:r>
          </a:p>
        </p:txBody>
      </p:sp>
      <p:sp>
        <p:nvSpPr>
          <p:cNvPr id="12" name="Step 3"/>
          <p:cNvSpPr txBox="1"/>
          <p:nvPr/>
        </p:nvSpPr>
        <p:spPr>
          <a:xfrm>
            <a:off x="811530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3  Clip selection</a:t>
            </a:r>
          </a:p>
        </p:txBody>
      </p:sp>
      <p:sp>
        <p:nvSpPr>
          <p:cNvPr id="13" name="Step 4"/>
          <p:cNvSpPr txBox="1"/>
          <p:nvPr/>
        </p:nvSpPr>
        <p:spPr>
          <a:xfrm>
            <a:off x="1030986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4  Voice conversion</a:t>
            </a:r>
          </a:p>
        </p:txBody>
      </p:sp>
      <p:sp>
        <p:nvSpPr>
          <p:cNvPr id="14" name="Step 5"/>
          <p:cNvSpPr txBox="1"/>
          <p:nvPr/>
        </p:nvSpPr>
        <p:spPr>
          <a:xfrm>
            <a:off x="1250442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5  Splicing</a:t>
            </a:r>
          </a:p>
        </p:txBody>
      </p:sp>
      <p:sp>
        <p:nvSpPr>
          <p:cNvPr id="15" name="Step 6"/>
          <p:cNvSpPr txBox="1"/>
          <p:nvPr/>
        </p:nvSpPr>
        <p:spPr>
          <a:xfrm>
            <a:off x="1469898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6  Filter</a:t>
            </a:r>
          </a:p>
        </p:txBody>
      </p:sp>
      <p:sp>
        <p:nvSpPr>
          <p:cNvPr id="16" name="Group From VocalSound"/>
          <p:cNvSpPr txBox="1"/>
          <p:nvPr/>
        </p:nvSpPr>
        <p:spPr>
          <a:xfrm>
            <a:off x="1531620" y="3749040"/>
            <a:ext cx="15224760" cy="457200"/>
          </a:xfrm>
          <a:prstGeom prst="rect">
            <a:avLst/>
          </a:prstGeom>
          <a:noFill/>
          <a:ln>
            <a:noFill/>
          </a:ln>
        </p:spPr>
        <p:txBody>
          <a:bodyPr wrap="square" lIns="45720" tIns="0" rIns="45720" bIns="0" rtlCol="0" anchor="t">
            <a:noAutofit/>
          </a:bodyPr>
          <a:lstStyle/>
          <a:p>
            <a:pPr algn="l"/>
            <a:r>
              <a:rPr lang="en-US" sz="2400" dirty="0">
                <a:solidFill>
                  <a:srgbClr val="404155"/>
                </a:solidFill>
                <a:latin typeface="Arimo Bold"/>
                <a:ea typeface="Arimo Bold"/>
                <a:cs typeface="Arimo Bold"/>
                <a:sym typeface="Arimo Bold"/>
              </a:rPr>
              <a:t>From VocalSound</a:t>
            </a:r>
          </a:p>
        </p:txBody>
      </p:sp>
      <p:sp>
        <p:nvSpPr>
          <p:cNvPr id="17" name="Tag laughter"/>
          <p:cNvSpPr txBox="1"/>
          <p:nvPr/>
        </p:nvSpPr>
        <p:spPr>
          <a:xfrm>
            <a:off x="1531620" y="4389120"/>
            <a:ext cx="242316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[laughter]</a:t>
            </a:r>
          </a:p>
        </p:txBody>
      </p:sp>
      <p:sp>
        <p:nvSpPr>
          <p:cNvPr id="18" name="Tag sigh"/>
          <p:cNvSpPr txBox="1"/>
          <p:nvPr/>
        </p:nvSpPr>
        <p:spPr>
          <a:xfrm>
            <a:off x="4091940" y="4389120"/>
            <a:ext cx="242316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[sigh]</a:t>
            </a:r>
          </a:p>
        </p:txBody>
      </p:sp>
      <p:sp>
        <p:nvSpPr>
          <p:cNvPr id="19" name="Tag cough"/>
          <p:cNvSpPr txBox="1"/>
          <p:nvPr/>
        </p:nvSpPr>
        <p:spPr>
          <a:xfrm>
            <a:off x="6652260" y="4389120"/>
            <a:ext cx="242316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[cough]</a:t>
            </a:r>
          </a:p>
        </p:txBody>
      </p:sp>
      <p:sp>
        <p:nvSpPr>
          <p:cNvPr id="20" name="Tag throatclearing"/>
          <p:cNvSpPr txBox="1"/>
          <p:nvPr/>
        </p:nvSpPr>
        <p:spPr>
          <a:xfrm>
            <a:off x="9212580" y="4389120"/>
            <a:ext cx="242316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[throatclearing]</a:t>
            </a:r>
          </a:p>
        </p:txBody>
      </p:sp>
      <p:sp>
        <p:nvSpPr>
          <p:cNvPr id="21" name="Tag sneeze"/>
          <p:cNvSpPr txBox="1"/>
          <p:nvPr/>
        </p:nvSpPr>
        <p:spPr>
          <a:xfrm>
            <a:off x="11772900" y="4389120"/>
            <a:ext cx="242316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[sneeze]</a:t>
            </a:r>
          </a:p>
        </p:txBody>
      </p:sp>
      <p:sp>
        <p:nvSpPr>
          <p:cNvPr id="22" name="Tag sniff"/>
          <p:cNvSpPr txBox="1"/>
          <p:nvPr/>
        </p:nvSpPr>
        <p:spPr>
          <a:xfrm>
            <a:off x="14333220" y="4389120"/>
            <a:ext cx="242316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[sniff]</a:t>
            </a:r>
          </a:p>
        </p:txBody>
      </p:sp>
      <p:sp>
        <p:nvSpPr>
          <p:cNvPr id="23" name="Group Added from other NVV corpora and tagged speech"/>
          <p:cNvSpPr txBox="1"/>
          <p:nvPr/>
        </p:nvSpPr>
        <p:spPr>
          <a:xfrm>
            <a:off x="1531620" y="5760720"/>
            <a:ext cx="15224760" cy="457200"/>
          </a:xfrm>
          <a:prstGeom prst="rect">
            <a:avLst/>
          </a:prstGeom>
          <a:noFill/>
          <a:ln>
            <a:noFill/>
          </a:ln>
        </p:spPr>
        <p:txBody>
          <a:bodyPr wrap="square" lIns="45720" tIns="0" rIns="45720" bIns="0" rtlCol="0" anchor="t">
            <a:noAutofit/>
          </a:bodyPr>
          <a:lstStyle/>
          <a:p>
            <a:pPr algn="l"/>
            <a:r>
              <a:rPr lang="en-US" sz="2400" dirty="0">
                <a:solidFill>
                  <a:srgbClr val="404155"/>
                </a:solidFill>
                <a:latin typeface="Arimo Bold"/>
                <a:ea typeface="Arimo Bold"/>
                <a:cs typeface="Arimo Bold"/>
                <a:sym typeface="Arimo Bold"/>
              </a:rPr>
              <a:t>Added from other NVV corpora and tagged speech</a:t>
            </a:r>
          </a:p>
        </p:txBody>
      </p:sp>
      <p:sp>
        <p:nvSpPr>
          <p:cNvPr id="24" name="Tag breathing"/>
          <p:cNvSpPr txBox="1"/>
          <p:nvPr/>
        </p:nvSpPr>
        <p:spPr>
          <a:xfrm>
            <a:off x="1531620" y="6400800"/>
            <a:ext cx="178308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[breathing]</a:t>
            </a:r>
          </a:p>
        </p:txBody>
      </p:sp>
      <p:sp>
        <p:nvSpPr>
          <p:cNvPr id="25" name="Tag screaming"/>
          <p:cNvSpPr txBox="1"/>
          <p:nvPr/>
        </p:nvSpPr>
        <p:spPr>
          <a:xfrm>
            <a:off x="3451860" y="6400800"/>
            <a:ext cx="178308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[screaming]</a:t>
            </a:r>
          </a:p>
        </p:txBody>
      </p:sp>
      <p:sp>
        <p:nvSpPr>
          <p:cNvPr id="26" name="Tag gasp"/>
          <p:cNvSpPr txBox="1"/>
          <p:nvPr/>
        </p:nvSpPr>
        <p:spPr>
          <a:xfrm>
            <a:off x="5372100" y="6400800"/>
            <a:ext cx="178308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[gasp]</a:t>
            </a:r>
          </a:p>
        </p:txBody>
      </p:sp>
      <p:sp>
        <p:nvSpPr>
          <p:cNvPr id="27" name="Tag snoring"/>
          <p:cNvSpPr txBox="1"/>
          <p:nvPr/>
        </p:nvSpPr>
        <p:spPr>
          <a:xfrm>
            <a:off x="7292340" y="6400800"/>
            <a:ext cx="178308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[snoring]</a:t>
            </a:r>
          </a:p>
        </p:txBody>
      </p:sp>
      <p:sp>
        <p:nvSpPr>
          <p:cNvPr id="28" name="Tag crying"/>
          <p:cNvSpPr txBox="1"/>
          <p:nvPr/>
        </p:nvSpPr>
        <p:spPr>
          <a:xfrm>
            <a:off x="9212580" y="6400800"/>
            <a:ext cx="178308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[crying]</a:t>
            </a:r>
          </a:p>
        </p:txBody>
      </p:sp>
      <p:sp>
        <p:nvSpPr>
          <p:cNvPr id="29" name="Tag yawn"/>
          <p:cNvSpPr txBox="1"/>
          <p:nvPr/>
        </p:nvSpPr>
        <p:spPr>
          <a:xfrm>
            <a:off x="11132820" y="6400800"/>
            <a:ext cx="178308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[yawn]</a:t>
            </a:r>
          </a:p>
        </p:txBody>
      </p:sp>
      <p:sp>
        <p:nvSpPr>
          <p:cNvPr id="30" name="Tag moan"/>
          <p:cNvSpPr txBox="1"/>
          <p:nvPr/>
        </p:nvSpPr>
        <p:spPr>
          <a:xfrm>
            <a:off x="13053060" y="6400800"/>
            <a:ext cx="178308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[moan]</a:t>
            </a:r>
          </a:p>
        </p:txBody>
      </p:sp>
      <p:sp>
        <p:nvSpPr>
          <p:cNvPr id="31" name="Tag pant"/>
          <p:cNvSpPr txBox="1"/>
          <p:nvPr/>
        </p:nvSpPr>
        <p:spPr>
          <a:xfrm>
            <a:off x="14973300" y="6400800"/>
            <a:ext cx="1783080" cy="731520"/>
          </a:xfrm>
          <a:prstGeom prst="roundRect">
            <a:avLst>
              <a:gd name="adj" fmla="val 30000"/>
            </a:avLst>
          </a:prstGeom>
          <a:solidFill>
            <a:srgbClr val="FDECEC"/>
          </a:solidFill>
          <a:ln>
            <a:noFill/>
          </a:ln>
        </p:spPr>
        <p:txBody>
          <a:bodyPr wrap="square" lIns="45720" tIns="0" rIns="45720" bIns="0" rtlCol="0" anchor="ctr">
            <a:noAutofit/>
          </a:bodyPr>
          <a:lstStyle/>
          <a:p>
            <a:pPr algn="ctr"/>
            <a:r>
              <a:rPr lang="en-US" sz="2000" dirty="0">
                <a:solidFill>
                  <a:srgbClr val="B30400"/>
                </a:solidFill>
                <a:latin typeface="Arimo"/>
                <a:ea typeface="Arimo"/>
                <a:cs typeface="Arimo"/>
                <a:sym typeface="Arimo"/>
              </a:rPr>
              <a:t>[pant]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2"/>
            <a:stretch>
              <a:fillRect l="-130" r="-13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4" name="Freeform 4"/>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5" name="TextBox 5"/>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Slot finding</a:t>
            </a:r>
          </a:p>
        </p:txBody>
      </p:sp>
      <p:sp>
        <p:nvSpPr>
          <p:cNvPr id="8" name="TextBox 8"/>
          <p:cNvSpPr txBox="1"/>
          <p:nvPr/>
        </p:nvSpPr>
        <p:spPr>
          <a:xfrm>
            <a:off x="1024128" y="2240280"/>
            <a:ext cx="16248888" cy="1188720"/>
          </a:xfrm>
          <a:prstGeom prst="rect">
            <a:avLst/>
          </a:prstGeom>
        </p:spPr>
        <p:txBody>
          <a:bodyPr lIns="0" tIns="0" rIns="0" bIns="0" rtlCol="0" anchor="t">
            <a:spAutoFit/>
          </a:bodyPr>
          <a:lstStyle/>
          <a:p>
            <a:pPr algn="l">
              <a:lnSpc>
                <a:spcPts val="4200"/>
              </a:lnSpc>
            </a:pPr>
            <a:r>
              <a:rPr lang="en-US" sz="3000" dirty="0">
                <a:solidFill>
                  <a:srgbClr val="000000"/>
                </a:solidFill>
                <a:latin typeface="Arimo"/>
                <a:ea typeface="Arimo"/>
                <a:cs typeface="Arimo"/>
                <a:sym typeface="Arimo"/>
              </a:rPr>
              <a:t>A voice activity detector and a forced aligner find the pauses between words, and each becomes a numbered slot in the transcript.</a:t>
            </a:r>
          </a:p>
        </p:txBody>
      </p:sp>
      <p:pic>
        <p:nvPicPr>
          <p:cNvPr id="9" name="Figure slot" descr="Waveform with two pauses marked as slots &lt;1&gt; and &lt;2&gt; in the transcript"/>
          <p:cNvPicPr>
            <a:picLocks noChangeAspect="1"/>
          </p:cNvPicPr>
          <p:nvPr/>
        </p:nvPicPr>
        <p:blipFill>
          <a:blip r:embed="rId4"/>
          <a:stretch>
            <a:fillRect/>
          </a:stretch>
        </p:blipFill>
        <p:spPr>
          <a:xfrm>
            <a:off x="4151350" y="3657600"/>
            <a:ext cx="9985300" cy="4206240"/>
          </a:xfrm>
          <a:prstGeom prst="rect">
            <a:avLst/>
          </a:prstGeom>
        </p:spPr>
      </p:pic>
      <p:sp>
        <p:nvSpPr>
          <p:cNvPr id="10" name="Step 0"/>
          <p:cNvSpPr txBox="1"/>
          <p:nvPr/>
        </p:nvSpPr>
        <p:spPr>
          <a:xfrm>
            <a:off x="153162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Clip pool</a:t>
            </a:r>
          </a:p>
        </p:txBody>
      </p:sp>
      <p:sp>
        <p:nvSpPr>
          <p:cNvPr id="11" name="Step 1"/>
          <p:cNvSpPr txBox="1"/>
          <p:nvPr/>
        </p:nvSpPr>
        <p:spPr>
          <a:xfrm>
            <a:off x="3726180" y="8229600"/>
            <a:ext cx="2057400" cy="457200"/>
          </a:xfrm>
          <a:prstGeom prst="roundRect">
            <a:avLst>
              <a:gd name="adj" fmla="val 50000"/>
            </a:avLst>
          </a:prstGeom>
          <a:solidFill>
            <a:srgbClr val="E80500"/>
          </a:solidFill>
          <a:ln>
            <a:noFill/>
          </a:ln>
        </p:spPr>
        <p:txBody>
          <a:bodyPr wrap="square" lIns="45720" tIns="0" rIns="45720" bIns="0" rtlCol="0" anchor="ctr">
            <a:noAutofit/>
          </a:bodyPr>
          <a:lstStyle/>
          <a:p>
            <a:pPr algn="ctr"/>
            <a:r>
              <a:rPr lang="en-US" sz="1600" dirty="0">
                <a:solidFill>
                  <a:srgbClr val="FFFFFF"/>
                </a:solidFill>
                <a:latin typeface="Arimo Bold"/>
                <a:ea typeface="Arimo Bold"/>
                <a:cs typeface="Arimo Bold"/>
                <a:sym typeface="Arimo Bold"/>
              </a:rPr>
              <a:t>1  Slot finding</a:t>
            </a:r>
          </a:p>
        </p:txBody>
      </p:sp>
      <p:sp>
        <p:nvSpPr>
          <p:cNvPr id="12" name="Step 2"/>
          <p:cNvSpPr txBox="1"/>
          <p:nvPr/>
        </p:nvSpPr>
        <p:spPr>
          <a:xfrm>
            <a:off x="592074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2  Tag selection</a:t>
            </a:r>
          </a:p>
        </p:txBody>
      </p:sp>
      <p:sp>
        <p:nvSpPr>
          <p:cNvPr id="13" name="Step 3"/>
          <p:cNvSpPr txBox="1"/>
          <p:nvPr/>
        </p:nvSpPr>
        <p:spPr>
          <a:xfrm>
            <a:off x="811530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3  Clip selection</a:t>
            </a:r>
          </a:p>
        </p:txBody>
      </p:sp>
      <p:sp>
        <p:nvSpPr>
          <p:cNvPr id="14" name="Step 4"/>
          <p:cNvSpPr txBox="1"/>
          <p:nvPr/>
        </p:nvSpPr>
        <p:spPr>
          <a:xfrm>
            <a:off x="1030986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4  Voice conversion</a:t>
            </a:r>
          </a:p>
        </p:txBody>
      </p:sp>
      <p:sp>
        <p:nvSpPr>
          <p:cNvPr id="15" name="Step 5"/>
          <p:cNvSpPr txBox="1"/>
          <p:nvPr/>
        </p:nvSpPr>
        <p:spPr>
          <a:xfrm>
            <a:off x="1250442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5  Splicing</a:t>
            </a:r>
          </a:p>
        </p:txBody>
      </p:sp>
      <p:sp>
        <p:nvSpPr>
          <p:cNvPr id="16" name="Step 6"/>
          <p:cNvSpPr txBox="1"/>
          <p:nvPr/>
        </p:nvSpPr>
        <p:spPr>
          <a:xfrm>
            <a:off x="1469898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6  Filter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2"/>
            <a:stretch>
              <a:fillRect l="-130" r="-13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4" name="Freeform 4"/>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5" name="TextBox 5"/>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Tag selection</a:t>
            </a:r>
          </a:p>
        </p:txBody>
      </p:sp>
      <p:sp>
        <p:nvSpPr>
          <p:cNvPr id="8" name="TextBox 8"/>
          <p:cNvSpPr txBox="1"/>
          <p:nvPr/>
        </p:nvSpPr>
        <p:spPr>
          <a:xfrm>
            <a:off x="1024128" y="2240280"/>
            <a:ext cx="16248888" cy="1568699"/>
          </a:xfrm>
          <a:prstGeom prst="rect">
            <a:avLst/>
          </a:prstGeom>
        </p:spPr>
        <p:txBody>
          <a:bodyPr lIns="0" tIns="0" rIns="0" bIns="0" rtlCol="0" anchor="t">
            <a:spAutoFit/>
          </a:bodyPr>
          <a:lstStyle/>
          <a:p>
            <a:pPr algn="l">
              <a:lnSpc>
                <a:spcPts val="4200"/>
              </a:lnSpc>
            </a:pPr>
            <a:r>
              <a:rPr lang="en-US" sz="3000" dirty="0">
                <a:solidFill>
                  <a:srgbClr val="000000"/>
                </a:solidFill>
                <a:latin typeface="Arimo"/>
                <a:ea typeface="Arimo"/>
                <a:cs typeface="Arimo"/>
                <a:sym typeface="Arimo"/>
              </a:rPr>
              <a:t>Qwen3-Omni listens to the recording and picks one slot and the NVV tag that best fits what the speaker is doing there.</a:t>
            </a:r>
          </a:p>
          <a:p>
            <a:pPr algn="l">
              <a:lnSpc>
                <a:spcPts val="4200"/>
              </a:lnSpc>
            </a:pPr>
            <a:r>
              <a:rPr lang="en-US" sz="3000" dirty="0">
                <a:solidFill>
                  <a:srgbClr val="000000"/>
                </a:solidFill>
                <a:latin typeface="Arimo"/>
                <a:ea typeface="Arimo"/>
                <a:cs typeface="Arimo"/>
                <a:sym typeface="Arimo"/>
              </a:rPr>
              <a:t>* Qwen3-Omni: LLM model with capacity to tokenize and understand audio</a:t>
            </a:r>
          </a:p>
        </p:txBody>
      </p:sp>
      <p:pic>
        <p:nvPicPr>
          <p:cNvPr id="9" name="Figure tag" descr="Audio and slots go into Qwen3-Omni, which outputs slot &lt;1&gt; with tag [laughter]"/>
          <p:cNvPicPr>
            <a:picLocks noChangeAspect="1"/>
          </p:cNvPicPr>
          <p:nvPr/>
        </p:nvPicPr>
        <p:blipFill>
          <a:blip r:embed="rId4"/>
          <a:stretch>
            <a:fillRect/>
          </a:stretch>
        </p:blipFill>
        <p:spPr>
          <a:xfrm>
            <a:off x="4579789" y="4384500"/>
            <a:ext cx="9128422" cy="3662220"/>
          </a:xfrm>
          <a:prstGeom prst="rect">
            <a:avLst/>
          </a:prstGeom>
        </p:spPr>
      </p:pic>
      <p:sp>
        <p:nvSpPr>
          <p:cNvPr id="10" name="Step 0"/>
          <p:cNvSpPr txBox="1"/>
          <p:nvPr/>
        </p:nvSpPr>
        <p:spPr>
          <a:xfrm>
            <a:off x="153162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Clip pool</a:t>
            </a:r>
          </a:p>
        </p:txBody>
      </p:sp>
      <p:sp>
        <p:nvSpPr>
          <p:cNvPr id="11" name="Step 1"/>
          <p:cNvSpPr txBox="1"/>
          <p:nvPr/>
        </p:nvSpPr>
        <p:spPr>
          <a:xfrm>
            <a:off x="372618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1  Slot finding</a:t>
            </a:r>
          </a:p>
        </p:txBody>
      </p:sp>
      <p:sp>
        <p:nvSpPr>
          <p:cNvPr id="12" name="Step 2"/>
          <p:cNvSpPr txBox="1"/>
          <p:nvPr/>
        </p:nvSpPr>
        <p:spPr>
          <a:xfrm>
            <a:off x="5920740" y="8229600"/>
            <a:ext cx="2057400" cy="457200"/>
          </a:xfrm>
          <a:prstGeom prst="roundRect">
            <a:avLst>
              <a:gd name="adj" fmla="val 50000"/>
            </a:avLst>
          </a:prstGeom>
          <a:solidFill>
            <a:srgbClr val="E80500"/>
          </a:solidFill>
          <a:ln>
            <a:noFill/>
          </a:ln>
        </p:spPr>
        <p:txBody>
          <a:bodyPr wrap="square" lIns="45720" tIns="0" rIns="45720" bIns="0" rtlCol="0" anchor="ctr">
            <a:noAutofit/>
          </a:bodyPr>
          <a:lstStyle/>
          <a:p>
            <a:pPr algn="ctr"/>
            <a:r>
              <a:rPr lang="en-US" sz="1600" dirty="0">
                <a:solidFill>
                  <a:srgbClr val="FFFFFF"/>
                </a:solidFill>
                <a:latin typeface="Arimo Bold"/>
                <a:ea typeface="Arimo Bold"/>
                <a:cs typeface="Arimo Bold"/>
                <a:sym typeface="Arimo Bold"/>
              </a:rPr>
              <a:t>2  Tag selection</a:t>
            </a:r>
          </a:p>
        </p:txBody>
      </p:sp>
      <p:sp>
        <p:nvSpPr>
          <p:cNvPr id="13" name="Step 3"/>
          <p:cNvSpPr txBox="1"/>
          <p:nvPr/>
        </p:nvSpPr>
        <p:spPr>
          <a:xfrm>
            <a:off x="811530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3  Clip selection</a:t>
            </a:r>
          </a:p>
        </p:txBody>
      </p:sp>
      <p:sp>
        <p:nvSpPr>
          <p:cNvPr id="14" name="Step 4"/>
          <p:cNvSpPr txBox="1"/>
          <p:nvPr/>
        </p:nvSpPr>
        <p:spPr>
          <a:xfrm>
            <a:off x="1030986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4  Voice conversion</a:t>
            </a:r>
          </a:p>
        </p:txBody>
      </p:sp>
      <p:sp>
        <p:nvSpPr>
          <p:cNvPr id="15" name="Step 5"/>
          <p:cNvSpPr txBox="1"/>
          <p:nvPr/>
        </p:nvSpPr>
        <p:spPr>
          <a:xfrm>
            <a:off x="1250442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5  Splicing</a:t>
            </a:r>
          </a:p>
        </p:txBody>
      </p:sp>
      <p:sp>
        <p:nvSpPr>
          <p:cNvPr id="16" name="Step 6"/>
          <p:cNvSpPr txBox="1"/>
          <p:nvPr/>
        </p:nvSpPr>
        <p:spPr>
          <a:xfrm>
            <a:off x="1469898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6  Filter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2"/>
            <a:stretch>
              <a:fillRect l="-130" r="-13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4" name="Freeform 4"/>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5" name="TextBox 5"/>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Clip selection</a:t>
            </a:r>
          </a:p>
        </p:txBody>
      </p:sp>
      <p:sp>
        <p:nvSpPr>
          <p:cNvPr id="8" name="TextBox 8"/>
          <p:cNvSpPr txBox="1"/>
          <p:nvPr/>
        </p:nvSpPr>
        <p:spPr>
          <a:xfrm>
            <a:off x="1024128" y="2240280"/>
            <a:ext cx="16248888" cy="1188720"/>
          </a:xfrm>
          <a:prstGeom prst="rect">
            <a:avLst/>
          </a:prstGeom>
        </p:spPr>
        <p:txBody>
          <a:bodyPr lIns="0" tIns="0" rIns="0" bIns="0" rtlCol="0" anchor="t">
            <a:spAutoFit/>
          </a:bodyPr>
          <a:lstStyle/>
          <a:p>
            <a:pPr algn="l">
              <a:lnSpc>
                <a:spcPts val="4200"/>
              </a:lnSpc>
            </a:pPr>
            <a:r>
              <a:rPr lang="en-US" sz="3000" dirty="0">
                <a:solidFill>
                  <a:srgbClr val="000000"/>
                </a:solidFill>
                <a:latin typeface="Arimo"/>
                <a:ea typeface="Arimo"/>
                <a:cs typeface="Arimo"/>
                <a:sym typeface="Arimo"/>
              </a:rPr>
              <a:t>A clip of that class is sampled, weighted towards clips that match the speaker's intensity, clarity, tempo and tilt.</a:t>
            </a:r>
          </a:p>
        </p:txBody>
      </p:sp>
      <p:pic>
        <p:nvPicPr>
          <p:cNvPr id="9" name="Figure clip" descr="Candidate NVV clips from the pool, weighted by p proportional to exp(-sum lambda d)"/>
          <p:cNvPicPr>
            <a:picLocks noChangeAspect="1"/>
          </p:cNvPicPr>
          <p:nvPr/>
        </p:nvPicPr>
        <p:blipFill>
          <a:blip r:embed="rId4"/>
          <a:stretch>
            <a:fillRect/>
          </a:stretch>
        </p:blipFill>
        <p:spPr>
          <a:xfrm>
            <a:off x="3336273" y="3657600"/>
            <a:ext cx="11615454" cy="4206240"/>
          </a:xfrm>
          <a:prstGeom prst="rect">
            <a:avLst/>
          </a:prstGeom>
        </p:spPr>
      </p:pic>
      <p:sp>
        <p:nvSpPr>
          <p:cNvPr id="10" name="Step 0"/>
          <p:cNvSpPr txBox="1"/>
          <p:nvPr/>
        </p:nvSpPr>
        <p:spPr>
          <a:xfrm>
            <a:off x="153162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Clip pool</a:t>
            </a:r>
          </a:p>
        </p:txBody>
      </p:sp>
      <p:sp>
        <p:nvSpPr>
          <p:cNvPr id="11" name="Step 1"/>
          <p:cNvSpPr txBox="1"/>
          <p:nvPr/>
        </p:nvSpPr>
        <p:spPr>
          <a:xfrm>
            <a:off x="372618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1  Slot finding</a:t>
            </a:r>
          </a:p>
        </p:txBody>
      </p:sp>
      <p:sp>
        <p:nvSpPr>
          <p:cNvPr id="12" name="Step 2"/>
          <p:cNvSpPr txBox="1"/>
          <p:nvPr/>
        </p:nvSpPr>
        <p:spPr>
          <a:xfrm>
            <a:off x="592074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2  Tag selection</a:t>
            </a:r>
          </a:p>
        </p:txBody>
      </p:sp>
      <p:sp>
        <p:nvSpPr>
          <p:cNvPr id="13" name="Step 3"/>
          <p:cNvSpPr txBox="1"/>
          <p:nvPr/>
        </p:nvSpPr>
        <p:spPr>
          <a:xfrm>
            <a:off x="8115300" y="8229600"/>
            <a:ext cx="2057400" cy="457200"/>
          </a:xfrm>
          <a:prstGeom prst="roundRect">
            <a:avLst>
              <a:gd name="adj" fmla="val 50000"/>
            </a:avLst>
          </a:prstGeom>
          <a:solidFill>
            <a:srgbClr val="E80500"/>
          </a:solidFill>
          <a:ln>
            <a:noFill/>
          </a:ln>
        </p:spPr>
        <p:txBody>
          <a:bodyPr wrap="square" lIns="45720" tIns="0" rIns="45720" bIns="0" rtlCol="0" anchor="ctr">
            <a:noAutofit/>
          </a:bodyPr>
          <a:lstStyle/>
          <a:p>
            <a:pPr algn="ctr"/>
            <a:r>
              <a:rPr lang="en-US" sz="1600" dirty="0">
                <a:solidFill>
                  <a:srgbClr val="FFFFFF"/>
                </a:solidFill>
                <a:latin typeface="Arimo Bold"/>
                <a:ea typeface="Arimo Bold"/>
                <a:cs typeface="Arimo Bold"/>
                <a:sym typeface="Arimo Bold"/>
              </a:rPr>
              <a:t>3  Clip selection</a:t>
            </a:r>
          </a:p>
        </p:txBody>
      </p:sp>
      <p:sp>
        <p:nvSpPr>
          <p:cNvPr id="14" name="Step 4"/>
          <p:cNvSpPr txBox="1"/>
          <p:nvPr/>
        </p:nvSpPr>
        <p:spPr>
          <a:xfrm>
            <a:off x="1030986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4  Voice conversion</a:t>
            </a:r>
          </a:p>
        </p:txBody>
      </p:sp>
      <p:sp>
        <p:nvSpPr>
          <p:cNvPr id="15" name="Step 5"/>
          <p:cNvSpPr txBox="1"/>
          <p:nvPr/>
        </p:nvSpPr>
        <p:spPr>
          <a:xfrm>
            <a:off x="1250442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5  Splicing</a:t>
            </a:r>
          </a:p>
        </p:txBody>
      </p:sp>
      <p:sp>
        <p:nvSpPr>
          <p:cNvPr id="16" name="Step 6"/>
          <p:cNvSpPr txBox="1"/>
          <p:nvPr/>
        </p:nvSpPr>
        <p:spPr>
          <a:xfrm>
            <a:off x="1469898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6  Filter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2"/>
            <a:stretch>
              <a:fillRect l="-130" r="-13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4" name="Freeform 4"/>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5" name="TextBox 5"/>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Voice conversion</a:t>
            </a:r>
          </a:p>
        </p:txBody>
      </p:sp>
      <p:sp>
        <p:nvSpPr>
          <p:cNvPr id="8" name="TextBox 8"/>
          <p:cNvSpPr txBox="1"/>
          <p:nvPr/>
        </p:nvSpPr>
        <p:spPr>
          <a:xfrm>
            <a:off x="1024128" y="2240280"/>
            <a:ext cx="16248888" cy="1568699"/>
          </a:xfrm>
          <a:prstGeom prst="rect">
            <a:avLst/>
          </a:prstGeom>
        </p:spPr>
        <p:txBody>
          <a:bodyPr lIns="0" tIns="0" rIns="0" bIns="0" rtlCol="0" anchor="t">
            <a:spAutoFit/>
          </a:bodyPr>
          <a:lstStyle/>
          <a:p>
            <a:pPr algn="l">
              <a:lnSpc>
                <a:spcPts val="4200"/>
              </a:lnSpc>
            </a:pPr>
            <a:r>
              <a:rPr lang="en-US" sz="3000" dirty="0">
                <a:solidFill>
                  <a:srgbClr val="000000"/>
                </a:solidFill>
                <a:latin typeface="Arimo"/>
                <a:ea typeface="Arimo"/>
                <a:cs typeface="Arimo"/>
                <a:sym typeface="Arimo"/>
              </a:rPr>
              <a:t>Seed-VC converts the selected clip into the host speaker's voice, using the host utterance as the reference.</a:t>
            </a:r>
          </a:p>
          <a:p>
            <a:pPr algn="l">
              <a:lnSpc>
                <a:spcPct val="100000"/>
              </a:lnSpc>
            </a:pPr>
            <a:r>
              <a:rPr lang="en-US" sz="3000" dirty="0">
                <a:solidFill>
                  <a:srgbClr val="000000"/>
                </a:solidFill>
                <a:latin typeface="Arimo"/>
                <a:ea typeface="Arimo"/>
                <a:cs typeface="Arimo"/>
                <a:sym typeface="Arimo"/>
              </a:rPr>
              <a:t>* Voice conversion system copy original </a:t>
            </a:r>
            <a:r>
              <a:rPr lang="en-US" sz="3000" b="1" dirty="0">
                <a:solidFill>
                  <a:srgbClr val="000000"/>
                </a:solidFill>
                <a:latin typeface="Arimo"/>
                <a:ea typeface="Arimo"/>
                <a:cs typeface="Arimo"/>
                <a:sym typeface="Arimo"/>
              </a:rPr>
              <a:t>prosody</a:t>
            </a:r>
            <a:r>
              <a:rPr lang="en-US" sz="3000" dirty="0">
                <a:solidFill>
                  <a:srgbClr val="000000"/>
                </a:solidFill>
                <a:latin typeface="Arimo"/>
                <a:ea typeface="Arimo"/>
                <a:cs typeface="Arimo"/>
                <a:sym typeface="Arimo"/>
              </a:rPr>
              <a:t> while changing </a:t>
            </a:r>
            <a:r>
              <a:rPr lang="en-US" sz="3000" b="1" dirty="0">
                <a:solidFill>
                  <a:srgbClr val="000000"/>
                </a:solidFill>
                <a:latin typeface="Arimo"/>
                <a:ea typeface="Arimo"/>
                <a:cs typeface="Arimo"/>
                <a:sym typeface="Arimo"/>
              </a:rPr>
              <a:t>timbre</a:t>
            </a:r>
            <a:r>
              <a:rPr lang="en-US" sz="3000" dirty="0">
                <a:solidFill>
                  <a:srgbClr val="000000"/>
                </a:solidFill>
                <a:latin typeface="Arimo"/>
                <a:ea typeface="Arimo"/>
                <a:cs typeface="Arimo"/>
                <a:sym typeface="Arimo"/>
              </a:rPr>
              <a:t> to prompted speaker</a:t>
            </a:r>
          </a:p>
        </p:txBody>
      </p:sp>
      <p:pic>
        <p:nvPicPr>
          <p:cNvPr id="9" name="Figure vc" descr="Seed-VC converts the clip into the host speaker's voice"/>
          <p:cNvPicPr>
            <a:picLocks noChangeAspect="1"/>
          </p:cNvPicPr>
          <p:nvPr/>
        </p:nvPicPr>
        <p:blipFill>
          <a:blip r:embed="rId4"/>
          <a:stretch>
            <a:fillRect/>
          </a:stretch>
        </p:blipFill>
        <p:spPr>
          <a:xfrm>
            <a:off x="4718050" y="4592417"/>
            <a:ext cx="8865570" cy="3304561"/>
          </a:xfrm>
          <a:prstGeom prst="rect">
            <a:avLst/>
          </a:prstGeom>
        </p:spPr>
      </p:pic>
      <p:sp>
        <p:nvSpPr>
          <p:cNvPr id="10" name="Step 0"/>
          <p:cNvSpPr txBox="1"/>
          <p:nvPr/>
        </p:nvSpPr>
        <p:spPr>
          <a:xfrm>
            <a:off x="153162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Clip pool</a:t>
            </a:r>
          </a:p>
        </p:txBody>
      </p:sp>
      <p:sp>
        <p:nvSpPr>
          <p:cNvPr id="11" name="Step 1"/>
          <p:cNvSpPr txBox="1"/>
          <p:nvPr/>
        </p:nvSpPr>
        <p:spPr>
          <a:xfrm>
            <a:off x="372618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1  Slot finding</a:t>
            </a:r>
          </a:p>
        </p:txBody>
      </p:sp>
      <p:sp>
        <p:nvSpPr>
          <p:cNvPr id="12" name="Step 2"/>
          <p:cNvSpPr txBox="1"/>
          <p:nvPr/>
        </p:nvSpPr>
        <p:spPr>
          <a:xfrm>
            <a:off x="592074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2  Tag selection</a:t>
            </a:r>
          </a:p>
        </p:txBody>
      </p:sp>
      <p:sp>
        <p:nvSpPr>
          <p:cNvPr id="13" name="Step 3"/>
          <p:cNvSpPr txBox="1"/>
          <p:nvPr/>
        </p:nvSpPr>
        <p:spPr>
          <a:xfrm>
            <a:off x="811530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3  Clip selection</a:t>
            </a:r>
          </a:p>
        </p:txBody>
      </p:sp>
      <p:sp>
        <p:nvSpPr>
          <p:cNvPr id="14" name="Step 4"/>
          <p:cNvSpPr txBox="1"/>
          <p:nvPr/>
        </p:nvSpPr>
        <p:spPr>
          <a:xfrm>
            <a:off x="10309860" y="8229600"/>
            <a:ext cx="2057400" cy="457200"/>
          </a:xfrm>
          <a:prstGeom prst="roundRect">
            <a:avLst>
              <a:gd name="adj" fmla="val 50000"/>
            </a:avLst>
          </a:prstGeom>
          <a:solidFill>
            <a:srgbClr val="E80500"/>
          </a:solidFill>
          <a:ln>
            <a:noFill/>
          </a:ln>
        </p:spPr>
        <p:txBody>
          <a:bodyPr wrap="square" lIns="45720" tIns="0" rIns="45720" bIns="0" rtlCol="0" anchor="ctr">
            <a:noAutofit/>
          </a:bodyPr>
          <a:lstStyle/>
          <a:p>
            <a:pPr algn="ctr"/>
            <a:r>
              <a:rPr lang="en-US" sz="1600" dirty="0">
                <a:solidFill>
                  <a:srgbClr val="FFFFFF"/>
                </a:solidFill>
                <a:latin typeface="Arimo Bold"/>
                <a:ea typeface="Arimo Bold"/>
                <a:cs typeface="Arimo Bold"/>
                <a:sym typeface="Arimo Bold"/>
              </a:rPr>
              <a:t>4  Voice conversion</a:t>
            </a:r>
          </a:p>
        </p:txBody>
      </p:sp>
      <p:sp>
        <p:nvSpPr>
          <p:cNvPr id="15" name="Step 5"/>
          <p:cNvSpPr txBox="1"/>
          <p:nvPr/>
        </p:nvSpPr>
        <p:spPr>
          <a:xfrm>
            <a:off x="1250442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5  Splicing</a:t>
            </a:r>
          </a:p>
        </p:txBody>
      </p:sp>
      <p:sp>
        <p:nvSpPr>
          <p:cNvPr id="16" name="Step 6"/>
          <p:cNvSpPr txBox="1"/>
          <p:nvPr/>
        </p:nvSpPr>
        <p:spPr>
          <a:xfrm>
            <a:off x="1469898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6  Filter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2"/>
            <a:stretch>
              <a:fillRect l="-130" r="-13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4" name="Freeform 4"/>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5" name="TextBox 5"/>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Splicing</a:t>
            </a:r>
          </a:p>
        </p:txBody>
      </p:sp>
      <p:sp>
        <p:nvSpPr>
          <p:cNvPr id="8" name="TextBox 8"/>
          <p:cNvSpPr txBox="1"/>
          <p:nvPr/>
        </p:nvSpPr>
        <p:spPr>
          <a:xfrm>
            <a:off x="1024128" y="2240280"/>
            <a:ext cx="16248888" cy="1188720"/>
          </a:xfrm>
          <a:prstGeom prst="rect">
            <a:avLst/>
          </a:prstGeom>
        </p:spPr>
        <p:txBody>
          <a:bodyPr lIns="0" tIns="0" rIns="0" bIns="0" rtlCol="0" anchor="t">
            <a:spAutoFit/>
          </a:bodyPr>
          <a:lstStyle/>
          <a:p>
            <a:pPr algn="l">
              <a:lnSpc>
                <a:spcPts val="4200"/>
              </a:lnSpc>
            </a:pPr>
            <a:r>
              <a:rPr lang="en-US" sz="3000" dirty="0">
                <a:solidFill>
                  <a:srgbClr val="000000"/>
                </a:solidFill>
                <a:latin typeface="Arimo"/>
                <a:ea typeface="Arimo"/>
                <a:cs typeface="Arimo"/>
                <a:sym typeface="Arimo"/>
              </a:rPr>
              <a:t>The converted event is loudness-matched and spliced into the pause, with natural silence on each side.</a:t>
            </a:r>
          </a:p>
        </p:txBody>
      </p:sp>
      <p:pic>
        <p:nvPicPr>
          <p:cNvPr id="9" name="Figure splice" descr="Converted laughter spliced into the pause; transcript now reads [laughter] at the slot"/>
          <p:cNvPicPr>
            <a:picLocks noChangeAspect="1"/>
          </p:cNvPicPr>
          <p:nvPr/>
        </p:nvPicPr>
        <p:blipFill>
          <a:blip r:embed="rId4"/>
          <a:stretch>
            <a:fillRect/>
          </a:stretch>
        </p:blipFill>
        <p:spPr>
          <a:xfrm>
            <a:off x="3173476" y="3657600"/>
            <a:ext cx="11941048" cy="4206240"/>
          </a:xfrm>
          <a:prstGeom prst="rect">
            <a:avLst/>
          </a:prstGeom>
        </p:spPr>
      </p:pic>
      <p:sp>
        <p:nvSpPr>
          <p:cNvPr id="10" name="Step 0"/>
          <p:cNvSpPr txBox="1"/>
          <p:nvPr/>
        </p:nvSpPr>
        <p:spPr>
          <a:xfrm>
            <a:off x="153162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Clip pool</a:t>
            </a:r>
          </a:p>
        </p:txBody>
      </p:sp>
      <p:sp>
        <p:nvSpPr>
          <p:cNvPr id="11" name="Step 1"/>
          <p:cNvSpPr txBox="1"/>
          <p:nvPr/>
        </p:nvSpPr>
        <p:spPr>
          <a:xfrm>
            <a:off x="372618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1  Slot finding</a:t>
            </a:r>
          </a:p>
        </p:txBody>
      </p:sp>
      <p:sp>
        <p:nvSpPr>
          <p:cNvPr id="12" name="Step 2"/>
          <p:cNvSpPr txBox="1"/>
          <p:nvPr/>
        </p:nvSpPr>
        <p:spPr>
          <a:xfrm>
            <a:off x="592074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2  Tag selection</a:t>
            </a:r>
          </a:p>
        </p:txBody>
      </p:sp>
      <p:sp>
        <p:nvSpPr>
          <p:cNvPr id="13" name="Step 3"/>
          <p:cNvSpPr txBox="1"/>
          <p:nvPr/>
        </p:nvSpPr>
        <p:spPr>
          <a:xfrm>
            <a:off x="811530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3  Clip selection</a:t>
            </a:r>
          </a:p>
        </p:txBody>
      </p:sp>
      <p:sp>
        <p:nvSpPr>
          <p:cNvPr id="14" name="Step 4"/>
          <p:cNvSpPr txBox="1"/>
          <p:nvPr/>
        </p:nvSpPr>
        <p:spPr>
          <a:xfrm>
            <a:off x="1030986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4  Voice conversion</a:t>
            </a:r>
          </a:p>
        </p:txBody>
      </p:sp>
      <p:sp>
        <p:nvSpPr>
          <p:cNvPr id="15" name="Step 5"/>
          <p:cNvSpPr txBox="1"/>
          <p:nvPr/>
        </p:nvSpPr>
        <p:spPr>
          <a:xfrm>
            <a:off x="12504420" y="8229600"/>
            <a:ext cx="2057400" cy="457200"/>
          </a:xfrm>
          <a:prstGeom prst="roundRect">
            <a:avLst>
              <a:gd name="adj" fmla="val 50000"/>
            </a:avLst>
          </a:prstGeom>
          <a:solidFill>
            <a:srgbClr val="E80500"/>
          </a:solidFill>
          <a:ln>
            <a:noFill/>
          </a:ln>
        </p:spPr>
        <p:txBody>
          <a:bodyPr wrap="square" lIns="45720" tIns="0" rIns="45720" bIns="0" rtlCol="0" anchor="ctr">
            <a:noAutofit/>
          </a:bodyPr>
          <a:lstStyle/>
          <a:p>
            <a:pPr algn="ctr"/>
            <a:r>
              <a:rPr lang="en-US" sz="1600" dirty="0">
                <a:solidFill>
                  <a:srgbClr val="FFFFFF"/>
                </a:solidFill>
                <a:latin typeface="Arimo Bold"/>
                <a:ea typeface="Arimo Bold"/>
                <a:cs typeface="Arimo Bold"/>
                <a:sym typeface="Arimo Bold"/>
              </a:rPr>
              <a:t>5  Splicing</a:t>
            </a:r>
          </a:p>
        </p:txBody>
      </p:sp>
      <p:sp>
        <p:nvSpPr>
          <p:cNvPr id="16" name="Step 6"/>
          <p:cNvSpPr txBox="1"/>
          <p:nvPr/>
        </p:nvSpPr>
        <p:spPr>
          <a:xfrm>
            <a:off x="14698980" y="8229600"/>
            <a:ext cx="2057400" cy="457200"/>
          </a:xfrm>
          <a:prstGeom prst="roundRect">
            <a:avLst>
              <a:gd name="adj" fmla="val 50000"/>
            </a:avLst>
          </a:prstGeom>
          <a:solidFill>
            <a:srgbClr val="F2F2F2"/>
          </a:solidFill>
          <a:ln>
            <a:noFill/>
          </a:ln>
        </p:spPr>
        <p:txBody>
          <a:bodyPr wrap="square" lIns="45720" tIns="0" rIns="45720" bIns="0" rtlCol="0" anchor="ctr">
            <a:noAutofit/>
          </a:bodyPr>
          <a:lstStyle/>
          <a:p>
            <a:pPr algn="ctr"/>
            <a:r>
              <a:rPr lang="en-US" sz="1600" dirty="0">
                <a:solidFill>
                  <a:srgbClr val="7F7F7F"/>
                </a:solidFill>
                <a:latin typeface="Arimo"/>
                <a:ea typeface="Arimo"/>
                <a:cs typeface="Arimo"/>
                <a:sym typeface="Arimo"/>
              </a:rPr>
              <a:t>6  Filter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2"/>
            <a:stretch>
              <a:fillRect l="-130" r="-13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4" name="Freeform 4"/>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5" name="TextBox 5"/>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Filter</a:t>
            </a:r>
          </a:p>
        </p:txBody>
      </p:sp>
      <p:sp>
        <p:nvSpPr>
          <p:cNvPr id="8" name="TextBox 8"/>
          <p:cNvSpPr txBox="1"/>
          <p:nvPr/>
        </p:nvSpPr>
        <p:spPr>
          <a:xfrm>
            <a:off x="1024128" y="2240280"/>
            <a:ext cx="16248888" cy="1568699"/>
          </a:xfrm>
          <a:prstGeom prst="rect">
            <a:avLst/>
          </a:prstGeom>
        </p:spPr>
        <p:txBody>
          <a:bodyPr lIns="0" tIns="0" rIns="0" bIns="0" rtlCol="0" anchor="t">
            <a:spAutoFit/>
          </a:bodyPr>
          <a:lstStyle/>
          <a:p>
            <a:pPr algn="l">
              <a:lnSpc>
                <a:spcPts val="4200"/>
              </a:lnSpc>
            </a:pPr>
            <a:r>
              <a:rPr lang="en-US" sz="3000" dirty="0">
                <a:solidFill>
                  <a:srgbClr val="000000"/>
                </a:solidFill>
                <a:latin typeface="Arimo"/>
                <a:ea typeface="Arimo"/>
                <a:cs typeface="Arimo"/>
                <a:sym typeface="Arimo"/>
              </a:rPr>
              <a:t>NISQA scores each result, and examples whose quality or continuity drops too much are discarded.</a:t>
            </a:r>
          </a:p>
          <a:p>
            <a:pPr algn="l">
              <a:lnSpc>
                <a:spcPts val="4200"/>
              </a:lnSpc>
            </a:pPr>
            <a:r>
              <a:rPr lang="en-US" sz="3000" dirty="0">
                <a:solidFill>
                  <a:srgbClr val="000000"/>
                </a:solidFill>
                <a:latin typeface="Arimo"/>
                <a:ea typeface="Arimo"/>
                <a:cs typeface="Arimo"/>
                <a:sym typeface="Arimo"/>
              </a:rPr>
              <a:t>* NISQA is an automated metric to score how natural an utterance is on several conditions</a:t>
            </a:r>
          </a:p>
        </p:txBody>
      </p:sp>
      <p:pic>
        <p:nvPicPr>
          <p:cNvPr id="9" name="Figure filter" descr="NISQA filter passes good examples into the synthetic NVV dataset"/>
          <p:cNvPicPr>
            <a:picLocks noChangeAspect="1"/>
          </p:cNvPicPr>
          <p:nvPr/>
        </p:nvPicPr>
        <p:blipFill>
          <a:blip r:embed="rId4"/>
          <a:stretch>
            <a:fillRect/>
          </a:stretch>
        </p:blipFill>
        <p:spPr>
          <a:xfrm>
            <a:off x="5509466" y="4370706"/>
            <a:ext cx="7269068" cy="3778657"/>
          </a:xfrm>
          <a:prstGeom prst="rect">
            <a:avLst/>
          </a:prstGeom>
        </p:spPr>
      </p:pic>
      <p:sp>
        <p:nvSpPr>
          <p:cNvPr id="10" name="Step 0"/>
          <p:cNvSpPr txBox="1"/>
          <p:nvPr/>
        </p:nvSpPr>
        <p:spPr>
          <a:xfrm>
            <a:off x="153162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Clip pool</a:t>
            </a:r>
          </a:p>
        </p:txBody>
      </p:sp>
      <p:sp>
        <p:nvSpPr>
          <p:cNvPr id="11" name="Step 1"/>
          <p:cNvSpPr txBox="1"/>
          <p:nvPr/>
        </p:nvSpPr>
        <p:spPr>
          <a:xfrm>
            <a:off x="372618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1  Slot finding</a:t>
            </a:r>
          </a:p>
        </p:txBody>
      </p:sp>
      <p:sp>
        <p:nvSpPr>
          <p:cNvPr id="12" name="Step 2"/>
          <p:cNvSpPr txBox="1"/>
          <p:nvPr/>
        </p:nvSpPr>
        <p:spPr>
          <a:xfrm>
            <a:off x="592074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2  Tag selection</a:t>
            </a:r>
          </a:p>
        </p:txBody>
      </p:sp>
      <p:sp>
        <p:nvSpPr>
          <p:cNvPr id="13" name="Step 3"/>
          <p:cNvSpPr txBox="1"/>
          <p:nvPr/>
        </p:nvSpPr>
        <p:spPr>
          <a:xfrm>
            <a:off x="811530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3  Clip selection</a:t>
            </a:r>
          </a:p>
        </p:txBody>
      </p:sp>
      <p:sp>
        <p:nvSpPr>
          <p:cNvPr id="14" name="Step 4"/>
          <p:cNvSpPr txBox="1"/>
          <p:nvPr/>
        </p:nvSpPr>
        <p:spPr>
          <a:xfrm>
            <a:off x="1030986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4  Voice conversion</a:t>
            </a:r>
          </a:p>
        </p:txBody>
      </p:sp>
      <p:sp>
        <p:nvSpPr>
          <p:cNvPr id="15" name="Step 5"/>
          <p:cNvSpPr txBox="1"/>
          <p:nvPr/>
        </p:nvSpPr>
        <p:spPr>
          <a:xfrm>
            <a:off x="12504420" y="8229600"/>
            <a:ext cx="2057400" cy="457200"/>
          </a:xfrm>
          <a:prstGeom prst="roundRect">
            <a:avLst>
              <a:gd name="adj" fmla="val 50000"/>
            </a:avLst>
          </a:prstGeom>
          <a:solidFill>
            <a:srgbClr val="FBE3E3"/>
          </a:solidFill>
          <a:ln>
            <a:noFill/>
          </a:ln>
        </p:spPr>
        <p:txBody>
          <a:bodyPr wrap="square" lIns="45720" tIns="0" rIns="45720" bIns="0" rtlCol="0" anchor="ctr">
            <a:noAutofit/>
          </a:bodyPr>
          <a:lstStyle/>
          <a:p>
            <a:pPr algn="ctr"/>
            <a:r>
              <a:rPr lang="en-US" sz="1600" dirty="0">
                <a:solidFill>
                  <a:srgbClr val="B30400"/>
                </a:solidFill>
                <a:latin typeface="Arimo"/>
                <a:ea typeface="Arimo"/>
                <a:cs typeface="Arimo"/>
                <a:sym typeface="Arimo"/>
              </a:rPr>
              <a:t>5  Splicing</a:t>
            </a:r>
          </a:p>
        </p:txBody>
      </p:sp>
      <p:sp>
        <p:nvSpPr>
          <p:cNvPr id="16" name="Step 6"/>
          <p:cNvSpPr txBox="1"/>
          <p:nvPr/>
        </p:nvSpPr>
        <p:spPr>
          <a:xfrm>
            <a:off x="14698980" y="8229600"/>
            <a:ext cx="2057400" cy="457200"/>
          </a:xfrm>
          <a:prstGeom prst="roundRect">
            <a:avLst>
              <a:gd name="adj" fmla="val 50000"/>
            </a:avLst>
          </a:prstGeom>
          <a:solidFill>
            <a:srgbClr val="E80500"/>
          </a:solidFill>
          <a:ln>
            <a:noFill/>
          </a:ln>
        </p:spPr>
        <p:txBody>
          <a:bodyPr wrap="square" lIns="45720" tIns="0" rIns="45720" bIns="0" rtlCol="0" anchor="ctr">
            <a:noAutofit/>
          </a:bodyPr>
          <a:lstStyle/>
          <a:p>
            <a:pPr algn="ctr"/>
            <a:r>
              <a:rPr lang="en-US" sz="1600" dirty="0">
                <a:solidFill>
                  <a:srgbClr val="FFFFFF"/>
                </a:solidFill>
                <a:latin typeface="Arimo Bold"/>
                <a:ea typeface="Arimo Bold"/>
                <a:cs typeface="Arimo Bold"/>
                <a:sym typeface="Arimo Bold"/>
              </a:rPr>
              <a:t>6  Filter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2"/>
            <a:stretch>
              <a:fillRect l="-130" r="-13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4" name="Freeform 4"/>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5" name="TextBox 5"/>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Fine-tuning &amp; inference</a:t>
            </a:r>
          </a:p>
        </p:txBody>
      </p:sp>
      <p:sp>
        <p:nvSpPr>
          <p:cNvPr id="8" name="TextBox 8"/>
          <p:cNvSpPr txBox="1"/>
          <p:nvPr/>
        </p:nvSpPr>
        <p:spPr>
          <a:xfrm>
            <a:off x="1024128" y="2240280"/>
            <a:ext cx="16248888" cy="1188720"/>
          </a:xfrm>
          <a:prstGeom prst="rect">
            <a:avLst/>
          </a:prstGeom>
        </p:spPr>
        <p:txBody>
          <a:bodyPr lIns="0" tIns="0" rIns="0" bIns="0" rtlCol="0" anchor="t">
            <a:spAutoFit/>
          </a:bodyPr>
          <a:lstStyle/>
          <a:p>
            <a:pPr algn="l">
              <a:lnSpc>
                <a:spcPts val="4200"/>
              </a:lnSpc>
            </a:pPr>
            <a:r>
              <a:rPr lang="en-US" sz="3000" dirty="0">
                <a:solidFill>
                  <a:srgbClr val="000000"/>
                </a:solidFill>
                <a:latin typeface="Arimo"/>
                <a:ea typeface="Arimo"/>
                <a:cs typeface="Arimo"/>
                <a:sym typeface="Arimo"/>
              </a:rPr>
              <a:t>OmniVoice is fine-tuned on the synthetic NVV data mixed with untagged ViVoice; at inference, an inline tag produces the sound in the cloned voice.</a:t>
            </a:r>
          </a:p>
        </p:txBody>
      </p:sp>
      <p:pic>
        <p:nvPicPr>
          <p:cNvPr id="9" name="Figure finetune" descr="OmniVoice fine-tuned on NVV data plus ViVoice; at inference a tagged sentence and a reference voice give speech with the NVV"/>
          <p:cNvPicPr>
            <a:picLocks noChangeAspect="1"/>
          </p:cNvPicPr>
          <p:nvPr/>
        </p:nvPicPr>
        <p:blipFill>
          <a:blip r:embed="rId4"/>
          <a:stretch>
            <a:fillRect/>
          </a:stretch>
        </p:blipFill>
        <p:spPr>
          <a:xfrm>
            <a:off x="1097280" y="4457171"/>
            <a:ext cx="16093440" cy="260709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3"/>
            <a:stretch>
              <a:fillRect l="-130" r="-130"/>
            </a:stretch>
          </a:blipFill>
        </p:spPr>
        <p:txBody>
          <a:bodyPr/>
          <a:lstStyle/>
          <a:p>
            <a:endParaRPr lang="en-VN"/>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4"/>
            <a:stretch>
              <a:fillRect t="-240" b="-240"/>
            </a:stretch>
          </a:blipFill>
        </p:spPr>
        <p:txBody>
          <a:bodyPr/>
          <a:lstStyle/>
          <a:p>
            <a:endParaRPr lang="en-VN"/>
          </a:p>
        </p:txBody>
      </p:sp>
      <p:sp>
        <p:nvSpPr>
          <p:cNvPr id="4" name="Freeform 4"/>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4"/>
            <a:stretch>
              <a:fillRect t="-240" b="-240"/>
            </a:stretch>
          </a:blipFill>
        </p:spPr>
        <p:txBody>
          <a:bodyPr/>
          <a:lstStyle/>
          <a:p>
            <a:endParaRPr lang="en-VN"/>
          </a:p>
        </p:txBody>
      </p:sp>
      <p:sp>
        <p:nvSpPr>
          <p:cNvPr id="5" name="TextBox 5"/>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p:cNvSpPr txBox="1"/>
          <p:nvPr/>
        </p:nvSpPr>
        <p:spPr>
          <a:xfrm>
            <a:off x="1024128" y="1133856"/>
            <a:ext cx="16248888" cy="960120"/>
          </a:xfrm>
          <a:prstGeom prst="rect">
            <a:avLst/>
          </a:prstGeom>
        </p:spPr>
        <p:txBody>
          <a:bodyPr lIns="0" tIns="0" rIns="0" bIns="0" rtlCol="0" anchor="t">
            <a:spAutoFit/>
          </a:bodyPr>
          <a:lstStyle/>
          <a:p>
            <a:pPr algn="ctr">
              <a:lnSpc>
                <a:spcPts val="7279"/>
              </a:lnSpc>
            </a:pPr>
            <a:r>
              <a:rPr lang="en-US" sz="6999" dirty="0">
                <a:solidFill>
                  <a:srgbClr val="E80500"/>
                </a:solidFill>
                <a:latin typeface="Calistoga"/>
                <a:ea typeface="Calistoga"/>
                <a:cs typeface="Calistoga"/>
                <a:sym typeface="Calistoga"/>
              </a:rPr>
              <a:t>Why fine-tune OmniVoice?</a:t>
            </a:r>
          </a:p>
        </p:txBody>
      </p:sp>
      <p:sp>
        <p:nvSpPr>
          <p:cNvPr id="8" name="TextBox 8"/>
          <p:cNvSpPr txBox="1"/>
          <p:nvPr/>
        </p:nvSpPr>
        <p:spPr>
          <a:xfrm>
            <a:off x="1313109" y="2510749"/>
            <a:ext cx="7098006" cy="1457323"/>
          </a:xfrm>
          <a:prstGeom prst="rect">
            <a:avLst/>
          </a:prstGeom>
        </p:spPr>
        <p:txBody>
          <a:bodyPr lIns="0" tIns="0" rIns="0" bIns="0" rtlCol="0" anchor="t">
            <a:spAutoFit/>
          </a:bodyPr>
          <a:lstStyle/>
          <a:p>
            <a:pPr algn="l">
              <a:lnSpc>
                <a:spcPts val="5400"/>
              </a:lnSpc>
            </a:pPr>
            <a:r>
              <a:rPr lang="en-US" sz="3000" dirty="0">
                <a:solidFill>
                  <a:srgbClr val="E80500"/>
                </a:solidFill>
                <a:latin typeface="Arimo Bold"/>
                <a:ea typeface="Arimo Bold"/>
                <a:cs typeface="Arimo Bold"/>
                <a:sym typeface="Arimo Bold"/>
              </a:rPr>
              <a:t>Few NVV tags</a:t>
            </a:r>
          </a:p>
          <a:p>
            <a:pPr algn="l">
              <a:lnSpc>
                <a:spcPts val="3600"/>
              </a:lnSpc>
            </a:pPr>
            <a:r>
              <a:rPr lang="en-US" sz="2600" dirty="0">
                <a:solidFill>
                  <a:srgbClr val="000000"/>
                </a:solidFill>
                <a:latin typeface="Arimo"/>
                <a:ea typeface="Arimo"/>
                <a:cs typeface="Arimo"/>
                <a:sym typeface="Arimo"/>
              </a:rPr>
              <a:t>Only [laughter] and [sigh] are non-verbal; 12 of our 14 classes have no tag.</a:t>
            </a:r>
          </a:p>
        </p:txBody>
      </p:sp>
      <p:sp>
        <p:nvSpPr>
          <p:cNvPr id="9" name="TextBox 9"/>
          <p:cNvSpPr txBox="1"/>
          <p:nvPr/>
        </p:nvSpPr>
        <p:spPr>
          <a:xfrm>
            <a:off x="10037561" y="2510749"/>
            <a:ext cx="6960444" cy="1576329"/>
          </a:xfrm>
          <a:prstGeom prst="rect">
            <a:avLst/>
          </a:prstGeom>
        </p:spPr>
        <p:txBody>
          <a:bodyPr lIns="0" tIns="0" rIns="0" bIns="0" rtlCol="0" anchor="t">
            <a:spAutoFit/>
          </a:bodyPr>
          <a:lstStyle/>
          <a:p>
            <a:pPr algn="l">
              <a:lnSpc>
                <a:spcPts val="5400"/>
              </a:lnSpc>
            </a:pPr>
            <a:r>
              <a:rPr lang="en-US" sz="3000" dirty="0">
                <a:solidFill>
                  <a:srgbClr val="E80500"/>
                </a:solidFill>
                <a:latin typeface="Arimo Bold"/>
                <a:ea typeface="Arimo Bold"/>
                <a:cs typeface="Arimo Bold"/>
                <a:sym typeface="Arimo Bold"/>
              </a:rPr>
              <a:t>Easy integration</a:t>
            </a:r>
          </a:p>
          <a:p>
            <a:pPr algn="l">
              <a:lnSpc>
                <a:spcPts val="3600"/>
              </a:lnSpc>
            </a:pPr>
            <a:r>
              <a:rPr lang="en-US" sz="2600" dirty="0">
                <a:solidFill>
                  <a:srgbClr val="000000"/>
                </a:solidFill>
                <a:latin typeface="Arimo"/>
                <a:ea typeface="Arimo"/>
                <a:cs typeface="Arimo"/>
                <a:sym typeface="Arimo"/>
              </a:rPr>
              <a:t>It can learn new NVV tags easily and give great result</a:t>
            </a:r>
          </a:p>
        </p:txBody>
      </p:sp>
      <p:sp>
        <p:nvSpPr>
          <p:cNvPr id="10" name="TextBox 10"/>
          <p:cNvSpPr txBox="1"/>
          <p:nvPr/>
        </p:nvSpPr>
        <p:spPr>
          <a:xfrm>
            <a:off x="1313109" y="5299753"/>
            <a:ext cx="6868736" cy="1466848"/>
          </a:xfrm>
          <a:prstGeom prst="rect">
            <a:avLst/>
          </a:prstGeom>
        </p:spPr>
        <p:txBody>
          <a:bodyPr lIns="0" tIns="0" rIns="0" bIns="0" rtlCol="0" anchor="t">
            <a:spAutoFit/>
          </a:bodyPr>
          <a:lstStyle/>
          <a:p>
            <a:pPr algn="l">
              <a:lnSpc>
                <a:spcPts val="5400"/>
              </a:lnSpc>
            </a:pPr>
            <a:r>
              <a:rPr lang="en-US" sz="3000" dirty="0">
                <a:solidFill>
                  <a:srgbClr val="E80500"/>
                </a:solidFill>
                <a:latin typeface="Arimo Bold"/>
                <a:ea typeface="Arimo Bold"/>
                <a:cs typeface="Arimo Bold"/>
                <a:sym typeface="Arimo Bold"/>
              </a:rPr>
              <a:t>No tag control</a:t>
            </a:r>
          </a:p>
          <a:p>
            <a:pPr algn="l">
              <a:lnSpc>
                <a:spcPts val="3600"/>
              </a:lnSpc>
            </a:pPr>
            <a:r>
              <a:rPr lang="en-US" sz="2600" dirty="0">
                <a:solidFill>
                  <a:srgbClr val="000000"/>
                </a:solidFill>
                <a:latin typeface="Arimo"/>
                <a:ea typeface="Arimo"/>
                <a:cs typeface="Arimo"/>
                <a:sym typeface="Arimo"/>
              </a:rPr>
              <a:t>It often drops the tag when the text is Vietnamese.</a:t>
            </a:r>
          </a:p>
        </p:txBody>
      </p:sp>
      <p:sp>
        <p:nvSpPr>
          <p:cNvPr id="11" name="TextBox 11"/>
          <p:cNvSpPr txBox="1"/>
          <p:nvPr/>
        </p:nvSpPr>
        <p:spPr>
          <a:xfrm>
            <a:off x="10037561" y="5299753"/>
            <a:ext cx="6960444" cy="1466848"/>
          </a:xfrm>
          <a:prstGeom prst="rect">
            <a:avLst/>
          </a:prstGeom>
        </p:spPr>
        <p:txBody>
          <a:bodyPr lIns="0" tIns="0" rIns="0" bIns="0" rtlCol="0" anchor="t">
            <a:spAutoFit/>
          </a:bodyPr>
          <a:lstStyle/>
          <a:p>
            <a:pPr algn="l">
              <a:lnSpc>
                <a:spcPts val="5400"/>
              </a:lnSpc>
            </a:pPr>
            <a:r>
              <a:rPr lang="en-US" sz="3000" dirty="0">
                <a:solidFill>
                  <a:srgbClr val="E80500"/>
                </a:solidFill>
                <a:latin typeface="Arimo Bold"/>
                <a:ea typeface="Arimo Bold"/>
                <a:cs typeface="Arimo Bold"/>
                <a:sym typeface="Arimo Bold"/>
              </a:rPr>
              <a:t>Our fix</a:t>
            </a:r>
          </a:p>
          <a:p>
            <a:pPr algn="l">
              <a:lnSpc>
                <a:spcPts val="3600"/>
              </a:lnSpc>
            </a:pPr>
            <a:r>
              <a:rPr lang="en-US" sz="2600" dirty="0">
                <a:solidFill>
                  <a:srgbClr val="000000"/>
                </a:solidFill>
                <a:latin typeface="Arimo"/>
                <a:ea typeface="Arimo"/>
                <a:cs typeface="Arimo"/>
                <a:sym typeface="Arimo"/>
              </a:rPr>
              <a:t>Fine-tune on all 14 tags plus untagged ViVoice, with the same objective.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0B342E-9645-EEC4-C6EF-61F53A0B731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1991783-F261-488E-D074-A011A91D5BFA}"/>
              </a:ext>
            </a:extLst>
          </p:cNvPr>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2"/>
            <a:stretch>
              <a:fillRect l="-130" r="-130"/>
            </a:stretch>
          </a:blipFill>
        </p:spPr>
        <p:txBody>
          <a:bodyPr/>
          <a:lstStyle/>
          <a:p>
            <a:endParaRPr lang="en-VN"/>
          </a:p>
        </p:txBody>
      </p:sp>
      <p:sp>
        <p:nvSpPr>
          <p:cNvPr id="3" name="Freeform 3">
            <a:extLst>
              <a:ext uri="{FF2B5EF4-FFF2-40B4-BE49-F238E27FC236}">
                <a16:creationId xmlns:a16="http://schemas.microsoft.com/office/drawing/2014/main" id="{454DCD22-2C02-EACF-DAD6-08A67999CE03}"/>
              </a:ext>
            </a:extLst>
          </p:cNvPr>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4" name="Freeform 4">
            <a:extLst>
              <a:ext uri="{FF2B5EF4-FFF2-40B4-BE49-F238E27FC236}">
                <a16:creationId xmlns:a16="http://schemas.microsoft.com/office/drawing/2014/main" id="{01273D87-3ACA-04FB-FAD8-2386DC66FE6D}"/>
              </a:ext>
            </a:extLst>
          </p:cNvPr>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5" name="TextBox 5">
            <a:extLst>
              <a:ext uri="{FF2B5EF4-FFF2-40B4-BE49-F238E27FC236}">
                <a16:creationId xmlns:a16="http://schemas.microsoft.com/office/drawing/2014/main" id="{A11EE5C9-6FF0-B69B-FC90-115424B6CAD6}"/>
              </a:ext>
            </a:extLst>
          </p:cNvPr>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a:extLst>
              <a:ext uri="{FF2B5EF4-FFF2-40B4-BE49-F238E27FC236}">
                <a16:creationId xmlns:a16="http://schemas.microsoft.com/office/drawing/2014/main" id="{E9710238-4F8A-6B91-C9C5-015C2301229F}"/>
              </a:ext>
            </a:extLst>
          </p:cNvPr>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a:extLst>
              <a:ext uri="{FF2B5EF4-FFF2-40B4-BE49-F238E27FC236}">
                <a16:creationId xmlns:a16="http://schemas.microsoft.com/office/drawing/2014/main" id="{038D5646-B40C-55D2-8ACB-199FD18AC22F}"/>
              </a:ext>
            </a:extLst>
          </p:cNvPr>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Result</a:t>
            </a:r>
          </a:p>
        </p:txBody>
      </p:sp>
      <p:sp>
        <p:nvSpPr>
          <p:cNvPr id="8" name="TextBox 8">
            <a:extLst>
              <a:ext uri="{FF2B5EF4-FFF2-40B4-BE49-F238E27FC236}">
                <a16:creationId xmlns:a16="http://schemas.microsoft.com/office/drawing/2014/main" id="{09E895CF-B0AD-C2CC-93F3-096E614D7468}"/>
              </a:ext>
            </a:extLst>
          </p:cNvPr>
          <p:cNvSpPr txBox="1"/>
          <p:nvPr/>
        </p:nvSpPr>
        <p:spPr>
          <a:xfrm>
            <a:off x="1024128" y="2240280"/>
            <a:ext cx="16248888" cy="491481"/>
          </a:xfrm>
          <a:prstGeom prst="rect">
            <a:avLst/>
          </a:prstGeom>
        </p:spPr>
        <p:txBody>
          <a:bodyPr lIns="0" tIns="0" rIns="0" bIns="0" rtlCol="0" anchor="t">
            <a:spAutoFit/>
          </a:bodyPr>
          <a:lstStyle/>
          <a:p>
            <a:pPr algn="l">
              <a:lnSpc>
                <a:spcPts val="4200"/>
              </a:lnSpc>
            </a:pPr>
            <a:r>
              <a:rPr lang="en-US" sz="3000" dirty="0">
                <a:solidFill>
                  <a:srgbClr val="000000"/>
                </a:solidFill>
                <a:latin typeface="Arimo"/>
                <a:ea typeface="Arimo"/>
                <a:cs typeface="Arimo"/>
                <a:sym typeface="Arimo"/>
              </a:rPr>
              <a:t>The first synthesize TTS with nonverbal element for Vietnamese, able to scale up for more tags</a:t>
            </a:r>
          </a:p>
        </p:txBody>
      </p:sp>
      <p:pic>
        <p:nvPicPr>
          <p:cNvPr id="12" name="Picture 11">
            <a:extLst>
              <a:ext uri="{FF2B5EF4-FFF2-40B4-BE49-F238E27FC236}">
                <a16:creationId xmlns:a16="http://schemas.microsoft.com/office/drawing/2014/main" id="{648E79F0-3B15-1483-2F98-21E4326AD00F}"/>
              </a:ext>
            </a:extLst>
          </p:cNvPr>
          <p:cNvPicPr>
            <a:picLocks noChangeAspect="1"/>
          </p:cNvPicPr>
          <p:nvPr/>
        </p:nvPicPr>
        <p:blipFill>
          <a:blip r:embed="rId4"/>
          <a:stretch>
            <a:fillRect/>
          </a:stretch>
        </p:blipFill>
        <p:spPr>
          <a:xfrm>
            <a:off x="3588738" y="3768756"/>
            <a:ext cx="11110523" cy="3619576"/>
          </a:xfrm>
          <a:prstGeom prst="rect">
            <a:avLst/>
          </a:prstGeom>
        </p:spPr>
      </p:pic>
    </p:spTree>
    <p:extLst>
      <p:ext uri="{BB962C8B-B14F-4D97-AF65-F5344CB8AC3E}">
        <p14:creationId xmlns:p14="http://schemas.microsoft.com/office/powerpoint/2010/main" val="4236890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2ECF2-237C-FBDB-B532-1B54220FB82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4451A41-C096-A89F-14BD-3DA454F5FBCF}"/>
              </a:ext>
            </a:extLst>
          </p:cNvPr>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10"/>
            <a:stretch>
              <a:fillRect l="-130" r="-130"/>
            </a:stretch>
          </a:blipFill>
        </p:spPr>
        <p:txBody>
          <a:bodyPr/>
          <a:lstStyle/>
          <a:p>
            <a:endParaRPr lang="en-VN"/>
          </a:p>
        </p:txBody>
      </p:sp>
      <p:sp>
        <p:nvSpPr>
          <p:cNvPr id="3" name="Freeform 3">
            <a:extLst>
              <a:ext uri="{FF2B5EF4-FFF2-40B4-BE49-F238E27FC236}">
                <a16:creationId xmlns:a16="http://schemas.microsoft.com/office/drawing/2014/main" id="{7E6B25D6-8984-4D3B-4259-144957B24968}"/>
              </a:ext>
            </a:extLst>
          </p:cNvPr>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11"/>
            <a:stretch>
              <a:fillRect t="-240" b="-240"/>
            </a:stretch>
          </a:blipFill>
        </p:spPr>
        <p:txBody>
          <a:bodyPr/>
          <a:lstStyle/>
          <a:p>
            <a:endParaRPr lang="en-VN"/>
          </a:p>
        </p:txBody>
      </p:sp>
      <p:sp>
        <p:nvSpPr>
          <p:cNvPr id="4" name="Freeform 4">
            <a:extLst>
              <a:ext uri="{FF2B5EF4-FFF2-40B4-BE49-F238E27FC236}">
                <a16:creationId xmlns:a16="http://schemas.microsoft.com/office/drawing/2014/main" id="{732EF181-3C1C-6F88-EFE0-0DFF958505C0}"/>
              </a:ext>
            </a:extLst>
          </p:cNvPr>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11"/>
            <a:stretch>
              <a:fillRect t="-240" b="-240"/>
            </a:stretch>
          </a:blipFill>
        </p:spPr>
        <p:txBody>
          <a:bodyPr/>
          <a:lstStyle/>
          <a:p>
            <a:endParaRPr lang="en-VN"/>
          </a:p>
        </p:txBody>
      </p:sp>
      <p:sp>
        <p:nvSpPr>
          <p:cNvPr id="5" name="TextBox 5">
            <a:extLst>
              <a:ext uri="{FF2B5EF4-FFF2-40B4-BE49-F238E27FC236}">
                <a16:creationId xmlns:a16="http://schemas.microsoft.com/office/drawing/2014/main" id="{47F694EE-B3C9-2864-DEF4-A9BE210F92C0}"/>
              </a:ext>
            </a:extLst>
          </p:cNvPr>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a:extLst>
              <a:ext uri="{FF2B5EF4-FFF2-40B4-BE49-F238E27FC236}">
                <a16:creationId xmlns:a16="http://schemas.microsoft.com/office/drawing/2014/main" id="{1CF89BA5-0811-C0B1-26C9-99B8F844C37F}"/>
              </a:ext>
            </a:extLst>
          </p:cNvPr>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a:extLst>
              <a:ext uri="{FF2B5EF4-FFF2-40B4-BE49-F238E27FC236}">
                <a16:creationId xmlns:a16="http://schemas.microsoft.com/office/drawing/2014/main" id="{4FC781FA-4A7F-6D0F-433F-EFDB67E0A083}"/>
              </a:ext>
            </a:extLst>
          </p:cNvPr>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Result</a:t>
            </a:r>
          </a:p>
        </p:txBody>
      </p:sp>
      <p:sp>
        <p:nvSpPr>
          <p:cNvPr id="8" name="TextBox 8">
            <a:extLst>
              <a:ext uri="{FF2B5EF4-FFF2-40B4-BE49-F238E27FC236}">
                <a16:creationId xmlns:a16="http://schemas.microsoft.com/office/drawing/2014/main" id="{EAE43332-3E00-F9BC-4E3D-D34B2DA92C8B}"/>
              </a:ext>
            </a:extLst>
          </p:cNvPr>
          <p:cNvSpPr txBox="1"/>
          <p:nvPr/>
        </p:nvSpPr>
        <p:spPr>
          <a:xfrm>
            <a:off x="1024128" y="2240280"/>
            <a:ext cx="16248888" cy="491481"/>
          </a:xfrm>
          <a:prstGeom prst="rect">
            <a:avLst/>
          </a:prstGeom>
        </p:spPr>
        <p:txBody>
          <a:bodyPr lIns="0" tIns="0" rIns="0" bIns="0" rtlCol="0" anchor="t">
            <a:spAutoFit/>
          </a:bodyPr>
          <a:lstStyle/>
          <a:p>
            <a:pPr algn="l">
              <a:lnSpc>
                <a:spcPts val="4200"/>
              </a:lnSpc>
            </a:pPr>
            <a:r>
              <a:rPr lang="en-US" sz="3000" dirty="0">
                <a:solidFill>
                  <a:srgbClr val="000000"/>
                </a:solidFill>
                <a:latin typeface="Arimo"/>
                <a:ea typeface="Arimo"/>
                <a:cs typeface="Arimo"/>
                <a:sym typeface="Arimo"/>
              </a:rPr>
              <a:t>The first synthesize TTS system to speak with nonverbal cue effectively</a:t>
            </a:r>
          </a:p>
        </p:txBody>
      </p:sp>
      <p:pic>
        <p:nvPicPr>
          <p:cNvPr id="9" name="throatclearing">
            <a:hlinkClick r:id="" action="ppaction://media"/>
            <a:extLst>
              <a:ext uri="{FF2B5EF4-FFF2-40B4-BE49-F238E27FC236}">
                <a16:creationId xmlns:a16="http://schemas.microsoft.com/office/drawing/2014/main" id="{858B9B53-D1A5-D8AB-B4CD-EDE37DFE0052}"/>
              </a:ext>
            </a:extLst>
          </p:cNvPr>
          <p:cNvPicPr>
            <a:picLocks noChangeAspect="1"/>
          </p:cNvPicPr>
          <p:nvPr>
            <a:audioFile r:link="rId2"/>
            <p:extLst>
              <p:ext uri="{DAA4B4D4-6D71-4841-9C94-3DE7FCFB9230}">
                <p14:media xmlns:p14="http://schemas.microsoft.com/office/powerpoint/2010/main" r:embed="rId1"/>
              </p:ext>
            </p:extLst>
          </p:nvPr>
        </p:nvPicPr>
        <p:blipFill>
          <a:blip r:embed="rId12"/>
          <a:stretch>
            <a:fillRect/>
          </a:stretch>
        </p:blipFill>
        <p:spPr>
          <a:xfrm>
            <a:off x="2667000" y="4751322"/>
            <a:ext cx="487362" cy="487363"/>
          </a:xfrm>
          <a:prstGeom prst="rect">
            <a:avLst/>
          </a:prstGeom>
        </p:spPr>
      </p:pic>
      <p:pic>
        <p:nvPicPr>
          <p:cNvPr id="10" name="laugh">
            <a:hlinkClick r:id="" action="ppaction://media"/>
            <a:extLst>
              <a:ext uri="{FF2B5EF4-FFF2-40B4-BE49-F238E27FC236}">
                <a16:creationId xmlns:a16="http://schemas.microsoft.com/office/drawing/2014/main" id="{689CDE9D-7C8E-F1D0-3C20-E68183CBE46E}"/>
              </a:ext>
            </a:extLst>
          </p:cNvPr>
          <p:cNvPicPr>
            <a:picLocks noChangeAspect="1"/>
          </p:cNvPicPr>
          <p:nvPr>
            <a:audioFile r:link="rId4"/>
            <p:extLst>
              <p:ext uri="{DAA4B4D4-6D71-4841-9C94-3DE7FCFB9230}">
                <p14:media xmlns:p14="http://schemas.microsoft.com/office/powerpoint/2010/main" r:embed="rId3"/>
              </p:ext>
            </p:extLst>
          </p:nvPr>
        </p:nvPicPr>
        <p:blipFill>
          <a:blip r:embed="rId12"/>
          <a:stretch>
            <a:fillRect/>
          </a:stretch>
        </p:blipFill>
        <p:spPr>
          <a:xfrm>
            <a:off x="10836278" y="4751322"/>
            <a:ext cx="487362" cy="487363"/>
          </a:xfrm>
          <a:prstGeom prst="rect">
            <a:avLst/>
          </a:prstGeom>
        </p:spPr>
      </p:pic>
      <p:pic>
        <p:nvPicPr>
          <p:cNvPr id="11" name="breath">
            <a:hlinkClick r:id="" action="ppaction://media"/>
            <a:extLst>
              <a:ext uri="{FF2B5EF4-FFF2-40B4-BE49-F238E27FC236}">
                <a16:creationId xmlns:a16="http://schemas.microsoft.com/office/drawing/2014/main" id="{68FB7D34-0D5B-6405-8845-DD42F0D59079}"/>
              </a:ext>
            </a:extLst>
          </p:cNvPr>
          <p:cNvPicPr>
            <a:picLocks noChangeAspect="1"/>
          </p:cNvPicPr>
          <p:nvPr>
            <a:audioFile r:link="rId6"/>
            <p:extLst>
              <p:ext uri="{DAA4B4D4-6D71-4841-9C94-3DE7FCFB9230}">
                <p14:media xmlns:p14="http://schemas.microsoft.com/office/powerpoint/2010/main" r:embed="rId5"/>
              </p:ext>
            </p:extLst>
          </p:nvPr>
        </p:nvPicPr>
        <p:blipFill>
          <a:blip r:embed="rId12"/>
          <a:stretch>
            <a:fillRect/>
          </a:stretch>
        </p:blipFill>
        <p:spPr>
          <a:xfrm>
            <a:off x="6477000" y="4751323"/>
            <a:ext cx="487362" cy="487363"/>
          </a:xfrm>
          <a:prstGeom prst="rect">
            <a:avLst/>
          </a:prstGeom>
        </p:spPr>
      </p:pic>
      <p:pic>
        <p:nvPicPr>
          <p:cNvPr id="13" name="sniff">
            <a:hlinkClick r:id="" action="ppaction://media"/>
            <a:extLst>
              <a:ext uri="{FF2B5EF4-FFF2-40B4-BE49-F238E27FC236}">
                <a16:creationId xmlns:a16="http://schemas.microsoft.com/office/drawing/2014/main" id="{D9C28E88-6C4A-6ECA-F401-FBA81C031275}"/>
              </a:ext>
            </a:extLst>
          </p:cNvPr>
          <p:cNvPicPr>
            <a:picLocks noChangeAspect="1"/>
          </p:cNvPicPr>
          <p:nvPr>
            <a:audioFile r:link="rId8"/>
            <p:extLst>
              <p:ext uri="{DAA4B4D4-6D71-4841-9C94-3DE7FCFB9230}">
                <p14:media xmlns:p14="http://schemas.microsoft.com/office/powerpoint/2010/main" r:embed="rId7"/>
              </p:ext>
            </p:extLst>
          </p:nvPr>
        </p:nvPicPr>
        <p:blipFill>
          <a:blip r:embed="rId12"/>
          <a:stretch>
            <a:fillRect/>
          </a:stretch>
        </p:blipFill>
        <p:spPr>
          <a:xfrm>
            <a:off x="15082669" y="4788558"/>
            <a:ext cx="487362" cy="487363"/>
          </a:xfrm>
          <a:prstGeom prst="rect">
            <a:avLst/>
          </a:prstGeom>
        </p:spPr>
      </p:pic>
      <p:sp>
        <p:nvSpPr>
          <p:cNvPr id="14" name="TextBox 13">
            <a:extLst>
              <a:ext uri="{FF2B5EF4-FFF2-40B4-BE49-F238E27FC236}">
                <a16:creationId xmlns:a16="http://schemas.microsoft.com/office/drawing/2014/main" id="{A6A1524B-2A69-26FE-9534-72C57E395058}"/>
              </a:ext>
            </a:extLst>
          </p:cNvPr>
          <p:cNvSpPr txBox="1"/>
          <p:nvPr/>
        </p:nvSpPr>
        <p:spPr>
          <a:xfrm>
            <a:off x="1489435" y="5656082"/>
            <a:ext cx="2777765" cy="923330"/>
          </a:xfrm>
          <a:prstGeom prst="rect">
            <a:avLst/>
          </a:prstGeom>
          <a:noFill/>
        </p:spPr>
        <p:txBody>
          <a:bodyPr wrap="square" rtlCol="0">
            <a:spAutoFit/>
          </a:bodyPr>
          <a:lstStyle/>
          <a:p>
            <a:r>
              <a:rPr lang="en-US" dirty="0"/>
              <a:t>[Throat clear] </a:t>
            </a:r>
            <a:r>
              <a:rPr lang="en-US" dirty="0" err="1"/>
              <a:t>ờm</a:t>
            </a:r>
            <a:r>
              <a:rPr lang="en-US" dirty="0"/>
              <a:t>, </a:t>
            </a:r>
            <a:r>
              <a:rPr lang="en-US" dirty="0" err="1"/>
              <a:t>tôi</a:t>
            </a:r>
            <a:r>
              <a:rPr lang="en-US" dirty="0"/>
              <a:t> </a:t>
            </a:r>
            <a:r>
              <a:rPr lang="en-US" dirty="0" err="1"/>
              <a:t>có</a:t>
            </a:r>
            <a:r>
              <a:rPr lang="en-US" dirty="0"/>
              <a:t> </a:t>
            </a:r>
            <a:r>
              <a:rPr lang="en-US" dirty="0" err="1"/>
              <a:t>chuyện</a:t>
            </a:r>
            <a:r>
              <a:rPr lang="en-US" dirty="0"/>
              <a:t> </a:t>
            </a:r>
            <a:r>
              <a:rPr lang="en-US" dirty="0" err="1"/>
              <a:t>này</a:t>
            </a:r>
            <a:r>
              <a:rPr lang="en-US" dirty="0"/>
              <a:t> </a:t>
            </a:r>
            <a:r>
              <a:rPr lang="en-US" dirty="0" err="1"/>
              <a:t>muốn</a:t>
            </a:r>
            <a:r>
              <a:rPr lang="en-US" dirty="0"/>
              <a:t> </a:t>
            </a:r>
            <a:r>
              <a:rPr lang="en-US" dirty="0" err="1"/>
              <a:t>nói</a:t>
            </a:r>
            <a:r>
              <a:rPr lang="en-US" dirty="0"/>
              <a:t> </a:t>
            </a:r>
            <a:r>
              <a:rPr lang="en-US" dirty="0" err="1"/>
              <a:t>với</a:t>
            </a:r>
            <a:r>
              <a:rPr lang="en-US" dirty="0"/>
              <a:t> </a:t>
            </a:r>
            <a:r>
              <a:rPr lang="en-US" dirty="0" err="1"/>
              <a:t>bạn</a:t>
            </a:r>
            <a:r>
              <a:rPr lang="en-US" dirty="0"/>
              <a:t> </a:t>
            </a:r>
            <a:r>
              <a:rPr lang="en-US" dirty="0" err="1"/>
              <a:t>nhưng</a:t>
            </a:r>
            <a:r>
              <a:rPr lang="en-US" dirty="0"/>
              <a:t> </a:t>
            </a:r>
            <a:r>
              <a:rPr lang="en-US" dirty="0" err="1"/>
              <a:t>hơi</a:t>
            </a:r>
            <a:r>
              <a:rPr lang="en-US" dirty="0"/>
              <a:t> </a:t>
            </a:r>
            <a:r>
              <a:rPr lang="en-US" dirty="0" err="1"/>
              <a:t>ngại</a:t>
            </a:r>
            <a:endParaRPr lang="en-US" dirty="0"/>
          </a:p>
        </p:txBody>
      </p:sp>
      <p:sp>
        <p:nvSpPr>
          <p:cNvPr id="16" name="TextBox 15">
            <a:extLst>
              <a:ext uri="{FF2B5EF4-FFF2-40B4-BE49-F238E27FC236}">
                <a16:creationId xmlns:a16="http://schemas.microsoft.com/office/drawing/2014/main" id="{353DE579-CEEA-531F-8EF2-6096DDB32EEA}"/>
              </a:ext>
            </a:extLst>
          </p:cNvPr>
          <p:cNvSpPr txBox="1"/>
          <p:nvPr/>
        </p:nvSpPr>
        <p:spPr>
          <a:xfrm>
            <a:off x="5331798" y="5580687"/>
            <a:ext cx="2777765" cy="1200329"/>
          </a:xfrm>
          <a:prstGeom prst="rect">
            <a:avLst/>
          </a:prstGeom>
          <a:noFill/>
        </p:spPr>
        <p:txBody>
          <a:bodyPr wrap="square" rtlCol="0">
            <a:spAutoFit/>
          </a:bodyPr>
          <a:lstStyle/>
          <a:p>
            <a:r>
              <a:rPr lang="en-US" dirty="0" err="1"/>
              <a:t>Hôm</a:t>
            </a:r>
            <a:r>
              <a:rPr lang="en-US" dirty="0"/>
              <a:t> qua </a:t>
            </a:r>
            <a:r>
              <a:rPr lang="en-US" dirty="0" err="1"/>
              <a:t>tôi</a:t>
            </a:r>
            <a:r>
              <a:rPr lang="en-US" dirty="0"/>
              <a:t> </a:t>
            </a:r>
            <a:r>
              <a:rPr lang="en-US" dirty="0" err="1"/>
              <a:t>gặp</a:t>
            </a:r>
            <a:r>
              <a:rPr lang="en-US" dirty="0"/>
              <a:t> con </a:t>
            </a:r>
            <a:r>
              <a:rPr lang="en-US" dirty="0" err="1"/>
              <a:t>chó</a:t>
            </a:r>
            <a:r>
              <a:rPr lang="en-US" dirty="0"/>
              <a:t> to </a:t>
            </a:r>
            <a:r>
              <a:rPr lang="en-US" dirty="0" err="1"/>
              <a:t>quá</a:t>
            </a:r>
            <a:r>
              <a:rPr lang="en-US" dirty="0"/>
              <a:t> [breath] </a:t>
            </a:r>
            <a:r>
              <a:rPr lang="en-US" dirty="0" err="1"/>
              <a:t>tôi</a:t>
            </a:r>
            <a:r>
              <a:rPr lang="en-US" dirty="0"/>
              <a:t> </a:t>
            </a:r>
            <a:r>
              <a:rPr lang="en-US" dirty="0" err="1"/>
              <a:t>sợ</a:t>
            </a:r>
            <a:r>
              <a:rPr lang="en-US" dirty="0"/>
              <a:t> </a:t>
            </a:r>
            <a:r>
              <a:rPr lang="en-US" dirty="0" err="1"/>
              <a:t>quá</a:t>
            </a:r>
            <a:r>
              <a:rPr lang="en-US" dirty="0"/>
              <a:t> </a:t>
            </a:r>
            <a:r>
              <a:rPr lang="en-US" dirty="0" err="1"/>
              <a:t>chạy</a:t>
            </a:r>
            <a:r>
              <a:rPr lang="en-US" dirty="0"/>
              <a:t> </a:t>
            </a:r>
            <a:r>
              <a:rPr lang="en-US" dirty="0" err="1"/>
              <a:t>thẳng</a:t>
            </a:r>
            <a:r>
              <a:rPr lang="en-US" dirty="0"/>
              <a:t> </a:t>
            </a:r>
            <a:r>
              <a:rPr lang="en-US" dirty="0" err="1"/>
              <a:t>một</a:t>
            </a:r>
            <a:r>
              <a:rPr lang="en-US" dirty="0"/>
              <a:t> </a:t>
            </a:r>
            <a:r>
              <a:rPr lang="en-US" dirty="0" err="1"/>
              <a:t>mạch</a:t>
            </a:r>
            <a:r>
              <a:rPr lang="en-US" dirty="0"/>
              <a:t> </a:t>
            </a:r>
            <a:r>
              <a:rPr lang="en-US" dirty="0" err="1"/>
              <a:t>về</a:t>
            </a:r>
            <a:r>
              <a:rPr lang="en-US" dirty="0"/>
              <a:t> </a:t>
            </a:r>
            <a:r>
              <a:rPr lang="en-US" dirty="0" err="1"/>
              <a:t>nhà</a:t>
            </a:r>
            <a:endParaRPr lang="en-US" dirty="0"/>
          </a:p>
        </p:txBody>
      </p:sp>
      <p:sp>
        <p:nvSpPr>
          <p:cNvPr id="18" name="TextBox 17">
            <a:extLst>
              <a:ext uri="{FF2B5EF4-FFF2-40B4-BE49-F238E27FC236}">
                <a16:creationId xmlns:a16="http://schemas.microsoft.com/office/drawing/2014/main" id="{EEA10C7F-FD0C-6D09-09B1-5D11D59FFAAF}"/>
              </a:ext>
            </a:extLst>
          </p:cNvPr>
          <p:cNvSpPr txBox="1"/>
          <p:nvPr/>
        </p:nvSpPr>
        <p:spPr>
          <a:xfrm>
            <a:off x="9691076" y="5563526"/>
            <a:ext cx="2777765" cy="923330"/>
          </a:xfrm>
          <a:prstGeom prst="rect">
            <a:avLst/>
          </a:prstGeom>
          <a:noFill/>
        </p:spPr>
        <p:txBody>
          <a:bodyPr wrap="square" rtlCol="0">
            <a:spAutoFit/>
          </a:bodyPr>
          <a:lstStyle/>
          <a:p>
            <a:r>
              <a:rPr lang="en-US" dirty="0"/>
              <a:t>[Laughter] </a:t>
            </a:r>
            <a:r>
              <a:rPr lang="en-US" dirty="0" err="1"/>
              <a:t>cậu</a:t>
            </a:r>
            <a:r>
              <a:rPr lang="en-US" dirty="0"/>
              <a:t> </a:t>
            </a:r>
            <a:r>
              <a:rPr lang="en-US" dirty="0" err="1"/>
              <a:t>kể</a:t>
            </a:r>
            <a:r>
              <a:rPr lang="en-US" dirty="0"/>
              <a:t> </a:t>
            </a:r>
            <a:r>
              <a:rPr lang="en-US" dirty="0" err="1"/>
              <a:t>chuyện</a:t>
            </a:r>
            <a:r>
              <a:rPr lang="en-US" dirty="0"/>
              <a:t> </a:t>
            </a:r>
            <a:r>
              <a:rPr lang="en-US" dirty="0" err="1"/>
              <a:t>gì</a:t>
            </a:r>
            <a:r>
              <a:rPr lang="en-US" dirty="0"/>
              <a:t> </a:t>
            </a:r>
            <a:r>
              <a:rPr lang="en-US" dirty="0" err="1"/>
              <a:t>mà</a:t>
            </a:r>
            <a:r>
              <a:rPr lang="en-US" dirty="0"/>
              <a:t> </a:t>
            </a:r>
            <a:r>
              <a:rPr lang="en-US" dirty="0" err="1"/>
              <a:t>buồn</a:t>
            </a:r>
            <a:r>
              <a:rPr lang="en-US" dirty="0"/>
              <a:t> </a:t>
            </a:r>
            <a:r>
              <a:rPr lang="en-US" dirty="0" err="1"/>
              <a:t>cười</a:t>
            </a:r>
            <a:r>
              <a:rPr lang="en-US" dirty="0"/>
              <a:t> </a:t>
            </a:r>
            <a:r>
              <a:rPr lang="en-US" dirty="0" err="1"/>
              <a:t>thế</a:t>
            </a:r>
            <a:r>
              <a:rPr lang="en-US" dirty="0"/>
              <a:t> </a:t>
            </a:r>
            <a:r>
              <a:rPr lang="en-US" dirty="0" err="1"/>
              <a:t>làm</a:t>
            </a:r>
            <a:r>
              <a:rPr lang="en-US" dirty="0"/>
              <a:t> </a:t>
            </a:r>
            <a:r>
              <a:rPr lang="en-US" dirty="0" err="1"/>
              <a:t>tôi</a:t>
            </a:r>
            <a:r>
              <a:rPr lang="en-US" dirty="0"/>
              <a:t> </a:t>
            </a:r>
            <a:r>
              <a:rPr lang="en-US" dirty="0" err="1"/>
              <a:t>cười</a:t>
            </a:r>
            <a:r>
              <a:rPr lang="en-US" dirty="0"/>
              <a:t> </a:t>
            </a:r>
            <a:r>
              <a:rPr lang="en-US" dirty="0" err="1"/>
              <a:t>đau</a:t>
            </a:r>
            <a:r>
              <a:rPr lang="en-US" dirty="0"/>
              <a:t> </a:t>
            </a:r>
            <a:r>
              <a:rPr lang="en-US" dirty="0" err="1"/>
              <a:t>cả</a:t>
            </a:r>
            <a:r>
              <a:rPr lang="en-US" dirty="0"/>
              <a:t> </a:t>
            </a:r>
            <a:r>
              <a:rPr lang="en-US" dirty="0" err="1"/>
              <a:t>bụng</a:t>
            </a:r>
            <a:endParaRPr lang="en-US" dirty="0"/>
          </a:p>
        </p:txBody>
      </p:sp>
      <p:sp>
        <p:nvSpPr>
          <p:cNvPr id="20" name="TextBox 19">
            <a:extLst>
              <a:ext uri="{FF2B5EF4-FFF2-40B4-BE49-F238E27FC236}">
                <a16:creationId xmlns:a16="http://schemas.microsoft.com/office/drawing/2014/main" id="{BADB4854-D9F8-6B1D-CED9-E447194A0DA2}"/>
              </a:ext>
            </a:extLst>
          </p:cNvPr>
          <p:cNvSpPr txBox="1"/>
          <p:nvPr/>
        </p:nvSpPr>
        <p:spPr>
          <a:xfrm>
            <a:off x="13937467" y="5563526"/>
            <a:ext cx="2777765" cy="923330"/>
          </a:xfrm>
          <a:prstGeom prst="rect">
            <a:avLst/>
          </a:prstGeom>
          <a:noFill/>
        </p:spPr>
        <p:txBody>
          <a:bodyPr wrap="square" rtlCol="0">
            <a:spAutoFit/>
          </a:bodyPr>
          <a:lstStyle/>
          <a:p>
            <a:r>
              <a:rPr lang="en-US" dirty="0" err="1"/>
              <a:t>Cảm</a:t>
            </a:r>
            <a:r>
              <a:rPr lang="en-US" dirty="0"/>
              <a:t> </a:t>
            </a:r>
            <a:r>
              <a:rPr lang="en-US" dirty="0" err="1"/>
              <a:t>ơn</a:t>
            </a:r>
            <a:r>
              <a:rPr lang="en-US" dirty="0"/>
              <a:t> </a:t>
            </a:r>
            <a:r>
              <a:rPr lang="en-US" dirty="0" err="1"/>
              <a:t>ông</a:t>
            </a:r>
            <a:r>
              <a:rPr lang="en-US" dirty="0"/>
              <a:t> </a:t>
            </a:r>
            <a:r>
              <a:rPr lang="en-US" dirty="0" err="1"/>
              <a:t>trời</a:t>
            </a:r>
            <a:r>
              <a:rPr lang="en-US" dirty="0"/>
              <a:t> [sniff] </a:t>
            </a:r>
            <a:r>
              <a:rPr lang="en-US" dirty="0" err="1"/>
              <a:t>cuối</a:t>
            </a:r>
            <a:r>
              <a:rPr lang="en-US" dirty="0"/>
              <a:t> </a:t>
            </a:r>
            <a:r>
              <a:rPr lang="en-US" dirty="0" err="1"/>
              <a:t>cùng</a:t>
            </a:r>
            <a:r>
              <a:rPr lang="en-US" dirty="0"/>
              <a:t> </a:t>
            </a:r>
            <a:r>
              <a:rPr lang="en-US" dirty="0" err="1"/>
              <a:t>tôi</a:t>
            </a:r>
            <a:r>
              <a:rPr lang="en-US" dirty="0"/>
              <a:t> </a:t>
            </a:r>
            <a:r>
              <a:rPr lang="en-US" dirty="0" err="1"/>
              <a:t>cũng</a:t>
            </a:r>
            <a:r>
              <a:rPr lang="en-US" dirty="0"/>
              <a:t> </a:t>
            </a:r>
            <a:r>
              <a:rPr lang="en-US" dirty="0" err="1"/>
              <a:t>tìm</a:t>
            </a:r>
            <a:r>
              <a:rPr lang="en-US" dirty="0"/>
              <a:t> </a:t>
            </a:r>
            <a:r>
              <a:rPr lang="en-US" dirty="0" err="1"/>
              <a:t>được</a:t>
            </a:r>
            <a:r>
              <a:rPr lang="en-US" dirty="0"/>
              <a:t> </a:t>
            </a:r>
            <a:r>
              <a:rPr lang="en-US" dirty="0" err="1"/>
              <a:t>chìa</a:t>
            </a:r>
            <a:r>
              <a:rPr lang="en-US" dirty="0"/>
              <a:t> </a:t>
            </a:r>
            <a:r>
              <a:rPr lang="en-US" dirty="0" err="1"/>
              <a:t>khóa</a:t>
            </a:r>
            <a:r>
              <a:rPr lang="en-US" dirty="0"/>
              <a:t> </a:t>
            </a:r>
            <a:r>
              <a:rPr lang="en-US" dirty="0" err="1"/>
              <a:t>nhà</a:t>
            </a:r>
            <a:endParaRPr lang="en-US" dirty="0"/>
          </a:p>
        </p:txBody>
      </p:sp>
    </p:spTree>
    <p:extLst>
      <p:ext uri="{BB962C8B-B14F-4D97-AF65-F5344CB8AC3E}">
        <p14:creationId xmlns:p14="http://schemas.microsoft.com/office/powerpoint/2010/main" val="1088661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980" fill="hold"/>
                                        <p:tgtEl>
                                          <p:spTgt spid="9"/>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3780" fill="hold"/>
                                        <p:tgtEl>
                                          <p:spTgt spid="10"/>
                                        </p:tgtEl>
                                      </p:cBhvr>
                                    </p:cmd>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4390" fill="hold"/>
                                        <p:tgtEl>
                                          <p:spTgt spid="11"/>
                                        </p:tgtEl>
                                      </p:cBhvr>
                                    </p:cmd>
                                  </p:childTnLst>
                                </p:cTn>
                              </p:par>
                            </p:childTnLst>
                          </p:cTn>
                        </p:par>
                      </p:childTnLst>
                    </p:cTn>
                  </p:par>
                  <p:par>
                    <p:cTn id="15" fill="hold">
                      <p:stCondLst>
                        <p:cond delay="indefinite"/>
                      </p:stCondLst>
                      <p:childTnLst>
                        <p:par>
                          <p:cTn id="16" fill="hold">
                            <p:stCondLst>
                              <p:cond delay="0"/>
                            </p:stCondLst>
                            <p:childTnLst>
                              <p:par>
                                <p:cTn id="17" presetID="1" presetClass="mediacall" presetSubtype="0" fill="hold" nodeType="clickEffect">
                                  <p:stCondLst>
                                    <p:cond delay="0"/>
                                  </p:stCondLst>
                                  <p:childTnLst>
                                    <p:cmd type="call" cmd="playFrom(0.0)">
                                      <p:cBhvr>
                                        <p:cTn id="18" dur="366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19" fill="hold" display="0">
                  <p:stCondLst>
                    <p:cond delay="indefinite"/>
                  </p:stCondLst>
                  <p:endCondLst>
                    <p:cond evt="onStopAudio" delay="0">
                      <p:tgtEl>
                        <p:sldTgt/>
                      </p:tgtEl>
                    </p:cond>
                  </p:endCondLst>
                </p:cTn>
                <p:tgtEl>
                  <p:spTgt spid="9"/>
                </p:tgtEl>
              </p:cMediaNode>
            </p:audio>
            <p:audio>
              <p:cMediaNode vol="80000">
                <p:cTn id="20" fill="hold" display="0">
                  <p:stCondLst>
                    <p:cond delay="indefinite"/>
                  </p:stCondLst>
                  <p:endCondLst>
                    <p:cond evt="onStopAudio" delay="0">
                      <p:tgtEl>
                        <p:sldTgt/>
                      </p:tgtEl>
                    </p:cond>
                  </p:endCondLst>
                </p:cTn>
                <p:tgtEl>
                  <p:spTgt spid="10"/>
                </p:tgtEl>
              </p:cMediaNode>
            </p:audio>
            <p:audio>
              <p:cMediaNode vol="80000">
                <p:cTn id="21" fill="hold" display="0">
                  <p:stCondLst>
                    <p:cond delay="indefinite"/>
                  </p:stCondLst>
                  <p:endCondLst>
                    <p:cond evt="onStopAudio" delay="0">
                      <p:tgtEl>
                        <p:sldTgt/>
                      </p:tgtEl>
                    </p:cond>
                  </p:endCondLst>
                </p:cTn>
                <p:tgtEl>
                  <p:spTgt spid="11"/>
                </p:tgtEl>
              </p:cMediaNode>
            </p:audio>
            <p:audio>
              <p:cMediaNode vol="80000">
                <p:cTn id="22" fill="hold" display="0">
                  <p:stCondLst>
                    <p:cond delay="indefinite"/>
                  </p:stCondLst>
                  <p:endCondLst>
                    <p:cond evt="onStopAudio" delay="0">
                      <p:tgtEl>
                        <p:sldTgt/>
                      </p:tgtEl>
                    </p:cond>
                  </p:endCondLst>
                </p:cTn>
                <p:tgtEl>
                  <p:spTgt spid="13"/>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2ECF2-237C-FBDB-B532-1B54220FB82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4451A41-C096-A89F-14BD-3DA454F5FBCF}"/>
              </a:ext>
            </a:extLst>
          </p:cNvPr>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2"/>
            <a:stretch>
              <a:fillRect l="-130" r="-130"/>
            </a:stretch>
          </a:blipFill>
        </p:spPr>
        <p:txBody>
          <a:bodyPr/>
          <a:lstStyle/>
          <a:p>
            <a:endParaRPr lang="en-VN"/>
          </a:p>
        </p:txBody>
      </p:sp>
      <p:sp>
        <p:nvSpPr>
          <p:cNvPr id="3" name="Freeform 3">
            <a:extLst>
              <a:ext uri="{FF2B5EF4-FFF2-40B4-BE49-F238E27FC236}">
                <a16:creationId xmlns:a16="http://schemas.microsoft.com/office/drawing/2014/main" id="{7E6B25D6-8984-4D3B-4259-144957B24968}"/>
              </a:ext>
            </a:extLst>
          </p:cNvPr>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4" name="Freeform 4">
            <a:extLst>
              <a:ext uri="{FF2B5EF4-FFF2-40B4-BE49-F238E27FC236}">
                <a16:creationId xmlns:a16="http://schemas.microsoft.com/office/drawing/2014/main" id="{732EF181-3C1C-6F88-EFE0-0DFF958505C0}"/>
              </a:ext>
            </a:extLst>
          </p:cNvPr>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5" name="TextBox 5">
            <a:extLst>
              <a:ext uri="{FF2B5EF4-FFF2-40B4-BE49-F238E27FC236}">
                <a16:creationId xmlns:a16="http://schemas.microsoft.com/office/drawing/2014/main" id="{47F694EE-B3C9-2864-DEF4-A9BE210F92C0}"/>
              </a:ext>
            </a:extLst>
          </p:cNvPr>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a:extLst>
              <a:ext uri="{FF2B5EF4-FFF2-40B4-BE49-F238E27FC236}">
                <a16:creationId xmlns:a16="http://schemas.microsoft.com/office/drawing/2014/main" id="{1CF89BA5-0811-C0B1-26C9-99B8F844C37F}"/>
              </a:ext>
            </a:extLst>
          </p:cNvPr>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a:extLst>
              <a:ext uri="{FF2B5EF4-FFF2-40B4-BE49-F238E27FC236}">
                <a16:creationId xmlns:a16="http://schemas.microsoft.com/office/drawing/2014/main" id="{4FC781FA-4A7F-6D0F-433F-EFDB67E0A083}"/>
              </a:ext>
            </a:extLst>
          </p:cNvPr>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Deployment</a:t>
            </a:r>
          </a:p>
        </p:txBody>
      </p:sp>
      <p:sp>
        <p:nvSpPr>
          <p:cNvPr id="8" name="TextBox 8">
            <a:extLst>
              <a:ext uri="{FF2B5EF4-FFF2-40B4-BE49-F238E27FC236}">
                <a16:creationId xmlns:a16="http://schemas.microsoft.com/office/drawing/2014/main" id="{EAE43332-3E00-F9BC-4E3D-D34B2DA92C8B}"/>
              </a:ext>
            </a:extLst>
          </p:cNvPr>
          <p:cNvSpPr txBox="1"/>
          <p:nvPr/>
        </p:nvSpPr>
        <p:spPr>
          <a:xfrm>
            <a:off x="1024128" y="2240280"/>
            <a:ext cx="16248888" cy="1030090"/>
          </a:xfrm>
          <a:prstGeom prst="rect">
            <a:avLst/>
          </a:prstGeom>
        </p:spPr>
        <p:txBody>
          <a:bodyPr lIns="0" tIns="0" rIns="0" bIns="0" rtlCol="0" anchor="t">
            <a:spAutoFit/>
          </a:bodyPr>
          <a:lstStyle/>
          <a:p>
            <a:pPr algn="l">
              <a:lnSpc>
                <a:spcPts val="4200"/>
              </a:lnSpc>
            </a:pPr>
            <a:r>
              <a:rPr lang="en-US" sz="3000" dirty="0">
                <a:solidFill>
                  <a:srgbClr val="000000"/>
                </a:solidFill>
                <a:latin typeface="Arimo"/>
                <a:ea typeface="Arimo"/>
                <a:cs typeface="Arimo"/>
                <a:sym typeface="Arimo"/>
              </a:rPr>
              <a:t>We also test </a:t>
            </a:r>
            <a:r>
              <a:rPr lang="en-US" sz="3000" dirty="0" err="1">
                <a:solidFill>
                  <a:srgbClr val="000000"/>
                </a:solidFill>
                <a:latin typeface="Arimo"/>
                <a:ea typeface="Arimo"/>
                <a:cs typeface="Arimo"/>
                <a:sym typeface="Arimo"/>
              </a:rPr>
              <a:t>Omnivoice</a:t>
            </a:r>
            <a:r>
              <a:rPr lang="en-US" sz="3000" dirty="0">
                <a:solidFill>
                  <a:srgbClr val="000000"/>
                </a:solidFill>
                <a:latin typeface="Arimo"/>
                <a:ea typeface="Arimo"/>
                <a:cs typeface="Arimo"/>
                <a:sym typeface="Arimo"/>
              </a:rPr>
              <a:t> real time factor and memory utilization to confirm capability for deployment</a:t>
            </a:r>
          </a:p>
        </p:txBody>
      </p:sp>
    </p:spTree>
    <p:extLst>
      <p:ext uri="{BB962C8B-B14F-4D97-AF65-F5344CB8AC3E}">
        <p14:creationId xmlns:p14="http://schemas.microsoft.com/office/powerpoint/2010/main" val="38842526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C8945D-2544-AB44-1A6B-78C9AD7FBED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113A96B-C848-ACA1-F519-D7E2197A028D}"/>
              </a:ext>
            </a:extLst>
          </p:cNvPr>
          <p:cNvSpPr/>
          <p:nvPr/>
        </p:nvSpPr>
        <p:spPr>
          <a:xfrm>
            <a:off x="0" y="9206494"/>
            <a:ext cx="18288000" cy="1080508"/>
          </a:xfrm>
          <a:custGeom>
            <a:avLst/>
            <a:gdLst/>
            <a:ahLst/>
            <a:cxnLst/>
            <a:rect l="l" t="t" r="r" b="b"/>
            <a:pathLst>
              <a:path w="18288000" h="1080508">
                <a:moveTo>
                  <a:pt x="0" y="0"/>
                </a:moveTo>
                <a:lnTo>
                  <a:pt x="18288000" y="0"/>
                </a:lnTo>
                <a:lnTo>
                  <a:pt x="18288000" y="1080508"/>
                </a:lnTo>
                <a:lnTo>
                  <a:pt x="0" y="1080508"/>
                </a:lnTo>
                <a:lnTo>
                  <a:pt x="0" y="0"/>
                </a:lnTo>
                <a:close/>
              </a:path>
            </a:pathLst>
          </a:custGeom>
          <a:blipFill>
            <a:blip r:embed="rId2"/>
            <a:stretch>
              <a:fillRect l="-130" r="-130"/>
            </a:stretch>
          </a:blipFill>
        </p:spPr>
        <p:txBody>
          <a:bodyPr/>
          <a:lstStyle/>
          <a:p>
            <a:endParaRPr lang="en-VN"/>
          </a:p>
        </p:txBody>
      </p:sp>
      <p:sp>
        <p:nvSpPr>
          <p:cNvPr id="3" name="Freeform 3">
            <a:extLst>
              <a:ext uri="{FF2B5EF4-FFF2-40B4-BE49-F238E27FC236}">
                <a16:creationId xmlns:a16="http://schemas.microsoft.com/office/drawing/2014/main" id="{A2E2ADA9-7D0E-9BDC-08AC-A8D77A499EA4}"/>
              </a:ext>
            </a:extLst>
          </p:cNvPr>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4" name="Freeform 4">
            <a:extLst>
              <a:ext uri="{FF2B5EF4-FFF2-40B4-BE49-F238E27FC236}">
                <a16:creationId xmlns:a16="http://schemas.microsoft.com/office/drawing/2014/main" id="{7210C451-3F07-BA0C-4D49-CEC64CD5571E}"/>
              </a:ext>
            </a:extLst>
          </p:cNvPr>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endParaRPr lang="en-VN"/>
          </a:p>
        </p:txBody>
      </p:sp>
      <p:sp>
        <p:nvSpPr>
          <p:cNvPr id="5" name="TextBox 5">
            <a:extLst>
              <a:ext uri="{FF2B5EF4-FFF2-40B4-BE49-F238E27FC236}">
                <a16:creationId xmlns:a16="http://schemas.microsoft.com/office/drawing/2014/main" id="{87F60372-3474-183B-64F8-C77F7AFAF986}"/>
              </a:ext>
            </a:extLst>
          </p:cNvPr>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6" name="TextBox 6">
            <a:extLst>
              <a:ext uri="{FF2B5EF4-FFF2-40B4-BE49-F238E27FC236}">
                <a16:creationId xmlns:a16="http://schemas.microsoft.com/office/drawing/2014/main" id="{4F0989CB-5A24-8AC0-A9D4-F255E99FCC40}"/>
              </a:ext>
            </a:extLst>
          </p:cNvPr>
          <p:cNvSpPr txBox="1"/>
          <p:nvPr/>
        </p:nvSpPr>
        <p:spPr>
          <a:xfrm>
            <a:off x="840740" y="9548495"/>
            <a:ext cx="7754620" cy="425917"/>
          </a:xfrm>
          <a:prstGeom prst="rect">
            <a:avLst/>
          </a:prstGeom>
        </p:spPr>
        <p:txBody>
          <a:bodyPr lIns="0" tIns="0" rIns="0" bIns="0" rtlCol="0" anchor="t">
            <a:spAutoFit/>
          </a:bodyPr>
          <a:lstStyle/>
          <a:p>
            <a:pPr algn="l">
              <a:lnSpc>
                <a:spcPts val="2520"/>
              </a:lnSpc>
            </a:pPr>
            <a:r>
              <a:rPr lang="en-US" sz="2100" spc="600">
                <a:solidFill>
                  <a:srgbClr val="B4B4B4"/>
                </a:solidFill>
                <a:latin typeface="Arimo"/>
                <a:ea typeface="Arimo"/>
                <a:cs typeface="Arimo"/>
                <a:sym typeface="Arimo"/>
              </a:rPr>
              <a:t>www.viettel.com.vn</a:t>
            </a:r>
          </a:p>
        </p:txBody>
      </p:sp>
      <p:sp>
        <p:nvSpPr>
          <p:cNvPr id="7" name="TextBox 7">
            <a:extLst>
              <a:ext uri="{FF2B5EF4-FFF2-40B4-BE49-F238E27FC236}">
                <a16:creationId xmlns:a16="http://schemas.microsoft.com/office/drawing/2014/main" id="{8A0709FF-5AC5-1EEF-7ED2-D58C7F46AAD3}"/>
              </a:ext>
            </a:extLst>
          </p:cNvPr>
          <p:cNvSpPr txBox="1"/>
          <p:nvPr/>
        </p:nvSpPr>
        <p:spPr>
          <a:xfrm>
            <a:off x="1024128" y="886968"/>
            <a:ext cx="16248888" cy="1042416"/>
          </a:xfrm>
          <a:prstGeom prst="rect">
            <a:avLst/>
          </a:prstGeom>
        </p:spPr>
        <p:txBody>
          <a:bodyPr lIns="0" tIns="0" rIns="0" bIns="0" rtlCol="0" anchor="t">
            <a:spAutoFit/>
          </a:bodyPr>
          <a:lstStyle/>
          <a:p>
            <a:pPr algn="ctr">
              <a:lnSpc>
                <a:spcPts val="7880"/>
              </a:lnSpc>
            </a:pPr>
            <a:r>
              <a:rPr lang="en-US" sz="7577" dirty="0">
                <a:solidFill>
                  <a:srgbClr val="E80500"/>
                </a:solidFill>
                <a:latin typeface="Calistoga"/>
                <a:ea typeface="Calistoga"/>
                <a:cs typeface="Calistoga"/>
                <a:sym typeface="Calistoga"/>
              </a:rPr>
              <a:t>Conclusion</a:t>
            </a:r>
          </a:p>
        </p:txBody>
      </p:sp>
      <p:sp>
        <p:nvSpPr>
          <p:cNvPr id="8" name="TextBox 8">
            <a:extLst>
              <a:ext uri="{FF2B5EF4-FFF2-40B4-BE49-F238E27FC236}">
                <a16:creationId xmlns:a16="http://schemas.microsoft.com/office/drawing/2014/main" id="{B9B01341-8752-4045-2B23-21BB7F8E2A23}"/>
              </a:ext>
            </a:extLst>
          </p:cNvPr>
          <p:cNvSpPr txBox="1"/>
          <p:nvPr/>
        </p:nvSpPr>
        <p:spPr>
          <a:xfrm>
            <a:off x="1024128" y="2240280"/>
            <a:ext cx="16248888" cy="2645917"/>
          </a:xfrm>
          <a:prstGeom prst="rect">
            <a:avLst/>
          </a:prstGeom>
        </p:spPr>
        <p:txBody>
          <a:bodyPr lIns="0" tIns="0" rIns="0" bIns="0" rtlCol="0" anchor="t">
            <a:spAutoFit/>
          </a:bodyPr>
          <a:lstStyle/>
          <a:p>
            <a:pPr marL="457200" indent="-457200" algn="l">
              <a:lnSpc>
                <a:spcPts val="4200"/>
              </a:lnSpc>
              <a:buFontTx/>
              <a:buChar char="-"/>
            </a:pPr>
            <a:r>
              <a:rPr lang="en-US" sz="3000" dirty="0">
                <a:solidFill>
                  <a:srgbClr val="000000"/>
                </a:solidFill>
                <a:latin typeface="Arimo"/>
                <a:ea typeface="Arimo"/>
                <a:cs typeface="Arimo"/>
                <a:sym typeface="Arimo"/>
              </a:rPr>
              <a:t>Nonverbal element to enhance the naturalness of TTS system, suitable for expand our TTS and incorporate with agentic conversation</a:t>
            </a:r>
          </a:p>
          <a:p>
            <a:pPr marL="457200" indent="-457200" algn="l">
              <a:lnSpc>
                <a:spcPts val="4200"/>
              </a:lnSpc>
              <a:buFontTx/>
              <a:buChar char="-"/>
            </a:pPr>
            <a:r>
              <a:rPr lang="en-US" sz="3000" dirty="0">
                <a:solidFill>
                  <a:srgbClr val="000000"/>
                </a:solidFill>
                <a:latin typeface="Arimo"/>
                <a:ea typeface="Arimo"/>
                <a:cs typeface="Arimo"/>
                <a:sym typeface="Arimo"/>
              </a:rPr>
              <a:t>Create a pipeline for automatically create TTS + NVV dataset</a:t>
            </a:r>
          </a:p>
          <a:p>
            <a:pPr marL="457200" indent="-457200" algn="l">
              <a:lnSpc>
                <a:spcPts val="4200"/>
              </a:lnSpc>
              <a:buFontTx/>
              <a:buChar char="-"/>
            </a:pPr>
            <a:r>
              <a:rPr lang="en-US" sz="3000" dirty="0">
                <a:solidFill>
                  <a:srgbClr val="000000"/>
                </a:solidFill>
                <a:latin typeface="Arimo"/>
                <a:ea typeface="Arimo"/>
                <a:cs typeface="Arimo"/>
                <a:sym typeface="Arimo"/>
              </a:rPr>
              <a:t>Finetune a model to speak with NV element effectively</a:t>
            </a:r>
          </a:p>
          <a:p>
            <a:pPr marL="457200" indent="-457200" algn="l">
              <a:lnSpc>
                <a:spcPts val="4200"/>
              </a:lnSpc>
              <a:buFontTx/>
              <a:buChar char="-"/>
            </a:pPr>
            <a:r>
              <a:rPr lang="en-US" sz="3000" dirty="0">
                <a:solidFill>
                  <a:srgbClr val="000000"/>
                </a:solidFill>
                <a:latin typeface="Arimo"/>
                <a:ea typeface="Arimo"/>
                <a:cs typeface="Arimo"/>
                <a:sym typeface="Arimo"/>
              </a:rPr>
              <a:t>Test our model on real server for deployment</a:t>
            </a:r>
          </a:p>
        </p:txBody>
      </p:sp>
    </p:spTree>
    <p:extLst>
      <p:ext uri="{BB962C8B-B14F-4D97-AF65-F5344CB8AC3E}">
        <p14:creationId xmlns:p14="http://schemas.microsoft.com/office/powerpoint/2010/main" val="38878056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04453"/>
        </a:solidFill>
        <a:effectLst/>
      </p:bgPr>
    </p:bg>
    <p:spTree>
      <p:nvGrpSpPr>
        <p:cNvPr id="1" name=""/>
        <p:cNvGrpSpPr/>
        <p:nvPr/>
      </p:nvGrpSpPr>
      <p:grpSpPr>
        <a:xfrm>
          <a:off x="0" y="0"/>
          <a:ext cx="0" cy="0"/>
          <a:chOff x="0" y="0"/>
          <a:chExt cx="0" cy="0"/>
        </a:xfrm>
      </p:grpSpPr>
      <p:sp>
        <p:nvSpPr>
          <p:cNvPr id="2" name="Freeform 2"/>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VN" sz="1800" b="0" i="0" u="none" strike="noStrike" kern="1200" cap="none" spc="0" normalizeH="0" baseline="0" noProof="0">
              <a:ln>
                <a:noFill/>
              </a:ln>
              <a:solidFill>
                <a:prstClr val="black"/>
              </a:solidFill>
              <a:effectLst/>
              <a:uLnTx/>
              <a:uFillTx/>
              <a:latin typeface="Calibri"/>
              <a:ea typeface="+mn-ea"/>
              <a:cs typeface="+mn-cs"/>
            </a:endParaRPr>
          </a:p>
        </p:txBody>
      </p:sp>
      <p:sp>
        <p:nvSpPr>
          <p:cNvPr id="3" name="Freeform 3"/>
          <p:cNvSpPr/>
          <p:nvPr/>
        </p:nvSpPr>
        <p:spPr>
          <a:xfrm>
            <a:off x="15326350" y="9512300"/>
            <a:ext cx="1950428" cy="429520"/>
          </a:xfrm>
          <a:custGeom>
            <a:avLst/>
            <a:gdLst/>
            <a:ahLst/>
            <a:cxnLst/>
            <a:rect l="l" t="t" r="r" b="b"/>
            <a:pathLst>
              <a:path w="1950428" h="429520">
                <a:moveTo>
                  <a:pt x="0" y="0"/>
                </a:moveTo>
                <a:lnTo>
                  <a:pt x="1950428" y="0"/>
                </a:lnTo>
                <a:lnTo>
                  <a:pt x="1950428" y="429520"/>
                </a:lnTo>
                <a:lnTo>
                  <a:pt x="0" y="429520"/>
                </a:lnTo>
                <a:lnTo>
                  <a:pt x="0" y="0"/>
                </a:lnTo>
                <a:close/>
              </a:path>
            </a:pathLst>
          </a:custGeom>
          <a:blipFill>
            <a:blip r:embed="rId3"/>
            <a:stretch>
              <a:fillRect t="-240" b="-240"/>
            </a:stretch>
          </a:blip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VN"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TextBox 4"/>
          <p:cNvSpPr txBox="1"/>
          <p:nvPr/>
        </p:nvSpPr>
        <p:spPr>
          <a:xfrm>
            <a:off x="1016858" y="4122746"/>
            <a:ext cx="16242442" cy="1082412"/>
          </a:xfrm>
          <a:prstGeom prst="rect">
            <a:avLst/>
          </a:prstGeom>
        </p:spPr>
        <p:txBody>
          <a:bodyPr lIns="0" tIns="0" rIns="0" bIns="0" rtlCol="0" anchor="t">
            <a:spAutoFit/>
          </a:bodyPr>
          <a:lstStyle/>
          <a:p>
            <a:pPr marL="0" marR="0" lvl="0" indent="0" algn="ctr" defTabSz="914400" rtl="0" eaLnBrk="1" fontAlgn="auto" latinLnBrk="0" hangingPunct="1">
              <a:lnSpc>
                <a:spcPts val="8320"/>
              </a:lnSpc>
              <a:spcBef>
                <a:spcPts val="0"/>
              </a:spcBef>
              <a:spcAft>
                <a:spcPts val="0"/>
              </a:spcAft>
              <a:buClrTx/>
              <a:buSzTx/>
              <a:buFontTx/>
              <a:buNone/>
              <a:tabLst/>
              <a:defRPr/>
            </a:pPr>
            <a:r>
              <a:rPr kumimoji="0" lang="en-US" sz="8000" b="0" i="0" u="none" strike="noStrike" kern="1200" cap="none" spc="0" normalizeH="0" baseline="0" noProof="0" dirty="0">
                <a:ln>
                  <a:noFill/>
                </a:ln>
                <a:solidFill>
                  <a:srgbClr val="FFFFFF"/>
                </a:solidFill>
                <a:effectLst/>
                <a:uLnTx/>
                <a:uFillTx/>
                <a:latin typeface="Calistoga"/>
                <a:ea typeface="Calistoga"/>
                <a:cs typeface="Calistoga"/>
                <a:sym typeface="Calistoga"/>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32</TotalTime>
  <Words>2416</Words>
  <Application>Microsoft Office PowerPoint</Application>
  <PresentationFormat>Custom</PresentationFormat>
  <Paragraphs>188</Paragraphs>
  <Slides>18</Slides>
  <Notes>6</Notes>
  <HiddenSlides>0</HiddenSlides>
  <MMClips>4</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18</vt:i4>
      </vt:variant>
    </vt:vector>
  </HeadingPairs>
  <TitlesOfParts>
    <vt:vector size="27" baseType="lpstr">
      <vt:lpstr>Wingdings</vt:lpstr>
      <vt:lpstr>Arial</vt:lpstr>
      <vt:lpstr>Arimo</vt:lpstr>
      <vt:lpstr>Calistoga</vt:lpstr>
      <vt:lpstr>Calibri</vt:lpstr>
      <vt:lpstr>Poppins Bold</vt:lpstr>
      <vt:lpstr>Montserrat</vt:lpstr>
      <vt:lpstr>Arimo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SEE-MoLEx: Shared-Expert and Entropy-Guided Routing for Source-Only OOD Speech Spoofing Detection</dc:title>
  <cp:lastModifiedBy>To Duy An 202416653</cp:lastModifiedBy>
  <cp:revision>9</cp:revision>
  <dcterms:created xsi:type="dcterms:W3CDTF">2006-08-16T00:00:00Z</dcterms:created>
  <dcterms:modified xsi:type="dcterms:W3CDTF">2026-10-16T01:18:44Z</dcterms:modified>
  <dc:identifier>DAHOxSTg8d8</dc:identifier>
</cp:coreProperties>
</file>