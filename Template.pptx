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56" r:id="rId2"/>
    <p:sldId id="257" r:id="rId3"/>
    <p:sldId id="258" r:id="rId4"/>
    <p:sldId id="259" r:id="rId5"/>
    <p:sldId id="260" r:id="rId6"/>
    <p:sldId id="263" r:id="rId7"/>
  </p:sldIdLst>
  <p:sldSz cx="18288000" cy="10287000"/>
  <p:notesSz cx="6858000" cy="9144000"/>
  <p:embeddedFontLst>
    <p:embeddedFont>
      <p:font typeface="Arimo" panose="020B0604020202020204" pitchFamily="34" charset="0"/>
      <p:regular r:id="rId9"/>
    </p:embeddedFont>
    <p:embeddedFont>
      <p:font typeface="Arimo Bold" panose="020B0704020202020204" pitchFamily="34" charset="0"/>
      <p:regular r:id="rId10"/>
      <p:bold r:id="rId11"/>
    </p:embeddedFont>
    <p:embeddedFont>
      <p:font typeface="Arimo Bold Italics" panose="020B0704020202090204" pitchFamily="34" charset="0"/>
      <p:regular r:id="rId12"/>
      <p:bold r:id="rId13"/>
      <p:italic r:id="rId14"/>
      <p:boldItalic r:id="rId15"/>
    </p:embeddedFont>
    <p:embeddedFont>
      <p:font typeface="Calistoga" pitchFamily="2" charset="77"/>
      <p:regular r:id="rId16"/>
    </p:embeddedFont>
    <p:embeddedFont>
      <p:font typeface="Chewy" panose="02000000000000000000" pitchFamily="2" charset="0"/>
      <p:regular r:id="rId17"/>
    </p:embeddedFont>
    <p:embeddedFont>
      <p:font typeface="Poppins Bold" pitchFamily="2" charset="77"/>
      <p:regular r:id="rId18"/>
      <p:bold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59" autoAdjust="0"/>
    <p:restoredTop sz="94658" autoAdjust="0"/>
  </p:normalViewPr>
  <p:slideViewPr>
    <p:cSldViewPr>
      <p:cViewPr varScale="1">
        <p:scale>
          <a:sx n="65" d="100"/>
          <a:sy n="65" d="100"/>
        </p:scale>
        <p:origin x="648"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font" Target="fonts/font7.fntdata"/><Relationship Id="rId23" Type="http://schemas.openxmlformats.org/officeDocument/2006/relationships/tableStyles" Target="tableStyles.xml"/><Relationship Id="rId10" Type="http://schemas.openxmlformats.org/officeDocument/2006/relationships/font" Target="fonts/font2.fntdata"/><Relationship Id="rId19"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20.08.2026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 là ngôn ngữ cấp trung, có mục đích chung, ban đầu được phát triển bởi nhà khoa học máy tính người Đan Mạch Bjarne Stroustrup vào năm 1979 tại Phòng thí nghiệm Bell Hoa Kỳ. Như nhiều bạn đã biết, ngôn ngữ lập trình cấp trung là sự kết hợp giữa ngôn ngữ lập trình cấp thấp và cấp cao. Ngôn ngữ C++ ban đầu được thiết kế như một phần mở rộng của ngôn ngữ C, được sử dụng rộng rãi trong lập trình hệ thống và hệ điều hành dựa trên Unix. Ngoài ra, C được phát triển vào năm 1970 bởi Dennis Ritchie khi còn ở Bell Labs (trước đây là AT&amp;T Bell Labs). Trong những năm qua, C++ đã trở thành một trong những ngôn ngữ lập trình được sử dụng rộng rãi nhất và có nhiều ứng dụng trong các lĩnh vực như chơi game, robot, tài chính và tính toán khoa học. Các nhà phát triển cũng đã giới thiệu một số phiên bản mới của ngôn ngữ với những thay đổi đáng kể trên tinh thần luôn cập nhật và cạnh tranh với các ngôn ngữ lập trình hiện đại khác. Vì vậy, chúng ta hãy xem dòng thời gian và lịch sử phiên bản của C++.</a:t>
            </a:r>
          </a:p>
          <a:p>
            <a:endParaRPr lang="en-US"/>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 là ngôn ngữ cấp trung, có mục đích chung, ban đầu được phát triển bởi nhà khoa học máy tính người Đan Mạch Bjarne Stroustrup vào năm 1979 tại Phòng thí nghiệm Bell Hoa Kỳ. Như nhiều bạn đã biết, ngôn ngữ lập trình cấp trung là sự kết hợp giữa ngôn ngữ lập trình cấp thấp và cấp cao. Ngôn ngữ C++ ban đầu được thiết kế như một phần mở rộng của ngôn ngữ C, được sử dụng rộng rãi trong lập trình hệ thống và hệ điều hành dựa trên Unix. Ngoài ra, C được phát triển vào năm 1970 bởi Dennis Ritchie khi còn ở Bell Labs (trước đây là AT&amp;T Bell Labs). Trong những năm qua, C++ đã trở thành một trong những ngôn ngữ lập trình được sử dụng rộng rãi nhất và có nhiều ứng dụng trong các lĩnh vực như chơi game, robot, tài chính và tính toán khoa học. Các nhà phát triển cũng đã giới thiệu một số phiên bản mới của ngôn ngữ với những thay đổi đáng kể trên tinh thần luôn cập nhật và cạnh tranh với các ngôn ngữ lập trình hiện đại khác. Vì vậy, chúng ta hãy xem dòng thời gian và lịch sử phiên bản của C++.</a:t>
            </a:r>
          </a:p>
          <a:p>
            <a:endParaRPr lang="en-US"/>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 là ngôn ngữ cấp trung, có mục đích chung, ban đầu được phát triển bởi nhà khoa học máy tính người Đan Mạch Bjarne Stroustrup vào năm 1979 tại Phòng thí nghiệm Bell Hoa Kỳ. Như nhiều bạn đã biết, ngôn ngữ lập trình cấp trung là sự kết hợp giữa ngôn ngữ lập trình cấp thấp và cấp cao. Ngôn ngữ C++ ban đầu được thiết kế như một phần mở rộng của ngôn ngữ C, được sử dụng rộng rãi trong lập trình hệ thống và hệ điều hành dựa trên Unix. Ngoài ra, C được phát triển vào năm 1970 bởi Dennis Ritchie khi còn ở Bell Labs (trước đây là AT&amp;T Bell Labs). Trong những năm qua, C++ đã trở thành một trong những ngôn ngữ lập trình được sử dụng rộng rãi nhất và có nhiều ứng dụng trong các lĩnh vực như chơi game, robot, tài chính và tính toán khoa học. Các nhà phát triển cũng đã giới thiệu một số phiên bản mới của ngôn ngữ với những thay đổi đáng kể trên tinh thần luôn cập nhật và cạnh tranh với các ngôn ngữ lập trình hiện đại khác. Vì vậy, chúng ta hãy xem dòng thời gian và lịch sử phiên bản của C++.</a:t>
            </a:r>
          </a:p>
          <a:p>
            <a:endParaRPr lang="en-US"/>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 là ngôn ngữ cấp trung, có mục đích chung, ban đầu được phát triển bởi nhà khoa học máy tính người Đan Mạch Bjarne Stroustrup vào năm 1979 tại Phòng thí nghiệm Bell Hoa Kỳ. Như nhiều bạn đã biết, ngôn ngữ lập trình cấp trung là sự kết hợp giữa ngôn ngữ lập trình cấp thấp và cấp cao. Ngôn ngữ C++ ban đầu được thiết kế như một phần mở rộng của ngôn ngữ C, được sử dụng rộng rãi trong lập trình hệ thống và hệ điều hành dựa trên Unix. Ngoài ra, C được phát triển vào năm 1970 bởi Dennis Ritchie khi còn ở Bell Labs (trước đây là AT&amp;T Bell Labs). Trong những năm qua, C++ đã trở thành một trong những ngôn ngữ lập trình được sử dụng rộng rãi nhất và có nhiều ứng dụng trong các lĩnh vực như chơi game, robot, tài chính và tính toán khoa học. Các nhà phát triển cũng đã giới thiệu một số phiên bản mới của ngôn ngữ với những thay đổi đáng kể trên tinh thần luôn cập nhật và cạnh tranh với các ngôn ngữ lập trình hiện đại khác. Vì vậy, chúng ta hãy xem dòng thời gian và lịch sử phiên bản của C++.</a:t>
            </a:r>
          </a:p>
          <a:p>
            <a:endParaRPr lang="en-US"/>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 là ngôn ngữ cấp trung, có mục đích chung, ban đầu được phát triển bởi nhà khoa học máy tính người Đan Mạch Bjarne Stroustrup vào năm 1979 tại Phòng thí nghiệm Bell Hoa Kỳ. Như nhiều bạn đã biết, ngôn ngữ lập trình cấp trung là sự kết hợp giữa ngôn ngữ lập trình cấp thấp và cấp cao. Ngôn ngữ C++ ban đầu được thiết kế như một phần mở rộng của ngôn ngữ C, được sử dụng rộng rãi trong lập trình hệ thống và hệ điều hành dựa trên Unix. Ngoài ra, C được phát triển vào năm 1970 bởi Dennis Ritchie khi còn ở Bell Labs (trước đây là AT&amp;T Bell Labs). Trong những năm qua, C++ đã trở thành một trong những ngôn ngữ lập trình được sử dụng rộng rãi nhất và có nhiều ứng dụng trong các lĩnh vực như chơi game, robot, tài chính và tính toán khoa học. Các nhà phát triển cũng đã giới thiệu một số phiên bản mới của ngôn ngữ với những thay đổi đáng kể trên tinh thần luôn cập nhật và cạnh tranh với các ngôn ngữ lập trình hiện đại khác. Vì vậy, chúng ta hãy xem dòng thời gian và lịch sử phiên bản của C++.</a:t>
            </a:r>
          </a:p>
          <a:p>
            <a:endParaRPr lang="en-US"/>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sv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gif"/><Relationship Id="rId4" Type="http://schemas.openxmlformats.org/officeDocument/2006/relationships/image" Target="../media/image6.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206494"/>
            <a:ext cx="18288000" cy="1080508"/>
          </a:xfrm>
          <a:custGeom>
            <a:avLst/>
            <a:gdLst/>
            <a:ahLst/>
            <a:cxnLst/>
            <a:rect l="l" t="t" r="r" b="b"/>
            <a:pathLst>
              <a:path w="18288000" h="1080508">
                <a:moveTo>
                  <a:pt x="0" y="0"/>
                </a:moveTo>
                <a:lnTo>
                  <a:pt x="18288000" y="0"/>
                </a:lnTo>
                <a:lnTo>
                  <a:pt x="18288000" y="1080508"/>
                </a:lnTo>
                <a:lnTo>
                  <a:pt x="0" y="1080508"/>
                </a:lnTo>
                <a:lnTo>
                  <a:pt x="0" y="0"/>
                </a:lnTo>
                <a:close/>
              </a:path>
            </a:pathLst>
          </a:custGeom>
          <a:blipFill>
            <a:blip r:embed="rId3"/>
            <a:stretch>
              <a:fillRect l="-130" r="-130"/>
            </a:stretch>
          </a:blipFill>
        </p:spPr>
        <p:txBody>
          <a:bodyPr/>
          <a:lstStyle/>
          <a:p>
            <a:endParaRPr lang="en-VN"/>
          </a:p>
        </p:txBody>
      </p:sp>
      <p:sp>
        <p:nvSpPr>
          <p:cNvPr id="3" name="Freeform 3"/>
          <p:cNvSpPr/>
          <p:nvPr/>
        </p:nvSpPr>
        <p:spPr>
          <a:xfrm>
            <a:off x="15326350" y="9512300"/>
            <a:ext cx="1950428" cy="429520"/>
          </a:xfrm>
          <a:custGeom>
            <a:avLst/>
            <a:gdLst/>
            <a:ahLst/>
            <a:cxnLst/>
            <a:rect l="l" t="t" r="r" b="b"/>
            <a:pathLst>
              <a:path w="1950428" h="429520">
                <a:moveTo>
                  <a:pt x="0" y="0"/>
                </a:moveTo>
                <a:lnTo>
                  <a:pt x="1950428" y="0"/>
                </a:lnTo>
                <a:lnTo>
                  <a:pt x="1950428" y="429520"/>
                </a:lnTo>
                <a:lnTo>
                  <a:pt x="0" y="429520"/>
                </a:lnTo>
                <a:lnTo>
                  <a:pt x="0" y="0"/>
                </a:lnTo>
                <a:close/>
              </a:path>
            </a:pathLst>
          </a:custGeom>
          <a:blipFill>
            <a:blip r:embed="rId4"/>
            <a:stretch>
              <a:fillRect t="-240" b="-240"/>
            </a:stretch>
          </a:blipFill>
        </p:spPr>
        <p:txBody>
          <a:bodyPr/>
          <a:lstStyle/>
          <a:p>
            <a:endParaRPr lang="en-VN"/>
          </a:p>
        </p:txBody>
      </p:sp>
      <p:sp>
        <p:nvSpPr>
          <p:cNvPr id="4" name="Freeform 4"/>
          <p:cNvSpPr/>
          <p:nvPr/>
        </p:nvSpPr>
        <p:spPr>
          <a:xfrm>
            <a:off x="15326350" y="9512300"/>
            <a:ext cx="1950428" cy="429520"/>
          </a:xfrm>
          <a:custGeom>
            <a:avLst/>
            <a:gdLst/>
            <a:ahLst/>
            <a:cxnLst/>
            <a:rect l="l" t="t" r="r" b="b"/>
            <a:pathLst>
              <a:path w="1950428" h="429520">
                <a:moveTo>
                  <a:pt x="0" y="0"/>
                </a:moveTo>
                <a:lnTo>
                  <a:pt x="1950428" y="0"/>
                </a:lnTo>
                <a:lnTo>
                  <a:pt x="1950428" y="429520"/>
                </a:lnTo>
                <a:lnTo>
                  <a:pt x="0" y="429520"/>
                </a:lnTo>
                <a:lnTo>
                  <a:pt x="0" y="0"/>
                </a:lnTo>
                <a:close/>
              </a:path>
            </a:pathLst>
          </a:custGeom>
          <a:blipFill>
            <a:blip r:embed="rId4"/>
            <a:stretch>
              <a:fillRect t="-240" b="-240"/>
            </a:stretch>
          </a:blipFill>
        </p:spPr>
        <p:txBody>
          <a:bodyPr/>
          <a:lstStyle/>
          <a:p>
            <a:endParaRPr lang="en-VN"/>
          </a:p>
        </p:txBody>
      </p:sp>
      <p:sp>
        <p:nvSpPr>
          <p:cNvPr id="5" name="Freeform 5"/>
          <p:cNvSpPr/>
          <p:nvPr/>
        </p:nvSpPr>
        <p:spPr>
          <a:xfrm>
            <a:off x="-159806" y="0"/>
            <a:ext cx="18607612" cy="9206494"/>
          </a:xfrm>
          <a:custGeom>
            <a:avLst/>
            <a:gdLst/>
            <a:ahLst/>
            <a:cxnLst/>
            <a:rect l="l" t="t" r="r" b="b"/>
            <a:pathLst>
              <a:path w="18607612" h="9206494">
                <a:moveTo>
                  <a:pt x="0" y="0"/>
                </a:moveTo>
                <a:lnTo>
                  <a:pt x="18607612" y="0"/>
                </a:lnTo>
                <a:lnTo>
                  <a:pt x="18607612" y="9206494"/>
                </a:lnTo>
                <a:lnTo>
                  <a:pt x="0" y="9206494"/>
                </a:lnTo>
                <a:lnTo>
                  <a:pt x="0" y="0"/>
                </a:lnTo>
                <a:close/>
              </a:path>
            </a:pathLst>
          </a:custGeom>
          <a:blipFill>
            <a:blip r:embed="rId5">
              <a:alphaModFix amt="18999"/>
            </a:blip>
            <a:stretch>
              <a:fillRect t="-7746" b="-7746"/>
            </a:stretch>
          </a:blipFill>
        </p:spPr>
        <p:txBody>
          <a:bodyPr/>
          <a:lstStyle/>
          <a:p>
            <a:endParaRPr lang="en-VN" dirty="0"/>
          </a:p>
        </p:txBody>
      </p:sp>
      <p:sp>
        <p:nvSpPr>
          <p:cNvPr id="6" name="TextBox 6"/>
          <p:cNvSpPr txBox="1"/>
          <p:nvPr/>
        </p:nvSpPr>
        <p:spPr>
          <a:xfrm>
            <a:off x="840740" y="9548495"/>
            <a:ext cx="7754620" cy="425917"/>
          </a:xfrm>
          <a:prstGeom prst="rect">
            <a:avLst/>
          </a:prstGeom>
        </p:spPr>
        <p:txBody>
          <a:bodyPr lIns="0" tIns="0" rIns="0" bIns="0" rtlCol="0" anchor="t">
            <a:spAutoFit/>
          </a:bodyPr>
          <a:lstStyle/>
          <a:p>
            <a:pPr algn="l">
              <a:lnSpc>
                <a:spcPts val="2520"/>
              </a:lnSpc>
            </a:pPr>
            <a:r>
              <a:rPr lang="en-US" sz="2100" spc="600">
                <a:solidFill>
                  <a:srgbClr val="B4B4B4"/>
                </a:solidFill>
                <a:latin typeface="Arimo"/>
                <a:ea typeface="Arimo"/>
                <a:cs typeface="Arimo"/>
                <a:sym typeface="Arimo"/>
              </a:rPr>
              <a:t>www.viettel.com.vn</a:t>
            </a:r>
          </a:p>
        </p:txBody>
      </p:sp>
      <p:sp>
        <p:nvSpPr>
          <p:cNvPr id="7" name="TextBox 7"/>
          <p:cNvSpPr txBox="1"/>
          <p:nvPr/>
        </p:nvSpPr>
        <p:spPr>
          <a:xfrm>
            <a:off x="840740" y="9548495"/>
            <a:ext cx="7754620" cy="425917"/>
          </a:xfrm>
          <a:prstGeom prst="rect">
            <a:avLst/>
          </a:prstGeom>
        </p:spPr>
        <p:txBody>
          <a:bodyPr lIns="0" tIns="0" rIns="0" bIns="0" rtlCol="0" anchor="t">
            <a:spAutoFit/>
          </a:bodyPr>
          <a:lstStyle/>
          <a:p>
            <a:pPr algn="l">
              <a:lnSpc>
                <a:spcPts val="2520"/>
              </a:lnSpc>
            </a:pPr>
            <a:r>
              <a:rPr lang="en-US" sz="2100" spc="600">
                <a:solidFill>
                  <a:srgbClr val="B4B4B4"/>
                </a:solidFill>
                <a:latin typeface="Arimo"/>
                <a:ea typeface="Arimo"/>
                <a:cs typeface="Arimo"/>
                <a:sym typeface="Arimo"/>
              </a:rPr>
              <a:t>www.viettel.com.vn</a:t>
            </a:r>
          </a:p>
        </p:txBody>
      </p:sp>
      <p:grpSp>
        <p:nvGrpSpPr>
          <p:cNvPr id="8" name="Group 8"/>
          <p:cNvGrpSpPr/>
          <p:nvPr/>
        </p:nvGrpSpPr>
        <p:grpSpPr>
          <a:xfrm>
            <a:off x="9422720" y="6783689"/>
            <a:ext cx="9025085" cy="1485682"/>
            <a:chOff x="0" y="-9525"/>
            <a:chExt cx="12033447" cy="1980909"/>
          </a:xfrm>
        </p:grpSpPr>
        <p:sp>
          <p:nvSpPr>
            <p:cNvPr id="9" name="TextBox 9"/>
            <p:cNvSpPr txBox="1"/>
            <p:nvPr/>
          </p:nvSpPr>
          <p:spPr>
            <a:xfrm>
              <a:off x="0" y="-9525"/>
              <a:ext cx="12033447" cy="809625"/>
            </a:xfrm>
            <a:prstGeom prst="rect">
              <a:avLst/>
            </a:prstGeom>
          </p:spPr>
          <p:txBody>
            <a:bodyPr lIns="0" tIns="0" rIns="0" bIns="0" rtlCol="0" anchor="t">
              <a:spAutoFit/>
            </a:bodyPr>
            <a:lstStyle/>
            <a:p>
              <a:pPr algn="l">
                <a:lnSpc>
                  <a:spcPts val="4799"/>
                </a:lnSpc>
              </a:pPr>
              <a:r>
                <a:rPr lang="en-US" sz="3999" b="1" i="1">
                  <a:solidFill>
                    <a:srgbClr val="000000"/>
                  </a:solidFill>
                  <a:latin typeface="Arimo Bold Italics"/>
                  <a:ea typeface="Arimo Bold Italics"/>
                  <a:cs typeface="Arimo Bold Italics"/>
                  <a:sym typeface="Arimo Bold Italics"/>
                </a:rPr>
                <a:t>Lĩnh vực: AI</a:t>
              </a:r>
            </a:p>
          </p:txBody>
        </p:sp>
        <p:sp>
          <p:nvSpPr>
            <p:cNvPr id="10" name="TextBox 10"/>
            <p:cNvSpPr txBox="1"/>
            <p:nvPr/>
          </p:nvSpPr>
          <p:spPr>
            <a:xfrm>
              <a:off x="0" y="1200147"/>
              <a:ext cx="12033447" cy="771237"/>
            </a:xfrm>
            <a:prstGeom prst="rect">
              <a:avLst/>
            </a:prstGeom>
          </p:spPr>
          <p:txBody>
            <a:bodyPr lIns="0" tIns="0" rIns="0" bIns="0" rtlCol="0" anchor="t">
              <a:spAutoFit/>
            </a:bodyPr>
            <a:lstStyle/>
            <a:p>
              <a:pPr algn="l">
                <a:lnSpc>
                  <a:spcPts val="4799"/>
                </a:lnSpc>
              </a:pPr>
              <a:r>
                <a:rPr lang="en-US" sz="3999" b="1" i="1" dirty="0" err="1">
                  <a:solidFill>
                    <a:srgbClr val="000000"/>
                  </a:solidFill>
                  <a:latin typeface="Arimo Bold Italics"/>
                  <a:ea typeface="Arimo Bold Italics"/>
                  <a:cs typeface="Arimo Bold Italics"/>
                  <a:sym typeface="Arimo Bold Italics"/>
                </a:rPr>
                <a:t>Người</a:t>
              </a:r>
              <a:r>
                <a:rPr lang="en-US" sz="3999" b="1" i="1" dirty="0">
                  <a:solidFill>
                    <a:srgbClr val="000000"/>
                  </a:solidFill>
                  <a:latin typeface="Arimo Bold Italics"/>
                  <a:ea typeface="Arimo Bold Italics"/>
                  <a:cs typeface="Arimo Bold Italics"/>
                  <a:sym typeface="Arimo Bold Italics"/>
                </a:rPr>
                <a:t> </a:t>
              </a:r>
              <a:r>
                <a:rPr lang="en-US" sz="3999" b="1" i="1" dirty="0" err="1">
                  <a:solidFill>
                    <a:srgbClr val="000000"/>
                  </a:solidFill>
                  <a:latin typeface="Arimo Bold Italics"/>
                  <a:ea typeface="Arimo Bold Italics"/>
                  <a:cs typeface="Arimo Bold Italics"/>
                  <a:sym typeface="Arimo Bold Italics"/>
                </a:rPr>
                <a:t>hướng</a:t>
              </a:r>
              <a:r>
                <a:rPr lang="en-US" sz="3999" b="1" i="1" dirty="0">
                  <a:solidFill>
                    <a:srgbClr val="000000"/>
                  </a:solidFill>
                  <a:latin typeface="Arimo Bold Italics"/>
                  <a:ea typeface="Arimo Bold Italics"/>
                  <a:cs typeface="Arimo Bold Italics"/>
                  <a:sym typeface="Arimo Bold Italics"/>
                </a:rPr>
                <a:t> </a:t>
              </a:r>
              <a:r>
                <a:rPr lang="en-US" sz="3999" b="1" i="1" dirty="0" err="1">
                  <a:solidFill>
                    <a:srgbClr val="000000"/>
                  </a:solidFill>
                  <a:latin typeface="Arimo Bold Italics"/>
                  <a:ea typeface="Arimo Bold Italics"/>
                  <a:cs typeface="Arimo Bold Italics"/>
                  <a:sym typeface="Arimo Bold Italics"/>
                </a:rPr>
                <a:t>dẫn</a:t>
              </a:r>
              <a:r>
                <a:rPr lang="en-US" sz="3999" b="1" i="1" dirty="0">
                  <a:solidFill>
                    <a:srgbClr val="000000"/>
                  </a:solidFill>
                  <a:latin typeface="Arimo Bold Italics"/>
                  <a:ea typeface="Arimo Bold Italics"/>
                  <a:cs typeface="Arimo Bold Italics"/>
                  <a:sym typeface="Arimo Bold Italics"/>
                </a:rPr>
                <a:t>: Bùi Tiến Đạt</a:t>
              </a:r>
            </a:p>
          </p:txBody>
        </p:sp>
      </p:grpSp>
      <p:sp>
        <p:nvSpPr>
          <p:cNvPr id="11" name="TextBox 11"/>
          <p:cNvSpPr txBox="1"/>
          <p:nvPr/>
        </p:nvSpPr>
        <p:spPr>
          <a:xfrm>
            <a:off x="9422720" y="5910685"/>
            <a:ext cx="9025085" cy="609600"/>
          </a:xfrm>
          <a:prstGeom prst="rect">
            <a:avLst/>
          </a:prstGeom>
        </p:spPr>
        <p:txBody>
          <a:bodyPr lIns="0" tIns="0" rIns="0" bIns="0" rtlCol="0" anchor="t">
            <a:spAutoFit/>
          </a:bodyPr>
          <a:lstStyle/>
          <a:p>
            <a:pPr algn="l">
              <a:lnSpc>
                <a:spcPts val="4799"/>
              </a:lnSpc>
            </a:pPr>
            <a:r>
              <a:rPr lang="en-US" sz="3999" b="1" i="1" dirty="0" err="1">
                <a:solidFill>
                  <a:srgbClr val="000000"/>
                </a:solidFill>
                <a:latin typeface="Arimo Bold Italics"/>
                <a:ea typeface="Arimo Bold Italics"/>
                <a:cs typeface="Arimo Bold Italics"/>
                <a:sym typeface="Arimo Bold Italics"/>
              </a:rPr>
              <a:t>Người</a:t>
            </a:r>
            <a:r>
              <a:rPr lang="en-US" sz="3999" b="1" i="1" dirty="0">
                <a:solidFill>
                  <a:srgbClr val="000000"/>
                </a:solidFill>
                <a:latin typeface="Arimo Bold Italics"/>
                <a:ea typeface="Arimo Bold Italics"/>
                <a:cs typeface="Arimo Bold Italics"/>
                <a:sym typeface="Arimo Bold Italics"/>
              </a:rPr>
              <a:t> </a:t>
            </a:r>
            <a:r>
              <a:rPr lang="en-US" sz="3999" b="1" i="1" dirty="0" err="1">
                <a:solidFill>
                  <a:srgbClr val="000000"/>
                </a:solidFill>
                <a:latin typeface="Arimo Bold Italics"/>
                <a:ea typeface="Arimo Bold Italics"/>
                <a:cs typeface="Arimo Bold Italics"/>
                <a:sym typeface="Arimo Bold Italics"/>
              </a:rPr>
              <a:t>thực</a:t>
            </a:r>
            <a:r>
              <a:rPr lang="en-US" sz="3999" b="1" i="1" dirty="0">
                <a:solidFill>
                  <a:srgbClr val="000000"/>
                </a:solidFill>
                <a:latin typeface="Arimo Bold Italics"/>
                <a:ea typeface="Arimo Bold Italics"/>
                <a:cs typeface="Arimo Bold Italics"/>
                <a:sym typeface="Arimo Bold Italics"/>
              </a:rPr>
              <a:t> </a:t>
            </a:r>
            <a:r>
              <a:rPr lang="en-US" sz="3999" b="1" i="1" dirty="0" err="1">
                <a:solidFill>
                  <a:srgbClr val="000000"/>
                </a:solidFill>
                <a:latin typeface="Arimo Bold Italics"/>
                <a:ea typeface="Arimo Bold Italics"/>
                <a:cs typeface="Arimo Bold Italics"/>
                <a:sym typeface="Arimo Bold Italics"/>
              </a:rPr>
              <a:t>hiện</a:t>
            </a:r>
            <a:r>
              <a:rPr lang="en-US" sz="3999" b="1" i="1" dirty="0">
                <a:solidFill>
                  <a:srgbClr val="000000"/>
                </a:solidFill>
                <a:latin typeface="Arimo Bold Italics"/>
                <a:ea typeface="Arimo Bold Italics"/>
                <a:cs typeface="Arimo Bold Italics"/>
                <a:sym typeface="Arimo Bold Italics"/>
              </a:rPr>
              <a:t>: Hoàng Đức Anh</a:t>
            </a:r>
          </a:p>
        </p:txBody>
      </p:sp>
      <p:sp>
        <p:nvSpPr>
          <p:cNvPr id="12" name="TextBox 12"/>
          <p:cNvSpPr txBox="1"/>
          <p:nvPr/>
        </p:nvSpPr>
        <p:spPr>
          <a:xfrm>
            <a:off x="361024" y="3892296"/>
            <a:ext cx="17565952" cy="627095"/>
          </a:xfrm>
          <a:prstGeom prst="rect">
            <a:avLst/>
          </a:prstGeom>
        </p:spPr>
        <p:txBody>
          <a:bodyPr lIns="0" tIns="0" rIns="0" bIns="0" rtlCol="0" anchor="t">
            <a:spAutoFit/>
          </a:bodyPr>
          <a:lstStyle/>
          <a:p>
            <a:pPr algn="ctr">
              <a:lnSpc>
                <a:spcPts val="4608"/>
              </a:lnSpc>
            </a:pPr>
            <a:r>
              <a:rPr lang="en-US" sz="4800" b="1" dirty="0">
                <a:solidFill>
                  <a:srgbClr val="404155"/>
                </a:solidFill>
                <a:latin typeface="Poppins Bold"/>
                <a:ea typeface="Poppins Bold"/>
                <a:cs typeface="Poppins Bold"/>
                <a:sym typeface="Poppins Bold"/>
              </a:rPr>
              <a:t>Title</a:t>
            </a:r>
          </a:p>
        </p:txBody>
      </p:sp>
      <p:sp>
        <p:nvSpPr>
          <p:cNvPr id="13" name="TextBox 13"/>
          <p:cNvSpPr txBox="1"/>
          <p:nvPr/>
        </p:nvSpPr>
        <p:spPr>
          <a:xfrm>
            <a:off x="5933595" y="1728596"/>
            <a:ext cx="6420810" cy="1039804"/>
          </a:xfrm>
          <a:prstGeom prst="rect">
            <a:avLst/>
          </a:prstGeom>
        </p:spPr>
        <p:txBody>
          <a:bodyPr lIns="0" tIns="0" rIns="0" bIns="0" rtlCol="0" anchor="t">
            <a:spAutoFit/>
          </a:bodyPr>
          <a:lstStyle/>
          <a:p>
            <a:pPr algn="ctr">
              <a:lnSpc>
                <a:spcPts val="7880"/>
              </a:lnSpc>
            </a:pPr>
            <a:r>
              <a:rPr lang="en-US" sz="7577" dirty="0">
                <a:solidFill>
                  <a:srgbClr val="000000"/>
                </a:solidFill>
                <a:latin typeface="Calistoga"/>
                <a:ea typeface="Calistoga"/>
                <a:cs typeface="Calistoga"/>
                <a:sym typeface="Calistoga"/>
              </a:rPr>
              <a:t>Title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4453"/>
        </a:solidFill>
        <a:effectLst/>
      </p:bgPr>
    </p:bg>
    <p:spTree>
      <p:nvGrpSpPr>
        <p:cNvPr id="1" name=""/>
        <p:cNvGrpSpPr/>
        <p:nvPr/>
      </p:nvGrpSpPr>
      <p:grpSpPr>
        <a:xfrm>
          <a:off x="0" y="0"/>
          <a:ext cx="0" cy="0"/>
          <a:chOff x="0" y="0"/>
          <a:chExt cx="0" cy="0"/>
        </a:xfrm>
      </p:grpSpPr>
      <p:sp>
        <p:nvSpPr>
          <p:cNvPr id="2" name="Freeform 2"/>
          <p:cNvSpPr/>
          <p:nvPr/>
        </p:nvSpPr>
        <p:spPr>
          <a:xfrm>
            <a:off x="15326350" y="9512300"/>
            <a:ext cx="1950428" cy="429520"/>
          </a:xfrm>
          <a:custGeom>
            <a:avLst/>
            <a:gdLst/>
            <a:ahLst/>
            <a:cxnLst/>
            <a:rect l="l" t="t" r="r" b="b"/>
            <a:pathLst>
              <a:path w="1950428" h="429520">
                <a:moveTo>
                  <a:pt x="0" y="0"/>
                </a:moveTo>
                <a:lnTo>
                  <a:pt x="1950428" y="0"/>
                </a:lnTo>
                <a:lnTo>
                  <a:pt x="1950428" y="429520"/>
                </a:lnTo>
                <a:lnTo>
                  <a:pt x="0" y="429520"/>
                </a:lnTo>
                <a:lnTo>
                  <a:pt x="0" y="0"/>
                </a:lnTo>
                <a:close/>
              </a:path>
            </a:pathLst>
          </a:custGeom>
          <a:blipFill>
            <a:blip r:embed="rId3"/>
            <a:stretch>
              <a:fillRect t="-240" b="-240"/>
            </a:stretch>
          </a:blipFill>
        </p:spPr>
        <p:txBody>
          <a:bodyPr/>
          <a:lstStyle/>
          <a:p>
            <a:endParaRPr lang="en-VN"/>
          </a:p>
        </p:txBody>
      </p:sp>
      <p:sp>
        <p:nvSpPr>
          <p:cNvPr id="3" name="Freeform 3"/>
          <p:cNvSpPr/>
          <p:nvPr/>
        </p:nvSpPr>
        <p:spPr>
          <a:xfrm>
            <a:off x="15326350" y="9512300"/>
            <a:ext cx="1950428" cy="429520"/>
          </a:xfrm>
          <a:custGeom>
            <a:avLst/>
            <a:gdLst/>
            <a:ahLst/>
            <a:cxnLst/>
            <a:rect l="l" t="t" r="r" b="b"/>
            <a:pathLst>
              <a:path w="1950428" h="429520">
                <a:moveTo>
                  <a:pt x="0" y="0"/>
                </a:moveTo>
                <a:lnTo>
                  <a:pt x="1950428" y="0"/>
                </a:lnTo>
                <a:lnTo>
                  <a:pt x="1950428" y="429520"/>
                </a:lnTo>
                <a:lnTo>
                  <a:pt x="0" y="429520"/>
                </a:lnTo>
                <a:lnTo>
                  <a:pt x="0" y="0"/>
                </a:lnTo>
                <a:close/>
              </a:path>
            </a:pathLst>
          </a:custGeom>
          <a:blipFill>
            <a:blip r:embed="rId3"/>
            <a:stretch>
              <a:fillRect t="-240" b="-240"/>
            </a:stretch>
          </a:blipFill>
        </p:spPr>
        <p:txBody>
          <a:bodyPr/>
          <a:lstStyle/>
          <a:p>
            <a:endParaRPr lang="en-VN"/>
          </a:p>
        </p:txBody>
      </p:sp>
      <p:sp>
        <p:nvSpPr>
          <p:cNvPr id="4" name="TextBox 4"/>
          <p:cNvSpPr txBox="1"/>
          <p:nvPr/>
        </p:nvSpPr>
        <p:spPr>
          <a:xfrm>
            <a:off x="1016858" y="4122746"/>
            <a:ext cx="16242442" cy="1230630"/>
          </a:xfrm>
          <a:prstGeom prst="rect">
            <a:avLst/>
          </a:prstGeom>
        </p:spPr>
        <p:txBody>
          <a:bodyPr lIns="0" tIns="0" rIns="0" bIns="0" rtlCol="0" anchor="t">
            <a:spAutoFit/>
          </a:bodyPr>
          <a:lstStyle/>
          <a:p>
            <a:pPr algn="ctr">
              <a:lnSpc>
                <a:spcPts val="9360"/>
              </a:lnSpc>
            </a:pPr>
            <a:r>
              <a:rPr lang="en-US" sz="9000">
                <a:solidFill>
                  <a:srgbClr val="FFFFFF"/>
                </a:solidFill>
                <a:latin typeface="Calistoga"/>
                <a:ea typeface="Calistoga"/>
                <a:cs typeface="Calistoga"/>
                <a:sym typeface="Calistoga"/>
              </a:rPr>
              <a:t>Title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206494"/>
            <a:ext cx="18288000" cy="1080508"/>
          </a:xfrm>
          <a:custGeom>
            <a:avLst/>
            <a:gdLst/>
            <a:ahLst/>
            <a:cxnLst/>
            <a:rect l="l" t="t" r="r" b="b"/>
            <a:pathLst>
              <a:path w="18288000" h="1080508">
                <a:moveTo>
                  <a:pt x="0" y="0"/>
                </a:moveTo>
                <a:lnTo>
                  <a:pt x="18288000" y="0"/>
                </a:lnTo>
                <a:lnTo>
                  <a:pt x="18288000" y="1080508"/>
                </a:lnTo>
                <a:lnTo>
                  <a:pt x="0" y="1080508"/>
                </a:lnTo>
                <a:lnTo>
                  <a:pt x="0" y="0"/>
                </a:lnTo>
                <a:close/>
              </a:path>
            </a:pathLst>
          </a:custGeom>
          <a:blipFill>
            <a:blip r:embed="rId3"/>
            <a:stretch>
              <a:fillRect l="-130" r="-130"/>
            </a:stretch>
          </a:blipFill>
        </p:spPr>
        <p:txBody>
          <a:bodyPr/>
          <a:lstStyle/>
          <a:p>
            <a:endParaRPr lang="en-VN"/>
          </a:p>
        </p:txBody>
      </p:sp>
      <p:sp>
        <p:nvSpPr>
          <p:cNvPr id="3" name="Freeform 3"/>
          <p:cNvSpPr/>
          <p:nvPr/>
        </p:nvSpPr>
        <p:spPr>
          <a:xfrm>
            <a:off x="15326350" y="9512300"/>
            <a:ext cx="1950428" cy="429520"/>
          </a:xfrm>
          <a:custGeom>
            <a:avLst/>
            <a:gdLst/>
            <a:ahLst/>
            <a:cxnLst/>
            <a:rect l="l" t="t" r="r" b="b"/>
            <a:pathLst>
              <a:path w="1950428" h="429520">
                <a:moveTo>
                  <a:pt x="0" y="0"/>
                </a:moveTo>
                <a:lnTo>
                  <a:pt x="1950428" y="0"/>
                </a:lnTo>
                <a:lnTo>
                  <a:pt x="1950428" y="429520"/>
                </a:lnTo>
                <a:lnTo>
                  <a:pt x="0" y="429520"/>
                </a:lnTo>
                <a:lnTo>
                  <a:pt x="0" y="0"/>
                </a:lnTo>
                <a:close/>
              </a:path>
            </a:pathLst>
          </a:custGeom>
          <a:blipFill>
            <a:blip r:embed="rId4"/>
            <a:stretch>
              <a:fillRect t="-240" b="-240"/>
            </a:stretch>
          </a:blipFill>
        </p:spPr>
        <p:txBody>
          <a:bodyPr/>
          <a:lstStyle/>
          <a:p>
            <a:endParaRPr lang="en-VN"/>
          </a:p>
        </p:txBody>
      </p:sp>
      <p:sp>
        <p:nvSpPr>
          <p:cNvPr id="4" name="Freeform 4"/>
          <p:cNvSpPr/>
          <p:nvPr/>
        </p:nvSpPr>
        <p:spPr>
          <a:xfrm>
            <a:off x="15326350" y="9512300"/>
            <a:ext cx="1950428" cy="429520"/>
          </a:xfrm>
          <a:custGeom>
            <a:avLst/>
            <a:gdLst/>
            <a:ahLst/>
            <a:cxnLst/>
            <a:rect l="l" t="t" r="r" b="b"/>
            <a:pathLst>
              <a:path w="1950428" h="429520">
                <a:moveTo>
                  <a:pt x="0" y="0"/>
                </a:moveTo>
                <a:lnTo>
                  <a:pt x="1950428" y="0"/>
                </a:lnTo>
                <a:lnTo>
                  <a:pt x="1950428" y="429520"/>
                </a:lnTo>
                <a:lnTo>
                  <a:pt x="0" y="429520"/>
                </a:lnTo>
                <a:lnTo>
                  <a:pt x="0" y="0"/>
                </a:lnTo>
                <a:close/>
              </a:path>
            </a:pathLst>
          </a:custGeom>
          <a:blipFill>
            <a:blip r:embed="rId4"/>
            <a:stretch>
              <a:fillRect t="-240" b="-240"/>
            </a:stretch>
          </a:blipFill>
        </p:spPr>
        <p:txBody>
          <a:bodyPr/>
          <a:lstStyle/>
          <a:p>
            <a:endParaRPr lang="en-VN"/>
          </a:p>
        </p:txBody>
      </p:sp>
      <p:sp>
        <p:nvSpPr>
          <p:cNvPr id="5" name="TextBox 5"/>
          <p:cNvSpPr txBox="1"/>
          <p:nvPr/>
        </p:nvSpPr>
        <p:spPr>
          <a:xfrm>
            <a:off x="840740" y="9548495"/>
            <a:ext cx="7754620" cy="425917"/>
          </a:xfrm>
          <a:prstGeom prst="rect">
            <a:avLst/>
          </a:prstGeom>
        </p:spPr>
        <p:txBody>
          <a:bodyPr lIns="0" tIns="0" rIns="0" bIns="0" rtlCol="0" anchor="t">
            <a:spAutoFit/>
          </a:bodyPr>
          <a:lstStyle/>
          <a:p>
            <a:pPr algn="l">
              <a:lnSpc>
                <a:spcPts val="2520"/>
              </a:lnSpc>
            </a:pPr>
            <a:r>
              <a:rPr lang="en-US" sz="2100" spc="600">
                <a:solidFill>
                  <a:srgbClr val="B4B4B4"/>
                </a:solidFill>
                <a:latin typeface="Arimo"/>
                <a:ea typeface="Arimo"/>
                <a:cs typeface="Arimo"/>
                <a:sym typeface="Arimo"/>
              </a:rPr>
              <a:t>www.viettel.com.vn</a:t>
            </a:r>
          </a:p>
        </p:txBody>
      </p:sp>
      <p:sp>
        <p:nvSpPr>
          <p:cNvPr id="6" name="TextBox 6"/>
          <p:cNvSpPr txBox="1"/>
          <p:nvPr/>
        </p:nvSpPr>
        <p:spPr>
          <a:xfrm>
            <a:off x="840740" y="9548495"/>
            <a:ext cx="7754620" cy="425917"/>
          </a:xfrm>
          <a:prstGeom prst="rect">
            <a:avLst/>
          </a:prstGeom>
        </p:spPr>
        <p:txBody>
          <a:bodyPr lIns="0" tIns="0" rIns="0" bIns="0" rtlCol="0" anchor="t">
            <a:spAutoFit/>
          </a:bodyPr>
          <a:lstStyle/>
          <a:p>
            <a:pPr algn="l">
              <a:lnSpc>
                <a:spcPts val="2520"/>
              </a:lnSpc>
            </a:pPr>
            <a:r>
              <a:rPr lang="en-US" sz="2100" spc="600">
                <a:solidFill>
                  <a:srgbClr val="B4B4B4"/>
                </a:solidFill>
                <a:latin typeface="Arimo"/>
                <a:ea typeface="Arimo"/>
                <a:cs typeface="Arimo"/>
                <a:sym typeface="Arimo"/>
              </a:rPr>
              <a:t>www.viettel.com.vn</a:t>
            </a:r>
          </a:p>
        </p:txBody>
      </p:sp>
      <p:sp>
        <p:nvSpPr>
          <p:cNvPr id="7" name="TextBox 7"/>
          <p:cNvSpPr txBox="1"/>
          <p:nvPr/>
        </p:nvSpPr>
        <p:spPr>
          <a:xfrm>
            <a:off x="3143364" y="890803"/>
            <a:ext cx="12001271" cy="1039804"/>
          </a:xfrm>
          <a:prstGeom prst="rect">
            <a:avLst/>
          </a:prstGeom>
        </p:spPr>
        <p:txBody>
          <a:bodyPr lIns="0" tIns="0" rIns="0" bIns="0" rtlCol="0" anchor="t">
            <a:spAutoFit/>
          </a:bodyPr>
          <a:lstStyle/>
          <a:p>
            <a:pPr algn="ctr">
              <a:lnSpc>
                <a:spcPts val="7880"/>
              </a:lnSpc>
            </a:pPr>
            <a:r>
              <a:rPr lang="en-US" sz="7577">
                <a:solidFill>
                  <a:srgbClr val="E80500"/>
                </a:solidFill>
                <a:latin typeface="Calistoga"/>
                <a:ea typeface="Calistoga"/>
                <a:cs typeface="Calistoga"/>
                <a:sym typeface="Calistoga"/>
              </a:rPr>
              <a:t>Title</a:t>
            </a:r>
          </a:p>
        </p:txBody>
      </p:sp>
      <p:sp>
        <p:nvSpPr>
          <p:cNvPr id="8" name="TextBox 8"/>
          <p:cNvSpPr txBox="1"/>
          <p:nvPr/>
        </p:nvSpPr>
        <p:spPr>
          <a:xfrm>
            <a:off x="1028700" y="2170400"/>
            <a:ext cx="16248078" cy="704848"/>
          </a:xfrm>
          <a:prstGeom prst="rect">
            <a:avLst/>
          </a:prstGeom>
        </p:spPr>
        <p:txBody>
          <a:bodyPr lIns="0" tIns="0" rIns="0" bIns="0" rtlCol="0" anchor="t">
            <a:spAutoFit/>
          </a:bodyPr>
          <a:lstStyle/>
          <a:p>
            <a:pPr marL="647705" lvl="1" indent="-323852" algn="l">
              <a:lnSpc>
                <a:spcPts val="6000"/>
              </a:lnSpc>
              <a:buFont typeface="Arial"/>
              <a:buChar char="•"/>
            </a:pPr>
            <a:r>
              <a:rPr lang="en-US" sz="3000" b="1">
                <a:solidFill>
                  <a:srgbClr val="000000"/>
                </a:solidFill>
                <a:latin typeface="Arimo Bold"/>
                <a:ea typeface="Arimo Bold"/>
                <a:cs typeface="Arimo Bold"/>
                <a:sym typeface="Arimo Bold"/>
              </a:rPr>
              <a:t>Content:</a:t>
            </a:r>
            <a:r>
              <a:rPr lang="en-US" sz="3000">
                <a:solidFill>
                  <a:srgbClr val="000000"/>
                </a:solidFill>
                <a:latin typeface="Arimo"/>
                <a:ea typeface="Arimo"/>
                <a:cs typeface="Arimo"/>
                <a:sym typeface="Arimo"/>
              </a:rPr>
              <a:t> Content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4453"/>
        </a:solidFill>
        <a:effectLst/>
      </p:bgPr>
    </p:bg>
    <p:spTree>
      <p:nvGrpSpPr>
        <p:cNvPr id="1" name=""/>
        <p:cNvGrpSpPr/>
        <p:nvPr/>
      </p:nvGrpSpPr>
      <p:grpSpPr>
        <a:xfrm>
          <a:off x="0" y="0"/>
          <a:ext cx="0" cy="0"/>
          <a:chOff x="0" y="0"/>
          <a:chExt cx="0" cy="0"/>
        </a:xfrm>
      </p:grpSpPr>
      <p:sp>
        <p:nvSpPr>
          <p:cNvPr id="2" name="Freeform 2"/>
          <p:cNvSpPr/>
          <p:nvPr/>
        </p:nvSpPr>
        <p:spPr>
          <a:xfrm>
            <a:off x="15326350" y="9512300"/>
            <a:ext cx="1950428" cy="429520"/>
          </a:xfrm>
          <a:custGeom>
            <a:avLst/>
            <a:gdLst/>
            <a:ahLst/>
            <a:cxnLst/>
            <a:rect l="l" t="t" r="r" b="b"/>
            <a:pathLst>
              <a:path w="1950428" h="429520">
                <a:moveTo>
                  <a:pt x="0" y="0"/>
                </a:moveTo>
                <a:lnTo>
                  <a:pt x="1950428" y="0"/>
                </a:lnTo>
                <a:lnTo>
                  <a:pt x="1950428" y="429520"/>
                </a:lnTo>
                <a:lnTo>
                  <a:pt x="0" y="429520"/>
                </a:lnTo>
                <a:lnTo>
                  <a:pt x="0" y="0"/>
                </a:lnTo>
                <a:close/>
              </a:path>
            </a:pathLst>
          </a:custGeom>
          <a:blipFill>
            <a:blip r:embed="rId3"/>
            <a:stretch>
              <a:fillRect t="-240" b="-240"/>
            </a:stretch>
          </a:blipFill>
        </p:spPr>
        <p:txBody>
          <a:bodyPr/>
          <a:lstStyle/>
          <a:p>
            <a:endParaRPr lang="en-VN"/>
          </a:p>
        </p:txBody>
      </p:sp>
      <p:sp>
        <p:nvSpPr>
          <p:cNvPr id="3" name="Freeform 3"/>
          <p:cNvSpPr/>
          <p:nvPr/>
        </p:nvSpPr>
        <p:spPr>
          <a:xfrm>
            <a:off x="15326350" y="9512300"/>
            <a:ext cx="1950428" cy="429520"/>
          </a:xfrm>
          <a:custGeom>
            <a:avLst/>
            <a:gdLst/>
            <a:ahLst/>
            <a:cxnLst/>
            <a:rect l="l" t="t" r="r" b="b"/>
            <a:pathLst>
              <a:path w="1950428" h="429520">
                <a:moveTo>
                  <a:pt x="0" y="0"/>
                </a:moveTo>
                <a:lnTo>
                  <a:pt x="1950428" y="0"/>
                </a:lnTo>
                <a:lnTo>
                  <a:pt x="1950428" y="429520"/>
                </a:lnTo>
                <a:lnTo>
                  <a:pt x="0" y="429520"/>
                </a:lnTo>
                <a:lnTo>
                  <a:pt x="0" y="0"/>
                </a:lnTo>
                <a:close/>
              </a:path>
            </a:pathLst>
          </a:custGeom>
          <a:blipFill>
            <a:blip r:embed="rId3"/>
            <a:stretch>
              <a:fillRect t="-240" b="-240"/>
            </a:stretch>
          </a:blipFill>
        </p:spPr>
        <p:txBody>
          <a:bodyPr/>
          <a:lstStyle/>
          <a:p>
            <a:endParaRPr lang="en-VN"/>
          </a:p>
        </p:txBody>
      </p:sp>
      <p:sp>
        <p:nvSpPr>
          <p:cNvPr id="4" name="TextBox 4"/>
          <p:cNvSpPr txBox="1"/>
          <p:nvPr/>
        </p:nvSpPr>
        <p:spPr>
          <a:xfrm>
            <a:off x="840740" y="9548495"/>
            <a:ext cx="7754620" cy="425917"/>
          </a:xfrm>
          <a:prstGeom prst="rect">
            <a:avLst/>
          </a:prstGeom>
        </p:spPr>
        <p:txBody>
          <a:bodyPr lIns="0" tIns="0" rIns="0" bIns="0" rtlCol="0" anchor="t">
            <a:spAutoFit/>
          </a:bodyPr>
          <a:lstStyle/>
          <a:p>
            <a:pPr algn="l">
              <a:lnSpc>
                <a:spcPts val="2520"/>
              </a:lnSpc>
            </a:pPr>
            <a:r>
              <a:rPr lang="en-US" sz="2100" spc="600">
                <a:solidFill>
                  <a:srgbClr val="B4B4B4"/>
                </a:solidFill>
                <a:latin typeface="Arimo"/>
                <a:ea typeface="Arimo"/>
                <a:cs typeface="Arimo"/>
                <a:sym typeface="Arimo"/>
              </a:rPr>
              <a:t>www.viettel.com.vn</a:t>
            </a:r>
          </a:p>
        </p:txBody>
      </p:sp>
      <p:sp>
        <p:nvSpPr>
          <p:cNvPr id="5" name="TextBox 5"/>
          <p:cNvSpPr txBox="1"/>
          <p:nvPr/>
        </p:nvSpPr>
        <p:spPr>
          <a:xfrm>
            <a:off x="1016858" y="4122746"/>
            <a:ext cx="16242442" cy="1230630"/>
          </a:xfrm>
          <a:prstGeom prst="rect">
            <a:avLst/>
          </a:prstGeom>
        </p:spPr>
        <p:txBody>
          <a:bodyPr lIns="0" tIns="0" rIns="0" bIns="0" rtlCol="0" anchor="t">
            <a:spAutoFit/>
          </a:bodyPr>
          <a:lstStyle/>
          <a:p>
            <a:pPr algn="ctr">
              <a:lnSpc>
                <a:spcPts val="9360"/>
              </a:lnSpc>
            </a:pPr>
            <a:r>
              <a:rPr lang="en-US" sz="9000">
                <a:solidFill>
                  <a:srgbClr val="FFFFFF"/>
                </a:solidFill>
                <a:latin typeface="Calistoga"/>
                <a:ea typeface="Calistoga"/>
                <a:cs typeface="Calistoga"/>
                <a:sym typeface="Calistoga"/>
              </a:rPr>
              <a:t>Title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206494"/>
            <a:ext cx="18288000" cy="1080508"/>
          </a:xfrm>
          <a:custGeom>
            <a:avLst/>
            <a:gdLst/>
            <a:ahLst/>
            <a:cxnLst/>
            <a:rect l="l" t="t" r="r" b="b"/>
            <a:pathLst>
              <a:path w="18288000" h="1080508">
                <a:moveTo>
                  <a:pt x="0" y="0"/>
                </a:moveTo>
                <a:lnTo>
                  <a:pt x="18288000" y="0"/>
                </a:lnTo>
                <a:lnTo>
                  <a:pt x="18288000" y="1080508"/>
                </a:lnTo>
                <a:lnTo>
                  <a:pt x="0" y="1080508"/>
                </a:lnTo>
                <a:lnTo>
                  <a:pt x="0" y="0"/>
                </a:lnTo>
                <a:close/>
              </a:path>
            </a:pathLst>
          </a:custGeom>
          <a:blipFill>
            <a:blip r:embed="rId3"/>
            <a:stretch>
              <a:fillRect l="-130" r="-130"/>
            </a:stretch>
          </a:blipFill>
        </p:spPr>
        <p:txBody>
          <a:bodyPr/>
          <a:lstStyle/>
          <a:p>
            <a:endParaRPr lang="en-VN"/>
          </a:p>
        </p:txBody>
      </p:sp>
      <p:sp>
        <p:nvSpPr>
          <p:cNvPr id="3" name="Freeform 3"/>
          <p:cNvSpPr/>
          <p:nvPr/>
        </p:nvSpPr>
        <p:spPr>
          <a:xfrm>
            <a:off x="15326350" y="9512300"/>
            <a:ext cx="1950428" cy="429520"/>
          </a:xfrm>
          <a:custGeom>
            <a:avLst/>
            <a:gdLst/>
            <a:ahLst/>
            <a:cxnLst/>
            <a:rect l="l" t="t" r="r" b="b"/>
            <a:pathLst>
              <a:path w="1950428" h="429520">
                <a:moveTo>
                  <a:pt x="0" y="0"/>
                </a:moveTo>
                <a:lnTo>
                  <a:pt x="1950428" y="0"/>
                </a:lnTo>
                <a:lnTo>
                  <a:pt x="1950428" y="429520"/>
                </a:lnTo>
                <a:lnTo>
                  <a:pt x="0" y="429520"/>
                </a:lnTo>
                <a:lnTo>
                  <a:pt x="0" y="0"/>
                </a:lnTo>
                <a:close/>
              </a:path>
            </a:pathLst>
          </a:custGeom>
          <a:blipFill>
            <a:blip r:embed="rId4"/>
            <a:stretch>
              <a:fillRect t="-240" b="-240"/>
            </a:stretch>
          </a:blipFill>
        </p:spPr>
        <p:txBody>
          <a:bodyPr/>
          <a:lstStyle/>
          <a:p>
            <a:endParaRPr lang="en-VN"/>
          </a:p>
        </p:txBody>
      </p:sp>
      <p:sp>
        <p:nvSpPr>
          <p:cNvPr id="4" name="Freeform 4"/>
          <p:cNvSpPr/>
          <p:nvPr/>
        </p:nvSpPr>
        <p:spPr>
          <a:xfrm>
            <a:off x="15326350" y="9512300"/>
            <a:ext cx="1950428" cy="429520"/>
          </a:xfrm>
          <a:custGeom>
            <a:avLst/>
            <a:gdLst/>
            <a:ahLst/>
            <a:cxnLst/>
            <a:rect l="l" t="t" r="r" b="b"/>
            <a:pathLst>
              <a:path w="1950428" h="429520">
                <a:moveTo>
                  <a:pt x="0" y="0"/>
                </a:moveTo>
                <a:lnTo>
                  <a:pt x="1950428" y="0"/>
                </a:lnTo>
                <a:lnTo>
                  <a:pt x="1950428" y="429520"/>
                </a:lnTo>
                <a:lnTo>
                  <a:pt x="0" y="429520"/>
                </a:lnTo>
                <a:lnTo>
                  <a:pt x="0" y="0"/>
                </a:lnTo>
                <a:close/>
              </a:path>
            </a:pathLst>
          </a:custGeom>
          <a:blipFill>
            <a:blip r:embed="rId4"/>
            <a:stretch>
              <a:fillRect t="-240" b="-240"/>
            </a:stretch>
          </a:blipFill>
        </p:spPr>
        <p:txBody>
          <a:bodyPr/>
          <a:lstStyle/>
          <a:p>
            <a:endParaRPr lang="en-VN"/>
          </a:p>
        </p:txBody>
      </p:sp>
      <p:sp>
        <p:nvSpPr>
          <p:cNvPr id="5" name="TextBox 5"/>
          <p:cNvSpPr txBox="1"/>
          <p:nvPr/>
        </p:nvSpPr>
        <p:spPr>
          <a:xfrm>
            <a:off x="840740" y="9548495"/>
            <a:ext cx="7754620" cy="425917"/>
          </a:xfrm>
          <a:prstGeom prst="rect">
            <a:avLst/>
          </a:prstGeom>
        </p:spPr>
        <p:txBody>
          <a:bodyPr lIns="0" tIns="0" rIns="0" bIns="0" rtlCol="0" anchor="t">
            <a:spAutoFit/>
          </a:bodyPr>
          <a:lstStyle/>
          <a:p>
            <a:pPr algn="l">
              <a:lnSpc>
                <a:spcPts val="2520"/>
              </a:lnSpc>
            </a:pPr>
            <a:r>
              <a:rPr lang="en-US" sz="2100" spc="600">
                <a:solidFill>
                  <a:srgbClr val="B4B4B4"/>
                </a:solidFill>
                <a:latin typeface="Arimo"/>
                <a:ea typeface="Arimo"/>
                <a:cs typeface="Arimo"/>
                <a:sym typeface="Arimo"/>
              </a:rPr>
              <a:t>www.viettel.com.vn</a:t>
            </a:r>
          </a:p>
        </p:txBody>
      </p:sp>
      <p:sp>
        <p:nvSpPr>
          <p:cNvPr id="6" name="TextBox 6"/>
          <p:cNvSpPr txBox="1"/>
          <p:nvPr/>
        </p:nvSpPr>
        <p:spPr>
          <a:xfrm>
            <a:off x="840740" y="9548495"/>
            <a:ext cx="7754620" cy="425917"/>
          </a:xfrm>
          <a:prstGeom prst="rect">
            <a:avLst/>
          </a:prstGeom>
        </p:spPr>
        <p:txBody>
          <a:bodyPr lIns="0" tIns="0" rIns="0" bIns="0" rtlCol="0" anchor="t">
            <a:spAutoFit/>
          </a:bodyPr>
          <a:lstStyle/>
          <a:p>
            <a:pPr algn="l">
              <a:lnSpc>
                <a:spcPts val="2520"/>
              </a:lnSpc>
            </a:pPr>
            <a:r>
              <a:rPr lang="en-US" sz="2100" spc="600">
                <a:solidFill>
                  <a:srgbClr val="B4B4B4"/>
                </a:solidFill>
                <a:latin typeface="Arimo"/>
                <a:ea typeface="Arimo"/>
                <a:cs typeface="Arimo"/>
                <a:sym typeface="Arimo"/>
              </a:rPr>
              <a:t>www.viettel.com.vn</a:t>
            </a:r>
          </a:p>
        </p:txBody>
      </p:sp>
      <p:sp>
        <p:nvSpPr>
          <p:cNvPr id="7" name="TextBox 7"/>
          <p:cNvSpPr txBox="1"/>
          <p:nvPr/>
        </p:nvSpPr>
        <p:spPr>
          <a:xfrm>
            <a:off x="1034336" y="1133475"/>
            <a:ext cx="16242442" cy="961390"/>
          </a:xfrm>
          <a:prstGeom prst="rect">
            <a:avLst/>
          </a:prstGeom>
        </p:spPr>
        <p:txBody>
          <a:bodyPr lIns="0" tIns="0" rIns="0" bIns="0" rtlCol="0" anchor="t">
            <a:spAutoFit/>
          </a:bodyPr>
          <a:lstStyle/>
          <a:p>
            <a:pPr algn="ctr">
              <a:lnSpc>
                <a:spcPts val="7279"/>
              </a:lnSpc>
            </a:pPr>
            <a:r>
              <a:rPr lang="en-US" sz="6999">
                <a:solidFill>
                  <a:srgbClr val="E80500"/>
                </a:solidFill>
                <a:latin typeface="Calistoga"/>
                <a:ea typeface="Calistoga"/>
                <a:cs typeface="Calistoga"/>
                <a:sym typeface="Calistoga"/>
              </a:rPr>
              <a:t>Title</a:t>
            </a:r>
          </a:p>
        </p:txBody>
      </p:sp>
      <p:sp>
        <p:nvSpPr>
          <p:cNvPr id="8" name="TextBox 8"/>
          <p:cNvSpPr txBox="1"/>
          <p:nvPr/>
        </p:nvSpPr>
        <p:spPr>
          <a:xfrm>
            <a:off x="1313109" y="2510749"/>
            <a:ext cx="7098006" cy="1457323"/>
          </a:xfrm>
          <a:prstGeom prst="rect">
            <a:avLst/>
          </a:prstGeom>
        </p:spPr>
        <p:txBody>
          <a:bodyPr lIns="0" tIns="0" rIns="0" bIns="0" rtlCol="0" anchor="t">
            <a:spAutoFit/>
          </a:bodyPr>
          <a:lstStyle/>
          <a:p>
            <a:pPr algn="l">
              <a:lnSpc>
                <a:spcPts val="6000"/>
              </a:lnSpc>
            </a:pPr>
            <a:r>
              <a:rPr lang="en-US" sz="3000" b="1">
                <a:solidFill>
                  <a:srgbClr val="000000"/>
                </a:solidFill>
                <a:latin typeface="Arimo Bold"/>
                <a:ea typeface="Arimo Bold"/>
                <a:cs typeface="Arimo Bold"/>
                <a:sym typeface="Arimo Bold"/>
              </a:rPr>
              <a:t>Content</a:t>
            </a:r>
          </a:p>
          <a:p>
            <a:pPr algn="l">
              <a:lnSpc>
                <a:spcPts val="5850"/>
              </a:lnSpc>
            </a:pPr>
            <a:r>
              <a:rPr lang="en-US" sz="3000">
                <a:solidFill>
                  <a:srgbClr val="000000"/>
                </a:solidFill>
                <a:latin typeface="Arimo"/>
                <a:ea typeface="Arimo"/>
                <a:cs typeface="Arimo"/>
                <a:sym typeface="Arimo"/>
              </a:rPr>
              <a:t>Content</a:t>
            </a:r>
          </a:p>
        </p:txBody>
      </p:sp>
      <p:sp>
        <p:nvSpPr>
          <p:cNvPr id="9" name="TextBox 9"/>
          <p:cNvSpPr txBox="1"/>
          <p:nvPr/>
        </p:nvSpPr>
        <p:spPr>
          <a:xfrm>
            <a:off x="10037561" y="2510749"/>
            <a:ext cx="6960444" cy="1466848"/>
          </a:xfrm>
          <a:prstGeom prst="rect">
            <a:avLst/>
          </a:prstGeom>
        </p:spPr>
        <p:txBody>
          <a:bodyPr lIns="0" tIns="0" rIns="0" bIns="0" rtlCol="0" anchor="t">
            <a:spAutoFit/>
          </a:bodyPr>
          <a:lstStyle/>
          <a:p>
            <a:pPr algn="l">
              <a:lnSpc>
                <a:spcPts val="6000"/>
              </a:lnSpc>
            </a:pPr>
            <a:r>
              <a:rPr lang="en-US" sz="3000" b="1">
                <a:solidFill>
                  <a:srgbClr val="000000"/>
                </a:solidFill>
                <a:latin typeface="Arimo Bold"/>
                <a:ea typeface="Arimo Bold"/>
                <a:cs typeface="Arimo Bold"/>
                <a:sym typeface="Arimo Bold"/>
              </a:rPr>
              <a:t>Content</a:t>
            </a:r>
          </a:p>
          <a:p>
            <a:pPr algn="l">
              <a:lnSpc>
                <a:spcPts val="6000"/>
              </a:lnSpc>
            </a:pPr>
            <a:r>
              <a:rPr lang="en-US" sz="3000">
                <a:solidFill>
                  <a:srgbClr val="000000"/>
                </a:solidFill>
                <a:latin typeface="Arimo"/>
                <a:ea typeface="Arimo"/>
                <a:cs typeface="Arimo"/>
                <a:sym typeface="Arimo"/>
              </a:rPr>
              <a:t>Content</a:t>
            </a:r>
          </a:p>
        </p:txBody>
      </p:sp>
      <p:sp>
        <p:nvSpPr>
          <p:cNvPr id="10" name="TextBox 10"/>
          <p:cNvSpPr txBox="1"/>
          <p:nvPr/>
        </p:nvSpPr>
        <p:spPr>
          <a:xfrm>
            <a:off x="1313109" y="5299753"/>
            <a:ext cx="6868736" cy="1466848"/>
          </a:xfrm>
          <a:prstGeom prst="rect">
            <a:avLst/>
          </a:prstGeom>
        </p:spPr>
        <p:txBody>
          <a:bodyPr lIns="0" tIns="0" rIns="0" bIns="0" rtlCol="0" anchor="t">
            <a:spAutoFit/>
          </a:bodyPr>
          <a:lstStyle/>
          <a:p>
            <a:pPr algn="l">
              <a:lnSpc>
                <a:spcPts val="6000"/>
              </a:lnSpc>
            </a:pPr>
            <a:r>
              <a:rPr lang="en-US" sz="3000" b="1">
                <a:solidFill>
                  <a:srgbClr val="000000"/>
                </a:solidFill>
                <a:latin typeface="Arimo Bold"/>
                <a:ea typeface="Arimo Bold"/>
                <a:cs typeface="Arimo Bold"/>
                <a:sym typeface="Arimo Bold"/>
              </a:rPr>
              <a:t>Content</a:t>
            </a:r>
          </a:p>
          <a:p>
            <a:pPr algn="l">
              <a:lnSpc>
                <a:spcPts val="6000"/>
              </a:lnSpc>
            </a:pPr>
            <a:r>
              <a:rPr lang="en-US" sz="3000">
                <a:solidFill>
                  <a:srgbClr val="000000"/>
                </a:solidFill>
                <a:latin typeface="Arimo"/>
                <a:ea typeface="Arimo"/>
                <a:cs typeface="Arimo"/>
                <a:sym typeface="Arimo"/>
              </a:rPr>
              <a:t>Content</a:t>
            </a:r>
          </a:p>
        </p:txBody>
      </p:sp>
      <p:sp>
        <p:nvSpPr>
          <p:cNvPr id="11" name="TextBox 11"/>
          <p:cNvSpPr txBox="1"/>
          <p:nvPr/>
        </p:nvSpPr>
        <p:spPr>
          <a:xfrm>
            <a:off x="10037561" y="5299753"/>
            <a:ext cx="6960444" cy="1466848"/>
          </a:xfrm>
          <a:prstGeom prst="rect">
            <a:avLst/>
          </a:prstGeom>
        </p:spPr>
        <p:txBody>
          <a:bodyPr lIns="0" tIns="0" rIns="0" bIns="0" rtlCol="0" anchor="t">
            <a:spAutoFit/>
          </a:bodyPr>
          <a:lstStyle/>
          <a:p>
            <a:pPr algn="l">
              <a:lnSpc>
                <a:spcPts val="6000"/>
              </a:lnSpc>
            </a:pPr>
            <a:r>
              <a:rPr lang="en-US" sz="3000" b="1">
                <a:solidFill>
                  <a:srgbClr val="000000"/>
                </a:solidFill>
                <a:latin typeface="Arimo Bold"/>
                <a:ea typeface="Arimo Bold"/>
                <a:cs typeface="Arimo Bold"/>
                <a:sym typeface="Arimo Bold"/>
              </a:rPr>
              <a:t>Content</a:t>
            </a:r>
          </a:p>
          <a:p>
            <a:pPr algn="l">
              <a:lnSpc>
                <a:spcPts val="6000"/>
              </a:lnSpc>
            </a:pPr>
            <a:r>
              <a:rPr lang="en-US" sz="3000">
                <a:solidFill>
                  <a:srgbClr val="000000"/>
                </a:solidFill>
                <a:latin typeface="Arimo"/>
                <a:ea typeface="Arimo"/>
                <a:cs typeface="Arimo"/>
                <a:sym typeface="Arimo"/>
              </a:rPr>
              <a:t>Content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4304D"/>
        </a:solidFill>
        <a:effectLst/>
      </p:bgPr>
    </p:bg>
    <p:spTree>
      <p:nvGrpSpPr>
        <p:cNvPr id="1" name=""/>
        <p:cNvGrpSpPr/>
        <p:nvPr/>
      </p:nvGrpSpPr>
      <p:grpSpPr>
        <a:xfrm>
          <a:off x="0" y="0"/>
          <a:ext cx="0" cy="0"/>
          <a:chOff x="0" y="0"/>
          <a:chExt cx="0" cy="0"/>
        </a:xfrm>
      </p:grpSpPr>
      <p:sp>
        <p:nvSpPr>
          <p:cNvPr id="2" name="Freeform 2"/>
          <p:cNvSpPr/>
          <p:nvPr/>
        </p:nvSpPr>
        <p:spPr>
          <a:xfrm rot="5262104">
            <a:off x="-136297" y="-4136797"/>
            <a:ext cx="18560594" cy="18560594"/>
          </a:xfrm>
          <a:custGeom>
            <a:avLst/>
            <a:gdLst/>
            <a:ahLst/>
            <a:cxnLst/>
            <a:rect l="l" t="t" r="r" b="b"/>
            <a:pathLst>
              <a:path w="18560594" h="18560594">
                <a:moveTo>
                  <a:pt x="0" y="0"/>
                </a:moveTo>
                <a:lnTo>
                  <a:pt x="18560594" y="0"/>
                </a:lnTo>
                <a:lnTo>
                  <a:pt x="18560594" y="18560594"/>
                </a:lnTo>
                <a:lnTo>
                  <a:pt x="0" y="18560594"/>
                </a:lnTo>
                <a:lnTo>
                  <a:pt x="0" y="0"/>
                </a:lnTo>
                <a:close/>
              </a:path>
            </a:pathLst>
          </a:custGeom>
          <a:blipFill>
            <a:blip>
              <a:alphaModFix amt="19999"/>
              <a:extLst>
                <a:ext uri="{96DAC541-7B7A-43D3-8B79-37D633B846F1}">
                  <asvg:svgBlip xmlns:asvg="http://schemas.microsoft.com/office/drawing/2016/SVG/main" r:embed="rId2"/>
                </a:ext>
              </a:extLst>
            </a:blip>
            <a:stretch>
              <a:fillRect/>
            </a:stretch>
          </a:blipFill>
        </p:spPr>
        <p:txBody>
          <a:bodyPr/>
          <a:lstStyle/>
          <a:p>
            <a:endParaRPr lang="en-VN"/>
          </a:p>
        </p:txBody>
      </p:sp>
      <p:sp>
        <p:nvSpPr>
          <p:cNvPr id="3" name="TextBox 3"/>
          <p:cNvSpPr txBox="1"/>
          <p:nvPr/>
        </p:nvSpPr>
        <p:spPr>
          <a:xfrm rot="-148252">
            <a:off x="1440715" y="3249929"/>
            <a:ext cx="15361365" cy="2622784"/>
          </a:xfrm>
          <a:prstGeom prst="rect">
            <a:avLst/>
          </a:prstGeom>
        </p:spPr>
        <p:txBody>
          <a:bodyPr lIns="0" tIns="0" rIns="0" bIns="0" rtlCol="0" anchor="t">
            <a:spAutoFit/>
          </a:bodyPr>
          <a:lstStyle/>
          <a:p>
            <a:pPr algn="ctr">
              <a:lnSpc>
                <a:spcPts val="18329"/>
              </a:lnSpc>
            </a:pPr>
            <a:r>
              <a:rPr lang="en-US" sz="21820">
                <a:solidFill>
                  <a:srgbClr val="FFFFFF"/>
                </a:solidFill>
                <a:latin typeface="Chewy"/>
                <a:ea typeface="Chewy"/>
                <a:cs typeface="Chewy"/>
                <a:sym typeface="Chewy"/>
              </a:rPr>
              <a:t>THANK YOU</a:t>
            </a:r>
          </a:p>
        </p:txBody>
      </p:sp>
      <p:grpSp>
        <p:nvGrpSpPr>
          <p:cNvPr id="4" name="Group 4"/>
          <p:cNvGrpSpPr/>
          <p:nvPr/>
        </p:nvGrpSpPr>
        <p:grpSpPr>
          <a:xfrm rot="-148252">
            <a:off x="4631266" y="5659619"/>
            <a:ext cx="9164844" cy="2080874"/>
            <a:chOff x="0" y="0"/>
            <a:chExt cx="2425118" cy="550622"/>
          </a:xfrm>
        </p:grpSpPr>
        <p:sp>
          <p:nvSpPr>
            <p:cNvPr id="5" name="Freeform 5"/>
            <p:cNvSpPr/>
            <p:nvPr/>
          </p:nvSpPr>
          <p:spPr>
            <a:xfrm>
              <a:off x="0" y="0"/>
              <a:ext cx="2425118" cy="550622"/>
            </a:xfrm>
            <a:custGeom>
              <a:avLst/>
              <a:gdLst/>
              <a:ahLst/>
              <a:cxnLst/>
              <a:rect l="l" t="t" r="r" b="b"/>
              <a:pathLst>
                <a:path w="2425118" h="550622">
                  <a:moveTo>
                    <a:pt x="25342" y="0"/>
                  </a:moveTo>
                  <a:lnTo>
                    <a:pt x="2399776" y="0"/>
                  </a:lnTo>
                  <a:cubicBezTo>
                    <a:pt x="2413772" y="0"/>
                    <a:pt x="2425118" y="11346"/>
                    <a:pt x="2425118" y="25342"/>
                  </a:cubicBezTo>
                  <a:lnTo>
                    <a:pt x="2425118" y="525280"/>
                  </a:lnTo>
                  <a:cubicBezTo>
                    <a:pt x="2425118" y="539276"/>
                    <a:pt x="2413772" y="550622"/>
                    <a:pt x="2399776" y="550622"/>
                  </a:cubicBezTo>
                  <a:lnTo>
                    <a:pt x="25342" y="550622"/>
                  </a:lnTo>
                  <a:cubicBezTo>
                    <a:pt x="11346" y="550622"/>
                    <a:pt x="0" y="539276"/>
                    <a:pt x="0" y="525280"/>
                  </a:cubicBezTo>
                  <a:lnTo>
                    <a:pt x="0" y="25342"/>
                  </a:lnTo>
                  <a:cubicBezTo>
                    <a:pt x="0" y="11346"/>
                    <a:pt x="11346" y="0"/>
                    <a:pt x="25342" y="0"/>
                  </a:cubicBezTo>
                  <a:close/>
                </a:path>
              </a:pathLst>
            </a:custGeom>
            <a:solidFill>
              <a:srgbClr val="CF3F2C"/>
            </a:solidFill>
          </p:spPr>
          <p:txBody>
            <a:bodyPr/>
            <a:lstStyle/>
            <a:p>
              <a:endParaRPr lang="en-VN"/>
            </a:p>
          </p:txBody>
        </p:sp>
        <p:sp>
          <p:nvSpPr>
            <p:cNvPr id="6" name="TextBox 6"/>
            <p:cNvSpPr txBox="1"/>
            <p:nvPr/>
          </p:nvSpPr>
          <p:spPr>
            <a:xfrm>
              <a:off x="0" y="-19050"/>
              <a:ext cx="2425118" cy="569672"/>
            </a:xfrm>
            <a:prstGeom prst="rect">
              <a:avLst/>
            </a:prstGeom>
          </p:spPr>
          <p:txBody>
            <a:bodyPr lIns="50800" tIns="50800" rIns="50800" bIns="50800" rtlCol="0" anchor="ctr"/>
            <a:lstStyle/>
            <a:p>
              <a:pPr algn="ctr">
                <a:lnSpc>
                  <a:spcPts val="2393"/>
                </a:lnSpc>
              </a:pPr>
              <a:endParaRPr/>
            </a:p>
          </p:txBody>
        </p:sp>
      </p:grpSp>
      <p:pic>
        <p:nvPicPr>
          <p:cNvPr id="7" name="Picture 7"/>
          <p:cNvPicPr>
            <a:picLocks noChangeAspect="1"/>
          </p:cNvPicPr>
          <p:nvPr/>
        </p:nvPicPr>
        <p:blipFill>
          <a:blip r:embed="rId3"/>
          <a:srcRect/>
          <a:stretch>
            <a:fillRect/>
          </a:stretch>
        </p:blipFill>
        <p:spPr>
          <a:xfrm rot="-313159">
            <a:off x="12220482" y="6583921"/>
            <a:ext cx="4430394" cy="3632923"/>
          </a:xfrm>
          <a:prstGeom prst="rect">
            <a:avLst/>
          </a:prstGeom>
        </p:spPr>
      </p:pic>
      <p:pic>
        <p:nvPicPr>
          <p:cNvPr id="8" name="Picture 8"/>
          <p:cNvPicPr>
            <a:picLocks noChangeAspect="1"/>
          </p:cNvPicPr>
          <p:nvPr/>
        </p:nvPicPr>
        <p:blipFill>
          <a:blip r:embed="rId4"/>
          <a:srcRect/>
          <a:stretch>
            <a:fillRect/>
          </a:stretch>
        </p:blipFill>
        <p:spPr>
          <a:xfrm>
            <a:off x="3206031" y="6222353"/>
            <a:ext cx="1049285" cy="1054558"/>
          </a:xfrm>
          <a:prstGeom prst="rect">
            <a:avLst/>
          </a:prstGeom>
        </p:spPr>
      </p:pic>
      <p:pic>
        <p:nvPicPr>
          <p:cNvPr id="9" name="Picture 9"/>
          <p:cNvPicPr>
            <a:picLocks noChangeAspect="1"/>
          </p:cNvPicPr>
          <p:nvPr/>
        </p:nvPicPr>
        <p:blipFill>
          <a:blip r:embed="rId5"/>
          <a:srcRect/>
          <a:stretch>
            <a:fillRect/>
          </a:stretch>
        </p:blipFill>
        <p:spPr>
          <a:xfrm rot="-2260066">
            <a:off x="625171" y="1747954"/>
            <a:ext cx="3754524" cy="1971125"/>
          </a:xfrm>
          <a:prstGeom prst="rect">
            <a:avLst/>
          </a:prstGeom>
        </p:spPr>
      </p:pic>
      <p:sp>
        <p:nvSpPr>
          <p:cNvPr id="10" name="Freeform 10"/>
          <p:cNvSpPr/>
          <p:nvPr/>
        </p:nvSpPr>
        <p:spPr>
          <a:xfrm rot="2163578">
            <a:off x="-6124983" y="7865865"/>
            <a:ext cx="16230600" cy="6066187"/>
          </a:xfrm>
          <a:custGeom>
            <a:avLst/>
            <a:gdLst/>
            <a:ahLst/>
            <a:cxnLst/>
            <a:rect l="l" t="t" r="r" b="b"/>
            <a:pathLst>
              <a:path w="16230600" h="6066187">
                <a:moveTo>
                  <a:pt x="0" y="0"/>
                </a:moveTo>
                <a:lnTo>
                  <a:pt x="16230600" y="0"/>
                </a:lnTo>
                <a:lnTo>
                  <a:pt x="16230600" y="6066187"/>
                </a:lnTo>
                <a:lnTo>
                  <a:pt x="0" y="6066187"/>
                </a:lnTo>
                <a:lnTo>
                  <a:pt x="0" y="0"/>
                </a:lnTo>
                <a:close/>
              </a:path>
            </a:pathLst>
          </a:custGeom>
          <a:blipFill>
            <a:blip r:embed="rId6"/>
            <a:stretch>
              <a:fillRect/>
            </a:stretch>
          </a:blipFill>
        </p:spPr>
        <p:txBody>
          <a:bodyPr/>
          <a:lstStyle/>
          <a:p>
            <a:endParaRPr lang="en-VN"/>
          </a:p>
        </p:txBody>
      </p:sp>
      <p:sp>
        <p:nvSpPr>
          <p:cNvPr id="11" name="Freeform 11"/>
          <p:cNvSpPr/>
          <p:nvPr/>
        </p:nvSpPr>
        <p:spPr>
          <a:xfrm rot="2163578">
            <a:off x="11809367" y="-807749"/>
            <a:ext cx="16230600" cy="6066187"/>
          </a:xfrm>
          <a:custGeom>
            <a:avLst/>
            <a:gdLst/>
            <a:ahLst/>
            <a:cxnLst/>
            <a:rect l="l" t="t" r="r" b="b"/>
            <a:pathLst>
              <a:path w="16230600" h="6066187">
                <a:moveTo>
                  <a:pt x="0" y="0"/>
                </a:moveTo>
                <a:lnTo>
                  <a:pt x="16230600" y="0"/>
                </a:lnTo>
                <a:lnTo>
                  <a:pt x="16230600" y="6066186"/>
                </a:lnTo>
                <a:lnTo>
                  <a:pt x="0" y="6066186"/>
                </a:lnTo>
                <a:lnTo>
                  <a:pt x="0" y="0"/>
                </a:lnTo>
                <a:close/>
              </a:path>
            </a:pathLst>
          </a:custGeom>
          <a:blipFill>
            <a:blip r:embed="rId6"/>
            <a:stretch>
              <a:fillRect/>
            </a:stretch>
          </a:blipFill>
        </p:spPr>
        <p:txBody>
          <a:bodyPr/>
          <a:lstStyle/>
          <a:p>
            <a:endParaRPr lang="en-VN"/>
          </a:p>
        </p:txBody>
      </p:sp>
      <p:sp>
        <p:nvSpPr>
          <p:cNvPr id="12" name="TextBox 12"/>
          <p:cNvSpPr txBox="1"/>
          <p:nvPr/>
        </p:nvSpPr>
        <p:spPr>
          <a:xfrm rot="-148252">
            <a:off x="5395086" y="6275771"/>
            <a:ext cx="7650753" cy="1162604"/>
          </a:xfrm>
          <a:prstGeom prst="rect">
            <a:avLst/>
          </a:prstGeom>
        </p:spPr>
        <p:txBody>
          <a:bodyPr lIns="0" tIns="0" rIns="0" bIns="0" rtlCol="0" anchor="t">
            <a:spAutoFit/>
          </a:bodyPr>
          <a:lstStyle/>
          <a:p>
            <a:pPr algn="ctr">
              <a:lnSpc>
                <a:spcPts val="8158"/>
              </a:lnSpc>
            </a:pPr>
            <a:r>
              <a:rPr lang="en-US" sz="9712">
                <a:solidFill>
                  <a:srgbClr val="FFFFFF"/>
                </a:solidFill>
                <a:latin typeface="Chewy"/>
                <a:ea typeface="Chewy"/>
                <a:cs typeface="Chewy"/>
                <a:sym typeface="Chewy"/>
              </a:rPr>
              <a:t>FOR LISTENING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1288</Words>
  <Application>Microsoft Macintosh PowerPoint</Application>
  <PresentationFormat>Custom</PresentationFormat>
  <Paragraphs>52</Paragraphs>
  <Slides>6</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vt:i4>
      </vt:variant>
    </vt:vector>
  </HeadingPairs>
  <TitlesOfParts>
    <vt:vector size="15" baseType="lpstr">
      <vt:lpstr>Poppins Bold</vt:lpstr>
      <vt:lpstr>Chewy</vt:lpstr>
      <vt:lpstr>Arimo</vt:lpstr>
      <vt:lpstr>Arimo Bold</vt:lpstr>
      <vt:lpstr>Arimo Bold Italics</vt:lpstr>
      <vt:lpstr>Calibri</vt:lpstr>
      <vt:lpstr>Calistoga</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SEE-MoLEx: Shared-Expert and Entropy-Guided Routing for Source-Only OOD Speech Spoofing Detection</dc:title>
  <cp:lastModifiedBy>Hoang Duc Anh 20230015</cp:lastModifiedBy>
  <cp:revision>3</cp:revision>
  <dcterms:created xsi:type="dcterms:W3CDTF">2006-08-16T00:00:00Z</dcterms:created>
  <dcterms:modified xsi:type="dcterms:W3CDTF">2026-08-20T05:46:50Z</dcterms:modified>
  <dc:identifier>DAHOxSTg8d8</dc:identifier>
</cp:coreProperties>
</file>